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85"/>
  </p:handoutMasterIdLst>
  <p:sldIdLst>
    <p:sldId id="256" r:id="rId2"/>
    <p:sldId id="257" r:id="rId3"/>
    <p:sldId id="260" r:id="rId4"/>
    <p:sldId id="258" r:id="rId5"/>
    <p:sldId id="259" r:id="rId6"/>
    <p:sldId id="261" r:id="rId7"/>
    <p:sldId id="262" r:id="rId8"/>
    <p:sldId id="263" r:id="rId9"/>
    <p:sldId id="264" r:id="rId10"/>
    <p:sldId id="266" r:id="rId11"/>
    <p:sldId id="267" r:id="rId12"/>
    <p:sldId id="268" r:id="rId13"/>
    <p:sldId id="269" r:id="rId14"/>
    <p:sldId id="270" r:id="rId15"/>
    <p:sldId id="271" r:id="rId16"/>
    <p:sldId id="272" r:id="rId17"/>
    <p:sldId id="273" r:id="rId18"/>
    <p:sldId id="274" r:id="rId19"/>
    <p:sldId id="276" r:id="rId20"/>
    <p:sldId id="277"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307" r:id="rId50"/>
    <p:sldId id="308" r:id="rId51"/>
    <p:sldId id="309" r:id="rId52"/>
    <p:sldId id="310" r:id="rId53"/>
    <p:sldId id="311" r:id="rId54"/>
    <p:sldId id="312" r:id="rId55"/>
    <p:sldId id="313" r:id="rId56"/>
    <p:sldId id="314" r:id="rId57"/>
    <p:sldId id="315" r:id="rId58"/>
    <p:sldId id="316" r:id="rId59"/>
    <p:sldId id="317" r:id="rId60"/>
    <p:sldId id="318" r:id="rId61"/>
    <p:sldId id="319" r:id="rId62"/>
    <p:sldId id="320" r:id="rId63"/>
    <p:sldId id="321" r:id="rId64"/>
    <p:sldId id="322" r:id="rId65"/>
    <p:sldId id="323" r:id="rId66"/>
    <p:sldId id="324" r:id="rId67"/>
    <p:sldId id="325" r:id="rId68"/>
    <p:sldId id="326" r:id="rId69"/>
    <p:sldId id="327" r:id="rId70"/>
    <p:sldId id="328" r:id="rId71"/>
    <p:sldId id="329" r:id="rId72"/>
    <p:sldId id="330" r:id="rId73"/>
    <p:sldId id="331" r:id="rId74"/>
    <p:sldId id="332" r:id="rId75"/>
    <p:sldId id="333" r:id="rId76"/>
    <p:sldId id="334" r:id="rId77"/>
    <p:sldId id="335" r:id="rId78"/>
    <p:sldId id="336" r:id="rId79"/>
    <p:sldId id="337" r:id="rId80"/>
    <p:sldId id="338" r:id="rId81"/>
    <p:sldId id="339" r:id="rId82"/>
    <p:sldId id="340" r:id="rId83"/>
    <p:sldId id="341" r:id="rId8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000FF"/>
    <a:srgbClr val="0361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60" d="100"/>
          <a:sy n="60" d="100"/>
        </p:scale>
        <p:origin x="1098" y="342"/>
      </p:cViewPr>
      <p:guideLst>
        <p:guide orient="horz" pos="2160"/>
        <p:guide pos="3840"/>
      </p:guideLst>
    </p:cSldViewPr>
  </p:slideViewPr>
  <p:notesTextViewPr>
    <p:cViewPr>
      <p:scale>
        <a:sx n="1" d="1"/>
        <a:sy n="1" d="1"/>
      </p:scale>
      <p:origin x="0" y="0"/>
    </p:cViewPr>
  </p:notesTextViewPr>
  <p:notesViewPr>
    <p:cSldViewPr snapToGrid="0">
      <p:cViewPr varScale="1">
        <p:scale>
          <a:sx n="54" d="100"/>
          <a:sy n="54" d="100"/>
        </p:scale>
        <p:origin x="-2916"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C7D4EB5-7A91-4453-9159-82F472709EE6}" type="datetimeFigureOut">
              <a:rPr lang="zh-CN" altLang="en-US" smtClean="0"/>
              <a:t>2023/3/29</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06447EE-71ED-4CDF-A1E2-57E93385EA12}" type="slidenum">
              <a:rPr lang="zh-CN" altLang="en-US" smtClean="0"/>
              <a:t>‹#›</a:t>
            </a:fld>
            <a:endParaRPr lang="zh-CN" altLang="en-US"/>
          </a:p>
        </p:txBody>
      </p:sp>
    </p:spTree>
    <p:extLst>
      <p:ext uri="{BB962C8B-B14F-4D97-AF65-F5344CB8AC3E}">
        <p14:creationId xmlns:p14="http://schemas.microsoft.com/office/powerpoint/2010/main" val="217029342"/>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22" name="直接连接符 21"/>
          <p:cNvCxnSpPr/>
          <p:nvPr userDrawn="1"/>
        </p:nvCxnSpPr>
        <p:spPr>
          <a:xfrm>
            <a:off x="518756" y="311468"/>
            <a:ext cx="4108450" cy="0"/>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userDrawn="1"/>
        </p:nvCxnSpPr>
        <p:spPr>
          <a:xfrm>
            <a:off x="7488043" y="311468"/>
            <a:ext cx="4108450" cy="0"/>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pic>
        <p:nvPicPr>
          <p:cNvPr id="100" name="图片 99"/>
          <p:cNvPicPr>
            <a:picLocks/>
          </p:cNvPicPr>
          <p:nvPr userDrawn="1"/>
        </p:nvPicPr>
        <p:blipFill>
          <a:blip r:embed="rId3"/>
          <a:srcRect t="30838" b="33250"/>
          <a:stretch>
            <a:fillRect/>
          </a:stretch>
        </p:blipFill>
        <p:spPr>
          <a:xfrm>
            <a:off x="5155096" y="6473823"/>
            <a:ext cx="1881809" cy="360000"/>
          </a:xfrm>
          <a:prstGeom prst="rect">
            <a:avLst/>
          </a:prstGeom>
          <a:noFill/>
          <a:ln w="9525">
            <a:noFill/>
          </a:ln>
        </p:spPr>
      </p:pic>
      <p:sp>
        <p:nvSpPr>
          <p:cNvPr id="3" name="文本框 2"/>
          <p:cNvSpPr txBox="1"/>
          <p:nvPr userDrawn="1"/>
        </p:nvSpPr>
        <p:spPr>
          <a:xfrm>
            <a:off x="4652093" y="143510"/>
            <a:ext cx="2887815" cy="369332"/>
          </a:xfrm>
          <a:prstGeom prst="rect">
            <a:avLst/>
          </a:prstGeom>
          <a:noFill/>
        </p:spPr>
        <p:txBody>
          <a:bodyPr wrap="square" rtlCol="0">
            <a:spAutoFit/>
          </a:bodyPr>
          <a:lstStyle/>
          <a:p>
            <a:r>
              <a:rPr lang="en-US" altLang="zh-CN" sz="1800" b="1" dirty="0">
                <a:solidFill>
                  <a:schemeClr val="tx1"/>
                </a:solidFill>
                <a:latin typeface="黑体" panose="02010609060101010101" charset="-122"/>
                <a:ea typeface="黑体" panose="02010609060101010101" charset="-122"/>
                <a:cs typeface="黑体" panose="02010609060101010101" charset="-122"/>
              </a:rPr>
              <a:t>Creo8.0</a:t>
            </a:r>
            <a:r>
              <a:rPr lang="zh-CN" altLang="en-US" sz="1800" b="1" dirty="0">
                <a:solidFill>
                  <a:schemeClr val="tx1"/>
                </a:solidFill>
                <a:latin typeface="黑体" panose="02010609060101010101" charset="-122"/>
                <a:ea typeface="黑体" panose="02010609060101010101" charset="-122"/>
                <a:cs typeface="黑体" panose="02010609060101010101" charset="-122"/>
              </a:rPr>
              <a:t>机械设计实例教程</a:t>
            </a:r>
          </a:p>
        </p:txBody>
      </p:sp>
      <p:pic>
        <p:nvPicPr>
          <p:cNvPr id="2" name="图片 1">
            <a:extLst>
              <a:ext uri="{FF2B5EF4-FFF2-40B4-BE49-F238E27FC236}">
                <a16:creationId xmlns:a16="http://schemas.microsoft.com/office/drawing/2014/main" id="{A199E921-1610-E497-0358-8BB5448751F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871283" y="6122954"/>
            <a:ext cx="3260002" cy="62381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slideLayout" Target="../slideLayouts/slideLayout1.xml"/><Relationship Id="rId4" Type="http://schemas.openxmlformats.org/officeDocument/2006/relationships/image" Target="../media/image27.wmf"/></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wmf"/><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wmf"/><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45.PNG"/><Relationship Id="rId1" Type="http://schemas.openxmlformats.org/officeDocument/2006/relationships/slideLayout" Target="../slideLayouts/slideLayout1.xml"/><Relationship Id="rId4" Type="http://schemas.openxmlformats.org/officeDocument/2006/relationships/image" Target="../media/image62.png"/></Relationships>
</file>

<file path=ppt/slides/_rels/slide4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xml"/><Relationship Id="rId5" Type="http://schemas.openxmlformats.org/officeDocument/2006/relationships/image" Target="../media/image71.png"/><Relationship Id="rId4" Type="http://schemas.openxmlformats.org/officeDocument/2006/relationships/image" Target="../media/image6.PNG"/></Relationships>
</file>

<file path=ppt/slides/_rels/slide5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5.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41812" y="632012"/>
            <a:ext cx="6508377" cy="646331"/>
          </a:xfrm>
          <a:prstGeom prst="rect">
            <a:avLst/>
          </a:prstGeom>
          <a:noFill/>
        </p:spPr>
        <p:txBody>
          <a:bodyPr wrap="square" rtlCol="0">
            <a:spAutoFit/>
          </a:bodyPr>
          <a:lstStyle/>
          <a:p>
            <a:pPr algn="ctr"/>
            <a:r>
              <a:rPr lang="zh-CN" altLang="en-US" sz="3600" dirty="0">
                <a:latin typeface="Times New Roman" pitchFamily="18" charset="0"/>
                <a:ea typeface="黑体" pitchFamily="49" charset="-122"/>
              </a:rPr>
              <a:t>第</a:t>
            </a:r>
            <a:r>
              <a:rPr lang="en-US" altLang="zh-CN" sz="3600" dirty="0">
                <a:latin typeface="Times New Roman" pitchFamily="18" charset="0"/>
                <a:ea typeface="黑体" pitchFamily="49" charset="-122"/>
              </a:rPr>
              <a:t>3</a:t>
            </a:r>
            <a:r>
              <a:rPr lang="zh-CN" altLang="en-US" sz="3600" dirty="0">
                <a:latin typeface="Times New Roman" pitchFamily="18" charset="0"/>
                <a:ea typeface="黑体" pitchFamily="49" charset="-122"/>
              </a:rPr>
              <a:t>章 基础实体特征</a:t>
            </a:r>
          </a:p>
        </p:txBody>
      </p:sp>
      <p:sp>
        <p:nvSpPr>
          <p:cNvPr id="3" name="TextBox 2"/>
          <p:cNvSpPr txBox="1"/>
          <p:nvPr/>
        </p:nvSpPr>
        <p:spPr>
          <a:xfrm>
            <a:off x="4239188" y="1385048"/>
            <a:ext cx="2584076" cy="4524315"/>
          </a:xfrm>
          <a:prstGeom prst="rect">
            <a:avLst/>
          </a:prstGeom>
          <a:noFill/>
        </p:spPr>
        <p:txBody>
          <a:bodyPr wrap="square" rtlCol="0">
            <a:spAutoFit/>
          </a:bodyPr>
          <a:lstStyle/>
          <a:p>
            <a:pPr>
              <a:lnSpc>
                <a:spcPct val="150000"/>
              </a:lnSpc>
            </a:pPr>
            <a:r>
              <a:rPr lang="en-US" altLang="zh-CN" sz="3200" dirty="0">
                <a:latin typeface="Times New Roman" pitchFamily="18" charset="0"/>
                <a:ea typeface="黑体" pitchFamily="49" charset="-122"/>
              </a:rPr>
              <a:t>3.1</a:t>
            </a:r>
            <a:r>
              <a:rPr lang="zh-CN" altLang="en-US" sz="3200" dirty="0">
                <a:latin typeface="Times New Roman" pitchFamily="18" charset="0"/>
                <a:ea typeface="黑体" pitchFamily="49" charset="-122"/>
              </a:rPr>
              <a:t>拉伸特征</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3.2 </a:t>
            </a:r>
            <a:r>
              <a:rPr lang="zh-CN" altLang="en-US" sz="3200" dirty="0">
                <a:latin typeface="Times New Roman" pitchFamily="18" charset="0"/>
                <a:ea typeface="黑体" pitchFamily="49" charset="-122"/>
              </a:rPr>
              <a:t>旋转特征</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3.3</a:t>
            </a:r>
            <a:r>
              <a:rPr lang="zh-CN" altLang="en-US" sz="3200" dirty="0">
                <a:latin typeface="Times New Roman" pitchFamily="18" charset="0"/>
                <a:ea typeface="黑体" pitchFamily="49" charset="-122"/>
              </a:rPr>
              <a:t>扫描特征</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3.4</a:t>
            </a:r>
            <a:r>
              <a:rPr lang="zh-CN" altLang="en-US" sz="3200" dirty="0">
                <a:latin typeface="Times New Roman" pitchFamily="18" charset="0"/>
                <a:ea typeface="黑体" pitchFamily="49" charset="-122"/>
              </a:rPr>
              <a:t>螺旋扫描</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3.5</a:t>
            </a:r>
            <a:r>
              <a:rPr lang="zh-CN" altLang="en-US" sz="3200" dirty="0">
                <a:latin typeface="Times New Roman" pitchFamily="18" charset="0"/>
                <a:ea typeface="黑体" pitchFamily="49" charset="-122"/>
              </a:rPr>
              <a:t>混合</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3.6</a:t>
            </a:r>
            <a:r>
              <a:rPr lang="zh-CN" altLang="en-US" sz="3200" dirty="0">
                <a:latin typeface="Times New Roman" pitchFamily="18" charset="0"/>
                <a:ea typeface="黑体" pitchFamily="49" charset="-122"/>
              </a:rPr>
              <a:t>扫描混合</a:t>
            </a:r>
            <a:endParaRPr lang="en-US" altLang="zh-CN" sz="3200" dirty="0">
              <a:latin typeface="Times New Roman" pitchFamily="18" charset="0"/>
              <a:ea typeface="黑体"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29772" y="1465730"/>
            <a:ext cx="10932456" cy="3242170"/>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基础特征是三维零件模型中重要的一类几何特征，包括拉伸特征、旋转特征、扫描特征、螺旋扫描特征、混合特征和扫描混合特征。基础特征可以被看作是将草绘截面通过指定的方式（如拉伸、旋转、扫描、螺旋扫描、混合或扫描混合）来创建的。本章将结合应用范例来介绍常见基础特征的创建知识。</a:t>
            </a:r>
          </a:p>
        </p:txBody>
      </p:sp>
    </p:spTree>
    <p:extLst>
      <p:ext uri="{BB962C8B-B14F-4D97-AF65-F5344CB8AC3E}">
        <p14:creationId xmlns:p14="http://schemas.microsoft.com/office/powerpoint/2010/main" val="3298276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0562" y="470647"/>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3.1</a:t>
            </a:r>
            <a:r>
              <a:rPr lang="zh-CN" altLang="en-US" sz="3200" dirty="0">
                <a:solidFill>
                  <a:schemeClr val="bg1"/>
                </a:solidFill>
                <a:latin typeface="Times New Roman" pitchFamily="18" charset="0"/>
                <a:ea typeface="黑体" pitchFamily="49" charset="-122"/>
              </a:rPr>
              <a:t>拉伸特征</a:t>
            </a:r>
            <a:endParaRPr lang="en-US" altLang="zh-CN" sz="3200" dirty="0">
              <a:solidFill>
                <a:schemeClr val="bg1"/>
              </a:solidFill>
              <a:latin typeface="Times New Roman" pitchFamily="18" charset="0"/>
              <a:ea typeface="黑体" pitchFamily="49" charset="-122"/>
            </a:endParaRPr>
          </a:p>
        </p:txBody>
      </p:sp>
      <p:sp>
        <p:nvSpPr>
          <p:cNvPr id="3" name="TextBox 2"/>
          <p:cNvSpPr txBox="1"/>
          <p:nvPr/>
        </p:nvSpPr>
        <p:spPr>
          <a:xfrm>
            <a:off x="457203" y="1465730"/>
            <a:ext cx="10932456" cy="2595839"/>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二维草绘（也称“</a:t>
            </a:r>
            <a:r>
              <a:rPr lang="en-US" altLang="zh-CN" sz="2800" dirty="0">
                <a:latin typeface="Times New Roman" pitchFamily="18" charset="0"/>
                <a:ea typeface="宋体" pitchFamily="2" charset="-122"/>
              </a:rPr>
              <a:t>2D</a:t>
            </a:r>
            <a:r>
              <a:rPr lang="zh-CN" altLang="en-US" sz="2800" dirty="0">
                <a:latin typeface="Times New Roman" pitchFamily="18" charset="0"/>
                <a:ea typeface="宋体" pitchFamily="2" charset="-122"/>
              </a:rPr>
              <a:t>草绘”）是三维建模的一个重要基础。在</a:t>
            </a:r>
            <a:r>
              <a:rPr lang="en-US" altLang="zh-CN" sz="2800" dirty="0" err="1">
                <a:latin typeface="Times New Roman" pitchFamily="18" charset="0"/>
                <a:ea typeface="宋体" pitchFamily="2" charset="-122"/>
              </a:rPr>
              <a:t>Creo</a:t>
            </a:r>
            <a:r>
              <a:rPr lang="en-US" altLang="zh-CN" sz="2800" dirty="0">
                <a:latin typeface="Times New Roman" pitchFamily="18" charset="0"/>
                <a:ea typeface="宋体" pitchFamily="2" charset="-122"/>
              </a:rPr>
              <a:t> Parametric 8.0</a:t>
            </a:r>
            <a:r>
              <a:rPr lang="zh-CN" altLang="en-US" sz="2800" dirty="0">
                <a:latin typeface="Times New Roman" pitchFamily="18" charset="0"/>
                <a:ea typeface="宋体" pitchFamily="2" charset="-122"/>
              </a:rPr>
              <a:t>中，二维草图基本是在草绘器（草绘模式）中绘制的。草绘常用的基本图元命令有点、直线、矩形、圆、圆弧、样条曲线等，利用这些命令可以绘制出各种各样的图形。</a:t>
            </a:r>
          </a:p>
        </p:txBody>
      </p:sp>
    </p:spTree>
    <p:extLst>
      <p:ext uri="{BB962C8B-B14F-4D97-AF65-F5344CB8AC3E}">
        <p14:creationId xmlns:p14="http://schemas.microsoft.com/office/powerpoint/2010/main" val="22953176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766486"/>
            <a:ext cx="10932456" cy="2677656"/>
          </a:xfrm>
          <a:prstGeom prst="rect">
            <a:avLst/>
          </a:prstGeom>
          <a:noFill/>
        </p:spPr>
        <p:txBody>
          <a:bodyPr wrap="square" rtlCol="0">
            <a:spAutoFit/>
          </a:bodyPr>
          <a:lstStyle/>
          <a:p>
            <a:pPr indent="266700" algn="just" fontAlgn="ctr">
              <a:lnSpc>
                <a:spcPct val="150000"/>
              </a:lnSpc>
              <a:spcAft>
                <a:spcPts val="0"/>
              </a:spcAft>
            </a:pPr>
            <a:r>
              <a:rPr lang="en-US" altLang="zh-CN" sz="2800" b="1" kern="100" dirty="0">
                <a:latin typeface="Times New Roman"/>
                <a:ea typeface="宋体"/>
                <a:cs typeface="Times New Roman"/>
              </a:rPr>
              <a:t>1.</a:t>
            </a:r>
            <a:r>
              <a:rPr lang="zh-CN" altLang="zh-CN" sz="2800" b="1" kern="100" dirty="0">
                <a:latin typeface="Times New Roman"/>
                <a:ea typeface="宋体"/>
                <a:cs typeface="Times New Roman"/>
              </a:rPr>
              <a:t>【拉伸】操控板</a:t>
            </a:r>
            <a:endParaRPr lang="zh-CN" altLang="zh-CN" sz="2800" kern="100" dirty="0">
              <a:latin typeface="等线"/>
              <a:ea typeface="等线"/>
              <a:cs typeface="Times New Roman"/>
            </a:endParaRPr>
          </a:p>
          <a:p>
            <a:pPr indent="266700" algn="just" fontAlgn="ctr">
              <a:lnSpc>
                <a:spcPct val="150000"/>
              </a:lnSpc>
              <a:spcAft>
                <a:spcPts val="0"/>
              </a:spcAft>
            </a:pPr>
            <a:r>
              <a:rPr lang="zh-CN" altLang="zh-CN" sz="2800" kern="100" dirty="0">
                <a:latin typeface="Times New Roman"/>
                <a:ea typeface="宋体"/>
                <a:cs typeface="Times New Roman"/>
              </a:rPr>
              <a:t>单击功能区【模型】选项卡【形状】区域中的“拉伸”按钮</a:t>
            </a:r>
            <a:r>
              <a:rPr lang="en-US" altLang="zh-CN" sz="2800" kern="100" dirty="0">
                <a:latin typeface="Times New Roman"/>
                <a:ea typeface="宋体"/>
                <a:cs typeface="Times New Roman"/>
              </a:rPr>
              <a:t>  </a:t>
            </a:r>
            <a:r>
              <a:rPr lang="zh-CN" altLang="zh-CN" sz="2800" kern="100" dirty="0">
                <a:latin typeface="Times New Roman"/>
                <a:ea typeface="宋体"/>
                <a:cs typeface="Times New Roman"/>
              </a:rPr>
              <a:t>，界面顶部显示【拉伸】操控板，如图</a:t>
            </a:r>
            <a:r>
              <a:rPr lang="en-US" altLang="zh-CN" sz="2800" kern="100" dirty="0">
                <a:latin typeface="Times New Roman"/>
                <a:ea typeface="宋体"/>
                <a:cs typeface="Times New Roman"/>
              </a:rPr>
              <a:t>3.1</a:t>
            </a:r>
            <a:r>
              <a:rPr lang="zh-CN" altLang="zh-CN" sz="2800" kern="100" dirty="0">
                <a:latin typeface="Times New Roman"/>
                <a:ea typeface="宋体"/>
                <a:cs typeface="Times New Roman"/>
              </a:rPr>
              <a:t>所示。</a:t>
            </a:r>
            <a:endParaRPr lang="zh-CN" altLang="zh-CN" sz="2800" kern="100" dirty="0">
              <a:latin typeface="等线"/>
              <a:ea typeface="等线"/>
              <a:cs typeface="Times New Roman"/>
            </a:endParaRPr>
          </a:p>
          <a:p>
            <a:pPr indent="457200">
              <a:lnSpc>
                <a:spcPct val="150000"/>
              </a:lnSpc>
            </a:pPr>
            <a:endParaRPr lang="zh-CN" altLang="en-US" sz="2800" dirty="0">
              <a:latin typeface="Times New Roman" pitchFamily="18" charset="0"/>
              <a:ea typeface="宋体" pitchFamily="2" charset="-122"/>
            </a:endParaRP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33921" y="1682146"/>
            <a:ext cx="319200" cy="360000"/>
          </a:xfrm>
          <a:prstGeom prst="rect">
            <a:avLst/>
          </a:prstGeom>
        </p:spPr>
      </p:pic>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6000" y="3244084"/>
            <a:ext cx="9000000" cy="1552055"/>
          </a:xfrm>
          <a:prstGeom prst="rect">
            <a:avLst/>
          </a:prstGeom>
        </p:spPr>
      </p:pic>
      <p:sp>
        <p:nvSpPr>
          <p:cNvPr id="7" name="TextBox 6"/>
          <p:cNvSpPr txBox="1"/>
          <p:nvPr/>
        </p:nvSpPr>
        <p:spPr>
          <a:xfrm>
            <a:off x="4901603" y="5218997"/>
            <a:ext cx="2388794" cy="369332"/>
          </a:xfrm>
          <a:prstGeom prst="rect">
            <a:avLst/>
          </a:prstGeom>
          <a:noFill/>
        </p:spPr>
        <p:txBody>
          <a:bodyPr wrap="none" rtlCol="0">
            <a:spAutoFit/>
          </a:bodyPr>
          <a:lstStyle/>
          <a:p>
            <a:pPr algn="ctr"/>
            <a:r>
              <a:rPr lang="zh-CN" altLang="en-US" dirty="0"/>
              <a:t>图</a:t>
            </a:r>
            <a:r>
              <a:rPr lang="en-US" altLang="zh-CN" dirty="0"/>
              <a:t>3-1 【</a:t>
            </a:r>
            <a:r>
              <a:rPr lang="zh-CN" altLang="en-US" dirty="0"/>
              <a:t>拉伸</a:t>
            </a:r>
            <a:r>
              <a:rPr lang="en-US" altLang="zh-CN" dirty="0"/>
              <a:t>】</a:t>
            </a:r>
            <a:r>
              <a:rPr lang="zh-CN" altLang="en-US" dirty="0"/>
              <a:t>操控板</a:t>
            </a:r>
          </a:p>
        </p:txBody>
      </p:sp>
    </p:spTree>
    <p:extLst>
      <p:ext uri="{BB962C8B-B14F-4D97-AF65-F5344CB8AC3E}">
        <p14:creationId xmlns:p14="http://schemas.microsoft.com/office/powerpoint/2010/main" val="3550421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3" y="766486"/>
            <a:ext cx="10932456" cy="5262979"/>
          </a:xfrm>
          <a:prstGeom prst="rect">
            <a:avLst/>
          </a:prstGeom>
          <a:noFill/>
        </p:spPr>
        <p:txBody>
          <a:bodyPr wrap="square" rtlCol="0">
            <a:spAutoFit/>
          </a:bodyPr>
          <a:lstStyle/>
          <a:p>
            <a:pPr indent="266700" algn="just" fontAlgn="ctr">
              <a:lnSpc>
                <a:spcPct val="150000"/>
              </a:lnSpc>
              <a:spcAft>
                <a:spcPts val="0"/>
              </a:spcAft>
            </a:pPr>
            <a:r>
              <a:rPr lang="en-US" altLang="zh-CN" sz="2800" b="1" kern="100" dirty="0">
                <a:latin typeface="Times New Roman"/>
                <a:ea typeface="宋体"/>
                <a:cs typeface="Times New Roman"/>
              </a:rPr>
              <a:t>2.</a:t>
            </a:r>
            <a:r>
              <a:rPr lang="zh-CN" altLang="zh-CN" sz="2800" b="1" kern="100" dirty="0">
                <a:latin typeface="Times New Roman"/>
                <a:ea typeface="宋体"/>
                <a:cs typeface="Times New Roman"/>
              </a:rPr>
              <a:t>【拉伸】操控板主要工具按钮介绍</a:t>
            </a:r>
            <a:endParaRPr lang="zh-CN" altLang="zh-CN" sz="2800" kern="100" dirty="0">
              <a:latin typeface="等线"/>
              <a:ea typeface="等线"/>
              <a:cs typeface="Times New Roman"/>
            </a:endParaRPr>
          </a:p>
          <a:p>
            <a:pPr indent="266700" algn="just" fontAlgn="ctr">
              <a:lnSpc>
                <a:spcPct val="150000"/>
              </a:lnSpc>
              <a:spcAft>
                <a:spcPts val="0"/>
              </a:spcAft>
            </a:pPr>
            <a:r>
              <a:rPr lang="en-US" altLang="zh-CN" sz="2800" kern="100" dirty="0">
                <a:latin typeface="Times New Roman"/>
                <a:ea typeface="宋体"/>
                <a:cs typeface="Times New Roman"/>
              </a:rPr>
              <a:t>1</a:t>
            </a:r>
            <a:r>
              <a:rPr lang="zh-CN" altLang="zh-CN" sz="2800" kern="100" dirty="0">
                <a:latin typeface="Times New Roman"/>
                <a:ea typeface="宋体"/>
                <a:cs typeface="Times New Roman"/>
              </a:rPr>
              <a:t>）特征类型</a:t>
            </a:r>
            <a:endParaRPr lang="zh-CN" altLang="zh-CN" sz="2800" kern="100" dirty="0">
              <a:latin typeface="等线"/>
              <a:ea typeface="等线"/>
              <a:cs typeface="Times New Roman"/>
            </a:endParaRPr>
          </a:p>
          <a:p>
            <a:pPr marL="342900" lvl="0" indent="-342900" algn="just" fontAlgn="ctr">
              <a:lnSpc>
                <a:spcPct val="150000"/>
              </a:lnSpc>
              <a:spcAft>
                <a:spcPts val="0"/>
              </a:spcAft>
              <a:buFont typeface="Wingdings"/>
              <a:buChar char=""/>
            </a:pPr>
            <a:r>
              <a:rPr lang="zh-CN" altLang="zh-CN" sz="2800" kern="100" dirty="0">
                <a:latin typeface="Times New Roman"/>
                <a:ea typeface="宋体"/>
                <a:cs typeface="Times New Roman"/>
              </a:rPr>
              <a:t>拉伸实体：单击操控板中的【实心】按钮</a:t>
            </a:r>
            <a:r>
              <a:rPr lang="en-US" altLang="zh-CN" sz="2800" kern="100" dirty="0">
                <a:latin typeface="Times New Roman"/>
                <a:ea typeface="宋体"/>
                <a:cs typeface="Times New Roman"/>
              </a:rPr>
              <a:t>  </a:t>
            </a:r>
            <a:r>
              <a:rPr lang="zh-CN" altLang="zh-CN" sz="2800" kern="100" dirty="0">
                <a:latin typeface="Times New Roman"/>
                <a:ea typeface="宋体"/>
                <a:cs typeface="Times New Roman"/>
              </a:rPr>
              <a:t>，使其呈按下状态。</a:t>
            </a:r>
            <a:endParaRPr lang="zh-CN" altLang="zh-CN" sz="2800" kern="100" dirty="0">
              <a:latin typeface="等线"/>
              <a:ea typeface="等线"/>
              <a:cs typeface="Times New Roman"/>
            </a:endParaRPr>
          </a:p>
          <a:p>
            <a:pPr marL="342900" lvl="0" indent="-342900" algn="just" fontAlgn="ctr">
              <a:lnSpc>
                <a:spcPct val="150000"/>
              </a:lnSpc>
              <a:spcAft>
                <a:spcPts val="0"/>
              </a:spcAft>
              <a:buFont typeface="Wingdings"/>
              <a:buChar char=""/>
            </a:pPr>
            <a:r>
              <a:rPr lang="zh-CN" altLang="zh-CN" sz="2800" kern="100" dirty="0">
                <a:latin typeface="Times New Roman"/>
                <a:ea typeface="宋体"/>
                <a:cs typeface="Times New Roman"/>
              </a:rPr>
              <a:t>移除材料：将【实心】按钮</a:t>
            </a:r>
            <a:r>
              <a:rPr lang="en-US" altLang="zh-CN" sz="2800" kern="100" dirty="0">
                <a:latin typeface="Times New Roman"/>
                <a:ea typeface="宋体"/>
                <a:cs typeface="Times New Roman"/>
              </a:rPr>
              <a:t>   </a:t>
            </a:r>
            <a:r>
              <a:rPr lang="zh-CN" altLang="zh-CN" sz="2800" kern="100" dirty="0">
                <a:latin typeface="Times New Roman"/>
                <a:ea typeface="宋体"/>
                <a:cs typeface="Times New Roman"/>
              </a:rPr>
              <a:t>和【移除材料】按钮</a:t>
            </a:r>
            <a:r>
              <a:rPr lang="en-US" altLang="zh-CN" sz="2800" kern="100" dirty="0">
                <a:latin typeface="Times New Roman"/>
                <a:ea typeface="宋体"/>
                <a:cs typeface="Times New Roman"/>
              </a:rPr>
              <a:t>   </a:t>
            </a:r>
            <a:r>
              <a:rPr lang="zh-CN" altLang="zh-CN" sz="2800" kern="100" dirty="0">
                <a:latin typeface="Times New Roman"/>
                <a:ea typeface="宋体"/>
                <a:cs typeface="Times New Roman"/>
              </a:rPr>
              <a:t>同时按下。</a:t>
            </a:r>
            <a:endParaRPr lang="zh-CN" altLang="zh-CN" sz="2800" kern="100" dirty="0">
              <a:latin typeface="等线"/>
              <a:ea typeface="等线"/>
              <a:cs typeface="Times New Roman"/>
            </a:endParaRPr>
          </a:p>
          <a:p>
            <a:pPr marL="342900" lvl="0" indent="-342900" algn="just" fontAlgn="ctr">
              <a:lnSpc>
                <a:spcPct val="150000"/>
              </a:lnSpc>
              <a:spcAft>
                <a:spcPts val="0"/>
              </a:spcAft>
              <a:buFont typeface="Wingdings"/>
              <a:buChar char=""/>
            </a:pPr>
            <a:r>
              <a:rPr lang="zh-CN" altLang="zh-CN" sz="2800" kern="100" dirty="0">
                <a:latin typeface="Times New Roman"/>
                <a:ea typeface="宋体"/>
                <a:cs typeface="Times New Roman"/>
              </a:rPr>
              <a:t>创建薄壳：将【实心】按钮</a:t>
            </a:r>
            <a:r>
              <a:rPr lang="en-US" altLang="zh-CN" sz="2800" kern="100" dirty="0">
                <a:latin typeface="Times New Roman"/>
                <a:ea typeface="宋体"/>
                <a:cs typeface="Times New Roman"/>
              </a:rPr>
              <a:t>   </a:t>
            </a:r>
            <a:r>
              <a:rPr lang="zh-CN" altLang="zh-CN" sz="2800" kern="100" dirty="0">
                <a:latin typeface="Times New Roman"/>
                <a:ea typeface="宋体"/>
                <a:cs typeface="Times New Roman"/>
              </a:rPr>
              <a:t>和【加厚草绘】按钮</a:t>
            </a:r>
            <a:r>
              <a:rPr lang="en-US" altLang="zh-CN" sz="2800" kern="100" dirty="0">
                <a:latin typeface="Times New Roman"/>
                <a:ea typeface="宋体"/>
                <a:cs typeface="Times New Roman"/>
              </a:rPr>
              <a:t>   </a:t>
            </a:r>
            <a:r>
              <a:rPr lang="zh-CN" altLang="zh-CN" sz="2800" kern="100" dirty="0">
                <a:latin typeface="Times New Roman"/>
                <a:ea typeface="宋体"/>
                <a:cs typeface="Times New Roman"/>
              </a:rPr>
              <a:t>同时按下。</a:t>
            </a:r>
            <a:endParaRPr lang="zh-CN" altLang="zh-CN" sz="2800" kern="100" dirty="0">
              <a:latin typeface="等线"/>
              <a:ea typeface="等线"/>
              <a:cs typeface="Times New Roman"/>
            </a:endParaRPr>
          </a:p>
          <a:p>
            <a:pPr marL="342900" lvl="0" indent="-342900" algn="just" fontAlgn="ctr">
              <a:lnSpc>
                <a:spcPct val="150000"/>
              </a:lnSpc>
              <a:spcAft>
                <a:spcPts val="0"/>
              </a:spcAft>
              <a:buFont typeface="Wingdings"/>
              <a:buChar char=""/>
            </a:pPr>
            <a:r>
              <a:rPr lang="zh-CN" altLang="zh-CN" sz="2800" kern="100" dirty="0">
                <a:latin typeface="Times New Roman"/>
                <a:ea typeface="宋体"/>
                <a:cs typeface="Times New Roman"/>
              </a:rPr>
              <a:t>拉伸曲面：将【曲面】按钮</a:t>
            </a:r>
            <a:r>
              <a:rPr lang="en-US" altLang="zh-CN" sz="2800" kern="100" dirty="0">
                <a:latin typeface="Times New Roman"/>
                <a:ea typeface="宋体"/>
                <a:cs typeface="Times New Roman"/>
              </a:rPr>
              <a:t>   </a:t>
            </a:r>
            <a:r>
              <a:rPr lang="zh-CN" altLang="zh-CN" sz="2800" kern="100" dirty="0">
                <a:latin typeface="Times New Roman"/>
                <a:ea typeface="宋体"/>
                <a:cs typeface="Times New Roman"/>
              </a:rPr>
              <a:t>按下</a:t>
            </a:r>
            <a:r>
              <a:rPr lang="en-US" altLang="zh-CN" sz="2800" kern="100" dirty="0">
                <a:latin typeface="Times New Roman"/>
                <a:ea typeface="宋体"/>
                <a:cs typeface="Times New Roman"/>
              </a:rPr>
              <a:t> </a:t>
            </a:r>
            <a:r>
              <a:rPr lang="zh-CN" altLang="zh-CN" sz="2800" kern="100" dirty="0">
                <a:latin typeface="Times New Roman"/>
                <a:ea typeface="宋体"/>
                <a:cs typeface="Times New Roman"/>
              </a:rPr>
              <a:t>。拉伸曲面情况下进行移除材料和创建薄壳需要存在曲面特征。</a:t>
            </a:r>
            <a:endParaRPr lang="zh-CN" altLang="zh-CN" sz="2800" kern="100" dirty="0">
              <a:latin typeface="等线"/>
              <a:ea typeface="等线"/>
              <a:cs typeface="Times New Roman"/>
            </a:endParaRPr>
          </a:p>
          <a:p>
            <a:pPr indent="457200">
              <a:lnSpc>
                <a:spcPct val="150000"/>
              </a:lnSpc>
            </a:pPr>
            <a:endParaRPr lang="zh-CN" altLang="en-US" sz="2800" dirty="0">
              <a:latin typeface="Times New Roman" pitchFamily="18" charset="0"/>
              <a:ea typeface="宋体" pitchFamily="2" charset="-122"/>
            </a:endParaRP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74135" y="2325221"/>
            <a:ext cx="346800" cy="360000"/>
          </a:xfrm>
          <a:prstGeom prst="rect">
            <a:avLst/>
          </a:prstGeom>
        </p:spPr>
      </p:pic>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7770" y="2993443"/>
            <a:ext cx="346800" cy="360000"/>
          </a:xfrm>
          <a:prstGeom prst="rect">
            <a:avLst/>
          </a:prstGeom>
        </p:spPr>
      </p:pic>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59182" y="2973750"/>
            <a:ext cx="346800" cy="360000"/>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68387" y="3616490"/>
            <a:ext cx="346800" cy="360000"/>
          </a:xfrm>
          <a:prstGeom prst="rect">
            <a:avLst/>
          </a:prstGeom>
        </p:spPr>
      </p:pic>
      <p:pic>
        <p:nvPicPr>
          <p:cNvPr id="10"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59182" y="3616490"/>
            <a:ext cx="360000" cy="360000"/>
          </a:xfrm>
          <a:prstGeom prst="rect">
            <a:avLst/>
          </a:prstGeom>
        </p:spPr>
      </p:pic>
      <p:pic>
        <p:nvPicPr>
          <p:cNvPr id="11" name="图片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07770" y="4275044"/>
            <a:ext cx="373200" cy="360000"/>
          </a:xfrm>
          <a:prstGeom prst="rect">
            <a:avLst/>
          </a:prstGeom>
        </p:spPr>
      </p:pic>
    </p:spTree>
    <p:extLst>
      <p:ext uri="{BB962C8B-B14F-4D97-AF65-F5344CB8AC3E}">
        <p14:creationId xmlns:p14="http://schemas.microsoft.com/office/powerpoint/2010/main" val="744826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57203" y="981638"/>
            <a:ext cx="10932456" cy="2600199"/>
            <a:chOff x="457203" y="766486"/>
            <a:chExt cx="10932456" cy="2600199"/>
          </a:xfrm>
        </p:grpSpPr>
        <p:sp>
          <p:nvSpPr>
            <p:cNvPr id="4" name="TextBox 3"/>
            <p:cNvSpPr txBox="1"/>
            <p:nvPr/>
          </p:nvSpPr>
          <p:spPr>
            <a:xfrm>
              <a:off x="457203" y="766486"/>
              <a:ext cx="10932456" cy="2600199"/>
            </a:xfrm>
            <a:prstGeom prst="rect">
              <a:avLst/>
            </a:prstGeom>
            <a:noFill/>
          </p:spPr>
          <p:txBody>
            <a:bodyPr wrap="square" rtlCol="0">
              <a:spAutoFit/>
            </a:bodyPr>
            <a:lstStyle/>
            <a:p>
              <a:pPr indent="266700" algn="just" fontAlgn="ctr">
                <a:lnSpc>
                  <a:spcPct val="150000"/>
                </a:lnSpc>
                <a:spcAft>
                  <a:spcPts val="0"/>
                </a:spcAft>
              </a:pPr>
              <a:r>
                <a:rPr lang="en-US" altLang="zh-CN" sz="2800" kern="100" dirty="0">
                  <a:latin typeface="Times New Roman"/>
                  <a:ea typeface="宋体"/>
                  <a:cs typeface="Times New Roman"/>
                </a:rPr>
                <a:t>2</a:t>
              </a:r>
              <a:r>
                <a:rPr lang="zh-CN" altLang="zh-CN" sz="2800" kern="100" dirty="0">
                  <a:latin typeface="Times New Roman"/>
                  <a:ea typeface="宋体"/>
                  <a:cs typeface="Times New Roman"/>
                </a:rPr>
                <a:t>）方向控制</a:t>
              </a:r>
              <a:endParaRPr lang="zh-CN" altLang="zh-CN" sz="2800" kern="100" dirty="0">
                <a:latin typeface="等线"/>
                <a:ea typeface="等线"/>
                <a:cs typeface="Times New Roman"/>
              </a:endParaRPr>
            </a:p>
            <a:p>
              <a:pPr indent="266700" algn="just" fontAlgn="ctr">
                <a:lnSpc>
                  <a:spcPct val="150000"/>
                </a:lnSpc>
                <a:spcAft>
                  <a:spcPts val="0"/>
                </a:spcAft>
              </a:pPr>
              <a:r>
                <a:rPr lang="zh-CN" altLang="zh-CN" sz="2800" kern="100" dirty="0">
                  <a:latin typeface="Times New Roman"/>
                  <a:ea typeface="宋体"/>
                  <a:cs typeface="Times New Roman"/>
                </a:rPr>
                <a:t>在改变拉伸方向时，可单击图形区的方向箭头来控制拉伸方向，也可单击【拉伸】操控板中的【方向】按钮</a:t>
              </a:r>
              <a:r>
                <a:rPr lang="en-US" altLang="zh-CN" sz="2800" kern="100" dirty="0">
                  <a:latin typeface="Times New Roman"/>
                  <a:ea typeface="宋体"/>
                  <a:cs typeface="Times New Roman"/>
                </a:rPr>
                <a:t>  </a:t>
              </a:r>
              <a:r>
                <a:rPr lang="zh-CN" altLang="zh-CN" sz="2800" kern="100" dirty="0">
                  <a:latin typeface="Times New Roman"/>
                  <a:ea typeface="宋体"/>
                  <a:cs typeface="Times New Roman"/>
                </a:rPr>
                <a:t>来控制拉伸方向。</a:t>
              </a:r>
              <a:endParaRPr lang="zh-CN" altLang="zh-CN" sz="2800" kern="100" dirty="0">
                <a:latin typeface="等线"/>
                <a:ea typeface="等线"/>
                <a:cs typeface="Times New Roman"/>
              </a:endParaRPr>
            </a:p>
            <a:p>
              <a:pPr indent="457200">
                <a:lnSpc>
                  <a:spcPct val="150000"/>
                </a:lnSpc>
              </a:pPr>
              <a:endParaRPr lang="zh-CN" altLang="en-US" sz="2800" dirty="0">
                <a:latin typeface="Times New Roman" pitchFamily="18" charset="0"/>
                <a:ea typeface="宋体" pitchFamily="2" charset="-122"/>
              </a:endParaRPr>
            </a:p>
          </p:txBody>
        </p:sp>
        <p:pic>
          <p:nvPicPr>
            <p:cNvPr id="12" name="图片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7959" y="2311774"/>
              <a:ext cx="346800" cy="360000"/>
            </a:xfrm>
            <a:prstGeom prst="rect">
              <a:avLst/>
            </a:prstGeom>
          </p:spPr>
        </p:pic>
      </p:grpSp>
    </p:spTree>
    <p:extLst>
      <p:ext uri="{BB962C8B-B14F-4D97-AF65-F5344CB8AC3E}">
        <p14:creationId xmlns:p14="http://schemas.microsoft.com/office/powerpoint/2010/main" val="714485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extLst>
              <p:ext uri="{D42A27DB-BD31-4B8C-83A1-F6EECF244321}">
                <p14:modId xmlns:p14="http://schemas.microsoft.com/office/powerpoint/2010/main" val="732532011"/>
              </p:ext>
            </p:extLst>
          </p:nvPr>
        </p:nvGraphicFramePr>
        <p:xfrm>
          <a:off x="1355835" y="1012319"/>
          <a:ext cx="9240166" cy="1808385"/>
        </p:xfrm>
        <a:graphic>
          <a:graphicData uri="http://schemas.openxmlformats.org/drawingml/2006/table">
            <a:tbl>
              <a:tblPr firstRow="1" firstCol="1" bandRow="1"/>
              <a:tblGrid>
                <a:gridCol w="952525">
                  <a:extLst>
                    <a:ext uri="{9D8B030D-6E8A-4147-A177-3AD203B41FA5}">
                      <a16:colId xmlns:a16="http://schemas.microsoft.com/office/drawing/2014/main" val="20000"/>
                    </a:ext>
                  </a:extLst>
                </a:gridCol>
                <a:gridCol w="898100">
                  <a:extLst>
                    <a:ext uri="{9D8B030D-6E8A-4147-A177-3AD203B41FA5}">
                      <a16:colId xmlns:a16="http://schemas.microsoft.com/office/drawing/2014/main" val="20001"/>
                    </a:ext>
                  </a:extLst>
                </a:gridCol>
                <a:gridCol w="1475900">
                  <a:extLst>
                    <a:ext uri="{9D8B030D-6E8A-4147-A177-3AD203B41FA5}">
                      <a16:colId xmlns:a16="http://schemas.microsoft.com/office/drawing/2014/main" val="20002"/>
                    </a:ext>
                  </a:extLst>
                </a:gridCol>
                <a:gridCol w="5913641">
                  <a:extLst>
                    <a:ext uri="{9D8B030D-6E8A-4147-A177-3AD203B41FA5}">
                      <a16:colId xmlns:a16="http://schemas.microsoft.com/office/drawing/2014/main" val="20003"/>
                    </a:ext>
                  </a:extLst>
                </a:gridCol>
              </a:tblGrid>
              <a:tr h="407086">
                <a:tc>
                  <a:txBody>
                    <a:bodyPr/>
                    <a:lstStyle/>
                    <a:p>
                      <a:pPr algn="ctr" fontAlgn="ctr">
                        <a:spcAft>
                          <a:spcPts val="0"/>
                        </a:spcAft>
                      </a:pPr>
                      <a:r>
                        <a:rPr lang="zh-CN" sz="2400" b="1" kern="100" dirty="0">
                          <a:effectLst/>
                          <a:latin typeface="Times New Roman"/>
                          <a:ea typeface="宋体"/>
                          <a:cs typeface="Times New Roman"/>
                        </a:rPr>
                        <a:t>序号</a:t>
                      </a:r>
                      <a:endParaRPr lang="zh-CN" sz="2400" kern="100" dirty="0">
                        <a:effectLst/>
                        <a:latin typeface="等线"/>
                        <a:ea typeface="等线"/>
                        <a:cs typeface="Times New Roman"/>
                      </a:endParaRPr>
                    </a:p>
                  </a:txBody>
                  <a:tcPr marL="113977" marR="11397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zh-CN" sz="2400" b="1" kern="100" dirty="0">
                          <a:effectLst/>
                          <a:latin typeface="Times New Roman"/>
                          <a:ea typeface="宋体"/>
                          <a:cs typeface="Times New Roman"/>
                        </a:rPr>
                        <a:t>图标</a:t>
                      </a:r>
                      <a:endParaRPr lang="zh-CN" sz="2400" kern="100" dirty="0">
                        <a:effectLst/>
                        <a:latin typeface="等线"/>
                        <a:ea typeface="等线"/>
                        <a:cs typeface="Times New Roman"/>
                      </a:endParaRPr>
                    </a:p>
                  </a:txBody>
                  <a:tcPr marL="113977" marR="1139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zh-CN" sz="2400" b="1" kern="100">
                          <a:effectLst/>
                          <a:latin typeface="Times New Roman"/>
                          <a:ea typeface="宋体"/>
                          <a:cs typeface="Times New Roman"/>
                        </a:rPr>
                        <a:t>图标名称</a:t>
                      </a:r>
                      <a:endParaRPr lang="zh-CN" sz="2400" kern="100">
                        <a:effectLst/>
                        <a:latin typeface="等线"/>
                        <a:ea typeface="等线"/>
                        <a:cs typeface="Times New Roman"/>
                      </a:endParaRPr>
                    </a:p>
                  </a:txBody>
                  <a:tcPr marL="113977" marR="1139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zh-CN" sz="2400" b="1" kern="100" dirty="0">
                          <a:effectLst/>
                          <a:latin typeface="Times New Roman"/>
                          <a:ea typeface="宋体"/>
                          <a:cs typeface="Times New Roman"/>
                        </a:rPr>
                        <a:t>拉伸深度类型说明</a:t>
                      </a:r>
                      <a:endParaRPr lang="zh-CN" sz="2400" kern="100" dirty="0">
                        <a:effectLst/>
                        <a:latin typeface="等线"/>
                        <a:ea typeface="等线"/>
                        <a:cs typeface="Times New Roman"/>
                      </a:endParaRPr>
                    </a:p>
                  </a:txBody>
                  <a:tcPr marL="113977" marR="11397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669779">
                <a:tc>
                  <a:txBody>
                    <a:bodyPr/>
                    <a:lstStyle/>
                    <a:p>
                      <a:pPr algn="ctr" fontAlgn="ctr">
                        <a:spcAft>
                          <a:spcPts val="0"/>
                        </a:spcAft>
                      </a:pPr>
                      <a:r>
                        <a:rPr lang="en-US" sz="1700" kern="100" dirty="0">
                          <a:effectLst/>
                          <a:latin typeface="Times New Roman"/>
                          <a:ea typeface="宋体"/>
                          <a:cs typeface="Times New Roman"/>
                        </a:rPr>
                        <a:t>1</a:t>
                      </a:r>
                      <a:endParaRPr lang="zh-CN" sz="1700" kern="100" dirty="0">
                        <a:effectLst/>
                        <a:latin typeface="等线"/>
                        <a:ea typeface="等线"/>
                        <a:cs typeface="Times New Roman"/>
                      </a:endParaRPr>
                    </a:p>
                  </a:txBody>
                  <a:tcPr marL="113977" marR="11397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endParaRPr lang="en-US" sz="1700" kern="100">
                        <a:effectLst/>
                        <a:latin typeface="Times New Roman"/>
                        <a:ea typeface="宋体"/>
                        <a:cs typeface="Times New Roman"/>
                      </a:endParaRPr>
                    </a:p>
                  </a:txBody>
                  <a:tcPr marL="113977" marR="1139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zh-CN" sz="2400" kern="100" dirty="0">
                          <a:effectLst/>
                          <a:latin typeface="Times New Roman"/>
                          <a:ea typeface="宋体"/>
                          <a:cs typeface="Times New Roman"/>
                        </a:rPr>
                        <a:t>盲孔</a:t>
                      </a:r>
                      <a:endParaRPr lang="zh-CN" sz="2400" kern="100" dirty="0">
                        <a:effectLst/>
                        <a:latin typeface="等线"/>
                        <a:ea typeface="等线"/>
                        <a:cs typeface="Times New Roman"/>
                      </a:endParaRPr>
                    </a:p>
                  </a:txBody>
                  <a:tcPr marL="113977" marR="1139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spcAft>
                          <a:spcPts val="0"/>
                        </a:spcAft>
                      </a:pPr>
                      <a:r>
                        <a:rPr lang="zh-CN" sz="2400" kern="100" dirty="0">
                          <a:effectLst/>
                          <a:latin typeface="Times New Roman"/>
                          <a:ea typeface="宋体"/>
                          <a:cs typeface="Times New Roman"/>
                        </a:rPr>
                        <a:t>通过尺寸来确定特征的单侧深度。</a:t>
                      </a:r>
                      <a:endParaRPr lang="zh-CN" sz="2400" kern="100" dirty="0">
                        <a:effectLst/>
                        <a:latin typeface="等线"/>
                        <a:ea typeface="等线"/>
                        <a:cs typeface="Times New Roman"/>
                      </a:endParaRPr>
                    </a:p>
                  </a:txBody>
                  <a:tcPr marL="113977" marR="11397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69779">
                <a:tc>
                  <a:txBody>
                    <a:bodyPr/>
                    <a:lstStyle/>
                    <a:p>
                      <a:pPr algn="ctr" fontAlgn="ctr">
                        <a:spcAft>
                          <a:spcPts val="0"/>
                        </a:spcAft>
                      </a:pPr>
                      <a:r>
                        <a:rPr lang="en-US" sz="1700" kern="100" dirty="0">
                          <a:effectLst/>
                          <a:latin typeface="Times New Roman"/>
                          <a:ea typeface="宋体"/>
                          <a:cs typeface="Times New Roman"/>
                        </a:rPr>
                        <a:t>2</a:t>
                      </a:r>
                      <a:endParaRPr lang="zh-CN" sz="1700" kern="100" dirty="0">
                        <a:effectLst/>
                        <a:latin typeface="等线"/>
                        <a:ea typeface="等线"/>
                        <a:cs typeface="Times New Roman"/>
                      </a:endParaRPr>
                    </a:p>
                  </a:txBody>
                  <a:tcPr marL="113977" marR="11397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endParaRPr lang="en-US" sz="1700" kern="100" dirty="0">
                        <a:effectLst/>
                        <a:latin typeface="Times New Roman"/>
                        <a:ea typeface="宋体"/>
                        <a:cs typeface="Times New Roman"/>
                      </a:endParaRPr>
                    </a:p>
                  </a:txBody>
                  <a:tcPr marL="113977" marR="1139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zh-CN" sz="2400" kern="100" dirty="0">
                          <a:effectLst/>
                          <a:latin typeface="Times New Roman"/>
                          <a:ea typeface="宋体"/>
                          <a:cs typeface="Times New Roman"/>
                        </a:rPr>
                        <a:t>对称</a:t>
                      </a:r>
                      <a:endParaRPr lang="zh-CN" sz="2400" kern="100" dirty="0">
                        <a:effectLst/>
                        <a:latin typeface="等线"/>
                        <a:ea typeface="等线"/>
                        <a:cs typeface="Times New Roman"/>
                      </a:endParaRPr>
                    </a:p>
                  </a:txBody>
                  <a:tcPr marL="113977" marR="1139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spcAft>
                          <a:spcPts val="0"/>
                        </a:spcAft>
                      </a:pPr>
                      <a:r>
                        <a:rPr lang="zh-CN" sz="2400" kern="100" dirty="0">
                          <a:effectLst/>
                          <a:latin typeface="Times New Roman"/>
                          <a:ea typeface="宋体"/>
                          <a:cs typeface="Times New Roman"/>
                        </a:rPr>
                        <a:t>表示以草绘平面为基准沿两个方向创建特征，两侧的特征深度均为总尺寸的一半。</a:t>
                      </a:r>
                      <a:endParaRPr lang="zh-CN" sz="2400" kern="100" dirty="0">
                        <a:effectLst/>
                        <a:latin typeface="等线"/>
                        <a:ea typeface="等线"/>
                        <a:cs typeface="Times New Roman"/>
                      </a:endParaRPr>
                    </a:p>
                  </a:txBody>
                  <a:tcPr marL="113977" marR="11397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pic>
        <p:nvPicPr>
          <p:cNvPr id="1026" name="图片 20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9514" y="1540202"/>
            <a:ext cx="428571" cy="360000"/>
          </a:xfrm>
          <a:prstGeom prst="rect">
            <a:avLst/>
          </a:prstGeom>
          <a:noFill/>
          <a:extLst>
            <a:ext uri="{909E8E84-426E-40DD-AFC4-6F175D3DCCD1}">
              <a14:hiddenFill xmlns:a14="http://schemas.microsoft.com/office/drawing/2010/main">
                <a:solidFill>
                  <a:srgbClr val="FFFFFF"/>
                </a:solidFill>
              </a14:hiddenFill>
            </a:ext>
          </a:extLst>
        </p:spPr>
      </p:pic>
      <p:pic>
        <p:nvPicPr>
          <p:cNvPr id="1025" name="图片 20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2630" y="2289488"/>
            <a:ext cx="425455" cy="3600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表格 4"/>
          <p:cNvGraphicFramePr>
            <a:graphicFrameLocks noGrp="1"/>
          </p:cNvGraphicFramePr>
          <p:nvPr>
            <p:extLst>
              <p:ext uri="{D42A27DB-BD31-4B8C-83A1-F6EECF244321}">
                <p14:modId xmlns:p14="http://schemas.microsoft.com/office/powerpoint/2010/main" val="1146255638"/>
              </p:ext>
            </p:extLst>
          </p:nvPr>
        </p:nvGraphicFramePr>
        <p:xfrm>
          <a:off x="1403132" y="2849103"/>
          <a:ext cx="9192869" cy="3657600"/>
        </p:xfrm>
        <a:graphic>
          <a:graphicData uri="http://schemas.openxmlformats.org/drawingml/2006/table">
            <a:tbl>
              <a:tblPr firstRow="1" firstCol="1" bandRow="1"/>
              <a:tblGrid>
                <a:gridCol w="905228">
                  <a:extLst>
                    <a:ext uri="{9D8B030D-6E8A-4147-A177-3AD203B41FA5}">
                      <a16:colId xmlns:a16="http://schemas.microsoft.com/office/drawing/2014/main" val="20000"/>
                    </a:ext>
                  </a:extLst>
                </a:gridCol>
                <a:gridCol w="898100">
                  <a:extLst>
                    <a:ext uri="{9D8B030D-6E8A-4147-A177-3AD203B41FA5}">
                      <a16:colId xmlns:a16="http://schemas.microsoft.com/office/drawing/2014/main" val="20001"/>
                    </a:ext>
                  </a:extLst>
                </a:gridCol>
                <a:gridCol w="1475900">
                  <a:extLst>
                    <a:ext uri="{9D8B030D-6E8A-4147-A177-3AD203B41FA5}">
                      <a16:colId xmlns:a16="http://schemas.microsoft.com/office/drawing/2014/main" val="20002"/>
                    </a:ext>
                  </a:extLst>
                </a:gridCol>
                <a:gridCol w="5913641">
                  <a:extLst>
                    <a:ext uri="{9D8B030D-6E8A-4147-A177-3AD203B41FA5}">
                      <a16:colId xmlns:a16="http://schemas.microsoft.com/office/drawing/2014/main" val="20003"/>
                    </a:ext>
                  </a:extLst>
                </a:gridCol>
              </a:tblGrid>
              <a:tr h="714499">
                <a:tc>
                  <a:txBody>
                    <a:bodyPr/>
                    <a:lstStyle/>
                    <a:p>
                      <a:pPr algn="ctr" fontAlgn="ctr">
                        <a:spcAft>
                          <a:spcPts val="0"/>
                        </a:spcAft>
                      </a:pPr>
                      <a:r>
                        <a:rPr lang="en-US" sz="2400" kern="100" dirty="0">
                          <a:effectLst/>
                          <a:latin typeface="Times New Roman"/>
                          <a:ea typeface="宋体"/>
                          <a:cs typeface="Times New Roman"/>
                        </a:rPr>
                        <a:t>3</a:t>
                      </a:r>
                      <a:endParaRPr lang="zh-CN" sz="2400" kern="100" dirty="0">
                        <a:effectLst/>
                        <a:latin typeface="等线"/>
                        <a:ea typeface="等线"/>
                        <a:cs typeface="Times New Roman"/>
                      </a:endParaRPr>
                    </a:p>
                  </a:txBody>
                  <a:tcPr marL="113977" marR="113977" marT="0" marB="0" anchor="ctr">
                    <a:lnL>
                      <a:noFill/>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endParaRPr lang="en-US" sz="2400" kern="100" dirty="0">
                        <a:effectLst/>
                        <a:latin typeface="Times New Roman"/>
                        <a:ea typeface="宋体"/>
                        <a:cs typeface="Times New Roman"/>
                      </a:endParaRPr>
                    </a:p>
                  </a:txBody>
                  <a:tcPr marL="113977" marR="1139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zh-CN" sz="2400" kern="100">
                          <a:effectLst/>
                          <a:latin typeface="Times New Roman"/>
                          <a:ea typeface="宋体"/>
                          <a:cs typeface="Times New Roman"/>
                        </a:rPr>
                        <a:t>到下一个</a:t>
                      </a:r>
                      <a:endParaRPr lang="zh-CN" sz="2400" kern="100">
                        <a:effectLst/>
                        <a:latin typeface="等线"/>
                        <a:ea typeface="等线"/>
                        <a:cs typeface="Times New Roman"/>
                      </a:endParaRPr>
                    </a:p>
                  </a:txBody>
                  <a:tcPr marL="113977" marR="1139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spcAft>
                          <a:spcPts val="0"/>
                        </a:spcAft>
                      </a:pPr>
                      <a:r>
                        <a:rPr lang="zh-CN" sz="2400" kern="100" dirty="0">
                          <a:effectLst/>
                          <a:latin typeface="Times New Roman"/>
                          <a:ea typeface="宋体"/>
                          <a:cs typeface="Times New Roman"/>
                        </a:rPr>
                        <a:t>从草绘平面开始沿拉伸方向添加或去除材料，在特征到达第一个曲面时终止。</a:t>
                      </a:r>
                      <a:endParaRPr lang="zh-CN" sz="2400" kern="100" dirty="0">
                        <a:effectLst/>
                        <a:latin typeface="等线"/>
                        <a:ea typeface="等线"/>
                        <a:cs typeface="Times New Roman"/>
                      </a:endParaRPr>
                    </a:p>
                  </a:txBody>
                  <a:tcPr marL="113977" marR="113977" marT="0" marB="0" anchor="ctr">
                    <a:lnL w="12700" cap="flat" cmpd="sng" algn="ctr">
                      <a:solidFill>
                        <a:srgbClr val="000000"/>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14499">
                <a:tc>
                  <a:txBody>
                    <a:bodyPr/>
                    <a:lstStyle/>
                    <a:p>
                      <a:pPr algn="ctr" fontAlgn="ctr">
                        <a:spcAft>
                          <a:spcPts val="0"/>
                        </a:spcAft>
                      </a:pPr>
                      <a:r>
                        <a:rPr lang="en-US" sz="2400" kern="100" dirty="0">
                          <a:effectLst/>
                          <a:latin typeface="Times New Roman"/>
                          <a:ea typeface="宋体"/>
                          <a:cs typeface="Times New Roman"/>
                        </a:rPr>
                        <a:t>4</a:t>
                      </a:r>
                      <a:endParaRPr lang="zh-CN" sz="2400" kern="100" dirty="0">
                        <a:effectLst/>
                        <a:latin typeface="等线"/>
                        <a:ea typeface="等线"/>
                        <a:cs typeface="Times New Roman"/>
                      </a:endParaRPr>
                    </a:p>
                  </a:txBody>
                  <a:tcPr marL="113977" marR="11397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endParaRPr lang="en-US" sz="2400" kern="100" dirty="0">
                        <a:effectLst/>
                        <a:latin typeface="Times New Roman"/>
                        <a:ea typeface="宋体"/>
                        <a:cs typeface="Times New Roman"/>
                      </a:endParaRPr>
                    </a:p>
                  </a:txBody>
                  <a:tcPr marL="113977" marR="1139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zh-CN" sz="2400" kern="100" dirty="0">
                          <a:effectLst/>
                          <a:latin typeface="Times New Roman"/>
                          <a:ea typeface="宋体"/>
                          <a:cs typeface="Times New Roman"/>
                        </a:rPr>
                        <a:t>穿透</a:t>
                      </a:r>
                      <a:endParaRPr lang="zh-CN" sz="2400" kern="100" dirty="0">
                        <a:effectLst/>
                        <a:latin typeface="等线"/>
                        <a:ea typeface="等线"/>
                        <a:cs typeface="Times New Roman"/>
                      </a:endParaRPr>
                    </a:p>
                  </a:txBody>
                  <a:tcPr marL="113977" marR="1139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spcAft>
                          <a:spcPts val="0"/>
                        </a:spcAft>
                      </a:pPr>
                      <a:r>
                        <a:rPr lang="zh-CN" sz="2400" kern="100" dirty="0">
                          <a:effectLst/>
                          <a:latin typeface="Times New Roman"/>
                          <a:ea typeface="宋体"/>
                          <a:cs typeface="Times New Roman"/>
                        </a:rPr>
                        <a:t>从草绘平面开始沿拉伸方向添加或去除材料，特征到达最后一个曲面时终止。</a:t>
                      </a:r>
                      <a:endParaRPr lang="zh-CN" sz="2400" kern="100" dirty="0">
                        <a:effectLst/>
                        <a:latin typeface="等线"/>
                        <a:ea typeface="等线"/>
                        <a:cs typeface="Times New Roman"/>
                      </a:endParaRPr>
                    </a:p>
                  </a:txBody>
                  <a:tcPr marL="113977" marR="11397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14499">
                <a:tc>
                  <a:txBody>
                    <a:bodyPr/>
                    <a:lstStyle/>
                    <a:p>
                      <a:pPr algn="ctr" fontAlgn="ctr">
                        <a:spcAft>
                          <a:spcPts val="0"/>
                        </a:spcAft>
                      </a:pPr>
                      <a:r>
                        <a:rPr lang="en-US" sz="2400" kern="100">
                          <a:effectLst/>
                          <a:latin typeface="Times New Roman"/>
                          <a:ea typeface="宋体"/>
                          <a:cs typeface="Times New Roman"/>
                        </a:rPr>
                        <a:t>5</a:t>
                      </a:r>
                      <a:endParaRPr lang="zh-CN" sz="2400" kern="100">
                        <a:effectLst/>
                        <a:latin typeface="等线"/>
                        <a:ea typeface="等线"/>
                        <a:cs typeface="Times New Roman"/>
                      </a:endParaRPr>
                    </a:p>
                  </a:txBody>
                  <a:tcPr marL="113977" marR="11397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endParaRPr lang="en-US" sz="2400" kern="100" dirty="0">
                        <a:effectLst/>
                        <a:latin typeface="Times New Roman"/>
                        <a:ea typeface="宋体"/>
                        <a:cs typeface="Times New Roman"/>
                      </a:endParaRPr>
                    </a:p>
                  </a:txBody>
                  <a:tcPr marL="113977" marR="1139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zh-CN" sz="2400" kern="100" dirty="0">
                          <a:effectLst/>
                          <a:latin typeface="Times New Roman"/>
                          <a:ea typeface="宋体"/>
                          <a:cs typeface="Times New Roman"/>
                        </a:rPr>
                        <a:t>穿至</a:t>
                      </a:r>
                      <a:endParaRPr lang="zh-CN" sz="2400" kern="100" dirty="0">
                        <a:effectLst/>
                        <a:latin typeface="等线"/>
                        <a:ea typeface="等线"/>
                        <a:cs typeface="Times New Roman"/>
                      </a:endParaRPr>
                    </a:p>
                  </a:txBody>
                  <a:tcPr marL="113977" marR="1139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spcAft>
                          <a:spcPts val="0"/>
                        </a:spcAft>
                      </a:pPr>
                      <a:r>
                        <a:rPr lang="zh-CN" sz="2400" kern="100" dirty="0">
                          <a:effectLst/>
                          <a:latin typeface="Times New Roman"/>
                          <a:ea typeface="宋体"/>
                          <a:cs typeface="Times New Roman"/>
                        </a:rPr>
                        <a:t>从草绘平面开始沿拉伸方向添加或去除材料，当遇到用户所选择的实体模型曲面时停止。</a:t>
                      </a:r>
                      <a:endParaRPr lang="zh-CN" sz="2400" kern="100" dirty="0">
                        <a:effectLst/>
                        <a:latin typeface="等线"/>
                        <a:ea typeface="等线"/>
                        <a:cs typeface="Times New Roman"/>
                      </a:endParaRPr>
                    </a:p>
                  </a:txBody>
                  <a:tcPr marL="113977" marR="11397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14499">
                <a:tc>
                  <a:txBody>
                    <a:bodyPr/>
                    <a:lstStyle/>
                    <a:p>
                      <a:pPr algn="ctr" fontAlgn="ctr">
                        <a:spcAft>
                          <a:spcPts val="0"/>
                        </a:spcAft>
                      </a:pPr>
                      <a:r>
                        <a:rPr lang="en-US" sz="2400" kern="100">
                          <a:effectLst/>
                          <a:latin typeface="Times New Roman"/>
                          <a:ea typeface="宋体"/>
                          <a:cs typeface="Times New Roman"/>
                        </a:rPr>
                        <a:t>6</a:t>
                      </a:r>
                      <a:endParaRPr lang="zh-CN" sz="2400" kern="100">
                        <a:effectLst/>
                        <a:latin typeface="等线"/>
                        <a:ea typeface="等线"/>
                        <a:cs typeface="Times New Roman"/>
                      </a:endParaRPr>
                    </a:p>
                  </a:txBody>
                  <a:tcPr marL="113977" marR="11397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endParaRPr lang="en-US" sz="2400" kern="100">
                        <a:effectLst/>
                        <a:latin typeface="Times New Roman"/>
                        <a:ea typeface="宋体"/>
                        <a:cs typeface="Times New Roman"/>
                      </a:endParaRPr>
                    </a:p>
                  </a:txBody>
                  <a:tcPr marL="113977" marR="1139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zh-CN" sz="2400" kern="100" dirty="0">
                          <a:effectLst/>
                          <a:latin typeface="Times New Roman"/>
                          <a:ea typeface="宋体"/>
                          <a:cs typeface="Times New Roman"/>
                        </a:rPr>
                        <a:t>到选定项</a:t>
                      </a:r>
                      <a:endParaRPr lang="zh-CN" sz="2400" kern="100" dirty="0">
                        <a:effectLst/>
                        <a:latin typeface="等线"/>
                        <a:ea typeface="等线"/>
                        <a:cs typeface="Times New Roman"/>
                      </a:endParaRPr>
                    </a:p>
                  </a:txBody>
                  <a:tcPr marL="113977" marR="1139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spcAft>
                          <a:spcPts val="0"/>
                        </a:spcAft>
                      </a:pPr>
                      <a:r>
                        <a:rPr lang="zh-CN" sz="2400" kern="100" dirty="0">
                          <a:effectLst/>
                          <a:latin typeface="Times New Roman"/>
                          <a:ea typeface="宋体"/>
                          <a:cs typeface="Times New Roman"/>
                        </a:rPr>
                        <a:t>从草绘平面开始沿拉伸方向添加或去除材料，当遇到用户所选择的实体上的点、曲线、平面或一般面所在的位置时停止。</a:t>
                      </a:r>
                      <a:endParaRPr lang="zh-CN" sz="2400" kern="100" dirty="0">
                        <a:effectLst/>
                        <a:latin typeface="等线"/>
                        <a:ea typeface="等线"/>
                        <a:cs typeface="Times New Roman"/>
                      </a:endParaRPr>
                    </a:p>
                  </a:txBody>
                  <a:tcPr marL="113977" marR="11397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pic>
        <p:nvPicPr>
          <p:cNvPr id="1030" name="图片 2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22630" y="2991505"/>
            <a:ext cx="3600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1029" name="图片 2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9513" y="3742339"/>
            <a:ext cx="428571" cy="360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图片 2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39773" y="4672504"/>
            <a:ext cx="428571" cy="360000"/>
          </a:xfrm>
          <a:prstGeom prst="rect">
            <a:avLst/>
          </a:prstGeom>
          <a:noFill/>
          <a:extLst>
            <a:ext uri="{909E8E84-426E-40DD-AFC4-6F175D3DCCD1}">
              <a14:hiddenFill xmlns:a14="http://schemas.microsoft.com/office/drawing/2010/main">
                <a:solidFill>
                  <a:srgbClr val="FFFFFF"/>
                </a:solidFill>
              </a14:hiddenFill>
            </a:ext>
          </a:extLst>
        </p:spPr>
      </p:pic>
      <p:pic>
        <p:nvPicPr>
          <p:cNvPr id="1027" name="图片 2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22630" y="5886449"/>
            <a:ext cx="445714" cy="36000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5017019" y="568168"/>
            <a:ext cx="2157962" cy="369332"/>
          </a:xfrm>
          <a:prstGeom prst="rect">
            <a:avLst/>
          </a:prstGeom>
          <a:noFill/>
        </p:spPr>
        <p:txBody>
          <a:bodyPr wrap="none" rtlCol="0">
            <a:spAutoFit/>
          </a:bodyPr>
          <a:lstStyle/>
          <a:p>
            <a:pPr algn="ctr"/>
            <a:r>
              <a:rPr lang="zh-CN" altLang="en-US" dirty="0"/>
              <a:t>表</a:t>
            </a:r>
            <a:r>
              <a:rPr lang="en-US" altLang="zh-CN" dirty="0"/>
              <a:t>3-1 </a:t>
            </a:r>
            <a:r>
              <a:rPr lang="zh-CN" altLang="en-US" dirty="0"/>
              <a:t>拉伸深度类型</a:t>
            </a:r>
          </a:p>
        </p:txBody>
      </p:sp>
    </p:spTree>
    <p:extLst>
      <p:ext uri="{BB962C8B-B14F-4D97-AF65-F5344CB8AC3E}">
        <p14:creationId xmlns:p14="http://schemas.microsoft.com/office/powerpoint/2010/main" val="30316184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3" y="823978"/>
            <a:ext cx="10932456" cy="1384995"/>
          </a:xfrm>
          <a:prstGeom prst="rect">
            <a:avLst/>
          </a:prstGeom>
          <a:noFill/>
        </p:spPr>
        <p:txBody>
          <a:bodyPr wrap="square" rtlCol="0">
            <a:spAutoFit/>
          </a:bodyPr>
          <a:lstStyle/>
          <a:p>
            <a:pPr indent="266700" algn="just" fontAlgn="ctr">
              <a:lnSpc>
                <a:spcPct val="150000"/>
              </a:lnSpc>
              <a:spcAft>
                <a:spcPts val="0"/>
              </a:spcAft>
            </a:pPr>
            <a:r>
              <a:rPr lang="en-US" altLang="zh-CN" sz="2800" kern="100" dirty="0">
                <a:latin typeface="Times New Roman"/>
                <a:ea typeface="宋体"/>
                <a:cs typeface="Times New Roman"/>
              </a:rPr>
              <a:t>4</a:t>
            </a:r>
            <a:r>
              <a:rPr lang="zh-CN" altLang="zh-CN" sz="2800" kern="100" dirty="0">
                <a:latin typeface="Times New Roman"/>
                <a:ea typeface="宋体"/>
                <a:cs typeface="Times New Roman"/>
              </a:rPr>
              <a:t>）</a:t>
            </a:r>
            <a:r>
              <a:rPr lang="zh-CN" altLang="en-US" sz="2800" kern="100" dirty="0">
                <a:latin typeface="Times New Roman"/>
                <a:ea typeface="宋体"/>
                <a:cs typeface="Times New Roman"/>
              </a:rPr>
              <a:t>带锥度拉伸</a:t>
            </a:r>
            <a:endParaRPr lang="zh-CN" altLang="zh-CN" sz="2800" kern="100" dirty="0">
              <a:latin typeface="等线"/>
              <a:ea typeface="等线"/>
              <a:cs typeface="Times New Roman"/>
            </a:endParaRPr>
          </a:p>
          <a:p>
            <a:pPr indent="457200">
              <a:lnSpc>
                <a:spcPct val="150000"/>
              </a:lnSpc>
            </a:pPr>
            <a:endParaRPr lang="zh-CN" altLang="en-US" sz="2800" dirty="0">
              <a:latin typeface="Times New Roman" pitchFamily="18" charset="0"/>
              <a:ea typeface="宋体" pitchFamily="2" charset="-122"/>
            </a:endParaRP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8143" y="2051313"/>
            <a:ext cx="3111213" cy="2880000"/>
          </a:xfrm>
          <a:prstGeom prst="rect">
            <a:avLst/>
          </a:prstGeom>
        </p:spPr>
      </p:pic>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27495" y="2051313"/>
            <a:ext cx="2707225" cy="2880000"/>
          </a:xfrm>
          <a:prstGeom prst="rect">
            <a:avLst/>
          </a:prstGeom>
        </p:spPr>
      </p:pic>
      <p:sp>
        <p:nvSpPr>
          <p:cNvPr id="7" name="TextBox 6"/>
          <p:cNvSpPr txBox="1"/>
          <p:nvPr/>
        </p:nvSpPr>
        <p:spPr>
          <a:xfrm>
            <a:off x="1848719" y="5234756"/>
            <a:ext cx="2566728" cy="369332"/>
          </a:xfrm>
          <a:prstGeom prst="rect">
            <a:avLst/>
          </a:prstGeom>
          <a:noFill/>
        </p:spPr>
        <p:txBody>
          <a:bodyPr wrap="none" rtlCol="0">
            <a:spAutoFit/>
          </a:bodyPr>
          <a:lstStyle/>
          <a:p>
            <a:pPr algn="ctr"/>
            <a:r>
              <a:rPr lang="zh-CN" altLang="zh-CN" dirty="0">
                <a:ea typeface="黑体"/>
                <a:cs typeface="Times New Roman"/>
              </a:rPr>
              <a:t>图</a:t>
            </a:r>
            <a:r>
              <a:rPr lang="en-US" altLang="zh-CN" dirty="0">
                <a:ea typeface="黑体"/>
                <a:cs typeface="Times New Roman"/>
              </a:rPr>
              <a:t>3-2</a:t>
            </a:r>
            <a:r>
              <a:rPr lang="zh-CN" altLang="zh-CN" dirty="0">
                <a:ea typeface="黑体"/>
                <a:cs typeface="Times New Roman"/>
              </a:rPr>
              <a:t>【选项】下滑面板</a:t>
            </a:r>
            <a:endParaRPr lang="zh-CN" altLang="en-US" dirty="0"/>
          </a:p>
        </p:txBody>
      </p:sp>
      <p:sp>
        <p:nvSpPr>
          <p:cNvPr id="8" name="TextBox 7"/>
          <p:cNvSpPr txBox="1"/>
          <p:nvPr/>
        </p:nvSpPr>
        <p:spPr>
          <a:xfrm>
            <a:off x="7692173" y="5234756"/>
            <a:ext cx="1927131" cy="369332"/>
          </a:xfrm>
          <a:prstGeom prst="rect">
            <a:avLst/>
          </a:prstGeom>
          <a:noFill/>
        </p:spPr>
        <p:txBody>
          <a:bodyPr wrap="none" rtlCol="0">
            <a:spAutoFit/>
          </a:bodyPr>
          <a:lstStyle/>
          <a:p>
            <a:pPr algn="ctr"/>
            <a:r>
              <a:rPr lang="zh-CN" altLang="zh-CN" dirty="0">
                <a:ea typeface="黑体"/>
                <a:cs typeface="Times New Roman"/>
              </a:rPr>
              <a:t>图</a:t>
            </a:r>
            <a:r>
              <a:rPr lang="en-US" altLang="zh-CN" dirty="0">
                <a:ea typeface="黑体"/>
                <a:cs typeface="Times New Roman"/>
              </a:rPr>
              <a:t>3-3 </a:t>
            </a:r>
            <a:r>
              <a:rPr lang="zh-CN" altLang="zh-CN" dirty="0">
                <a:ea typeface="黑体"/>
                <a:cs typeface="Times New Roman"/>
              </a:rPr>
              <a:t>带锥度拉伸</a:t>
            </a:r>
            <a:endParaRPr lang="zh-CN" altLang="en-US" dirty="0"/>
          </a:p>
        </p:txBody>
      </p:sp>
    </p:spTree>
    <p:extLst>
      <p:ext uri="{BB962C8B-B14F-4D97-AF65-F5344CB8AC3E}">
        <p14:creationId xmlns:p14="http://schemas.microsoft.com/office/powerpoint/2010/main" val="3638887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3" y="555956"/>
            <a:ext cx="10932456" cy="1307537"/>
          </a:xfrm>
          <a:prstGeom prst="rect">
            <a:avLst/>
          </a:prstGeom>
          <a:noFill/>
        </p:spPr>
        <p:txBody>
          <a:bodyPr wrap="square" rtlCol="0">
            <a:spAutoFit/>
          </a:bodyPr>
          <a:lstStyle/>
          <a:p>
            <a:pPr indent="266700" algn="just" fontAlgn="ctr">
              <a:lnSpc>
                <a:spcPct val="150000"/>
              </a:lnSpc>
              <a:spcAft>
                <a:spcPts val="0"/>
              </a:spcAft>
            </a:pPr>
            <a:r>
              <a:rPr lang="zh-CN" altLang="en-US" sz="2800" kern="100" dirty="0">
                <a:latin typeface="Times New Roman"/>
                <a:ea typeface="宋体"/>
                <a:cs typeface="Times New Roman"/>
              </a:rPr>
              <a:t>拉伸实例</a:t>
            </a:r>
            <a:endParaRPr lang="zh-CN" altLang="zh-CN" sz="2800" kern="100" dirty="0">
              <a:latin typeface="等线"/>
              <a:ea typeface="等线"/>
              <a:cs typeface="Times New Roman"/>
            </a:endParaRPr>
          </a:p>
          <a:p>
            <a:pPr indent="457200">
              <a:lnSpc>
                <a:spcPct val="150000"/>
              </a:lnSpc>
            </a:pPr>
            <a:endParaRPr lang="zh-CN" altLang="en-US" sz="2800" dirty="0">
              <a:latin typeface="Times New Roman" pitchFamily="18" charset="0"/>
              <a:ea typeface="宋体" pitchFamily="2" charset="-122"/>
            </a:endParaRPr>
          </a:p>
        </p:txBody>
      </p:sp>
      <p:sp>
        <p:nvSpPr>
          <p:cNvPr id="7" name="TextBox 6"/>
          <p:cNvSpPr txBox="1"/>
          <p:nvPr/>
        </p:nvSpPr>
        <p:spPr>
          <a:xfrm>
            <a:off x="5247852" y="4629841"/>
            <a:ext cx="1696297"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3-7 </a:t>
            </a:r>
            <a:r>
              <a:rPr lang="zh-CN" altLang="en-US" dirty="0">
                <a:ea typeface="黑体"/>
                <a:cs typeface="Times New Roman"/>
              </a:rPr>
              <a:t>连杆零件</a:t>
            </a:r>
            <a:endParaRPr lang="zh-CN" altLang="en-US" dirty="0"/>
          </a:p>
        </p:txBody>
      </p:sp>
      <p:pic>
        <p:nvPicPr>
          <p:cNvPr id="2" name="图片 1">
            <a:extLst>
              <a:ext uri="{FF2B5EF4-FFF2-40B4-BE49-F238E27FC236}">
                <a16:creationId xmlns:a16="http://schemas.microsoft.com/office/drawing/2014/main" id="{53AB6817-9957-488B-F7EC-1E120555F18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4926" t="45706" r="36621" b="33509"/>
          <a:stretch/>
        </p:blipFill>
        <p:spPr bwMode="auto">
          <a:xfrm>
            <a:off x="3097035" y="1680613"/>
            <a:ext cx="5997930" cy="254086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7007233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4746" y="555956"/>
            <a:ext cx="11746522" cy="6478184"/>
          </a:xfrm>
          <a:prstGeom prst="rect">
            <a:avLst/>
          </a:prstGeom>
          <a:noFill/>
        </p:spPr>
        <p:txBody>
          <a:bodyPr wrap="square" rtlCol="0">
            <a:spAutoFit/>
          </a:bodyPr>
          <a:lstStyle/>
          <a:p>
            <a:pPr indent="266700" algn="just" fontAlgn="ctr">
              <a:lnSpc>
                <a:spcPct val="150000"/>
              </a:lnSpc>
            </a:pPr>
            <a:r>
              <a:rPr lang="en-US" altLang="zh-CN" sz="2800" b="1" kern="100" dirty="0">
                <a:latin typeface="Times New Roman"/>
                <a:ea typeface="宋体"/>
                <a:cs typeface="Times New Roman"/>
              </a:rPr>
              <a:t>1</a:t>
            </a:r>
            <a:r>
              <a:rPr lang="zh-CN" altLang="en-US" sz="2800" b="1" kern="100" dirty="0">
                <a:latin typeface="Times New Roman"/>
                <a:ea typeface="宋体"/>
                <a:cs typeface="Times New Roman"/>
              </a:rPr>
              <a:t>）新建零件文件</a:t>
            </a:r>
          </a:p>
          <a:p>
            <a:pPr indent="266700" algn="just" fontAlgn="ctr">
              <a:lnSpc>
                <a:spcPct val="150000"/>
              </a:lnSpc>
              <a:spcAft>
                <a:spcPts val="0"/>
              </a:spcAft>
            </a:pPr>
            <a:r>
              <a:rPr lang="en-US" altLang="zh-CN" sz="2800" b="1" kern="100" dirty="0">
                <a:latin typeface="Times New Roman"/>
                <a:ea typeface="宋体"/>
                <a:cs typeface="Times New Roman"/>
              </a:rPr>
              <a:t>2</a:t>
            </a:r>
            <a:r>
              <a:rPr lang="zh-CN" altLang="en-US" sz="2800" b="1" kern="100" dirty="0">
                <a:latin typeface="Times New Roman"/>
                <a:ea typeface="宋体"/>
                <a:cs typeface="Times New Roman"/>
              </a:rPr>
              <a:t>）利用拉伸工具创建连杆的主框架结构。</a:t>
            </a:r>
          </a:p>
          <a:p>
            <a:pPr indent="266700" algn="just" fontAlgn="ctr">
              <a:lnSpc>
                <a:spcPct val="150000"/>
              </a:lnSpc>
              <a:spcAft>
                <a:spcPts val="0"/>
              </a:spcAft>
            </a:pPr>
            <a:r>
              <a:rPr lang="zh-CN" altLang="en-US" sz="2800" kern="100" dirty="0">
                <a:latin typeface="Times New Roman"/>
                <a:ea typeface="宋体"/>
                <a:cs typeface="Times New Roman"/>
              </a:rPr>
              <a:t>（</a:t>
            </a:r>
            <a:r>
              <a:rPr lang="en-US" altLang="zh-CN" sz="2800" kern="100" dirty="0">
                <a:latin typeface="Times New Roman"/>
                <a:ea typeface="宋体"/>
                <a:cs typeface="Times New Roman"/>
              </a:rPr>
              <a:t>1</a:t>
            </a:r>
            <a:r>
              <a:rPr lang="zh-CN" altLang="en-US" sz="2800" kern="100" dirty="0">
                <a:latin typeface="Times New Roman"/>
                <a:ea typeface="宋体"/>
                <a:cs typeface="Times New Roman"/>
              </a:rPr>
              <a:t>）单击“拉伸”按钮  ，打开</a:t>
            </a:r>
            <a:r>
              <a:rPr lang="en-US" altLang="zh-CN" sz="2800" kern="100" dirty="0">
                <a:latin typeface="Times New Roman"/>
                <a:ea typeface="宋体"/>
                <a:cs typeface="Times New Roman"/>
              </a:rPr>
              <a:t>【</a:t>
            </a:r>
            <a:r>
              <a:rPr lang="zh-CN" altLang="en-US" sz="2800" kern="100" dirty="0">
                <a:latin typeface="Times New Roman"/>
                <a:ea typeface="宋体"/>
                <a:cs typeface="Times New Roman"/>
              </a:rPr>
              <a:t>拉伸</a:t>
            </a:r>
            <a:r>
              <a:rPr lang="en-US" altLang="zh-CN" sz="2800" kern="100" dirty="0">
                <a:latin typeface="Times New Roman"/>
                <a:ea typeface="宋体"/>
                <a:cs typeface="Times New Roman"/>
              </a:rPr>
              <a:t>】</a:t>
            </a:r>
            <a:r>
              <a:rPr lang="zh-CN" altLang="en-US" sz="2800" kern="100" dirty="0">
                <a:latin typeface="Times New Roman"/>
                <a:ea typeface="宋体"/>
                <a:cs typeface="Times New Roman"/>
              </a:rPr>
              <a:t>选项卡，默认选中“实心”按钮    。</a:t>
            </a:r>
          </a:p>
          <a:p>
            <a:pPr indent="266700" algn="just" fontAlgn="ctr">
              <a:lnSpc>
                <a:spcPct val="150000"/>
              </a:lnSpc>
              <a:spcAft>
                <a:spcPts val="0"/>
              </a:spcAft>
            </a:pPr>
            <a:r>
              <a:rPr lang="zh-CN" altLang="en-US" sz="2800" kern="100" dirty="0">
                <a:latin typeface="Times New Roman"/>
                <a:ea typeface="宋体"/>
                <a:cs typeface="Times New Roman"/>
              </a:rPr>
              <a:t>（</a:t>
            </a:r>
            <a:r>
              <a:rPr lang="en-US" altLang="zh-CN" sz="2800" kern="100" dirty="0">
                <a:latin typeface="Times New Roman"/>
                <a:ea typeface="宋体"/>
                <a:cs typeface="Times New Roman"/>
              </a:rPr>
              <a:t>2</a:t>
            </a:r>
            <a:r>
              <a:rPr lang="zh-CN" altLang="en-US" sz="2800" kern="100" dirty="0">
                <a:latin typeface="Times New Roman"/>
                <a:ea typeface="宋体"/>
                <a:cs typeface="Times New Roman"/>
              </a:rPr>
              <a:t>）选取</a:t>
            </a:r>
            <a:r>
              <a:rPr lang="en-US" altLang="zh-CN" sz="2800" kern="100" dirty="0">
                <a:latin typeface="Times New Roman"/>
                <a:ea typeface="宋体"/>
                <a:cs typeface="Times New Roman"/>
              </a:rPr>
              <a:t>FRONT</a:t>
            </a:r>
            <a:r>
              <a:rPr lang="zh-CN" altLang="en-US" sz="2800" kern="100" dirty="0">
                <a:latin typeface="Times New Roman"/>
                <a:ea typeface="宋体"/>
                <a:cs typeface="Times New Roman"/>
              </a:rPr>
              <a:t>基准平面作为草绘平面，进入草绘器。</a:t>
            </a:r>
          </a:p>
          <a:p>
            <a:pPr indent="266700" algn="just" fontAlgn="ctr">
              <a:lnSpc>
                <a:spcPct val="150000"/>
              </a:lnSpc>
              <a:spcAft>
                <a:spcPts val="0"/>
              </a:spcAft>
            </a:pPr>
            <a:r>
              <a:rPr lang="zh-CN" altLang="en-US" sz="2800" kern="100" dirty="0">
                <a:latin typeface="Times New Roman"/>
                <a:ea typeface="宋体"/>
                <a:cs typeface="Times New Roman"/>
              </a:rPr>
              <a:t>（</a:t>
            </a:r>
            <a:r>
              <a:rPr lang="en-US" altLang="zh-CN" sz="2800" kern="100" dirty="0">
                <a:latin typeface="Times New Roman"/>
                <a:ea typeface="宋体"/>
                <a:cs typeface="Times New Roman"/>
              </a:rPr>
              <a:t>3</a:t>
            </a:r>
            <a:r>
              <a:rPr lang="zh-CN" altLang="en-US" sz="2800" kern="100" dirty="0">
                <a:latin typeface="Times New Roman"/>
                <a:ea typeface="宋体"/>
                <a:cs typeface="Times New Roman"/>
              </a:rPr>
              <a:t>）绘制图</a:t>
            </a:r>
            <a:r>
              <a:rPr lang="en-US" altLang="zh-CN" sz="2800" kern="100" dirty="0">
                <a:latin typeface="Times New Roman"/>
                <a:ea typeface="宋体"/>
                <a:cs typeface="Times New Roman"/>
              </a:rPr>
              <a:t>3-8</a:t>
            </a:r>
            <a:r>
              <a:rPr lang="zh-CN" altLang="en-US" sz="2800" kern="100" dirty="0">
                <a:latin typeface="Times New Roman"/>
                <a:ea typeface="宋体"/>
                <a:cs typeface="Times New Roman"/>
              </a:rPr>
              <a:t>所示的拉伸剖面，单击“确定”按钮。</a:t>
            </a:r>
          </a:p>
          <a:p>
            <a:pPr indent="266700" algn="just" fontAlgn="ctr">
              <a:lnSpc>
                <a:spcPct val="150000"/>
              </a:lnSpc>
              <a:spcAft>
                <a:spcPts val="0"/>
              </a:spcAft>
            </a:pPr>
            <a:r>
              <a:rPr lang="zh-CN" altLang="en-US" sz="2800" kern="100" dirty="0">
                <a:latin typeface="Times New Roman"/>
                <a:ea typeface="宋体"/>
                <a:cs typeface="Times New Roman"/>
              </a:rPr>
              <a:t>（</a:t>
            </a:r>
            <a:r>
              <a:rPr lang="en-US" altLang="zh-CN" sz="2800" kern="100" dirty="0">
                <a:latin typeface="Times New Roman"/>
                <a:ea typeface="宋体"/>
                <a:cs typeface="Times New Roman"/>
              </a:rPr>
              <a:t>4</a:t>
            </a:r>
            <a:r>
              <a:rPr lang="zh-CN" altLang="en-US" sz="2800" kern="100" dirty="0">
                <a:latin typeface="Times New Roman"/>
                <a:ea typeface="宋体"/>
                <a:cs typeface="Times New Roman"/>
              </a:rPr>
              <a:t>）在</a:t>
            </a:r>
            <a:r>
              <a:rPr lang="en-US" altLang="zh-CN" sz="2800" kern="100" dirty="0">
                <a:latin typeface="Times New Roman"/>
                <a:ea typeface="宋体"/>
                <a:cs typeface="Times New Roman"/>
              </a:rPr>
              <a:t>【</a:t>
            </a:r>
            <a:r>
              <a:rPr lang="zh-CN" altLang="en-US" sz="2800" kern="100" dirty="0">
                <a:latin typeface="Times New Roman"/>
                <a:ea typeface="宋体"/>
                <a:cs typeface="Times New Roman"/>
              </a:rPr>
              <a:t>拉伸</a:t>
            </a:r>
            <a:r>
              <a:rPr lang="en-US" altLang="zh-CN" sz="2800" kern="100" dirty="0">
                <a:latin typeface="Times New Roman"/>
                <a:ea typeface="宋体"/>
                <a:cs typeface="Times New Roman"/>
              </a:rPr>
              <a:t>】</a:t>
            </a:r>
            <a:r>
              <a:rPr lang="zh-CN" altLang="en-US" sz="2800" kern="100" dirty="0">
                <a:latin typeface="Times New Roman"/>
                <a:ea typeface="宋体"/>
                <a:cs typeface="Times New Roman"/>
              </a:rPr>
              <a:t>选项卡的侧</a:t>
            </a:r>
            <a:r>
              <a:rPr lang="en-US" altLang="zh-CN" sz="2800" kern="100" dirty="0">
                <a:latin typeface="Times New Roman"/>
                <a:ea typeface="宋体"/>
                <a:cs typeface="Times New Roman"/>
              </a:rPr>
              <a:t>1</a:t>
            </a:r>
            <a:r>
              <a:rPr lang="zh-CN" altLang="en-US" sz="2800" kern="100" dirty="0">
                <a:latin typeface="Times New Roman"/>
                <a:ea typeface="宋体"/>
                <a:cs typeface="Times New Roman"/>
              </a:rPr>
              <a:t>深度选项列表框中选择（对称）选项    ，接着输入拉伸深度值为</a:t>
            </a:r>
            <a:r>
              <a:rPr lang="en-US" altLang="zh-CN" sz="2800" kern="100" dirty="0">
                <a:latin typeface="Times New Roman"/>
                <a:ea typeface="宋体"/>
                <a:cs typeface="Times New Roman"/>
              </a:rPr>
              <a:t>20</a:t>
            </a:r>
            <a:r>
              <a:rPr lang="zh-CN" altLang="en-US" sz="2800" kern="100" dirty="0">
                <a:latin typeface="Times New Roman"/>
                <a:ea typeface="宋体"/>
                <a:cs typeface="Times New Roman"/>
              </a:rPr>
              <a:t>。</a:t>
            </a:r>
          </a:p>
          <a:p>
            <a:pPr indent="266700" algn="just" fontAlgn="ctr">
              <a:lnSpc>
                <a:spcPct val="150000"/>
              </a:lnSpc>
              <a:spcAft>
                <a:spcPts val="0"/>
              </a:spcAft>
            </a:pPr>
            <a:r>
              <a:rPr lang="zh-CN" altLang="en-US" sz="2800" kern="100" dirty="0">
                <a:latin typeface="Times New Roman"/>
                <a:ea typeface="宋体"/>
                <a:cs typeface="Times New Roman"/>
              </a:rPr>
              <a:t>（</a:t>
            </a:r>
            <a:r>
              <a:rPr lang="en-US" altLang="zh-CN" sz="2800" kern="100" dirty="0">
                <a:latin typeface="Times New Roman"/>
                <a:ea typeface="宋体"/>
                <a:cs typeface="Times New Roman"/>
              </a:rPr>
              <a:t>5</a:t>
            </a:r>
            <a:r>
              <a:rPr lang="zh-CN" altLang="en-US" sz="2800" kern="100" dirty="0">
                <a:latin typeface="Times New Roman"/>
                <a:ea typeface="宋体"/>
                <a:cs typeface="Times New Roman"/>
              </a:rPr>
              <a:t>）在</a:t>
            </a:r>
            <a:r>
              <a:rPr lang="en-US" altLang="zh-CN" sz="2800" kern="100" dirty="0">
                <a:latin typeface="Times New Roman"/>
                <a:ea typeface="宋体"/>
                <a:cs typeface="Times New Roman"/>
              </a:rPr>
              <a:t>【</a:t>
            </a:r>
            <a:r>
              <a:rPr lang="zh-CN" altLang="en-US" sz="2800" kern="100" dirty="0">
                <a:latin typeface="Times New Roman"/>
                <a:ea typeface="宋体"/>
                <a:cs typeface="Times New Roman"/>
              </a:rPr>
              <a:t>拉伸</a:t>
            </a:r>
            <a:r>
              <a:rPr lang="en-US" altLang="zh-CN" sz="2800" kern="100" dirty="0">
                <a:latin typeface="Times New Roman"/>
                <a:ea typeface="宋体"/>
                <a:cs typeface="Times New Roman"/>
              </a:rPr>
              <a:t>】</a:t>
            </a:r>
            <a:r>
              <a:rPr lang="zh-CN" altLang="en-US" sz="2800" kern="100" dirty="0">
                <a:latin typeface="Times New Roman"/>
                <a:ea typeface="宋体"/>
                <a:cs typeface="Times New Roman"/>
              </a:rPr>
              <a:t>选项卡中单击“确定”按钮，效果如图</a:t>
            </a:r>
            <a:r>
              <a:rPr lang="en-US" altLang="zh-CN" sz="2800" kern="100" dirty="0">
                <a:latin typeface="Times New Roman"/>
                <a:ea typeface="宋体"/>
                <a:cs typeface="Times New Roman"/>
              </a:rPr>
              <a:t>3-9</a:t>
            </a:r>
            <a:r>
              <a:rPr lang="zh-CN" altLang="en-US" sz="2800" kern="100" dirty="0">
                <a:latin typeface="Times New Roman"/>
                <a:ea typeface="宋体"/>
                <a:cs typeface="Times New Roman"/>
              </a:rPr>
              <a:t>所示。</a:t>
            </a:r>
          </a:p>
          <a:p>
            <a:pPr indent="457200">
              <a:lnSpc>
                <a:spcPct val="150000"/>
              </a:lnSpc>
            </a:pPr>
            <a:endParaRPr lang="zh-CN" altLang="en-US" sz="2800" dirty="0">
              <a:latin typeface="Times New Roman" pitchFamily="18" charset="0"/>
              <a:ea typeface="宋体" pitchFamily="2" charset="-122"/>
            </a:endParaRPr>
          </a:p>
        </p:txBody>
      </p:sp>
      <p:pic>
        <p:nvPicPr>
          <p:cNvPr id="2" name="图片 1">
            <a:extLst>
              <a:ext uri="{FF2B5EF4-FFF2-40B4-BE49-F238E27FC236}">
                <a16:creationId xmlns:a16="http://schemas.microsoft.com/office/drawing/2014/main" id="{CC987C98-1F34-CCD1-1EC6-2E2BF3B467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68483" y="2137996"/>
            <a:ext cx="304843" cy="342948"/>
          </a:xfrm>
          <a:prstGeom prst="rect">
            <a:avLst/>
          </a:prstGeom>
        </p:spPr>
      </p:pic>
      <p:pic>
        <p:nvPicPr>
          <p:cNvPr id="3" name="图片 2">
            <a:extLst>
              <a:ext uri="{FF2B5EF4-FFF2-40B4-BE49-F238E27FC236}">
                <a16:creationId xmlns:a16="http://schemas.microsoft.com/office/drawing/2014/main" id="{05B15EE2-FE57-1029-CB7B-F47683ABC9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9557" y="2800605"/>
            <a:ext cx="300080" cy="314369"/>
          </a:xfrm>
          <a:prstGeom prst="rect">
            <a:avLst/>
          </a:prstGeom>
        </p:spPr>
      </p:pic>
      <p:pic>
        <p:nvPicPr>
          <p:cNvPr id="5" name="图片 4">
            <a:extLst>
              <a:ext uri="{FF2B5EF4-FFF2-40B4-BE49-F238E27FC236}">
                <a16:creationId xmlns:a16="http://schemas.microsoft.com/office/drawing/2014/main" id="{F0BE19DE-FDD2-DC65-25B0-E50D5AA3E8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6916" y="4780888"/>
            <a:ext cx="371528" cy="314369"/>
          </a:xfrm>
          <a:prstGeom prst="rect">
            <a:avLst/>
          </a:prstGeom>
        </p:spPr>
      </p:pic>
    </p:spTree>
    <p:extLst>
      <p:ext uri="{BB962C8B-B14F-4D97-AF65-F5344CB8AC3E}">
        <p14:creationId xmlns:p14="http://schemas.microsoft.com/office/powerpoint/2010/main" val="30891320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B6502869-9766-8A29-8F01-B8B828671F5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7201" t="12188" r="25696" b="21648"/>
          <a:stretch/>
        </p:blipFill>
        <p:spPr bwMode="auto">
          <a:xfrm>
            <a:off x="386520" y="2385392"/>
            <a:ext cx="5473513" cy="2029230"/>
          </a:xfrm>
          <a:prstGeom prst="rect">
            <a:avLst/>
          </a:prstGeom>
          <a:ln>
            <a:noFill/>
          </a:ln>
          <a:extLst>
            <a:ext uri="{53640926-AAD7-44D8-BBD7-CCE9431645EC}">
              <a14:shadowObscured xmlns:a14="http://schemas.microsoft.com/office/drawing/2010/main"/>
            </a:ext>
          </a:extLst>
        </p:spPr>
      </p:pic>
      <p:pic>
        <p:nvPicPr>
          <p:cNvPr id="7" name="图片 6">
            <a:extLst>
              <a:ext uri="{FF2B5EF4-FFF2-40B4-BE49-F238E27FC236}">
                <a16:creationId xmlns:a16="http://schemas.microsoft.com/office/drawing/2014/main" id="{115DBC30-DAD5-634B-3002-C254F2B68AF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880" t="14954" r="52911" b="45639"/>
          <a:stretch/>
        </p:blipFill>
        <p:spPr bwMode="auto">
          <a:xfrm>
            <a:off x="6417347" y="2517912"/>
            <a:ext cx="4701226" cy="1772050"/>
          </a:xfrm>
          <a:prstGeom prst="rect">
            <a:avLst/>
          </a:prstGeom>
          <a:ln>
            <a:noFill/>
          </a:ln>
          <a:extLst>
            <a:ext uri="{53640926-AAD7-44D8-BBD7-CCE9431645EC}">
              <a14:shadowObscured xmlns:a14="http://schemas.microsoft.com/office/drawing/2010/main"/>
            </a:ext>
          </a:extLst>
        </p:spPr>
      </p:pic>
      <p:sp>
        <p:nvSpPr>
          <p:cNvPr id="8" name="TextBox 6">
            <a:extLst>
              <a:ext uri="{FF2B5EF4-FFF2-40B4-BE49-F238E27FC236}">
                <a16:creationId xmlns:a16="http://schemas.microsoft.com/office/drawing/2014/main" id="{8A66CB8A-6AD6-6E1B-7046-1F27A9897CD7}"/>
              </a:ext>
            </a:extLst>
          </p:cNvPr>
          <p:cNvSpPr txBox="1"/>
          <p:nvPr/>
        </p:nvSpPr>
        <p:spPr>
          <a:xfrm>
            <a:off x="2093835" y="4828623"/>
            <a:ext cx="1696297"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3-8 </a:t>
            </a:r>
            <a:r>
              <a:rPr lang="zh-CN" altLang="en-US" dirty="0">
                <a:ea typeface="黑体"/>
                <a:cs typeface="Times New Roman"/>
              </a:rPr>
              <a:t>绘制剖面</a:t>
            </a:r>
            <a:endParaRPr lang="zh-CN" altLang="en-US" dirty="0"/>
          </a:p>
        </p:txBody>
      </p:sp>
      <p:sp>
        <p:nvSpPr>
          <p:cNvPr id="9" name="TextBox 6">
            <a:extLst>
              <a:ext uri="{FF2B5EF4-FFF2-40B4-BE49-F238E27FC236}">
                <a16:creationId xmlns:a16="http://schemas.microsoft.com/office/drawing/2014/main" id="{DB83E0CC-028C-FEAA-E05E-F675403C83A0}"/>
              </a:ext>
            </a:extLst>
          </p:cNvPr>
          <p:cNvSpPr txBox="1"/>
          <p:nvPr/>
        </p:nvSpPr>
        <p:spPr>
          <a:xfrm>
            <a:off x="7600066" y="4828623"/>
            <a:ext cx="2388795"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3-9 </a:t>
            </a:r>
            <a:r>
              <a:rPr lang="zh-CN" altLang="en-US" dirty="0">
                <a:ea typeface="黑体"/>
                <a:cs typeface="Times New Roman"/>
              </a:rPr>
              <a:t>连杆主框架结果</a:t>
            </a:r>
            <a:endParaRPr lang="zh-CN" altLang="en-US" dirty="0"/>
          </a:p>
        </p:txBody>
      </p:sp>
    </p:spTree>
    <p:extLst>
      <p:ext uri="{BB962C8B-B14F-4D97-AF65-F5344CB8AC3E}">
        <p14:creationId xmlns:p14="http://schemas.microsoft.com/office/powerpoint/2010/main" val="18211645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4746" y="555956"/>
            <a:ext cx="11746522" cy="1307537"/>
          </a:xfrm>
          <a:prstGeom prst="rect">
            <a:avLst/>
          </a:prstGeom>
          <a:noFill/>
        </p:spPr>
        <p:txBody>
          <a:bodyPr wrap="square" rtlCol="0">
            <a:spAutoFit/>
          </a:bodyPr>
          <a:lstStyle/>
          <a:p>
            <a:pPr indent="266700" algn="just" fontAlgn="ctr">
              <a:lnSpc>
                <a:spcPct val="150000"/>
              </a:lnSpc>
            </a:pPr>
            <a:r>
              <a:rPr lang="en-US" altLang="zh-CN" sz="2800" b="1" kern="100" dirty="0">
                <a:latin typeface="Times New Roman"/>
                <a:ea typeface="宋体"/>
                <a:cs typeface="Times New Roman"/>
              </a:rPr>
              <a:t>3</a:t>
            </a:r>
            <a:r>
              <a:rPr lang="zh-CN" altLang="en-US" sz="2800" b="1" kern="100" dirty="0">
                <a:latin typeface="Times New Roman"/>
                <a:ea typeface="宋体"/>
                <a:cs typeface="Times New Roman"/>
              </a:rPr>
              <a:t>）利用拉伸工具创建圆台。</a:t>
            </a:r>
            <a:endParaRPr lang="en-US" altLang="zh-CN" sz="2800" b="1" kern="100" dirty="0">
              <a:latin typeface="Times New Roman"/>
              <a:ea typeface="宋体"/>
              <a:cs typeface="Times New Roman"/>
            </a:endParaRPr>
          </a:p>
          <a:p>
            <a:pPr indent="457200">
              <a:lnSpc>
                <a:spcPct val="150000"/>
              </a:lnSpc>
            </a:pPr>
            <a:endParaRPr lang="zh-CN" altLang="en-US" sz="2800" dirty="0">
              <a:latin typeface="Times New Roman" pitchFamily="18" charset="0"/>
              <a:ea typeface="宋体" pitchFamily="2" charset="-122"/>
            </a:endParaRPr>
          </a:p>
        </p:txBody>
      </p:sp>
      <p:pic>
        <p:nvPicPr>
          <p:cNvPr id="6" name="图片 5">
            <a:extLst>
              <a:ext uri="{FF2B5EF4-FFF2-40B4-BE49-F238E27FC236}">
                <a16:creationId xmlns:a16="http://schemas.microsoft.com/office/drawing/2014/main" id="{92EB7344-A63A-5A30-943D-5BBC547A025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712" t="9783" r="44789" b="30743"/>
          <a:stretch/>
        </p:blipFill>
        <p:spPr bwMode="auto">
          <a:xfrm>
            <a:off x="6373121" y="2272223"/>
            <a:ext cx="5018470" cy="2125580"/>
          </a:xfrm>
          <a:prstGeom prst="rect">
            <a:avLst/>
          </a:prstGeom>
          <a:ln>
            <a:noFill/>
          </a:ln>
          <a:extLst>
            <a:ext uri="{53640926-AAD7-44D8-BBD7-CCE9431645EC}">
              <a14:shadowObscured xmlns:a14="http://schemas.microsoft.com/office/drawing/2010/main"/>
            </a:ext>
          </a:extLst>
        </p:spPr>
      </p:pic>
      <p:pic>
        <p:nvPicPr>
          <p:cNvPr id="7" name="图片 6">
            <a:extLst>
              <a:ext uri="{FF2B5EF4-FFF2-40B4-BE49-F238E27FC236}">
                <a16:creationId xmlns:a16="http://schemas.microsoft.com/office/drawing/2014/main" id="{E8D17D33-C556-19AB-2701-10E93E14FDA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531" t="9616" r="46312" b="41827"/>
          <a:stretch/>
        </p:blipFill>
        <p:spPr bwMode="auto">
          <a:xfrm>
            <a:off x="688532" y="2272223"/>
            <a:ext cx="4992803" cy="1782245"/>
          </a:xfrm>
          <a:prstGeom prst="rect">
            <a:avLst/>
          </a:prstGeom>
          <a:ln>
            <a:noFill/>
          </a:ln>
          <a:extLst>
            <a:ext uri="{53640926-AAD7-44D8-BBD7-CCE9431645EC}">
              <a14:shadowObscured xmlns:a14="http://schemas.microsoft.com/office/drawing/2010/main"/>
            </a:ext>
          </a:extLst>
        </p:spPr>
      </p:pic>
      <p:sp>
        <p:nvSpPr>
          <p:cNvPr id="8" name="TextBox 6">
            <a:extLst>
              <a:ext uri="{FF2B5EF4-FFF2-40B4-BE49-F238E27FC236}">
                <a16:creationId xmlns:a16="http://schemas.microsoft.com/office/drawing/2014/main" id="{97495E45-406B-33B5-36AD-F648A0EDD843}"/>
              </a:ext>
            </a:extLst>
          </p:cNvPr>
          <p:cNvSpPr txBox="1"/>
          <p:nvPr/>
        </p:nvSpPr>
        <p:spPr>
          <a:xfrm>
            <a:off x="2061829" y="4463198"/>
            <a:ext cx="1813318"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3-10 </a:t>
            </a:r>
            <a:r>
              <a:rPr lang="zh-CN" altLang="en-US" dirty="0">
                <a:ea typeface="黑体"/>
                <a:cs typeface="Times New Roman"/>
              </a:rPr>
              <a:t>绘制剖面</a:t>
            </a:r>
            <a:endParaRPr lang="zh-CN" altLang="en-US" dirty="0"/>
          </a:p>
        </p:txBody>
      </p:sp>
      <p:sp>
        <p:nvSpPr>
          <p:cNvPr id="11" name="TextBox 6">
            <a:extLst>
              <a:ext uri="{FF2B5EF4-FFF2-40B4-BE49-F238E27FC236}">
                <a16:creationId xmlns:a16="http://schemas.microsoft.com/office/drawing/2014/main" id="{55A7724D-32CD-EA6C-349F-E377174B1321}"/>
              </a:ext>
            </a:extLst>
          </p:cNvPr>
          <p:cNvSpPr txBox="1"/>
          <p:nvPr/>
        </p:nvSpPr>
        <p:spPr>
          <a:xfrm>
            <a:off x="7975697" y="4463198"/>
            <a:ext cx="1813318"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3-11 </a:t>
            </a:r>
            <a:r>
              <a:rPr lang="zh-CN" altLang="en-US" dirty="0">
                <a:ea typeface="黑体"/>
                <a:cs typeface="Times New Roman"/>
              </a:rPr>
              <a:t>创建圆台</a:t>
            </a:r>
            <a:endParaRPr lang="zh-CN" altLang="en-US" dirty="0"/>
          </a:p>
        </p:txBody>
      </p:sp>
    </p:spTree>
    <p:extLst>
      <p:ext uri="{BB962C8B-B14F-4D97-AF65-F5344CB8AC3E}">
        <p14:creationId xmlns:p14="http://schemas.microsoft.com/office/powerpoint/2010/main" val="1384059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4746" y="555956"/>
            <a:ext cx="11746522" cy="738664"/>
          </a:xfrm>
          <a:prstGeom prst="rect">
            <a:avLst/>
          </a:prstGeom>
          <a:noFill/>
        </p:spPr>
        <p:txBody>
          <a:bodyPr wrap="square" rtlCol="0">
            <a:spAutoFit/>
          </a:bodyPr>
          <a:lstStyle/>
          <a:p>
            <a:pPr indent="266700" algn="just" fontAlgn="ctr">
              <a:lnSpc>
                <a:spcPct val="150000"/>
              </a:lnSpc>
            </a:pPr>
            <a:r>
              <a:rPr lang="en-US" altLang="zh-CN" sz="2800" b="1" kern="100" dirty="0">
                <a:latin typeface="Times New Roman"/>
                <a:ea typeface="宋体"/>
                <a:cs typeface="Times New Roman"/>
              </a:rPr>
              <a:t>4</a:t>
            </a:r>
            <a:r>
              <a:rPr lang="zh-CN" altLang="en-US" sz="2800" b="1" kern="100" dirty="0">
                <a:latin typeface="Times New Roman"/>
                <a:ea typeface="宋体"/>
                <a:cs typeface="Times New Roman"/>
              </a:rPr>
              <a:t>）使用拉伸工具创建连杆的叉框架</a:t>
            </a:r>
            <a:endParaRPr lang="zh-CN" altLang="en-US" sz="2800" dirty="0">
              <a:latin typeface="Times New Roman" pitchFamily="18" charset="0"/>
              <a:ea typeface="宋体" pitchFamily="2" charset="-122"/>
            </a:endParaRPr>
          </a:p>
        </p:txBody>
      </p:sp>
      <p:sp>
        <p:nvSpPr>
          <p:cNvPr id="8" name="TextBox 6">
            <a:extLst>
              <a:ext uri="{FF2B5EF4-FFF2-40B4-BE49-F238E27FC236}">
                <a16:creationId xmlns:a16="http://schemas.microsoft.com/office/drawing/2014/main" id="{97495E45-406B-33B5-36AD-F648A0EDD843}"/>
              </a:ext>
            </a:extLst>
          </p:cNvPr>
          <p:cNvSpPr txBox="1"/>
          <p:nvPr/>
        </p:nvSpPr>
        <p:spPr>
          <a:xfrm>
            <a:off x="2061829" y="5231825"/>
            <a:ext cx="1813318"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3-10 </a:t>
            </a:r>
            <a:r>
              <a:rPr lang="zh-CN" altLang="en-US" dirty="0">
                <a:ea typeface="黑体"/>
                <a:cs typeface="Times New Roman"/>
              </a:rPr>
              <a:t>绘制剖面</a:t>
            </a:r>
            <a:endParaRPr lang="zh-CN" altLang="en-US" dirty="0"/>
          </a:p>
        </p:txBody>
      </p:sp>
      <p:sp>
        <p:nvSpPr>
          <p:cNvPr id="11" name="TextBox 6">
            <a:extLst>
              <a:ext uri="{FF2B5EF4-FFF2-40B4-BE49-F238E27FC236}">
                <a16:creationId xmlns:a16="http://schemas.microsoft.com/office/drawing/2014/main" id="{55A7724D-32CD-EA6C-349F-E377174B1321}"/>
              </a:ext>
            </a:extLst>
          </p:cNvPr>
          <p:cNvSpPr txBox="1"/>
          <p:nvPr/>
        </p:nvSpPr>
        <p:spPr>
          <a:xfrm>
            <a:off x="7975697" y="5231825"/>
            <a:ext cx="1813318"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3-11 </a:t>
            </a:r>
            <a:r>
              <a:rPr lang="zh-CN" altLang="en-US" dirty="0">
                <a:ea typeface="黑体"/>
                <a:cs typeface="Times New Roman"/>
              </a:rPr>
              <a:t>创建圆台</a:t>
            </a:r>
            <a:endParaRPr lang="zh-CN" altLang="en-US" dirty="0"/>
          </a:p>
        </p:txBody>
      </p:sp>
      <p:pic>
        <p:nvPicPr>
          <p:cNvPr id="2" name="图片 1">
            <a:extLst>
              <a:ext uri="{FF2B5EF4-FFF2-40B4-BE49-F238E27FC236}">
                <a16:creationId xmlns:a16="http://schemas.microsoft.com/office/drawing/2014/main" id="{150ED50D-E5FC-8D41-4499-550F205701F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988" t="2885" r="37274" b="23558"/>
          <a:stretch/>
        </p:blipFill>
        <p:spPr bwMode="auto">
          <a:xfrm>
            <a:off x="641721" y="2199807"/>
            <a:ext cx="5154996" cy="2345689"/>
          </a:xfrm>
          <a:prstGeom prst="rect">
            <a:avLst/>
          </a:prstGeom>
          <a:ln>
            <a:noFill/>
          </a:ln>
          <a:extLst>
            <a:ext uri="{53640926-AAD7-44D8-BBD7-CCE9431645EC}">
              <a14:shadowObscured xmlns:a14="http://schemas.microsoft.com/office/drawing/2010/main"/>
            </a:ext>
          </a:extLst>
        </p:spPr>
      </p:pic>
      <p:pic>
        <p:nvPicPr>
          <p:cNvPr id="3" name="图片 2">
            <a:extLst>
              <a:ext uri="{FF2B5EF4-FFF2-40B4-BE49-F238E27FC236}">
                <a16:creationId xmlns:a16="http://schemas.microsoft.com/office/drawing/2014/main" id="{408BC542-ABF7-5509-EF81-D496D30E94DB}"/>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4158" t="5289" r="44324" b="36538"/>
          <a:stretch/>
        </p:blipFill>
        <p:spPr bwMode="auto">
          <a:xfrm>
            <a:off x="6124675" y="2236670"/>
            <a:ext cx="4815753" cy="204378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9619050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4746" y="555956"/>
            <a:ext cx="11746522" cy="738664"/>
          </a:xfrm>
          <a:prstGeom prst="rect">
            <a:avLst/>
          </a:prstGeom>
          <a:noFill/>
        </p:spPr>
        <p:txBody>
          <a:bodyPr wrap="square" rtlCol="0">
            <a:spAutoFit/>
          </a:bodyPr>
          <a:lstStyle/>
          <a:p>
            <a:pPr indent="266700" algn="just" fontAlgn="ctr">
              <a:lnSpc>
                <a:spcPct val="150000"/>
              </a:lnSpc>
            </a:pPr>
            <a:r>
              <a:rPr lang="en-US" altLang="zh-CN" sz="2800" b="1" kern="100" dirty="0">
                <a:latin typeface="Times New Roman"/>
                <a:ea typeface="宋体"/>
                <a:cs typeface="Times New Roman"/>
              </a:rPr>
              <a:t>5</a:t>
            </a:r>
            <a:r>
              <a:rPr lang="zh-CN" altLang="en-US" sz="2800" b="1" kern="100" dirty="0">
                <a:latin typeface="Times New Roman"/>
                <a:ea typeface="宋体"/>
                <a:cs typeface="Times New Roman"/>
              </a:rPr>
              <a:t>） 以拉伸的方式切除出侧板造型</a:t>
            </a:r>
            <a:endParaRPr lang="zh-CN" altLang="en-US" sz="2800" dirty="0">
              <a:latin typeface="Times New Roman" pitchFamily="18" charset="0"/>
              <a:ea typeface="宋体" pitchFamily="2" charset="-122"/>
            </a:endParaRPr>
          </a:p>
        </p:txBody>
      </p:sp>
      <p:sp>
        <p:nvSpPr>
          <p:cNvPr id="8" name="TextBox 6">
            <a:extLst>
              <a:ext uri="{FF2B5EF4-FFF2-40B4-BE49-F238E27FC236}">
                <a16:creationId xmlns:a16="http://schemas.microsoft.com/office/drawing/2014/main" id="{97495E45-406B-33B5-36AD-F648A0EDD843}"/>
              </a:ext>
            </a:extLst>
          </p:cNvPr>
          <p:cNvSpPr txBox="1"/>
          <p:nvPr/>
        </p:nvSpPr>
        <p:spPr>
          <a:xfrm>
            <a:off x="1138500" y="3763778"/>
            <a:ext cx="3659976"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3-14 </a:t>
            </a:r>
            <a:r>
              <a:rPr lang="zh-CN" altLang="en-US" dirty="0">
                <a:ea typeface="黑体"/>
                <a:cs typeface="Times New Roman"/>
              </a:rPr>
              <a:t>选择零件表面创建拉伸特征</a:t>
            </a:r>
            <a:endParaRPr lang="zh-CN" altLang="en-US" dirty="0"/>
          </a:p>
        </p:txBody>
      </p:sp>
      <p:sp>
        <p:nvSpPr>
          <p:cNvPr id="11" name="TextBox 6">
            <a:extLst>
              <a:ext uri="{FF2B5EF4-FFF2-40B4-BE49-F238E27FC236}">
                <a16:creationId xmlns:a16="http://schemas.microsoft.com/office/drawing/2014/main" id="{55A7724D-32CD-EA6C-349F-E377174B1321}"/>
              </a:ext>
            </a:extLst>
          </p:cNvPr>
          <p:cNvSpPr txBox="1"/>
          <p:nvPr/>
        </p:nvSpPr>
        <p:spPr>
          <a:xfrm>
            <a:off x="8316853" y="3763778"/>
            <a:ext cx="1813318"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3-15 </a:t>
            </a:r>
            <a:r>
              <a:rPr lang="zh-CN" altLang="en-US" dirty="0">
                <a:ea typeface="黑体"/>
                <a:cs typeface="Times New Roman"/>
              </a:rPr>
              <a:t>绘制草图</a:t>
            </a:r>
            <a:endParaRPr lang="zh-CN" altLang="en-US" dirty="0"/>
          </a:p>
        </p:txBody>
      </p:sp>
      <p:pic>
        <p:nvPicPr>
          <p:cNvPr id="5" name="图片 4">
            <a:extLst>
              <a:ext uri="{FF2B5EF4-FFF2-40B4-BE49-F238E27FC236}">
                <a16:creationId xmlns:a16="http://schemas.microsoft.com/office/drawing/2014/main" id="{E6FB2582-19EE-5214-EA3F-CC0B7AF972D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892" t="5288" r="45047" b="38461"/>
          <a:stretch/>
        </p:blipFill>
        <p:spPr bwMode="auto">
          <a:xfrm>
            <a:off x="440192" y="1226828"/>
            <a:ext cx="5619107" cy="2281684"/>
          </a:xfrm>
          <a:prstGeom prst="rect">
            <a:avLst/>
          </a:prstGeom>
          <a:ln>
            <a:noFill/>
          </a:ln>
          <a:extLst>
            <a:ext uri="{53640926-AAD7-44D8-BBD7-CCE9431645EC}">
              <a14:shadowObscured xmlns:a14="http://schemas.microsoft.com/office/drawing/2010/main"/>
            </a:ext>
          </a:extLst>
        </p:spPr>
      </p:pic>
      <p:pic>
        <p:nvPicPr>
          <p:cNvPr id="6" name="图片 5">
            <a:extLst>
              <a:ext uri="{FF2B5EF4-FFF2-40B4-BE49-F238E27FC236}">
                <a16:creationId xmlns:a16="http://schemas.microsoft.com/office/drawing/2014/main" id="{F081155A-EE10-699A-241C-573A667EC1C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616" t="3848" r="28390" b="12019"/>
          <a:stretch/>
        </p:blipFill>
        <p:spPr bwMode="auto">
          <a:xfrm>
            <a:off x="6344745" y="1084825"/>
            <a:ext cx="5315646" cy="2473382"/>
          </a:xfrm>
          <a:prstGeom prst="rect">
            <a:avLst/>
          </a:prstGeom>
          <a:ln>
            <a:noFill/>
          </a:ln>
          <a:extLst>
            <a:ext uri="{53640926-AAD7-44D8-BBD7-CCE9431645EC}">
              <a14:shadowObscured xmlns:a14="http://schemas.microsoft.com/office/drawing/2010/main"/>
            </a:ext>
          </a:extLst>
        </p:spPr>
      </p:pic>
      <p:pic>
        <p:nvPicPr>
          <p:cNvPr id="7" name="图片 6">
            <a:extLst>
              <a:ext uri="{FF2B5EF4-FFF2-40B4-BE49-F238E27FC236}">
                <a16:creationId xmlns:a16="http://schemas.microsoft.com/office/drawing/2014/main" id="{4B289870-3DEE-2FAA-AFF4-7D870AAF8656}"/>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712" t="6250" r="48843" b="41827"/>
          <a:stretch/>
        </p:blipFill>
        <p:spPr bwMode="auto">
          <a:xfrm>
            <a:off x="6891129" y="4133110"/>
            <a:ext cx="4924063" cy="1984268"/>
          </a:xfrm>
          <a:prstGeom prst="rect">
            <a:avLst/>
          </a:prstGeom>
          <a:ln>
            <a:noFill/>
          </a:ln>
          <a:extLst>
            <a:ext uri="{53640926-AAD7-44D8-BBD7-CCE9431645EC}">
              <a14:shadowObscured xmlns:a14="http://schemas.microsoft.com/office/drawing/2010/main"/>
            </a:ext>
          </a:extLst>
        </p:spPr>
      </p:pic>
      <p:sp>
        <p:nvSpPr>
          <p:cNvPr id="9" name="TextBox 6">
            <a:extLst>
              <a:ext uri="{FF2B5EF4-FFF2-40B4-BE49-F238E27FC236}">
                <a16:creationId xmlns:a16="http://schemas.microsoft.com/office/drawing/2014/main" id="{48103F8F-DBBA-10B9-EC6E-D68DBE179814}"/>
              </a:ext>
            </a:extLst>
          </p:cNvPr>
          <p:cNvSpPr txBox="1"/>
          <p:nvPr/>
        </p:nvSpPr>
        <p:spPr>
          <a:xfrm>
            <a:off x="8316853" y="6164274"/>
            <a:ext cx="1813318"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3-16 </a:t>
            </a:r>
            <a:r>
              <a:rPr lang="zh-CN" altLang="en-US" dirty="0">
                <a:ea typeface="黑体"/>
                <a:cs typeface="Times New Roman"/>
              </a:rPr>
              <a:t>拉伸切除</a:t>
            </a:r>
            <a:endParaRPr lang="zh-CN" altLang="en-US" dirty="0"/>
          </a:p>
        </p:txBody>
      </p:sp>
    </p:spTree>
    <p:extLst>
      <p:ext uri="{BB962C8B-B14F-4D97-AF65-F5344CB8AC3E}">
        <p14:creationId xmlns:p14="http://schemas.microsoft.com/office/powerpoint/2010/main" val="38075621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BD42089A-AB98-572D-2F72-1E0314A5734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7954" t="11057" r="50651" b="46154"/>
          <a:stretch/>
        </p:blipFill>
        <p:spPr bwMode="auto">
          <a:xfrm>
            <a:off x="2902109" y="4104456"/>
            <a:ext cx="5400238" cy="2097899"/>
          </a:xfrm>
          <a:prstGeom prst="rect">
            <a:avLst/>
          </a:prstGeom>
          <a:ln>
            <a:noFill/>
          </a:ln>
          <a:extLst>
            <a:ext uri="{53640926-AAD7-44D8-BBD7-CCE9431645EC}">
              <a14:shadowObscured xmlns:a14="http://schemas.microsoft.com/office/drawing/2010/main"/>
            </a:ext>
          </a:extLst>
        </p:spPr>
      </p:pic>
      <p:sp>
        <p:nvSpPr>
          <p:cNvPr id="4" name="TextBox 3"/>
          <p:cNvSpPr txBox="1"/>
          <p:nvPr/>
        </p:nvSpPr>
        <p:spPr>
          <a:xfrm>
            <a:off x="154746" y="355924"/>
            <a:ext cx="11746522" cy="3323987"/>
          </a:xfrm>
          <a:prstGeom prst="rect">
            <a:avLst/>
          </a:prstGeom>
          <a:noFill/>
        </p:spPr>
        <p:txBody>
          <a:bodyPr wrap="square" rtlCol="0">
            <a:spAutoFit/>
          </a:bodyPr>
          <a:lstStyle/>
          <a:p>
            <a:pPr indent="266700" algn="just" fontAlgn="ctr">
              <a:lnSpc>
                <a:spcPct val="150000"/>
              </a:lnSpc>
            </a:pPr>
            <a:r>
              <a:rPr lang="en-US" altLang="zh-CN" sz="2800" b="1" kern="100" dirty="0">
                <a:latin typeface="Times New Roman"/>
                <a:ea typeface="宋体"/>
                <a:cs typeface="Times New Roman"/>
              </a:rPr>
              <a:t>6</a:t>
            </a:r>
            <a:r>
              <a:rPr lang="zh-CN" altLang="en-US" sz="2800" b="1" kern="100" dirty="0">
                <a:latin typeface="Times New Roman"/>
                <a:ea typeface="宋体"/>
                <a:cs typeface="Times New Roman"/>
              </a:rPr>
              <a:t>） 创建镜像特征</a:t>
            </a:r>
            <a:endParaRPr lang="en-US" altLang="zh-CN" sz="2800" b="1" kern="100" dirty="0">
              <a:latin typeface="Times New Roman"/>
              <a:ea typeface="宋体"/>
              <a:cs typeface="Times New Roman"/>
            </a:endParaRPr>
          </a:p>
          <a:p>
            <a:pPr indent="266700" algn="just" fontAlgn="ctr">
              <a:lnSpc>
                <a:spcPct val="150000"/>
              </a:lnSpc>
            </a:pPr>
            <a:r>
              <a:rPr lang="zh-CN" altLang="en-US" sz="2800" dirty="0">
                <a:latin typeface="Times New Roman" pitchFamily="18" charset="0"/>
                <a:ea typeface="宋体" pitchFamily="2" charset="-122"/>
              </a:rPr>
              <a:t>（</a:t>
            </a:r>
            <a:r>
              <a:rPr lang="en-US" altLang="zh-CN" sz="2800" dirty="0">
                <a:latin typeface="Times New Roman" pitchFamily="18" charset="0"/>
                <a:ea typeface="宋体" pitchFamily="2" charset="-122"/>
              </a:rPr>
              <a:t>1</a:t>
            </a:r>
            <a:r>
              <a:rPr lang="zh-CN" altLang="en-US" sz="2800" dirty="0">
                <a:latin typeface="Times New Roman" pitchFamily="18" charset="0"/>
                <a:ea typeface="宋体" pitchFamily="2" charset="-122"/>
              </a:rPr>
              <a:t>）选中上一步的拉伸切除特征，单击“镜像”按钮   ，打开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镜像</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a:t>
            </a:r>
          </a:p>
          <a:p>
            <a:pPr indent="266700" algn="just" fontAlgn="ctr">
              <a:lnSpc>
                <a:spcPct val="150000"/>
              </a:lnSpc>
            </a:pPr>
            <a:r>
              <a:rPr lang="zh-CN" altLang="en-US" sz="2800" dirty="0">
                <a:latin typeface="Times New Roman" pitchFamily="18" charset="0"/>
                <a:ea typeface="宋体" pitchFamily="2" charset="-122"/>
              </a:rPr>
              <a:t>（</a:t>
            </a:r>
            <a:r>
              <a:rPr lang="en-US" altLang="zh-CN" sz="2800" dirty="0">
                <a:latin typeface="Times New Roman" pitchFamily="18" charset="0"/>
                <a:ea typeface="宋体" pitchFamily="2" charset="-122"/>
              </a:rPr>
              <a:t>2</a:t>
            </a:r>
            <a:r>
              <a:rPr lang="zh-CN" altLang="en-US" sz="2800" dirty="0">
                <a:latin typeface="Times New Roman" pitchFamily="18" charset="0"/>
                <a:ea typeface="宋体" pitchFamily="2" charset="-122"/>
              </a:rPr>
              <a:t>）选择</a:t>
            </a:r>
            <a:r>
              <a:rPr lang="en-US" altLang="zh-CN" sz="2800" dirty="0">
                <a:latin typeface="Times New Roman" pitchFamily="18" charset="0"/>
                <a:ea typeface="宋体" pitchFamily="2" charset="-122"/>
              </a:rPr>
              <a:t>FRONT</a:t>
            </a:r>
            <a:r>
              <a:rPr lang="zh-CN" altLang="en-US" sz="2800" dirty="0">
                <a:latin typeface="Times New Roman" pitchFamily="18" charset="0"/>
                <a:ea typeface="宋体" pitchFamily="2" charset="-122"/>
              </a:rPr>
              <a:t>基准平面作为镜像平面。</a:t>
            </a:r>
          </a:p>
          <a:p>
            <a:pPr indent="266700" algn="just" fontAlgn="ctr">
              <a:lnSpc>
                <a:spcPct val="150000"/>
              </a:lnSpc>
            </a:pPr>
            <a:r>
              <a:rPr lang="zh-CN" altLang="en-US" sz="2800" dirty="0">
                <a:latin typeface="Times New Roman" pitchFamily="18" charset="0"/>
                <a:ea typeface="宋体" pitchFamily="2" charset="-122"/>
              </a:rPr>
              <a:t>（</a:t>
            </a:r>
            <a:r>
              <a:rPr lang="en-US" altLang="zh-CN" sz="2800" dirty="0">
                <a:latin typeface="Times New Roman" pitchFamily="18" charset="0"/>
                <a:ea typeface="宋体" pitchFamily="2" charset="-122"/>
              </a:rPr>
              <a:t>3</a:t>
            </a:r>
            <a:r>
              <a:rPr lang="zh-CN" altLang="en-US" sz="2800" dirty="0">
                <a:latin typeface="Times New Roman" pitchFamily="18" charset="0"/>
                <a:ea typeface="宋体" pitchFamily="2" charset="-122"/>
              </a:rPr>
              <a:t>）单击</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镜像</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选项卡中的“确定”按钮。</a:t>
            </a:r>
          </a:p>
        </p:txBody>
      </p:sp>
      <p:sp>
        <p:nvSpPr>
          <p:cNvPr id="9" name="TextBox 6">
            <a:extLst>
              <a:ext uri="{FF2B5EF4-FFF2-40B4-BE49-F238E27FC236}">
                <a16:creationId xmlns:a16="http://schemas.microsoft.com/office/drawing/2014/main" id="{48103F8F-DBBA-10B9-EC6E-D68DBE179814}"/>
              </a:ext>
            </a:extLst>
          </p:cNvPr>
          <p:cNvSpPr txBox="1"/>
          <p:nvPr/>
        </p:nvSpPr>
        <p:spPr>
          <a:xfrm>
            <a:off x="4118488" y="6046265"/>
            <a:ext cx="2967479"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3-17 </a:t>
            </a:r>
            <a:r>
              <a:rPr lang="zh-CN" altLang="en-US" dirty="0">
                <a:ea typeface="黑体"/>
                <a:cs typeface="Times New Roman"/>
              </a:rPr>
              <a:t>选择倒圆角的边参考</a:t>
            </a:r>
            <a:endParaRPr lang="zh-CN" altLang="en-US" dirty="0"/>
          </a:p>
        </p:txBody>
      </p:sp>
      <p:pic>
        <p:nvPicPr>
          <p:cNvPr id="2" name="图片 1">
            <a:extLst>
              <a:ext uri="{FF2B5EF4-FFF2-40B4-BE49-F238E27FC236}">
                <a16:creationId xmlns:a16="http://schemas.microsoft.com/office/drawing/2014/main" id="{9B7236DC-9EF4-F70D-7C54-339FFB5ECA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80563" y="1506884"/>
            <a:ext cx="342949" cy="360095"/>
          </a:xfrm>
          <a:prstGeom prst="rect">
            <a:avLst/>
          </a:prstGeom>
        </p:spPr>
      </p:pic>
      <p:sp>
        <p:nvSpPr>
          <p:cNvPr id="3" name="TextBox 3">
            <a:extLst>
              <a:ext uri="{FF2B5EF4-FFF2-40B4-BE49-F238E27FC236}">
                <a16:creationId xmlns:a16="http://schemas.microsoft.com/office/drawing/2014/main" id="{923D845F-364F-8441-E086-DC58AAC5C4DE}"/>
              </a:ext>
            </a:extLst>
          </p:cNvPr>
          <p:cNvSpPr txBox="1"/>
          <p:nvPr/>
        </p:nvSpPr>
        <p:spPr>
          <a:xfrm>
            <a:off x="71440" y="3450768"/>
            <a:ext cx="11746522" cy="738664"/>
          </a:xfrm>
          <a:prstGeom prst="rect">
            <a:avLst/>
          </a:prstGeom>
          <a:noFill/>
        </p:spPr>
        <p:txBody>
          <a:bodyPr wrap="square" rtlCol="0">
            <a:spAutoFit/>
          </a:bodyPr>
          <a:lstStyle/>
          <a:p>
            <a:pPr indent="266700" algn="just" fontAlgn="ctr">
              <a:lnSpc>
                <a:spcPct val="150000"/>
              </a:lnSpc>
            </a:pPr>
            <a:r>
              <a:rPr lang="en-US" altLang="zh-CN" sz="2800" b="1" kern="100" dirty="0">
                <a:latin typeface="Times New Roman"/>
                <a:ea typeface="宋体"/>
                <a:cs typeface="Times New Roman"/>
              </a:rPr>
              <a:t>7</a:t>
            </a:r>
            <a:r>
              <a:rPr lang="zh-CN" altLang="en-US" sz="2800" b="1" kern="100" dirty="0">
                <a:latin typeface="Times New Roman"/>
                <a:ea typeface="宋体"/>
                <a:cs typeface="Times New Roman"/>
              </a:rPr>
              <a:t>）创建</a:t>
            </a:r>
            <a:r>
              <a:rPr lang="en-US" altLang="zh-CN" sz="2800" b="1" kern="100" dirty="0">
                <a:latin typeface="Times New Roman"/>
                <a:ea typeface="宋体"/>
                <a:cs typeface="Times New Roman"/>
              </a:rPr>
              <a:t>R60</a:t>
            </a:r>
            <a:r>
              <a:rPr lang="zh-CN" altLang="en-US" sz="2800" b="1" kern="100" dirty="0">
                <a:latin typeface="Times New Roman"/>
                <a:ea typeface="宋体"/>
                <a:cs typeface="Times New Roman"/>
              </a:rPr>
              <a:t>倒圆角特征</a:t>
            </a:r>
            <a:endParaRPr lang="zh-CN" altLang="en-US" sz="2800" dirty="0">
              <a:latin typeface="Times New Roman" pitchFamily="18" charset="0"/>
              <a:ea typeface="宋体" pitchFamily="2" charset="-122"/>
            </a:endParaRPr>
          </a:p>
        </p:txBody>
      </p:sp>
    </p:spTree>
    <p:extLst>
      <p:ext uri="{BB962C8B-B14F-4D97-AF65-F5344CB8AC3E}">
        <p14:creationId xmlns:p14="http://schemas.microsoft.com/office/powerpoint/2010/main" val="22157679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4746" y="355924"/>
            <a:ext cx="11746522" cy="738664"/>
          </a:xfrm>
          <a:prstGeom prst="rect">
            <a:avLst/>
          </a:prstGeom>
          <a:noFill/>
        </p:spPr>
        <p:txBody>
          <a:bodyPr wrap="square" rtlCol="0">
            <a:spAutoFit/>
          </a:bodyPr>
          <a:lstStyle/>
          <a:p>
            <a:pPr indent="266700" algn="just" fontAlgn="ctr">
              <a:lnSpc>
                <a:spcPct val="150000"/>
              </a:lnSpc>
            </a:pPr>
            <a:r>
              <a:rPr lang="en-US" altLang="zh-CN" sz="2800" b="1" kern="100" dirty="0">
                <a:latin typeface="Times New Roman"/>
                <a:ea typeface="宋体"/>
                <a:cs typeface="Times New Roman"/>
              </a:rPr>
              <a:t>8</a:t>
            </a:r>
            <a:r>
              <a:rPr lang="zh-CN" altLang="en-US" sz="2800" b="1" kern="100" dirty="0">
                <a:latin typeface="Times New Roman"/>
                <a:ea typeface="宋体"/>
                <a:cs typeface="Times New Roman"/>
              </a:rPr>
              <a:t>）创建</a:t>
            </a:r>
            <a:r>
              <a:rPr lang="en-US" altLang="zh-CN" sz="2800" b="1" kern="100" dirty="0">
                <a:latin typeface="Times New Roman"/>
                <a:ea typeface="宋体"/>
                <a:cs typeface="Times New Roman"/>
              </a:rPr>
              <a:t>R8</a:t>
            </a:r>
            <a:r>
              <a:rPr lang="zh-CN" altLang="en-US" sz="2800" b="1" kern="100" dirty="0">
                <a:latin typeface="Times New Roman"/>
                <a:ea typeface="宋体"/>
                <a:cs typeface="Times New Roman"/>
              </a:rPr>
              <a:t>倒圆角</a:t>
            </a:r>
            <a:endParaRPr lang="en-US" altLang="zh-CN" sz="2800" b="1" kern="100" dirty="0">
              <a:latin typeface="Times New Roman"/>
              <a:ea typeface="宋体"/>
              <a:cs typeface="Times New Roman"/>
            </a:endParaRPr>
          </a:p>
        </p:txBody>
      </p:sp>
      <p:sp>
        <p:nvSpPr>
          <p:cNvPr id="3" name="TextBox 3">
            <a:extLst>
              <a:ext uri="{FF2B5EF4-FFF2-40B4-BE49-F238E27FC236}">
                <a16:creationId xmlns:a16="http://schemas.microsoft.com/office/drawing/2014/main" id="{923D845F-364F-8441-E086-DC58AAC5C4DE}"/>
              </a:ext>
            </a:extLst>
          </p:cNvPr>
          <p:cNvSpPr txBox="1"/>
          <p:nvPr/>
        </p:nvSpPr>
        <p:spPr>
          <a:xfrm>
            <a:off x="100016" y="3924082"/>
            <a:ext cx="11746522" cy="2031325"/>
          </a:xfrm>
          <a:prstGeom prst="rect">
            <a:avLst/>
          </a:prstGeom>
          <a:noFill/>
        </p:spPr>
        <p:txBody>
          <a:bodyPr wrap="square" rtlCol="0">
            <a:spAutoFit/>
          </a:bodyPr>
          <a:lstStyle/>
          <a:p>
            <a:pPr indent="266700" algn="just" fontAlgn="ctr">
              <a:lnSpc>
                <a:spcPct val="150000"/>
              </a:lnSpc>
            </a:pPr>
            <a:r>
              <a:rPr lang="en-US" altLang="zh-CN" sz="2800" b="1" kern="100" dirty="0">
                <a:latin typeface="Times New Roman"/>
                <a:ea typeface="宋体"/>
                <a:cs typeface="Times New Roman"/>
              </a:rPr>
              <a:t>9</a:t>
            </a:r>
            <a:r>
              <a:rPr lang="zh-CN" altLang="en-US" sz="2800" b="1" kern="100" dirty="0">
                <a:latin typeface="Times New Roman"/>
                <a:ea typeface="宋体"/>
                <a:cs typeface="Times New Roman"/>
              </a:rPr>
              <a:t>）边倒角</a:t>
            </a:r>
            <a:endParaRPr lang="en-US" altLang="zh-CN" sz="2800" b="1" kern="100" dirty="0">
              <a:latin typeface="Times New Roman"/>
              <a:ea typeface="宋体"/>
              <a:cs typeface="Times New Roman"/>
            </a:endParaRPr>
          </a:p>
          <a:p>
            <a:pPr indent="266700" algn="just" fontAlgn="ctr">
              <a:lnSpc>
                <a:spcPct val="150000"/>
              </a:lnSpc>
            </a:pPr>
            <a:r>
              <a:rPr lang="zh-CN" altLang="en-US" sz="2800" dirty="0">
                <a:latin typeface="Times New Roman" pitchFamily="18" charset="0"/>
                <a:ea typeface="宋体" pitchFamily="2" charset="-122"/>
              </a:rPr>
              <a:t>单击“边倒角”按钮    ，在圆台孔相应的边缘处创建尺寸规格为</a:t>
            </a:r>
            <a:r>
              <a:rPr lang="en-US" altLang="zh-CN" sz="2800" dirty="0">
                <a:latin typeface="Times New Roman" pitchFamily="18" charset="0"/>
                <a:ea typeface="宋体" pitchFamily="2" charset="-122"/>
              </a:rPr>
              <a:t>C2</a:t>
            </a:r>
            <a:r>
              <a:rPr lang="zh-CN" altLang="en-US" sz="2800" dirty="0">
                <a:latin typeface="Times New Roman" pitchFamily="18" charset="0"/>
                <a:ea typeface="宋体" pitchFamily="2" charset="-122"/>
              </a:rPr>
              <a:t>的边倒角特征。至此，完成连杆零件的三维建模操作。</a:t>
            </a:r>
          </a:p>
        </p:txBody>
      </p:sp>
      <p:pic>
        <p:nvPicPr>
          <p:cNvPr id="5" name="图片 4">
            <a:extLst>
              <a:ext uri="{FF2B5EF4-FFF2-40B4-BE49-F238E27FC236}">
                <a16:creationId xmlns:a16="http://schemas.microsoft.com/office/drawing/2014/main" id="{FF1AC403-5F82-0441-F569-C91DBEE8B0E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254" t="8654" r="39624" b="30288"/>
          <a:stretch/>
        </p:blipFill>
        <p:spPr bwMode="auto">
          <a:xfrm>
            <a:off x="2902109" y="1153098"/>
            <a:ext cx="5607490" cy="2254134"/>
          </a:xfrm>
          <a:prstGeom prst="rect">
            <a:avLst/>
          </a:prstGeom>
          <a:ln>
            <a:noFill/>
          </a:ln>
          <a:extLst>
            <a:ext uri="{53640926-AAD7-44D8-BBD7-CCE9431645EC}">
              <a14:shadowObscured xmlns:a14="http://schemas.microsoft.com/office/drawing/2010/main"/>
            </a:ext>
          </a:extLst>
        </p:spPr>
      </p:pic>
      <p:sp>
        <p:nvSpPr>
          <p:cNvPr id="6" name="TextBox 6">
            <a:extLst>
              <a:ext uri="{FF2B5EF4-FFF2-40B4-BE49-F238E27FC236}">
                <a16:creationId xmlns:a16="http://schemas.microsoft.com/office/drawing/2014/main" id="{C6375EF4-0900-2D50-A7A2-0745F8607D08}"/>
              </a:ext>
            </a:extLst>
          </p:cNvPr>
          <p:cNvSpPr txBox="1"/>
          <p:nvPr/>
        </p:nvSpPr>
        <p:spPr>
          <a:xfrm>
            <a:off x="5183731" y="3521882"/>
            <a:ext cx="1824537"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3-18 </a:t>
            </a:r>
            <a:r>
              <a:rPr lang="zh-CN" altLang="en-US" dirty="0">
                <a:ea typeface="黑体"/>
                <a:cs typeface="Times New Roman"/>
              </a:rPr>
              <a:t>倒</a:t>
            </a:r>
            <a:r>
              <a:rPr lang="en-US" altLang="zh-CN" dirty="0">
                <a:ea typeface="黑体"/>
                <a:cs typeface="Times New Roman"/>
              </a:rPr>
              <a:t>R8</a:t>
            </a:r>
            <a:r>
              <a:rPr lang="zh-CN" altLang="en-US" dirty="0">
                <a:ea typeface="黑体"/>
                <a:cs typeface="Times New Roman"/>
              </a:rPr>
              <a:t>圆角</a:t>
            </a:r>
            <a:endParaRPr lang="zh-CN" altLang="en-US" dirty="0"/>
          </a:p>
        </p:txBody>
      </p:sp>
      <p:pic>
        <p:nvPicPr>
          <p:cNvPr id="7" name="图片 6">
            <a:extLst>
              <a:ext uri="{FF2B5EF4-FFF2-40B4-BE49-F238E27FC236}">
                <a16:creationId xmlns:a16="http://schemas.microsoft.com/office/drawing/2014/main" id="{694E866B-E979-3713-EAB4-4353EDA016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5897" y="4835312"/>
            <a:ext cx="411538" cy="394391"/>
          </a:xfrm>
          <a:prstGeom prst="rect">
            <a:avLst/>
          </a:prstGeom>
        </p:spPr>
      </p:pic>
    </p:spTree>
    <p:extLst>
      <p:ext uri="{BB962C8B-B14F-4D97-AF65-F5344CB8AC3E}">
        <p14:creationId xmlns:p14="http://schemas.microsoft.com/office/powerpoint/2010/main" val="2167853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923D845F-364F-8441-E086-DC58AAC5C4DE}"/>
              </a:ext>
            </a:extLst>
          </p:cNvPr>
          <p:cNvSpPr txBox="1"/>
          <p:nvPr/>
        </p:nvSpPr>
        <p:spPr>
          <a:xfrm>
            <a:off x="222739" y="1114625"/>
            <a:ext cx="11746522" cy="3970318"/>
          </a:xfrm>
          <a:prstGeom prst="rect">
            <a:avLst/>
          </a:prstGeom>
          <a:noFill/>
        </p:spPr>
        <p:txBody>
          <a:bodyPr wrap="square" rtlCol="0">
            <a:spAutoFit/>
          </a:bodyPr>
          <a:lstStyle/>
          <a:p>
            <a:pPr indent="266700" algn="just" fontAlgn="ctr">
              <a:lnSpc>
                <a:spcPct val="150000"/>
              </a:lnSpc>
            </a:pPr>
            <a:r>
              <a:rPr lang="zh-CN" altLang="en-US" sz="2800" dirty="0">
                <a:latin typeface="Times New Roman" pitchFamily="18" charset="0"/>
                <a:ea typeface="宋体" pitchFamily="2" charset="-122"/>
              </a:rPr>
              <a:t>旋转特征是指绕着中心线旋转草绘的截面来创建的特征，旋转特征可以是实体，也可以是曲面。</a:t>
            </a:r>
            <a:endParaRPr lang="en-US" altLang="zh-CN" sz="2800" dirty="0">
              <a:latin typeface="Times New Roman" pitchFamily="18" charset="0"/>
              <a:ea typeface="宋体" pitchFamily="2" charset="-122"/>
            </a:endParaRPr>
          </a:p>
          <a:p>
            <a:pPr indent="266700" algn="just" fontAlgn="ctr">
              <a:lnSpc>
                <a:spcPct val="150000"/>
              </a:lnSpc>
            </a:pPr>
            <a:r>
              <a:rPr lang="zh-CN" altLang="en-US" sz="2800" dirty="0">
                <a:latin typeface="Times New Roman" pitchFamily="18" charset="0"/>
                <a:ea typeface="宋体" pitchFamily="2" charset="-122"/>
              </a:rPr>
              <a:t>创建旋转特征必须要具备旋转轴和截面草图两个要素。旋转轴可以是草绘的中心线，也可以是已有实体的边或者已经存在的基准轴。在机械工业中，应用广泛的各类连接传动轴的建模大多都含有旋转特征，如图</a:t>
            </a:r>
            <a:r>
              <a:rPr lang="en-US" altLang="zh-CN" sz="2800" dirty="0">
                <a:latin typeface="Times New Roman" pitchFamily="18" charset="0"/>
                <a:ea typeface="宋体" pitchFamily="2" charset="-122"/>
              </a:rPr>
              <a:t>3-19</a:t>
            </a:r>
            <a:r>
              <a:rPr lang="zh-CN" altLang="en-US" sz="2800" dirty="0">
                <a:latin typeface="Times New Roman" pitchFamily="18" charset="0"/>
                <a:ea typeface="宋体" pitchFamily="2" charset="-122"/>
              </a:rPr>
              <a:t>所示。</a:t>
            </a:r>
          </a:p>
        </p:txBody>
      </p:sp>
      <p:sp>
        <p:nvSpPr>
          <p:cNvPr id="2" name="TextBox 1">
            <a:extLst>
              <a:ext uri="{FF2B5EF4-FFF2-40B4-BE49-F238E27FC236}">
                <a16:creationId xmlns:a16="http://schemas.microsoft.com/office/drawing/2014/main" id="{8AA63148-2EC8-EB8C-DD1B-931F77398A6B}"/>
              </a:ext>
            </a:extLst>
          </p:cNvPr>
          <p:cNvSpPr txBox="1"/>
          <p:nvPr/>
        </p:nvSpPr>
        <p:spPr>
          <a:xfrm>
            <a:off x="460562" y="470647"/>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3.2</a:t>
            </a:r>
            <a:r>
              <a:rPr lang="zh-CN" altLang="en-US" sz="3200" dirty="0">
                <a:solidFill>
                  <a:schemeClr val="bg1"/>
                </a:solidFill>
                <a:latin typeface="Times New Roman" pitchFamily="18" charset="0"/>
                <a:ea typeface="黑体" pitchFamily="49" charset="-122"/>
              </a:rPr>
              <a:t>旋转特征</a:t>
            </a:r>
            <a:endParaRPr lang="en-US" altLang="zh-CN" sz="3200" dirty="0">
              <a:solidFill>
                <a:schemeClr val="bg1"/>
              </a:solidFill>
              <a:latin typeface="Times New Roman" pitchFamily="18" charset="0"/>
              <a:ea typeface="黑体" pitchFamily="49" charset="-122"/>
            </a:endParaRPr>
          </a:p>
        </p:txBody>
      </p:sp>
      <p:pic>
        <p:nvPicPr>
          <p:cNvPr id="8" name="图片 7">
            <a:extLst>
              <a:ext uri="{FF2B5EF4-FFF2-40B4-BE49-F238E27FC236}">
                <a16:creationId xmlns:a16="http://schemas.microsoft.com/office/drawing/2014/main" id="{C996CEF4-5525-566B-AE14-23F25C77DA6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091" t="7836" r="35352" b="42976"/>
          <a:stretch/>
        </p:blipFill>
        <p:spPr bwMode="auto">
          <a:xfrm>
            <a:off x="3431174" y="4404043"/>
            <a:ext cx="5329653" cy="1625502"/>
          </a:xfrm>
          <a:prstGeom prst="rect">
            <a:avLst/>
          </a:prstGeom>
          <a:ln>
            <a:noFill/>
          </a:ln>
          <a:extLst>
            <a:ext uri="{53640926-AAD7-44D8-BBD7-CCE9431645EC}">
              <a14:shadowObscured xmlns:a14="http://schemas.microsoft.com/office/drawing/2010/main"/>
            </a:ext>
          </a:extLst>
        </p:spPr>
      </p:pic>
      <p:sp>
        <p:nvSpPr>
          <p:cNvPr id="9" name="TextBox 6">
            <a:extLst>
              <a:ext uri="{FF2B5EF4-FFF2-40B4-BE49-F238E27FC236}">
                <a16:creationId xmlns:a16="http://schemas.microsoft.com/office/drawing/2014/main" id="{769068F4-9CBA-B439-2979-E76CD2F8DC41}"/>
              </a:ext>
            </a:extLst>
          </p:cNvPr>
          <p:cNvSpPr txBox="1"/>
          <p:nvPr/>
        </p:nvSpPr>
        <p:spPr>
          <a:xfrm>
            <a:off x="5331207" y="5911139"/>
            <a:ext cx="1529585"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3-19</a:t>
            </a:r>
            <a:r>
              <a:rPr lang="zh-CN" altLang="en-US" dirty="0">
                <a:ea typeface="黑体"/>
                <a:cs typeface="Times New Roman"/>
              </a:rPr>
              <a:t>传动轴</a:t>
            </a:r>
            <a:endParaRPr lang="zh-CN" altLang="en-US" dirty="0"/>
          </a:p>
        </p:txBody>
      </p:sp>
    </p:spTree>
    <p:extLst>
      <p:ext uri="{BB962C8B-B14F-4D97-AF65-F5344CB8AC3E}">
        <p14:creationId xmlns:p14="http://schemas.microsoft.com/office/powerpoint/2010/main" val="2255728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a:extLst>
              <a:ext uri="{FF2B5EF4-FFF2-40B4-BE49-F238E27FC236}">
                <a16:creationId xmlns:a16="http://schemas.microsoft.com/office/drawing/2014/main" id="{121A0306-4AC8-4952-62B3-540201E7610A}"/>
              </a:ext>
            </a:extLst>
          </p:cNvPr>
          <p:cNvSpPr txBox="1"/>
          <p:nvPr/>
        </p:nvSpPr>
        <p:spPr>
          <a:xfrm>
            <a:off x="222739" y="664052"/>
            <a:ext cx="11746522" cy="2031325"/>
          </a:xfrm>
          <a:prstGeom prst="rect">
            <a:avLst/>
          </a:prstGeom>
          <a:noFill/>
        </p:spPr>
        <p:txBody>
          <a:bodyPr wrap="square" rtlCol="0">
            <a:spAutoFit/>
          </a:bodyPr>
          <a:lstStyle/>
          <a:p>
            <a:pPr indent="266700" algn="just" fontAlgn="ctr">
              <a:lnSpc>
                <a:spcPct val="150000"/>
              </a:lnSpc>
            </a:pPr>
            <a:r>
              <a:rPr lang="en-US" altLang="zh-CN" sz="2800" b="1" dirty="0">
                <a:latin typeface="Times New Roman" pitchFamily="18" charset="0"/>
                <a:ea typeface="宋体" pitchFamily="2" charset="-122"/>
              </a:rPr>
              <a:t>1.【</a:t>
            </a:r>
            <a:r>
              <a:rPr lang="zh-CN" altLang="en-US" sz="2800" b="1" dirty="0">
                <a:latin typeface="Times New Roman" pitchFamily="18" charset="0"/>
                <a:ea typeface="宋体" pitchFamily="2" charset="-122"/>
              </a:rPr>
              <a:t>旋转</a:t>
            </a:r>
            <a:r>
              <a:rPr lang="en-US" altLang="zh-CN" sz="2800" b="1" dirty="0">
                <a:latin typeface="Times New Roman" pitchFamily="18" charset="0"/>
                <a:ea typeface="宋体" pitchFamily="2" charset="-122"/>
              </a:rPr>
              <a:t>】</a:t>
            </a:r>
            <a:r>
              <a:rPr lang="zh-CN" altLang="en-US" sz="2800" b="1" dirty="0">
                <a:latin typeface="Times New Roman" pitchFamily="18" charset="0"/>
                <a:ea typeface="宋体" pitchFamily="2" charset="-122"/>
              </a:rPr>
              <a:t>操控板</a:t>
            </a:r>
          </a:p>
          <a:p>
            <a:pPr indent="266700" algn="just" fontAlgn="ctr">
              <a:lnSpc>
                <a:spcPct val="150000"/>
              </a:lnSpc>
            </a:pPr>
            <a:r>
              <a:rPr lang="zh-CN" altLang="en-US" sz="2800" dirty="0">
                <a:latin typeface="Times New Roman" pitchFamily="18" charset="0"/>
                <a:ea typeface="宋体" pitchFamily="2" charset="-122"/>
              </a:rPr>
              <a:t>单击功能区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模型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形状</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区域中的“旋转”按钮    ，界面顶部显示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旋转</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操控板，如图</a:t>
            </a:r>
            <a:r>
              <a:rPr lang="en-US" altLang="zh-CN" sz="2800" dirty="0">
                <a:latin typeface="Times New Roman" pitchFamily="18" charset="0"/>
                <a:ea typeface="宋体" pitchFamily="2" charset="-122"/>
              </a:rPr>
              <a:t>3-20</a:t>
            </a:r>
            <a:r>
              <a:rPr lang="zh-CN" altLang="en-US" sz="2800" dirty="0">
                <a:latin typeface="Times New Roman" pitchFamily="18" charset="0"/>
                <a:ea typeface="宋体" pitchFamily="2" charset="-122"/>
              </a:rPr>
              <a:t>所示。</a:t>
            </a:r>
          </a:p>
        </p:txBody>
      </p:sp>
      <p:pic>
        <p:nvPicPr>
          <p:cNvPr id="3" name="图片 2">
            <a:extLst>
              <a:ext uri="{FF2B5EF4-FFF2-40B4-BE49-F238E27FC236}">
                <a16:creationId xmlns:a16="http://schemas.microsoft.com/office/drawing/2014/main" id="{0B834618-7CE8-B48E-A00B-674C222221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5780" y="1586945"/>
            <a:ext cx="342949" cy="377242"/>
          </a:xfrm>
          <a:prstGeom prst="rect">
            <a:avLst/>
          </a:prstGeom>
        </p:spPr>
      </p:pic>
      <p:pic>
        <p:nvPicPr>
          <p:cNvPr id="4" name="图片 3">
            <a:extLst>
              <a:ext uri="{FF2B5EF4-FFF2-40B4-BE49-F238E27FC236}">
                <a16:creationId xmlns:a16="http://schemas.microsoft.com/office/drawing/2014/main" id="{CC1588D0-8FC4-0270-FA17-DE2FB6D557B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201" t="12188" r="12439" b="55165"/>
          <a:stretch/>
        </p:blipFill>
        <p:spPr bwMode="auto">
          <a:xfrm>
            <a:off x="1035462" y="3044242"/>
            <a:ext cx="10121076" cy="1539138"/>
          </a:xfrm>
          <a:prstGeom prst="rect">
            <a:avLst/>
          </a:prstGeom>
          <a:ln>
            <a:noFill/>
          </a:ln>
          <a:extLst>
            <a:ext uri="{53640926-AAD7-44D8-BBD7-CCE9431645EC}">
              <a14:shadowObscured xmlns:a14="http://schemas.microsoft.com/office/drawing/2010/main"/>
            </a:ext>
          </a:extLst>
        </p:spPr>
      </p:pic>
      <p:sp>
        <p:nvSpPr>
          <p:cNvPr id="5" name="TextBox 6">
            <a:extLst>
              <a:ext uri="{FF2B5EF4-FFF2-40B4-BE49-F238E27FC236}">
                <a16:creationId xmlns:a16="http://schemas.microsoft.com/office/drawing/2014/main" id="{B7494514-7CFF-4344-DB5E-E864699A1027}"/>
              </a:ext>
            </a:extLst>
          </p:cNvPr>
          <p:cNvSpPr txBox="1"/>
          <p:nvPr/>
        </p:nvSpPr>
        <p:spPr>
          <a:xfrm>
            <a:off x="4723769" y="4826234"/>
            <a:ext cx="2452916"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3-20【</a:t>
            </a:r>
            <a:r>
              <a:rPr lang="zh-CN" altLang="en-US" dirty="0">
                <a:ea typeface="黑体"/>
                <a:cs typeface="Times New Roman"/>
              </a:rPr>
              <a:t>旋转</a:t>
            </a:r>
            <a:r>
              <a:rPr lang="en-US" altLang="zh-CN" dirty="0">
                <a:ea typeface="黑体"/>
                <a:cs typeface="Times New Roman"/>
              </a:rPr>
              <a:t>】</a:t>
            </a:r>
            <a:r>
              <a:rPr lang="zh-CN" altLang="en-US" dirty="0">
                <a:ea typeface="黑体"/>
                <a:cs typeface="Times New Roman"/>
              </a:rPr>
              <a:t>操控板</a:t>
            </a:r>
            <a:endParaRPr lang="zh-CN" altLang="en-US" dirty="0"/>
          </a:p>
        </p:txBody>
      </p:sp>
    </p:spTree>
    <p:extLst>
      <p:ext uri="{BB962C8B-B14F-4D97-AF65-F5344CB8AC3E}">
        <p14:creationId xmlns:p14="http://schemas.microsoft.com/office/powerpoint/2010/main" val="38376307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3" y="766486"/>
            <a:ext cx="10932456" cy="4539191"/>
          </a:xfrm>
          <a:prstGeom prst="rect">
            <a:avLst/>
          </a:prstGeom>
          <a:noFill/>
        </p:spPr>
        <p:txBody>
          <a:bodyPr wrap="square" rtlCol="0">
            <a:spAutoFit/>
          </a:bodyPr>
          <a:lstStyle/>
          <a:p>
            <a:pPr indent="266700" algn="just" fontAlgn="ctr">
              <a:lnSpc>
                <a:spcPct val="150000"/>
              </a:lnSpc>
              <a:spcAft>
                <a:spcPts val="0"/>
              </a:spcAft>
            </a:pPr>
            <a:r>
              <a:rPr lang="en-US" altLang="zh-CN" sz="2800" b="1" kern="100" dirty="0">
                <a:latin typeface="Times New Roman"/>
                <a:ea typeface="宋体"/>
                <a:cs typeface="Times New Roman"/>
              </a:rPr>
              <a:t>2.</a:t>
            </a:r>
            <a:r>
              <a:rPr lang="zh-CN" altLang="zh-CN" sz="2800" b="1" kern="100" dirty="0">
                <a:latin typeface="Times New Roman"/>
                <a:ea typeface="宋体"/>
                <a:cs typeface="Times New Roman"/>
              </a:rPr>
              <a:t>【</a:t>
            </a:r>
            <a:r>
              <a:rPr lang="zh-CN" altLang="en-US" sz="2800" b="1" kern="100" dirty="0">
                <a:latin typeface="Times New Roman"/>
                <a:ea typeface="宋体"/>
                <a:cs typeface="Times New Roman"/>
              </a:rPr>
              <a:t>旋转</a:t>
            </a:r>
            <a:r>
              <a:rPr lang="zh-CN" altLang="zh-CN" sz="2800" b="1" kern="100" dirty="0">
                <a:latin typeface="Times New Roman"/>
                <a:ea typeface="宋体"/>
                <a:cs typeface="Times New Roman"/>
              </a:rPr>
              <a:t>】操控板主要工具按钮介绍</a:t>
            </a:r>
            <a:endParaRPr lang="zh-CN" altLang="zh-CN" sz="2800" kern="100" dirty="0">
              <a:latin typeface="等线"/>
              <a:ea typeface="等线"/>
              <a:cs typeface="Times New Roman"/>
            </a:endParaRPr>
          </a:p>
          <a:p>
            <a:pPr indent="266700" algn="just" fontAlgn="ctr">
              <a:lnSpc>
                <a:spcPct val="150000"/>
              </a:lnSpc>
              <a:spcAft>
                <a:spcPts val="0"/>
              </a:spcAft>
            </a:pPr>
            <a:r>
              <a:rPr lang="en-US" altLang="zh-CN" sz="2800" kern="100" dirty="0">
                <a:latin typeface="Times New Roman"/>
                <a:ea typeface="宋体"/>
                <a:cs typeface="Times New Roman"/>
              </a:rPr>
              <a:t>1</a:t>
            </a:r>
            <a:r>
              <a:rPr lang="zh-CN" altLang="zh-CN" sz="2800" kern="100" dirty="0">
                <a:latin typeface="Times New Roman"/>
                <a:ea typeface="宋体"/>
                <a:cs typeface="Times New Roman"/>
              </a:rPr>
              <a:t>）特征类型</a:t>
            </a:r>
            <a:endParaRPr lang="zh-CN" altLang="zh-CN" sz="2800" kern="100" dirty="0">
              <a:latin typeface="等线"/>
              <a:ea typeface="等线"/>
              <a:cs typeface="Times New Roman"/>
            </a:endParaRPr>
          </a:p>
          <a:p>
            <a:pPr marL="342900" lvl="0" indent="-342900" algn="just" fontAlgn="ctr">
              <a:lnSpc>
                <a:spcPct val="150000"/>
              </a:lnSpc>
              <a:spcAft>
                <a:spcPts val="0"/>
              </a:spcAft>
              <a:buFont typeface="Wingdings"/>
              <a:buChar char=""/>
            </a:pPr>
            <a:r>
              <a:rPr lang="zh-CN" altLang="en-US" sz="2800" kern="100" dirty="0">
                <a:latin typeface="Times New Roman"/>
                <a:ea typeface="宋体"/>
                <a:cs typeface="Times New Roman"/>
              </a:rPr>
              <a:t>旋转</a:t>
            </a:r>
            <a:r>
              <a:rPr lang="zh-CN" altLang="zh-CN" sz="2800" kern="100" dirty="0">
                <a:latin typeface="Times New Roman"/>
                <a:ea typeface="宋体"/>
                <a:cs typeface="Times New Roman"/>
              </a:rPr>
              <a:t>实体：单击操控板中的【实心】按钮</a:t>
            </a:r>
            <a:r>
              <a:rPr lang="en-US" altLang="zh-CN" sz="2800" kern="100" dirty="0">
                <a:latin typeface="Times New Roman"/>
                <a:ea typeface="宋体"/>
                <a:cs typeface="Times New Roman"/>
              </a:rPr>
              <a:t>  </a:t>
            </a:r>
            <a:r>
              <a:rPr lang="zh-CN" altLang="zh-CN" sz="2800" kern="100" dirty="0">
                <a:latin typeface="Times New Roman"/>
                <a:ea typeface="宋体"/>
                <a:cs typeface="Times New Roman"/>
              </a:rPr>
              <a:t>，使其呈按下状态。</a:t>
            </a:r>
            <a:endParaRPr lang="zh-CN" altLang="zh-CN" sz="2800" kern="100" dirty="0">
              <a:latin typeface="等线"/>
              <a:ea typeface="等线"/>
              <a:cs typeface="Times New Roman"/>
            </a:endParaRPr>
          </a:p>
          <a:p>
            <a:pPr marL="342900" lvl="0" indent="-342900" algn="just" fontAlgn="ctr">
              <a:lnSpc>
                <a:spcPct val="150000"/>
              </a:lnSpc>
              <a:spcAft>
                <a:spcPts val="0"/>
              </a:spcAft>
              <a:buFont typeface="Wingdings"/>
              <a:buChar char=""/>
            </a:pPr>
            <a:r>
              <a:rPr lang="zh-CN" altLang="zh-CN" sz="2800" kern="100" dirty="0">
                <a:latin typeface="Times New Roman"/>
                <a:ea typeface="宋体"/>
                <a:cs typeface="Times New Roman"/>
              </a:rPr>
              <a:t>移除材料：将【实心】按钮</a:t>
            </a:r>
            <a:r>
              <a:rPr lang="en-US" altLang="zh-CN" sz="2800" kern="100" dirty="0">
                <a:latin typeface="Times New Roman"/>
                <a:ea typeface="宋体"/>
                <a:cs typeface="Times New Roman"/>
              </a:rPr>
              <a:t>   </a:t>
            </a:r>
            <a:r>
              <a:rPr lang="zh-CN" altLang="zh-CN" sz="2800" kern="100" dirty="0">
                <a:latin typeface="Times New Roman"/>
                <a:ea typeface="宋体"/>
                <a:cs typeface="Times New Roman"/>
              </a:rPr>
              <a:t>和【移除材料】按钮</a:t>
            </a:r>
            <a:r>
              <a:rPr lang="en-US" altLang="zh-CN" sz="2800" kern="100" dirty="0">
                <a:latin typeface="Times New Roman"/>
                <a:ea typeface="宋体"/>
                <a:cs typeface="Times New Roman"/>
              </a:rPr>
              <a:t>   </a:t>
            </a:r>
            <a:r>
              <a:rPr lang="zh-CN" altLang="zh-CN" sz="2800" kern="100" dirty="0">
                <a:latin typeface="Times New Roman"/>
                <a:ea typeface="宋体"/>
                <a:cs typeface="Times New Roman"/>
              </a:rPr>
              <a:t>同时按下。</a:t>
            </a:r>
            <a:endParaRPr lang="zh-CN" altLang="zh-CN" sz="2800" kern="100" dirty="0">
              <a:latin typeface="等线"/>
              <a:ea typeface="等线"/>
              <a:cs typeface="Times New Roman"/>
            </a:endParaRPr>
          </a:p>
          <a:p>
            <a:pPr marL="342900" lvl="0" indent="-342900" algn="just" fontAlgn="ctr">
              <a:lnSpc>
                <a:spcPct val="150000"/>
              </a:lnSpc>
              <a:spcAft>
                <a:spcPts val="0"/>
              </a:spcAft>
              <a:buFont typeface="Wingdings"/>
              <a:buChar char=""/>
            </a:pPr>
            <a:r>
              <a:rPr lang="zh-CN" altLang="zh-CN" sz="2800" kern="100" dirty="0">
                <a:latin typeface="Times New Roman"/>
                <a:ea typeface="宋体"/>
                <a:cs typeface="Times New Roman"/>
              </a:rPr>
              <a:t>创建薄壳：将【实心】按钮</a:t>
            </a:r>
            <a:r>
              <a:rPr lang="en-US" altLang="zh-CN" sz="2800" kern="100" dirty="0">
                <a:latin typeface="Times New Roman"/>
                <a:ea typeface="宋体"/>
                <a:cs typeface="Times New Roman"/>
              </a:rPr>
              <a:t>   </a:t>
            </a:r>
            <a:r>
              <a:rPr lang="zh-CN" altLang="zh-CN" sz="2800" kern="100" dirty="0">
                <a:latin typeface="Times New Roman"/>
                <a:ea typeface="宋体"/>
                <a:cs typeface="Times New Roman"/>
              </a:rPr>
              <a:t>和【加厚草绘】按钮</a:t>
            </a:r>
            <a:r>
              <a:rPr lang="en-US" altLang="zh-CN" sz="2800" kern="100" dirty="0">
                <a:latin typeface="Times New Roman"/>
                <a:ea typeface="宋体"/>
                <a:cs typeface="Times New Roman"/>
              </a:rPr>
              <a:t>   </a:t>
            </a:r>
            <a:r>
              <a:rPr lang="zh-CN" altLang="zh-CN" sz="2800" kern="100" dirty="0">
                <a:latin typeface="Times New Roman"/>
                <a:ea typeface="宋体"/>
                <a:cs typeface="Times New Roman"/>
              </a:rPr>
              <a:t>同时按下。</a:t>
            </a:r>
            <a:endParaRPr lang="zh-CN" altLang="zh-CN" sz="2800" kern="100" dirty="0">
              <a:latin typeface="等线"/>
              <a:ea typeface="等线"/>
              <a:cs typeface="Times New Roman"/>
            </a:endParaRPr>
          </a:p>
          <a:p>
            <a:pPr marL="342900" lvl="0" indent="-342900" algn="just" fontAlgn="ctr">
              <a:lnSpc>
                <a:spcPct val="150000"/>
              </a:lnSpc>
              <a:spcAft>
                <a:spcPts val="0"/>
              </a:spcAft>
              <a:buFont typeface="Wingdings"/>
              <a:buChar char=""/>
            </a:pPr>
            <a:r>
              <a:rPr lang="zh-CN" altLang="en-US" sz="2800" kern="100" dirty="0">
                <a:latin typeface="Times New Roman"/>
                <a:ea typeface="宋体"/>
                <a:cs typeface="Times New Roman"/>
              </a:rPr>
              <a:t>旋转</a:t>
            </a:r>
            <a:r>
              <a:rPr lang="zh-CN" altLang="zh-CN" sz="2800" kern="100" dirty="0">
                <a:latin typeface="Times New Roman"/>
                <a:ea typeface="宋体"/>
                <a:cs typeface="Times New Roman"/>
              </a:rPr>
              <a:t>曲面：将【曲面】按钮</a:t>
            </a:r>
            <a:r>
              <a:rPr lang="en-US" altLang="zh-CN" sz="2800" kern="100" dirty="0">
                <a:latin typeface="Times New Roman"/>
                <a:ea typeface="宋体"/>
                <a:cs typeface="Times New Roman"/>
              </a:rPr>
              <a:t>   </a:t>
            </a:r>
            <a:r>
              <a:rPr lang="zh-CN" altLang="zh-CN" sz="2800" kern="100" dirty="0">
                <a:latin typeface="Times New Roman"/>
                <a:ea typeface="宋体"/>
                <a:cs typeface="Times New Roman"/>
              </a:rPr>
              <a:t>按下</a:t>
            </a:r>
            <a:r>
              <a:rPr lang="en-US" altLang="zh-CN" sz="2800" kern="100" dirty="0">
                <a:latin typeface="Times New Roman"/>
                <a:ea typeface="宋体"/>
                <a:cs typeface="Times New Roman"/>
              </a:rPr>
              <a:t> </a:t>
            </a:r>
            <a:r>
              <a:rPr lang="zh-CN" altLang="zh-CN" sz="2800" kern="100" dirty="0">
                <a:latin typeface="Times New Roman"/>
                <a:ea typeface="宋体"/>
                <a:cs typeface="Times New Roman"/>
              </a:rPr>
              <a:t>。</a:t>
            </a:r>
            <a:endParaRPr lang="zh-CN" altLang="zh-CN" sz="2800" kern="100" dirty="0">
              <a:latin typeface="等线"/>
              <a:ea typeface="等线"/>
              <a:cs typeface="Times New Roman"/>
            </a:endParaRPr>
          </a:p>
          <a:p>
            <a:pPr indent="457200">
              <a:lnSpc>
                <a:spcPct val="150000"/>
              </a:lnSpc>
            </a:pPr>
            <a:endParaRPr lang="zh-CN" altLang="en-US" sz="2800" dirty="0">
              <a:latin typeface="Times New Roman" pitchFamily="18" charset="0"/>
              <a:ea typeface="宋体" pitchFamily="2" charset="-122"/>
            </a:endParaRP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74135" y="2325221"/>
            <a:ext cx="346800" cy="360000"/>
          </a:xfrm>
          <a:prstGeom prst="rect">
            <a:avLst/>
          </a:prstGeom>
        </p:spPr>
      </p:pic>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7770" y="2993443"/>
            <a:ext cx="346800" cy="360000"/>
          </a:xfrm>
          <a:prstGeom prst="rect">
            <a:avLst/>
          </a:prstGeom>
        </p:spPr>
      </p:pic>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59182" y="2973750"/>
            <a:ext cx="346800" cy="360000"/>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68387" y="3616490"/>
            <a:ext cx="346800" cy="360000"/>
          </a:xfrm>
          <a:prstGeom prst="rect">
            <a:avLst/>
          </a:prstGeom>
        </p:spPr>
      </p:pic>
      <p:pic>
        <p:nvPicPr>
          <p:cNvPr id="10"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59182" y="3616490"/>
            <a:ext cx="360000" cy="360000"/>
          </a:xfrm>
          <a:prstGeom prst="rect">
            <a:avLst/>
          </a:prstGeom>
        </p:spPr>
      </p:pic>
      <p:pic>
        <p:nvPicPr>
          <p:cNvPr id="11" name="图片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07770" y="4275044"/>
            <a:ext cx="373200" cy="360000"/>
          </a:xfrm>
          <a:prstGeom prst="rect">
            <a:avLst/>
          </a:prstGeom>
        </p:spPr>
      </p:pic>
    </p:spTree>
    <p:extLst>
      <p:ext uri="{BB962C8B-B14F-4D97-AF65-F5344CB8AC3E}">
        <p14:creationId xmlns:p14="http://schemas.microsoft.com/office/powerpoint/2010/main" val="39075230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3" y="607462"/>
            <a:ext cx="10932456" cy="1949508"/>
          </a:xfrm>
          <a:prstGeom prst="rect">
            <a:avLst/>
          </a:prstGeom>
          <a:noFill/>
        </p:spPr>
        <p:txBody>
          <a:bodyPr wrap="square" rtlCol="0">
            <a:spAutoFit/>
          </a:bodyPr>
          <a:lstStyle/>
          <a:p>
            <a:pPr indent="266700" algn="just" fontAlgn="ctr">
              <a:lnSpc>
                <a:spcPct val="150000"/>
              </a:lnSpc>
              <a:spcAft>
                <a:spcPts val="0"/>
              </a:spcAft>
            </a:pPr>
            <a:r>
              <a:rPr lang="en-US" altLang="zh-CN" sz="2800" b="1" kern="100" dirty="0">
                <a:latin typeface="Times New Roman"/>
                <a:ea typeface="宋体"/>
                <a:cs typeface="Times New Roman"/>
              </a:rPr>
              <a:t>3.</a:t>
            </a:r>
            <a:r>
              <a:rPr lang="zh-CN" altLang="en-US" sz="2800" b="1" kern="100" dirty="0">
                <a:latin typeface="Times New Roman"/>
                <a:ea typeface="宋体"/>
                <a:cs typeface="Times New Roman"/>
              </a:rPr>
              <a:t>旋转角度控制</a:t>
            </a:r>
            <a:endParaRPr lang="en-US" altLang="zh-CN" sz="2800" b="1" kern="100" dirty="0">
              <a:latin typeface="Times New Roman"/>
              <a:ea typeface="宋体"/>
              <a:cs typeface="Times New Roman"/>
            </a:endParaRPr>
          </a:p>
          <a:p>
            <a:pPr indent="457200">
              <a:lnSpc>
                <a:spcPct val="150000"/>
              </a:lnSpc>
            </a:pPr>
            <a:r>
              <a:rPr lang="zh-CN" altLang="en-US" sz="2800" dirty="0">
                <a:latin typeface="Times New Roman" pitchFamily="18" charset="0"/>
                <a:ea typeface="宋体" pitchFamily="2" charset="-122"/>
              </a:rPr>
              <a:t>旋转时可以从草绘平面开始单方向旋转截面草图，也可以双方向旋转截面草图。</a:t>
            </a:r>
          </a:p>
        </p:txBody>
      </p:sp>
      <p:sp>
        <p:nvSpPr>
          <p:cNvPr id="3" name="TextBox 6">
            <a:extLst>
              <a:ext uri="{FF2B5EF4-FFF2-40B4-BE49-F238E27FC236}">
                <a16:creationId xmlns:a16="http://schemas.microsoft.com/office/drawing/2014/main" id="{FDFF1661-D85E-FC88-45C0-0164FCBE5881}"/>
              </a:ext>
            </a:extLst>
          </p:cNvPr>
          <p:cNvSpPr txBox="1"/>
          <p:nvPr/>
        </p:nvSpPr>
        <p:spPr>
          <a:xfrm>
            <a:off x="4208859" y="5881206"/>
            <a:ext cx="3429145"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3-21 </a:t>
            </a:r>
            <a:r>
              <a:rPr lang="zh-CN" altLang="en-US" dirty="0">
                <a:ea typeface="黑体"/>
                <a:cs typeface="Times New Roman"/>
              </a:rPr>
              <a:t>创建双侧不等的旋转特征</a:t>
            </a:r>
            <a:endParaRPr lang="zh-CN" altLang="en-US" dirty="0"/>
          </a:p>
        </p:txBody>
      </p:sp>
      <p:pic>
        <p:nvPicPr>
          <p:cNvPr id="5" name="图片 4">
            <a:extLst>
              <a:ext uri="{FF2B5EF4-FFF2-40B4-BE49-F238E27FC236}">
                <a16:creationId xmlns:a16="http://schemas.microsoft.com/office/drawing/2014/main" id="{10B41B91-EE49-7447-6990-E1D7F7C350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2287" y="2405062"/>
            <a:ext cx="8007426" cy="3253616"/>
          </a:xfrm>
          <a:prstGeom prst="rect">
            <a:avLst/>
          </a:prstGeom>
        </p:spPr>
      </p:pic>
    </p:spTree>
    <p:extLst>
      <p:ext uri="{BB962C8B-B14F-4D97-AF65-F5344CB8AC3E}">
        <p14:creationId xmlns:p14="http://schemas.microsoft.com/office/powerpoint/2010/main" val="41416788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extLst>
              <p:ext uri="{D42A27DB-BD31-4B8C-83A1-F6EECF244321}">
                <p14:modId xmlns:p14="http://schemas.microsoft.com/office/powerpoint/2010/main" val="2753022411"/>
              </p:ext>
            </p:extLst>
          </p:nvPr>
        </p:nvGraphicFramePr>
        <p:xfrm>
          <a:off x="1355835" y="2165258"/>
          <a:ext cx="9240166" cy="2235886"/>
        </p:xfrm>
        <a:graphic>
          <a:graphicData uri="http://schemas.openxmlformats.org/drawingml/2006/table">
            <a:tbl>
              <a:tblPr firstRow="1" firstCol="1" bandRow="1"/>
              <a:tblGrid>
                <a:gridCol w="952525">
                  <a:extLst>
                    <a:ext uri="{9D8B030D-6E8A-4147-A177-3AD203B41FA5}">
                      <a16:colId xmlns:a16="http://schemas.microsoft.com/office/drawing/2014/main" val="20000"/>
                    </a:ext>
                  </a:extLst>
                </a:gridCol>
                <a:gridCol w="898100">
                  <a:extLst>
                    <a:ext uri="{9D8B030D-6E8A-4147-A177-3AD203B41FA5}">
                      <a16:colId xmlns:a16="http://schemas.microsoft.com/office/drawing/2014/main" val="20001"/>
                    </a:ext>
                  </a:extLst>
                </a:gridCol>
                <a:gridCol w="1475900">
                  <a:extLst>
                    <a:ext uri="{9D8B030D-6E8A-4147-A177-3AD203B41FA5}">
                      <a16:colId xmlns:a16="http://schemas.microsoft.com/office/drawing/2014/main" val="20002"/>
                    </a:ext>
                  </a:extLst>
                </a:gridCol>
                <a:gridCol w="5913641">
                  <a:extLst>
                    <a:ext uri="{9D8B030D-6E8A-4147-A177-3AD203B41FA5}">
                      <a16:colId xmlns:a16="http://schemas.microsoft.com/office/drawing/2014/main" val="20003"/>
                    </a:ext>
                  </a:extLst>
                </a:gridCol>
              </a:tblGrid>
              <a:tr h="407086">
                <a:tc>
                  <a:txBody>
                    <a:bodyPr/>
                    <a:lstStyle/>
                    <a:p>
                      <a:pPr algn="ctr" fontAlgn="ctr">
                        <a:spcAft>
                          <a:spcPts val="0"/>
                        </a:spcAft>
                      </a:pPr>
                      <a:r>
                        <a:rPr lang="zh-CN" sz="2400" b="1" kern="100" dirty="0">
                          <a:effectLst/>
                          <a:latin typeface="Times New Roman"/>
                          <a:ea typeface="宋体"/>
                          <a:cs typeface="Times New Roman"/>
                        </a:rPr>
                        <a:t>序号</a:t>
                      </a:r>
                      <a:endParaRPr lang="zh-CN" sz="2400" kern="100" dirty="0">
                        <a:effectLst/>
                        <a:latin typeface="等线"/>
                        <a:ea typeface="等线"/>
                        <a:cs typeface="Times New Roman"/>
                      </a:endParaRPr>
                    </a:p>
                  </a:txBody>
                  <a:tcPr marL="113977" marR="11397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zh-CN" sz="2400" b="1" kern="100" dirty="0">
                          <a:effectLst/>
                          <a:latin typeface="Times New Roman"/>
                          <a:ea typeface="宋体"/>
                          <a:cs typeface="Times New Roman"/>
                        </a:rPr>
                        <a:t>图标</a:t>
                      </a:r>
                      <a:endParaRPr lang="zh-CN" sz="2400" kern="100" dirty="0">
                        <a:effectLst/>
                        <a:latin typeface="等线"/>
                        <a:ea typeface="等线"/>
                        <a:cs typeface="Times New Roman"/>
                      </a:endParaRPr>
                    </a:p>
                  </a:txBody>
                  <a:tcPr marL="113977" marR="1139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zh-CN" sz="2400" b="1" kern="100">
                          <a:effectLst/>
                          <a:latin typeface="Times New Roman"/>
                          <a:ea typeface="宋体"/>
                          <a:cs typeface="Times New Roman"/>
                        </a:rPr>
                        <a:t>图标名称</a:t>
                      </a:r>
                      <a:endParaRPr lang="zh-CN" sz="2400" kern="100">
                        <a:effectLst/>
                        <a:latin typeface="等线"/>
                        <a:ea typeface="等线"/>
                        <a:cs typeface="Times New Roman"/>
                      </a:endParaRPr>
                    </a:p>
                  </a:txBody>
                  <a:tcPr marL="113977" marR="1139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zh-CN" altLang="en-US" sz="2400" b="1" kern="100" dirty="0">
                          <a:effectLst/>
                          <a:latin typeface="Times New Roman"/>
                          <a:ea typeface="宋体"/>
                          <a:cs typeface="Times New Roman"/>
                        </a:rPr>
                        <a:t>旋转角度类型说明</a:t>
                      </a:r>
                      <a:endParaRPr lang="zh-CN" sz="2400" kern="100" dirty="0">
                        <a:effectLst/>
                        <a:latin typeface="等线"/>
                        <a:ea typeface="等线"/>
                        <a:cs typeface="Times New Roman"/>
                      </a:endParaRPr>
                    </a:p>
                  </a:txBody>
                  <a:tcPr marL="113977" marR="11397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669779">
                <a:tc>
                  <a:txBody>
                    <a:bodyPr/>
                    <a:lstStyle/>
                    <a:p>
                      <a:pPr algn="ctr" fontAlgn="ctr">
                        <a:spcAft>
                          <a:spcPts val="0"/>
                        </a:spcAft>
                      </a:pPr>
                      <a:r>
                        <a:rPr lang="en-US" sz="1700" kern="100" dirty="0">
                          <a:effectLst/>
                          <a:latin typeface="Times New Roman"/>
                          <a:ea typeface="宋体"/>
                          <a:cs typeface="Times New Roman"/>
                        </a:rPr>
                        <a:t>1</a:t>
                      </a:r>
                      <a:endParaRPr lang="zh-CN" sz="1700" kern="100" dirty="0">
                        <a:effectLst/>
                        <a:latin typeface="等线"/>
                        <a:ea typeface="等线"/>
                        <a:cs typeface="Times New Roman"/>
                      </a:endParaRPr>
                    </a:p>
                  </a:txBody>
                  <a:tcPr marL="113977" marR="11397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endParaRPr lang="en-US" sz="1700" kern="100">
                        <a:effectLst/>
                        <a:latin typeface="Times New Roman"/>
                        <a:ea typeface="宋体"/>
                        <a:cs typeface="Times New Roman"/>
                      </a:endParaRPr>
                    </a:p>
                  </a:txBody>
                  <a:tcPr marL="113977" marR="1139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zh-CN" altLang="en-US" sz="2400" kern="100" dirty="0">
                          <a:effectLst/>
                          <a:latin typeface="Times New Roman"/>
                          <a:ea typeface="宋体"/>
                          <a:cs typeface="Times New Roman"/>
                        </a:rPr>
                        <a:t>变量</a:t>
                      </a:r>
                      <a:endParaRPr lang="zh-CN" sz="2400" kern="100" dirty="0">
                        <a:effectLst/>
                        <a:latin typeface="等线"/>
                        <a:ea typeface="等线"/>
                        <a:cs typeface="Times New Roman"/>
                      </a:endParaRPr>
                    </a:p>
                  </a:txBody>
                  <a:tcPr marL="113977" marR="1139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spcAft>
                          <a:spcPts val="0"/>
                        </a:spcAft>
                      </a:pPr>
                      <a:r>
                        <a:rPr lang="zh-CN" altLang="en-US" sz="2400" kern="100" dirty="0">
                          <a:effectLst/>
                          <a:latin typeface="Times New Roman"/>
                          <a:ea typeface="宋体"/>
                          <a:cs typeface="Times New Roman"/>
                        </a:rPr>
                        <a:t>按指定的角度从草绘平面开始单侧旋转截面草图创建特征，但要注意旋转方向和旋转角度的设置。</a:t>
                      </a:r>
                      <a:endParaRPr lang="zh-CN" sz="2400" kern="100" dirty="0">
                        <a:effectLst/>
                        <a:latin typeface="等线"/>
                        <a:ea typeface="等线"/>
                        <a:cs typeface="Times New Roman"/>
                      </a:endParaRPr>
                    </a:p>
                  </a:txBody>
                  <a:tcPr marL="113977" marR="11397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69779">
                <a:tc>
                  <a:txBody>
                    <a:bodyPr/>
                    <a:lstStyle/>
                    <a:p>
                      <a:pPr algn="ctr" fontAlgn="ctr">
                        <a:spcAft>
                          <a:spcPts val="0"/>
                        </a:spcAft>
                      </a:pPr>
                      <a:r>
                        <a:rPr lang="en-US" sz="1700" kern="100" dirty="0">
                          <a:effectLst/>
                          <a:latin typeface="Times New Roman"/>
                          <a:ea typeface="宋体"/>
                          <a:cs typeface="Times New Roman"/>
                        </a:rPr>
                        <a:t>2</a:t>
                      </a:r>
                      <a:endParaRPr lang="zh-CN" sz="1700" kern="100" dirty="0">
                        <a:effectLst/>
                        <a:latin typeface="等线"/>
                        <a:ea typeface="等线"/>
                        <a:cs typeface="Times New Roman"/>
                      </a:endParaRPr>
                    </a:p>
                  </a:txBody>
                  <a:tcPr marL="113977" marR="11397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endParaRPr lang="en-US" sz="1700" kern="100" dirty="0">
                        <a:effectLst/>
                        <a:latin typeface="Times New Roman"/>
                        <a:ea typeface="宋体"/>
                        <a:cs typeface="Times New Roman"/>
                      </a:endParaRPr>
                    </a:p>
                  </a:txBody>
                  <a:tcPr marL="113977" marR="1139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zh-CN" sz="2400" kern="100" dirty="0">
                          <a:effectLst/>
                          <a:latin typeface="Times New Roman"/>
                          <a:ea typeface="宋体"/>
                          <a:cs typeface="Times New Roman"/>
                        </a:rPr>
                        <a:t>对称</a:t>
                      </a:r>
                      <a:endParaRPr lang="zh-CN" sz="2400" kern="100" dirty="0">
                        <a:effectLst/>
                        <a:latin typeface="等线"/>
                        <a:ea typeface="等线"/>
                        <a:cs typeface="Times New Roman"/>
                      </a:endParaRPr>
                    </a:p>
                  </a:txBody>
                  <a:tcPr marL="113977" marR="1139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spcAft>
                          <a:spcPts val="0"/>
                        </a:spcAft>
                      </a:pPr>
                      <a:r>
                        <a:rPr lang="zh-CN" altLang="en-US" sz="2400" kern="100" dirty="0">
                          <a:effectLst/>
                          <a:latin typeface="Times New Roman"/>
                          <a:ea typeface="宋体"/>
                          <a:cs typeface="Times New Roman"/>
                        </a:rPr>
                        <a:t>按指定角度的一半在草绘平面两侧同时创建旋转特征。</a:t>
                      </a:r>
                      <a:endParaRPr lang="zh-CN" sz="2400" kern="100" dirty="0">
                        <a:effectLst/>
                        <a:latin typeface="等线"/>
                        <a:ea typeface="等线"/>
                        <a:cs typeface="Times New Roman"/>
                      </a:endParaRPr>
                    </a:p>
                  </a:txBody>
                  <a:tcPr marL="113977" marR="11397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pic>
        <p:nvPicPr>
          <p:cNvPr id="1026" name="图片 20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9514" y="2943864"/>
            <a:ext cx="428571" cy="360000"/>
          </a:xfrm>
          <a:prstGeom prst="rect">
            <a:avLst/>
          </a:prstGeom>
          <a:noFill/>
          <a:extLst>
            <a:ext uri="{909E8E84-426E-40DD-AFC4-6F175D3DCCD1}">
              <a14:hiddenFill xmlns:a14="http://schemas.microsoft.com/office/drawing/2010/main">
                <a:solidFill>
                  <a:srgbClr val="FFFFFF"/>
                </a:solidFill>
              </a14:hiddenFill>
            </a:ext>
          </a:extLst>
        </p:spPr>
      </p:pic>
      <p:pic>
        <p:nvPicPr>
          <p:cNvPr id="1025" name="图片 20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2630" y="3853245"/>
            <a:ext cx="425455" cy="3600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表格 4"/>
          <p:cNvGraphicFramePr>
            <a:graphicFrameLocks noGrp="1"/>
          </p:cNvGraphicFramePr>
          <p:nvPr>
            <p:extLst>
              <p:ext uri="{D42A27DB-BD31-4B8C-83A1-F6EECF244321}">
                <p14:modId xmlns:p14="http://schemas.microsoft.com/office/powerpoint/2010/main" val="920214383"/>
              </p:ext>
            </p:extLst>
          </p:nvPr>
        </p:nvGraphicFramePr>
        <p:xfrm>
          <a:off x="1403132" y="4399605"/>
          <a:ext cx="9192869" cy="1097280"/>
        </p:xfrm>
        <a:graphic>
          <a:graphicData uri="http://schemas.openxmlformats.org/drawingml/2006/table">
            <a:tbl>
              <a:tblPr firstRow="1" firstCol="1" bandRow="1"/>
              <a:tblGrid>
                <a:gridCol w="905228">
                  <a:extLst>
                    <a:ext uri="{9D8B030D-6E8A-4147-A177-3AD203B41FA5}">
                      <a16:colId xmlns:a16="http://schemas.microsoft.com/office/drawing/2014/main" val="20000"/>
                    </a:ext>
                  </a:extLst>
                </a:gridCol>
                <a:gridCol w="898100">
                  <a:extLst>
                    <a:ext uri="{9D8B030D-6E8A-4147-A177-3AD203B41FA5}">
                      <a16:colId xmlns:a16="http://schemas.microsoft.com/office/drawing/2014/main" val="20001"/>
                    </a:ext>
                  </a:extLst>
                </a:gridCol>
                <a:gridCol w="1475900">
                  <a:extLst>
                    <a:ext uri="{9D8B030D-6E8A-4147-A177-3AD203B41FA5}">
                      <a16:colId xmlns:a16="http://schemas.microsoft.com/office/drawing/2014/main" val="20002"/>
                    </a:ext>
                  </a:extLst>
                </a:gridCol>
                <a:gridCol w="5913641">
                  <a:extLst>
                    <a:ext uri="{9D8B030D-6E8A-4147-A177-3AD203B41FA5}">
                      <a16:colId xmlns:a16="http://schemas.microsoft.com/office/drawing/2014/main" val="20003"/>
                    </a:ext>
                  </a:extLst>
                </a:gridCol>
              </a:tblGrid>
              <a:tr h="714499">
                <a:tc>
                  <a:txBody>
                    <a:bodyPr/>
                    <a:lstStyle/>
                    <a:p>
                      <a:pPr algn="ctr" fontAlgn="ctr">
                        <a:spcAft>
                          <a:spcPts val="0"/>
                        </a:spcAft>
                      </a:pPr>
                      <a:r>
                        <a:rPr lang="en-US" sz="2400" kern="100" dirty="0">
                          <a:effectLst/>
                          <a:latin typeface="Times New Roman"/>
                          <a:ea typeface="宋体"/>
                          <a:cs typeface="Times New Roman"/>
                        </a:rPr>
                        <a:t>3</a:t>
                      </a:r>
                      <a:endParaRPr lang="zh-CN" sz="2400" kern="100" dirty="0">
                        <a:effectLst/>
                        <a:latin typeface="等线"/>
                        <a:ea typeface="等线"/>
                        <a:cs typeface="Times New Roman"/>
                      </a:endParaRPr>
                    </a:p>
                  </a:txBody>
                  <a:tcPr marL="113977" marR="11397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endParaRPr lang="en-US" sz="2400" kern="100">
                        <a:effectLst/>
                        <a:latin typeface="Times New Roman"/>
                        <a:ea typeface="宋体"/>
                        <a:cs typeface="Times New Roman"/>
                      </a:endParaRPr>
                    </a:p>
                  </a:txBody>
                  <a:tcPr marL="113977" marR="1139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zh-CN" sz="2400" kern="100" dirty="0">
                          <a:effectLst/>
                          <a:latin typeface="Times New Roman"/>
                          <a:ea typeface="宋体"/>
                          <a:cs typeface="Times New Roman"/>
                        </a:rPr>
                        <a:t>到选定项</a:t>
                      </a:r>
                      <a:endParaRPr lang="zh-CN" sz="2400" kern="100" dirty="0">
                        <a:effectLst/>
                        <a:latin typeface="等线"/>
                        <a:ea typeface="等线"/>
                        <a:cs typeface="Times New Roman"/>
                      </a:endParaRPr>
                    </a:p>
                  </a:txBody>
                  <a:tcPr marL="113977" marR="11397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spcAft>
                          <a:spcPts val="0"/>
                        </a:spcAft>
                      </a:pPr>
                      <a:r>
                        <a:rPr lang="zh-CN" altLang="en-US" sz="2400" kern="100" dirty="0">
                          <a:effectLst/>
                          <a:latin typeface="Times New Roman"/>
                          <a:ea typeface="宋体"/>
                          <a:cs typeface="Times New Roman"/>
                        </a:rPr>
                        <a:t>从草绘平面开始沿指定方向添加或去除材料，当遇到用户所选择的实体上的点、曲线、平面或一般面所在的位置时结束生成。</a:t>
                      </a:r>
                      <a:endParaRPr lang="zh-CN" sz="2400" kern="100" dirty="0">
                        <a:effectLst/>
                        <a:latin typeface="等线"/>
                        <a:ea typeface="等线"/>
                        <a:cs typeface="Times New Roman"/>
                      </a:endParaRPr>
                    </a:p>
                  </a:txBody>
                  <a:tcPr marL="113977" marR="11397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pic>
        <p:nvPicPr>
          <p:cNvPr id="1027" name="图片 2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9514" y="4836942"/>
            <a:ext cx="445714" cy="36000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4964921" y="1721107"/>
            <a:ext cx="2262158"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表</a:t>
            </a:r>
            <a:r>
              <a:rPr lang="en-US" altLang="zh-CN" dirty="0">
                <a:latin typeface="黑体" panose="02010609060101010101" pitchFamily="49" charset="-122"/>
                <a:ea typeface="黑体" panose="02010609060101010101" pitchFamily="49" charset="-122"/>
              </a:rPr>
              <a:t>3-2 </a:t>
            </a:r>
            <a:r>
              <a:rPr lang="zh-CN" altLang="en-US" dirty="0">
                <a:latin typeface="黑体" panose="02010609060101010101" pitchFamily="49" charset="-122"/>
                <a:ea typeface="黑体" panose="02010609060101010101" pitchFamily="49" charset="-122"/>
              </a:rPr>
              <a:t>旋转角度类型</a:t>
            </a:r>
          </a:p>
        </p:txBody>
      </p:sp>
    </p:spTree>
    <p:extLst>
      <p:ext uri="{BB962C8B-B14F-4D97-AF65-F5344CB8AC3E}">
        <p14:creationId xmlns:p14="http://schemas.microsoft.com/office/powerpoint/2010/main" val="14910153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B27D9F5B-4CC1-D10D-8359-ED9B2F688CE8}"/>
              </a:ext>
            </a:extLst>
          </p:cNvPr>
          <p:cNvSpPr txBox="1"/>
          <p:nvPr/>
        </p:nvSpPr>
        <p:spPr>
          <a:xfrm>
            <a:off x="503583" y="636969"/>
            <a:ext cx="6096000" cy="523220"/>
          </a:xfrm>
          <a:prstGeom prst="rect">
            <a:avLst/>
          </a:prstGeom>
          <a:noFill/>
        </p:spPr>
        <p:txBody>
          <a:bodyPr wrap="square">
            <a:spAutoFit/>
          </a:bodyPr>
          <a:lstStyle/>
          <a:p>
            <a:r>
              <a:rPr lang="zh-CN" altLang="zh-CN" sz="2800" b="1" dirty="0">
                <a:effectLst/>
                <a:latin typeface="Times New Roman" panose="02020603050405020304" pitchFamily="18" charset="0"/>
                <a:ea typeface="宋体" panose="02010600030101010101" pitchFamily="2" charset="-122"/>
                <a:cs typeface="Times New Roman" panose="02020603050405020304" pitchFamily="18" charset="0"/>
              </a:rPr>
              <a:t>旋转特征实例</a:t>
            </a:r>
            <a:endParaRPr lang="zh-CN" altLang="en-US" sz="2800" dirty="0"/>
          </a:p>
        </p:txBody>
      </p:sp>
      <p:pic>
        <p:nvPicPr>
          <p:cNvPr id="10" name="图片 9">
            <a:extLst>
              <a:ext uri="{FF2B5EF4-FFF2-40B4-BE49-F238E27FC236}">
                <a16:creationId xmlns:a16="http://schemas.microsoft.com/office/drawing/2014/main" id="{8C73F6EB-18A7-4860-EF8E-654C9699203C}"/>
              </a:ext>
            </a:extLst>
          </p:cNvPr>
          <p:cNvPicPr>
            <a:picLocks noChangeAspect="1"/>
          </p:cNvPicPr>
          <p:nvPr/>
        </p:nvPicPr>
        <p:blipFill rotWithShape="1">
          <a:blip r:embed="rId2">
            <a:extLst>
              <a:ext uri="{28A0092B-C50C-407E-A947-70E740481C1C}">
                <a14:useLocalDpi xmlns:a14="http://schemas.microsoft.com/office/drawing/2010/main" val="0"/>
              </a:ext>
            </a:extLst>
          </a:blip>
          <a:srcRect l="7416" t="17205" r="4126" b="7885"/>
          <a:stretch/>
        </p:blipFill>
        <p:spPr bwMode="auto">
          <a:xfrm>
            <a:off x="2263812" y="1898318"/>
            <a:ext cx="7664376" cy="3270030"/>
          </a:xfrm>
          <a:prstGeom prst="rect">
            <a:avLst/>
          </a:prstGeom>
          <a:ln>
            <a:noFill/>
          </a:ln>
          <a:extLst>
            <a:ext uri="{53640926-AAD7-44D8-BBD7-CCE9431645EC}">
              <a14:shadowObscured xmlns:a14="http://schemas.microsoft.com/office/drawing/2010/main"/>
            </a:ext>
          </a:extLst>
        </p:spPr>
      </p:pic>
      <p:sp>
        <p:nvSpPr>
          <p:cNvPr id="11" name="TextBox 6">
            <a:extLst>
              <a:ext uri="{FF2B5EF4-FFF2-40B4-BE49-F238E27FC236}">
                <a16:creationId xmlns:a16="http://schemas.microsoft.com/office/drawing/2014/main" id="{150DA41B-EAFA-85FC-3ED8-F3007444D977}"/>
              </a:ext>
            </a:extLst>
          </p:cNvPr>
          <p:cNvSpPr txBox="1"/>
          <p:nvPr/>
        </p:nvSpPr>
        <p:spPr>
          <a:xfrm>
            <a:off x="5304758" y="5537145"/>
            <a:ext cx="1582484"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3-22 </a:t>
            </a:r>
            <a:r>
              <a:rPr lang="zh-CN" altLang="en-US" dirty="0">
                <a:ea typeface="黑体"/>
                <a:cs typeface="Times New Roman"/>
              </a:rPr>
              <a:t>轴承盖</a:t>
            </a:r>
            <a:endParaRPr lang="zh-CN" altLang="en-US" dirty="0"/>
          </a:p>
        </p:txBody>
      </p:sp>
    </p:spTree>
    <p:extLst>
      <p:ext uri="{BB962C8B-B14F-4D97-AF65-F5344CB8AC3E}">
        <p14:creationId xmlns:p14="http://schemas.microsoft.com/office/powerpoint/2010/main" val="27764546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B27D9F5B-4CC1-D10D-8359-ED9B2F688CE8}"/>
              </a:ext>
            </a:extLst>
          </p:cNvPr>
          <p:cNvSpPr txBox="1"/>
          <p:nvPr/>
        </p:nvSpPr>
        <p:spPr>
          <a:xfrm>
            <a:off x="503583" y="636969"/>
            <a:ext cx="6096000" cy="523220"/>
          </a:xfrm>
          <a:prstGeom prst="rect">
            <a:avLst/>
          </a:prstGeom>
          <a:noFill/>
        </p:spPr>
        <p:txBody>
          <a:bodyPr wrap="square">
            <a:spAutoFit/>
          </a:bodyPr>
          <a:lstStyle/>
          <a:p>
            <a:r>
              <a:rPr lang="en-US" altLang="zh-CN" sz="2800" b="1"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en-US" sz="2800" b="1" dirty="0">
                <a:effectLst/>
                <a:latin typeface="Times New Roman" panose="02020603050405020304" pitchFamily="18" charset="0"/>
                <a:ea typeface="宋体" panose="02010600030101010101" pitchFamily="2" charset="-122"/>
                <a:cs typeface="Times New Roman" panose="02020603050405020304" pitchFamily="18" charset="0"/>
              </a:rPr>
              <a:t>）新建零件文件</a:t>
            </a:r>
            <a:endParaRPr lang="zh-CN" altLang="en-US" sz="2800" dirty="0"/>
          </a:p>
        </p:txBody>
      </p:sp>
      <p:sp>
        <p:nvSpPr>
          <p:cNvPr id="11" name="TextBox 6">
            <a:extLst>
              <a:ext uri="{FF2B5EF4-FFF2-40B4-BE49-F238E27FC236}">
                <a16:creationId xmlns:a16="http://schemas.microsoft.com/office/drawing/2014/main" id="{150DA41B-EAFA-85FC-3ED8-F3007444D977}"/>
              </a:ext>
            </a:extLst>
          </p:cNvPr>
          <p:cNvSpPr txBox="1"/>
          <p:nvPr/>
        </p:nvSpPr>
        <p:spPr>
          <a:xfrm>
            <a:off x="2268318" y="5499450"/>
            <a:ext cx="2274983"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3-23 </a:t>
            </a:r>
            <a:r>
              <a:rPr lang="zh-CN" altLang="en-US" dirty="0">
                <a:ea typeface="黑体"/>
                <a:cs typeface="Times New Roman"/>
              </a:rPr>
              <a:t>绘制旋转剖面</a:t>
            </a:r>
            <a:endParaRPr lang="zh-CN" altLang="en-US" dirty="0"/>
          </a:p>
        </p:txBody>
      </p:sp>
      <p:sp>
        <p:nvSpPr>
          <p:cNvPr id="2" name="文本框 1">
            <a:extLst>
              <a:ext uri="{FF2B5EF4-FFF2-40B4-BE49-F238E27FC236}">
                <a16:creationId xmlns:a16="http://schemas.microsoft.com/office/drawing/2014/main" id="{867D9F55-86FF-36D0-6799-4781BAFB06A7}"/>
              </a:ext>
            </a:extLst>
          </p:cNvPr>
          <p:cNvSpPr txBox="1"/>
          <p:nvPr/>
        </p:nvSpPr>
        <p:spPr>
          <a:xfrm>
            <a:off x="503583" y="1266449"/>
            <a:ext cx="6096000" cy="523220"/>
          </a:xfrm>
          <a:prstGeom prst="rect">
            <a:avLst/>
          </a:prstGeom>
          <a:noFill/>
        </p:spPr>
        <p:txBody>
          <a:bodyPr wrap="square">
            <a:spAutoFit/>
          </a:bodyPr>
          <a:lstStyle/>
          <a:p>
            <a:r>
              <a:rPr lang="en-US" altLang="zh-CN" sz="2800" b="1"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en-US" sz="2800" b="1" dirty="0">
                <a:effectLst/>
                <a:latin typeface="Times New Roman" panose="02020603050405020304" pitchFamily="18" charset="0"/>
                <a:ea typeface="宋体" panose="02010600030101010101" pitchFamily="2" charset="-122"/>
                <a:cs typeface="Times New Roman" panose="02020603050405020304" pitchFamily="18" charset="0"/>
              </a:rPr>
              <a:t>）以旋转的方式创建轴承盖主体</a:t>
            </a:r>
            <a:endParaRPr lang="zh-CN" altLang="en-US" sz="2800" dirty="0"/>
          </a:p>
        </p:txBody>
      </p:sp>
      <p:pic>
        <p:nvPicPr>
          <p:cNvPr id="3" name="图片 2">
            <a:extLst>
              <a:ext uri="{FF2B5EF4-FFF2-40B4-BE49-F238E27FC236}">
                <a16:creationId xmlns:a16="http://schemas.microsoft.com/office/drawing/2014/main" id="{207BD4C0-AF85-DF37-DFC8-5F6416DE5D9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5611" t="23558" r="32213" b="15385"/>
          <a:stretch/>
        </p:blipFill>
        <p:spPr bwMode="auto">
          <a:xfrm>
            <a:off x="1276547" y="2106655"/>
            <a:ext cx="4574811" cy="3260475"/>
          </a:xfrm>
          <a:prstGeom prst="rect">
            <a:avLst/>
          </a:prstGeom>
          <a:ln>
            <a:noFill/>
          </a:ln>
          <a:extLst>
            <a:ext uri="{53640926-AAD7-44D8-BBD7-CCE9431645EC}">
              <a14:shadowObscured xmlns:a14="http://schemas.microsoft.com/office/drawing/2010/main"/>
            </a:ext>
          </a:extLst>
        </p:spPr>
      </p:pic>
      <p:pic>
        <p:nvPicPr>
          <p:cNvPr id="4" name="图片 3">
            <a:extLst>
              <a:ext uri="{FF2B5EF4-FFF2-40B4-BE49-F238E27FC236}">
                <a16:creationId xmlns:a16="http://schemas.microsoft.com/office/drawing/2014/main" id="{F63DDC4F-ACD4-C651-93B4-D9C5F6123A6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869" t="9616" r="59870" b="25481"/>
          <a:stretch/>
        </p:blipFill>
        <p:spPr bwMode="auto">
          <a:xfrm>
            <a:off x="6930058" y="2370240"/>
            <a:ext cx="3725691" cy="2733303"/>
          </a:xfrm>
          <a:prstGeom prst="rect">
            <a:avLst/>
          </a:prstGeom>
          <a:ln>
            <a:noFill/>
          </a:ln>
          <a:extLst>
            <a:ext uri="{53640926-AAD7-44D8-BBD7-CCE9431645EC}">
              <a14:shadowObscured xmlns:a14="http://schemas.microsoft.com/office/drawing/2010/main"/>
            </a:ext>
          </a:extLst>
        </p:spPr>
      </p:pic>
      <p:sp>
        <p:nvSpPr>
          <p:cNvPr id="5" name="TextBox 6">
            <a:extLst>
              <a:ext uri="{FF2B5EF4-FFF2-40B4-BE49-F238E27FC236}">
                <a16:creationId xmlns:a16="http://schemas.microsoft.com/office/drawing/2014/main" id="{FC43DCEC-23A6-5E20-1FB3-C6BD84345993}"/>
              </a:ext>
            </a:extLst>
          </p:cNvPr>
          <p:cNvSpPr txBox="1"/>
          <p:nvPr/>
        </p:nvSpPr>
        <p:spPr>
          <a:xfrm>
            <a:off x="7880614" y="5499450"/>
            <a:ext cx="2274983"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3-24 </a:t>
            </a:r>
            <a:r>
              <a:rPr lang="zh-CN" altLang="en-US" dirty="0">
                <a:ea typeface="黑体"/>
                <a:cs typeface="Times New Roman"/>
              </a:rPr>
              <a:t>轴承盖回转体</a:t>
            </a:r>
            <a:endParaRPr lang="zh-CN" altLang="en-US" dirty="0"/>
          </a:p>
        </p:txBody>
      </p:sp>
    </p:spTree>
    <p:extLst>
      <p:ext uri="{BB962C8B-B14F-4D97-AF65-F5344CB8AC3E}">
        <p14:creationId xmlns:p14="http://schemas.microsoft.com/office/powerpoint/2010/main" val="377818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B27D9F5B-4CC1-D10D-8359-ED9B2F688CE8}"/>
              </a:ext>
            </a:extLst>
          </p:cNvPr>
          <p:cNvSpPr txBox="1"/>
          <p:nvPr/>
        </p:nvSpPr>
        <p:spPr>
          <a:xfrm>
            <a:off x="503583" y="636969"/>
            <a:ext cx="6573078" cy="523220"/>
          </a:xfrm>
          <a:prstGeom prst="rect">
            <a:avLst/>
          </a:prstGeom>
          <a:noFill/>
        </p:spPr>
        <p:txBody>
          <a:bodyPr wrap="square">
            <a:spAutoFit/>
          </a:bodyPr>
          <a:lstStyle/>
          <a:p>
            <a:r>
              <a:rPr lang="en-US" altLang="zh-CN" sz="2800" b="1" dirty="0">
                <a:effectLst/>
                <a:latin typeface="Times New Roman" panose="02020603050405020304" pitchFamily="18" charset="0"/>
                <a:ea typeface="宋体" panose="02010600030101010101" pitchFamily="2" charset="-122"/>
                <a:cs typeface="Times New Roman" panose="02020603050405020304" pitchFamily="18" charset="0"/>
              </a:rPr>
              <a:t>3</a:t>
            </a:r>
            <a:r>
              <a:rPr lang="zh-CN" altLang="en-US" sz="2800" b="1" dirty="0">
                <a:effectLst/>
                <a:latin typeface="Times New Roman" panose="02020603050405020304" pitchFamily="18" charset="0"/>
                <a:ea typeface="宋体" panose="02010600030101010101" pitchFamily="2" charset="-122"/>
                <a:cs typeface="Times New Roman" panose="02020603050405020304" pitchFamily="18" charset="0"/>
              </a:rPr>
              <a:t>）以旋转的方式切除出安装毡圈的沟槽</a:t>
            </a:r>
            <a:endParaRPr lang="zh-CN" altLang="en-US" sz="2800" dirty="0"/>
          </a:p>
        </p:txBody>
      </p:sp>
      <p:sp>
        <p:nvSpPr>
          <p:cNvPr id="11" name="TextBox 6">
            <a:extLst>
              <a:ext uri="{FF2B5EF4-FFF2-40B4-BE49-F238E27FC236}">
                <a16:creationId xmlns:a16="http://schemas.microsoft.com/office/drawing/2014/main" id="{150DA41B-EAFA-85FC-3ED8-F3007444D977}"/>
              </a:ext>
            </a:extLst>
          </p:cNvPr>
          <p:cNvSpPr txBox="1"/>
          <p:nvPr/>
        </p:nvSpPr>
        <p:spPr>
          <a:xfrm>
            <a:off x="4958509" y="5592417"/>
            <a:ext cx="2274983"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3-25 </a:t>
            </a:r>
            <a:r>
              <a:rPr lang="zh-CN" altLang="en-US" dirty="0">
                <a:ea typeface="黑体"/>
                <a:cs typeface="Times New Roman"/>
              </a:rPr>
              <a:t>绘制旋转剖面</a:t>
            </a:r>
            <a:endParaRPr lang="zh-CN" altLang="en-US" dirty="0"/>
          </a:p>
        </p:txBody>
      </p:sp>
      <p:pic>
        <p:nvPicPr>
          <p:cNvPr id="6" name="图片 5">
            <a:extLst>
              <a:ext uri="{FF2B5EF4-FFF2-40B4-BE49-F238E27FC236}">
                <a16:creationId xmlns:a16="http://schemas.microsoft.com/office/drawing/2014/main" id="{0CB0EE26-68C4-6D7B-ACFB-8D52540B3F9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2719" t="35096" r="46855" b="7212"/>
          <a:stretch/>
        </p:blipFill>
        <p:spPr bwMode="auto">
          <a:xfrm>
            <a:off x="4077415" y="1307270"/>
            <a:ext cx="4037170" cy="428514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8701736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B27D9F5B-4CC1-D10D-8359-ED9B2F688CE8}"/>
              </a:ext>
            </a:extLst>
          </p:cNvPr>
          <p:cNvSpPr txBox="1"/>
          <p:nvPr/>
        </p:nvSpPr>
        <p:spPr>
          <a:xfrm>
            <a:off x="503583" y="636969"/>
            <a:ext cx="6573078" cy="523220"/>
          </a:xfrm>
          <a:prstGeom prst="rect">
            <a:avLst/>
          </a:prstGeom>
          <a:noFill/>
        </p:spPr>
        <p:txBody>
          <a:bodyPr wrap="square">
            <a:spAutoFit/>
          </a:bodyPr>
          <a:lstStyle/>
          <a:p>
            <a:r>
              <a:rPr lang="en-US" altLang="zh-CN" sz="2800" b="1" dirty="0">
                <a:effectLst/>
                <a:latin typeface="Times New Roman" panose="02020603050405020304" pitchFamily="18" charset="0"/>
                <a:ea typeface="宋体" panose="02010600030101010101" pitchFamily="2" charset="-122"/>
                <a:cs typeface="Times New Roman" panose="02020603050405020304" pitchFamily="18" charset="0"/>
              </a:rPr>
              <a:t>4</a:t>
            </a:r>
            <a:r>
              <a:rPr lang="zh-CN" altLang="en-US" sz="2800" b="1" dirty="0">
                <a:effectLst/>
                <a:latin typeface="Times New Roman" panose="02020603050405020304" pitchFamily="18" charset="0"/>
                <a:ea typeface="宋体" panose="02010600030101010101" pitchFamily="2" charset="-122"/>
                <a:cs typeface="Times New Roman" panose="02020603050405020304" pitchFamily="18" charset="0"/>
              </a:rPr>
              <a:t>）以旋转的方式切除出一个环形槽</a:t>
            </a:r>
            <a:endParaRPr lang="zh-CN" altLang="en-US" sz="2800" dirty="0"/>
          </a:p>
        </p:txBody>
      </p:sp>
      <p:sp>
        <p:nvSpPr>
          <p:cNvPr id="11" name="TextBox 6">
            <a:extLst>
              <a:ext uri="{FF2B5EF4-FFF2-40B4-BE49-F238E27FC236}">
                <a16:creationId xmlns:a16="http://schemas.microsoft.com/office/drawing/2014/main" id="{150DA41B-EAFA-85FC-3ED8-F3007444D977}"/>
              </a:ext>
            </a:extLst>
          </p:cNvPr>
          <p:cNvSpPr txBox="1"/>
          <p:nvPr/>
        </p:nvSpPr>
        <p:spPr>
          <a:xfrm>
            <a:off x="1869061" y="5759593"/>
            <a:ext cx="2967480"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3-26 </a:t>
            </a:r>
            <a:r>
              <a:rPr lang="zh-CN" altLang="en-US" dirty="0">
                <a:ea typeface="黑体"/>
                <a:cs typeface="Times New Roman"/>
              </a:rPr>
              <a:t>绘制环形槽剖面草图</a:t>
            </a:r>
            <a:endParaRPr lang="zh-CN" altLang="en-US" dirty="0"/>
          </a:p>
        </p:txBody>
      </p:sp>
      <p:pic>
        <p:nvPicPr>
          <p:cNvPr id="2" name="图片 1">
            <a:extLst>
              <a:ext uri="{FF2B5EF4-FFF2-40B4-BE49-F238E27FC236}">
                <a16:creationId xmlns:a16="http://schemas.microsoft.com/office/drawing/2014/main" id="{677F5CD1-6095-E1B1-BACC-420D969F365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0278" t="16541" r="54337" b="11636"/>
          <a:stretch/>
        </p:blipFill>
        <p:spPr bwMode="auto">
          <a:xfrm>
            <a:off x="2120348" y="1389517"/>
            <a:ext cx="2464906" cy="4325414"/>
          </a:xfrm>
          <a:prstGeom prst="rect">
            <a:avLst/>
          </a:prstGeom>
          <a:ln>
            <a:noFill/>
          </a:ln>
          <a:extLst>
            <a:ext uri="{53640926-AAD7-44D8-BBD7-CCE9431645EC}">
              <a14:shadowObscured xmlns:a14="http://schemas.microsoft.com/office/drawing/2010/main"/>
            </a:ext>
          </a:extLst>
        </p:spPr>
      </p:pic>
      <p:pic>
        <p:nvPicPr>
          <p:cNvPr id="3" name="图片 2">
            <a:extLst>
              <a:ext uri="{FF2B5EF4-FFF2-40B4-BE49-F238E27FC236}">
                <a16:creationId xmlns:a16="http://schemas.microsoft.com/office/drawing/2014/main" id="{A9BEA07D-837C-3108-DAE7-AE26B5815B2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0786" t="13059" r="70213" b="12942"/>
          <a:stretch/>
        </p:blipFill>
        <p:spPr bwMode="auto">
          <a:xfrm>
            <a:off x="7553739" y="1389517"/>
            <a:ext cx="1358308" cy="4193295"/>
          </a:xfrm>
          <a:prstGeom prst="rect">
            <a:avLst/>
          </a:prstGeom>
          <a:ln>
            <a:noFill/>
          </a:ln>
          <a:extLst>
            <a:ext uri="{53640926-AAD7-44D8-BBD7-CCE9431645EC}">
              <a14:shadowObscured xmlns:a14="http://schemas.microsoft.com/office/drawing/2010/main"/>
            </a:ext>
          </a:extLst>
        </p:spPr>
      </p:pic>
      <p:sp>
        <p:nvSpPr>
          <p:cNvPr id="4" name="TextBox 6">
            <a:extLst>
              <a:ext uri="{FF2B5EF4-FFF2-40B4-BE49-F238E27FC236}">
                <a16:creationId xmlns:a16="http://schemas.microsoft.com/office/drawing/2014/main" id="{314DE854-AE82-DFB4-12E7-5AABC4AE4C6A}"/>
              </a:ext>
            </a:extLst>
          </p:cNvPr>
          <p:cNvSpPr txBox="1"/>
          <p:nvPr/>
        </p:nvSpPr>
        <p:spPr>
          <a:xfrm>
            <a:off x="6966214" y="5759593"/>
            <a:ext cx="2274982"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3-27 </a:t>
            </a:r>
            <a:r>
              <a:rPr lang="zh-CN" altLang="en-US" dirty="0">
                <a:ea typeface="黑体"/>
                <a:cs typeface="Times New Roman"/>
              </a:rPr>
              <a:t>环形槽效果图</a:t>
            </a:r>
            <a:endParaRPr lang="zh-CN" altLang="en-US" dirty="0"/>
          </a:p>
        </p:txBody>
      </p:sp>
    </p:spTree>
    <p:extLst>
      <p:ext uri="{BB962C8B-B14F-4D97-AF65-F5344CB8AC3E}">
        <p14:creationId xmlns:p14="http://schemas.microsoft.com/office/powerpoint/2010/main" val="30850938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B27D9F5B-4CC1-D10D-8359-ED9B2F688CE8}"/>
              </a:ext>
            </a:extLst>
          </p:cNvPr>
          <p:cNvSpPr txBox="1"/>
          <p:nvPr/>
        </p:nvSpPr>
        <p:spPr>
          <a:xfrm>
            <a:off x="503583" y="636969"/>
            <a:ext cx="6573078" cy="523220"/>
          </a:xfrm>
          <a:prstGeom prst="rect">
            <a:avLst/>
          </a:prstGeom>
          <a:noFill/>
        </p:spPr>
        <p:txBody>
          <a:bodyPr wrap="square">
            <a:spAutoFit/>
          </a:bodyPr>
          <a:lstStyle/>
          <a:p>
            <a:r>
              <a:rPr lang="en-US" altLang="zh-CN" sz="2800" b="1" dirty="0">
                <a:effectLst/>
                <a:latin typeface="Times New Roman" panose="02020603050405020304" pitchFamily="18" charset="0"/>
                <a:ea typeface="宋体" panose="02010600030101010101" pitchFamily="2" charset="-122"/>
                <a:cs typeface="Times New Roman" panose="02020603050405020304" pitchFamily="18" charset="0"/>
              </a:rPr>
              <a:t>5</a:t>
            </a:r>
            <a:r>
              <a:rPr lang="zh-CN" altLang="en-US" sz="2800" b="1" dirty="0">
                <a:effectLst/>
                <a:latin typeface="Times New Roman" panose="02020603050405020304" pitchFamily="18" charset="0"/>
                <a:ea typeface="宋体" panose="02010600030101010101" pitchFamily="2" charset="-122"/>
                <a:cs typeface="Times New Roman" panose="02020603050405020304" pitchFamily="18" charset="0"/>
              </a:rPr>
              <a:t>）创建拔模特征</a:t>
            </a:r>
            <a:endParaRPr lang="zh-CN" altLang="en-US" sz="2800" dirty="0"/>
          </a:p>
        </p:txBody>
      </p:sp>
      <p:sp>
        <p:nvSpPr>
          <p:cNvPr id="11" name="TextBox 6">
            <a:extLst>
              <a:ext uri="{FF2B5EF4-FFF2-40B4-BE49-F238E27FC236}">
                <a16:creationId xmlns:a16="http://schemas.microsoft.com/office/drawing/2014/main" id="{150DA41B-EAFA-85FC-3ED8-F3007444D977}"/>
              </a:ext>
            </a:extLst>
          </p:cNvPr>
          <p:cNvSpPr txBox="1"/>
          <p:nvPr/>
        </p:nvSpPr>
        <p:spPr>
          <a:xfrm>
            <a:off x="4958509" y="5831580"/>
            <a:ext cx="2274982"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3-28 </a:t>
            </a:r>
            <a:r>
              <a:rPr lang="zh-CN" altLang="en-US" dirty="0">
                <a:ea typeface="黑体"/>
                <a:cs typeface="Times New Roman"/>
              </a:rPr>
              <a:t>创建拔模特征</a:t>
            </a:r>
            <a:endParaRPr lang="zh-CN" altLang="en-US" dirty="0"/>
          </a:p>
        </p:txBody>
      </p:sp>
      <p:pic>
        <p:nvPicPr>
          <p:cNvPr id="5" name="图片 4">
            <a:extLst>
              <a:ext uri="{FF2B5EF4-FFF2-40B4-BE49-F238E27FC236}">
                <a16:creationId xmlns:a16="http://schemas.microsoft.com/office/drawing/2014/main" id="{9AF8E227-5D73-7519-D82C-14A3B43DC4A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7199" t="4399" r="5434" b="7917"/>
          <a:stretch/>
        </p:blipFill>
        <p:spPr bwMode="auto">
          <a:xfrm>
            <a:off x="2148027" y="1160189"/>
            <a:ext cx="7895947" cy="441897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1655773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B27D9F5B-4CC1-D10D-8359-ED9B2F688CE8}"/>
              </a:ext>
            </a:extLst>
          </p:cNvPr>
          <p:cNvSpPr txBox="1"/>
          <p:nvPr/>
        </p:nvSpPr>
        <p:spPr>
          <a:xfrm>
            <a:off x="503583" y="636969"/>
            <a:ext cx="6573078" cy="523220"/>
          </a:xfrm>
          <a:prstGeom prst="rect">
            <a:avLst/>
          </a:prstGeom>
          <a:noFill/>
        </p:spPr>
        <p:txBody>
          <a:bodyPr wrap="square">
            <a:spAutoFit/>
          </a:bodyPr>
          <a:lstStyle/>
          <a:p>
            <a:r>
              <a:rPr lang="en-US" altLang="zh-CN" sz="2800" b="1" dirty="0">
                <a:effectLst/>
                <a:latin typeface="Times New Roman" panose="02020603050405020304" pitchFamily="18" charset="0"/>
                <a:ea typeface="宋体" panose="02010600030101010101" pitchFamily="2" charset="-122"/>
                <a:cs typeface="Times New Roman" panose="02020603050405020304" pitchFamily="18" charset="0"/>
              </a:rPr>
              <a:t>6</a:t>
            </a:r>
            <a:r>
              <a:rPr lang="zh-CN" altLang="en-US" sz="2800" b="1" dirty="0">
                <a:effectLst/>
                <a:latin typeface="Times New Roman" panose="02020603050405020304" pitchFamily="18" charset="0"/>
                <a:ea typeface="宋体" panose="02010600030101010101" pitchFamily="2" charset="-122"/>
                <a:cs typeface="Times New Roman" panose="02020603050405020304" pitchFamily="18" charset="0"/>
              </a:rPr>
              <a:t>）以拉伸的方式切除出一个</a:t>
            </a:r>
            <a:r>
              <a:rPr lang="el-GR" altLang="zh-CN" sz="2800" b="1" dirty="0">
                <a:effectLst/>
                <a:latin typeface="Times New Roman" panose="02020603050405020304" pitchFamily="18" charset="0"/>
                <a:ea typeface="宋体" panose="02010600030101010101" pitchFamily="2" charset="-122"/>
                <a:cs typeface="Times New Roman" panose="02020603050405020304" pitchFamily="18" charset="0"/>
              </a:rPr>
              <a:t>φ16</a:t>
            </a:r>
            <a:r>
              <a:rPr lang="en-US" altLang="zh-CN" sz="2800" b="1" dirty="0">
                <a:effectLst/>
                <a:latin typeface="Times New Roman" panose="02020603050405020304" pitchFamily="18" charset="0"/>
                <a:ea typeface="宋体" panose="02010600030101010101" pitchFamily="2" charset="-122"/>
                <a:cs typeface="Times New Roman" panose="02020603050405020304" pitchFamily="18" charset="0"/>
              </a:rPr>
              <a:t>mm</a:t>
            </a:r>
            <a:r>
              <a:rPr lang="zh-CN" altLang="en-US" sz="2800" b="1" dirty="0">
                <a:effectLst/>
                <a:latin typeface="Times New Roman" panose="02020603050405020304" pitchFamily="18" charset="0"/>
                <a:ea typeface="宋体" panose="02010600030101010101" pitchFamily="2" charset="-122"/>
                <a:cs typeface="Times New Roman" panose="02020603050405020304" pitchFamily="18" charset="0"/>
              </a:rPr>
              <a:t>通孔</a:t>
            </a:r>
            <a:endParaRPr lang="zh-CN" altLang="en-US" sz="2800" dirty="0"/>
          </a:p>
        </p:txBody>
      </p:sp>
      <p:sp>
        <p:nvSpPr>
          <p:cNvPr id="11" name="TextBox 6">
            <a:extLst>
              <a:ext uri="{FF2B5EF4-FFF2-40B4-BE49-F238E27FC236}">
                <a16:creationId xmlns:a16="http://schemas.microsoft.com/office/drawing/2014/main" id="{150DA41B-EAFA-85FC-3ED8-F3007444D977}"/>
              </a:ext>
            </a:extLst>
          </p:cNvPr>
          <p:cNvSpPr txBox="1"/>
          <p:nvPr/>
        </p:nvSpPr>
        <p:spPr>
          <a:xfrm>
            <a:off x="4350971" y="5831580"/>
            <a:ext cx="3490058"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3-29 </a:t>
            </a:r>
            <a:r>
              <a:rPr lang="zh-CN" altLang="en-US" dirty="0">
                <a:ea typeface="黑体"/>
                <a:cs typeface="Times New Roman"/>
              </a:rPr>
              <a:t>绘制</a:t>
            </a:r>
            <a:r>
              <a:rPr lang="en-US" altLang="zh-CN" dirty="0">
                <a:ea typeface="黑体"/>
                <a:cs typeface="Times New Roman"/>
              </a:rPr>
              <a:t>φ16mm</a:t>
            </a:r>
            <a:r>
              <a:rPr lang="zh-CN" altLang="en-US" dirty="0">
                <a:ea typeface="黑体"/>
                <a:cs typeface="Times New Roman"/>
              </a:rPr>
              <a:t>通孔草绘截面</a:t>
            </a:r>
            <a:endParaRPr lang="zh-CN" altLang="en-US" dirty="0"/>
          </a:p>
        </p:txBody>
      </p:sp>
      <p:pic>
        <p:nvPicPr>
          <p:cNvPr id="2" name="图片 1">
            <a:extLst>
              <a:ext uri="{FF2B5EF4-FFF2-40B4-BE49-F238E27FC236}">
                <a16:creationId xmlns:a16="http://schemas.microsoft.com/office/drawing/2014/main" id="{96996C36-7DF5-F8FF-9DA7-3895C50F8D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7314" y="1372222"/>
            <a:ext cx="8957373" cy="4326211"/>
          </a:xfrm>
          <a:prstGeom prst="rect">
            <a:avLst/>
          </a:prstGeom>
        </p:spPr>
      </p:pic>
    </p:spTree>
    <p:extLst>
      <p:ext uri="{BB962C8B-B14F-4D97-AF65-F5344CB8AC3E}">
        <p14:creationId xmlns:p14="http://schemas.microsoft.com/office/powerpoint/2010/main" val="35327204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B27D9F5B-4CC1-D10D-8359-ED9B2F688CE8}"/>
              </a:ext>
            </a:extLst>
          </p:cNvPr>
          <p:cNvSpPr txBox="1"/>
          <p:nvPr/>
        </p:nvSpPr>
        <p:spPr>
          <a:xfrm>
            <a:off x="503583" y="636969"/>
            <a:ext cx="6573078" cy="523220"/>
          </a:xfrm>
          <a:prstGeom prst="rect">
            <a:avLst/>
          </a:prstGeom>
          <a:noFill/>
        </p:spPr>
        <p:txBody>
          <a:bodyPr wrap="square">
            <a:spAutoFit/>
          </a:bodyPr>
          <a:lstStyle/>
          <a:p>
            <a:r>
              <a:rPr lang="en-US" altLang="zh-CN" sz="2800" b="1" dirty="0">
                <a:effectLst/>
                <a:latin typeface="Times New Roman" panose="02020603050405020304" pitchFamily="18" charset="0"/>
                <a:ea typeface="宋体" panose="02010600030101010101" pitchFamily="2" charset="-122"/>
                <a:cs typeface="Times New Roman" panose="02020603050405020304" pitchFamily="18" charset="0"/>
              </a:rPr>
              <a:t>7</a:t>
            </a:r>
            <a:r>
              <a:rPr lang="zh-CN" altLang="en-US" sz="2800" b="1" dirty="0">
                <a:effectLst/>
                <a:latin typeface="Times New Roman" panose="02020603050405020304" pitchFamily="18" charset="0"/>
                <a:ea typeface="宋体" panose="02010600030101010101" pitchFamily="2" charset="-122"/>
                <a:cs typeface="Times New Roman" panose="02020603050405020304" pitchFamily="18" charset="0"/>
              </a:rPr>
              <a:t>）以阵列的方式完成其余均布通孔</a:t>
            </a:r>
            <a:endParaRPr lang="zh-CN" altLang="en-US" sz="2800" dirty="0"/>
          </a:p>
        </p:txBody>
      </p:sp>
      <p:sp>
        <p:nvSpPr>
          <p:cNvPr id="11" name="TextBox 6">
            <a:extLst>
              <a:ext uri="{FF2B5EF4-FFF2-40B4-BE49-F238E27FC236}">
                <a16:creationId xmlns:a16="http://schemas.microsoft.com/office/drawing/2014/main" id="{150DA41B-EAFA-85FC-3ED8-F3007444D977}"/>
              </a:ext>
            </a:extLst>
          </p:cNvPr>
          <p:cNvSpPr txBox="1"/>
          <p:nvPr/>
        </p:nvSpPr>
        <p:spPr>
          <a:xfrm>
            <a:off x="5073925" y="5831580"/>
            <a:ext cx="2044149"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3-30 </a:t>
            </a:r>
            <a:r>
              <a:rPr lang="zh-CN" altLang="en-US" dirty="0">
                <a:ea typeface="黑体"/>
                <a:cs typeface="Times New Roman"/>
              </a:rPr>
              <a:t>创建孔阵列</a:t>
            </a:r>
            <a:endParaRPr lang="zh-CN" altLang="en-US" dirty="0"/>
          </a:p>
        </p:txBody>
      </p:sp>
      <p:pic>
        <p:nvPicPr>
          <p:cNvPr id="3" name="图片 2">
            <a:extLst>
              <a:ext uri="{FF2B5EF4-FFF2-40B4-BE49-F238E27FC236}">
                <a16:creationId xmlns:a16="http://schemas.microsoft.com/office/drawing/2014/main" id="{601D2883-90A8-B656-7A02-976E94E523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6125" y="1220135"/>
            <a:ext cx="8979750" cy="4551499"/>
          </a:xfrm>
          <a:prstGeom prst="rect">
            <a:avLst/>
          </a:prstGeom>
        </p:spPr>
      </p:pic>
    </p:spTree>
    <p:extLst>
      <p:ext uri="{BB962C8B-B14F-4D97-AF65-F5344CB8AC3E}">
        <p14:creationId xmlns:p14="http://schemas.microsoft.com/office/powerpoint/2010/main" val="8642663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05FA94-1FF5-9271-5895-345FA502C79D}"/>
              </a:ext>
            </a:extLst>
          </p:cNvPr>
          <p:cNvSpPr txBox="1"/>
          <p:nvPr/>
        </p:nvSpPr>
        <p:spPr>
          <a:xfrm>
            <a:off x="460562" y="470647"/>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3.3</a:t>
            </a:r>
            <a:r>
              <a:rPr lang="zh-CN" altLang="en-US" sz="3200" dirty="0">
                <a:solidFill>
                  <a:schemeClr val="bg1"/>
                </a:solidFill>
                <a:latin typeface="Times New Roman" pitchFamily="18" charset="0"/>
                <a:ea typeface="黑体" pitchFamily="49" charset="-122"/>
              </a:rPr>
              <a:t>扫描特征</a:t>
            </a:r>
            <a:endParaRPr lang="en-US" altLang="zh-CN" sz="3200" dirty="0">
              <a:solidFill>
                <a:schemeClr val="bg1"/>
              </a:solidFill>
              <a:latin typeface="Times New Roman" pitchFamily="18" charset="0"/>
              <a:ea typeface="黑体" pitchFamily="49" charset="-122"/>
            </a:endParaRPr>
          </a:p>
        </p:txBody>
      </p:sp>
      <p:sp>
        <p:nvSpPr>
          <p:cNvPr id="3" name="TextBox 3">
            <a:extLst>
              <a:ext uri="{FF2B5EF4-FFF2-40B4-BE49-F238E27FC236}">
                <a16:creationId xmlns:a16="http://schemas.microsoft.com/office/drawing/2014/main" id="{169742F7-9B96-289D-7F26-E5007A84B671}"/>
              </a:ext>
            </a:extLst>
          </p:cNvPr>
          <p:cNvSpPr txBox="1"/>
          <p:nvPr/>
        </p:nvSpPr>
        <p:spPr>
          <a:xfrm>
            <a:off x="222739" y="1154381"/>
            <a:ext cx="11746522" cy="3970318"/>
          </a:xfrm>
          <a:prstGeom prst="rect">
            <a:avLst/>
          </a:prstGeom>
          <a:noFill/>
        </p:spPr>
        <p:txBody>
          <a:bodyPr wrap="square" rtlCol="0">
            <a:spAutoFit/>
          </a:bodyPr>
          <a:lstStyle/>
          <a:p>
            <a:pPr indent="266700" algn="just" fontAlgn="ctr">
              <a:lnSpc>
                <a:spcPct val="150000"/>
              </a:lnSpc>
            </a:pPr>
            <a:r>
              <a:rPr lang="zh-CN" altLang="en-US" sz="2800" dirty="0">
                <a:latin typeface="Times New Roman" pitchFamily="18" charset="0"/>
                <a:ea typeface="宋体" pitchFamily="2" charset="-122"/>
              </a:rPr>
              <a:t>扫描功能是使用一个截面沿一条或多条轨迹扫描出所需的实体、曲面或薄壳的建模方法。</a:t>
            </a:r>
            <a:endParaRPr lang="en-US" altLang="zh-CN" sz="2800" dirty="0">
              <a:latin typeface="Times New Roman" pitchFamily="18" charset="0"/>
              <a:ea typeface="宋体" pitchFamily="2" charset="-122"/>
            </a:endParaRPr>
          </a:p>
          <a:p>
            <a:pPr indent="266700" algn="just" fontAlgn="ctr">
              <a:lnSpc>
                <a:spcPct val="150000"/>
              </a:lnSpc>
            </a:pPr>
            <a:r>
              <a:rPr lang="zh-CN" altLang="en-US" sz="2800" dirty="0">
                <a:latin typeface="Times New Roman" pitchFamily="18" charset="0"/>
                <a:ea typeface="宋体" pitchFamily="2" charset="-122"/>
              </a:rPr>
              <a:t>创建扫描特征需要创建两类草图特征：扫描轨迹和扫描截面。</a:t>
            </a:r>
            <a:endParaRPr lang="en-US" altLang="zh-CN" sz="2800" dirty="0">
              <a:latin typeface="Times New Roman" pitchFamily="18" charset="0"/>
              <a:ea typeface="宋体" pitchFamily="2" charset="-122"/>
            </a:endParaRPr>
          </a:p>
          <a:p>
            <a:pPr indent="266700" algn="just" fontAlgn="ctr">
              <a:lnSpc>
                <a:spcPct val="150000"/>
              </a:lnSpc>
            </a:pPr>
            <a:r>
              <a:rPr lang="zh-CN" altLang="en-US" sz="2800" dirty="0">
                <a:latin typeface="Times New Roman" pitchFamily="18" charset="0"/>
                <a:ea typeface="宋体" pitchFamily="2" charset="-122"/>
              </a:rPr>
              <a:t>扫描轨迹可以有多条，可指定现有的曲线、边，也可进入草绘模式绘制轨迹。</a:t>
            </a:r>
            <a:endParaRPr lang="en-US" altLang="zh-CN" sz="2800" dirty="0">
              <a:latin typeface="Times New Roman" pitchFamily="18" charset="0"/>
              <a:ea typeface="宋体" pitchFamily="2" charset="-122"/>
            </a:endParaRPr>
          </a:p>
          <a:p>
            <a:pPr indent="266700" algn="just" fontAlgn="ctr">
              <a:lnSpc>
                <a:spcPct val="150000"/>
              </a:lnSpc>
            </a:pPr>
            <a:r>
              <a:rPr lang="zh-CN" altLang="en-US" sz="2800" dirty="0">
                <a:latin typeface="Times New Roman" pitchFamily="18" charset="0"/>
                <a:ea typeface="宋体" pitchFamily="2" charset="-122"/>
              </a:rPr>
              <a:t>扫描截面包括恒定截面和可变截面两种。</a:t>
            </a:r>
          </a:p>
        </p:txBody>
      </p:sp>
    </p:spTree>
    <p:extLst>
      <p:ext uri="{BB962C8B-B14F-4D97-AF65-F5344CB8AC3E}">
        <p14:creationId xmlns:p14="http://schemas.microsoft.com/office/powerpoint/2010/main" val="16822234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a:extLst>
              <a:ext uri="{FF2B5EF4-FFF2-40B4-BE49-F238E27FC236}">
                <a16:creationId xmlns:a16="http://schemas.microsoft.com/office/drawing/2014/main" id="{8EF6C85A-A17A-D6EB-0FF2-7ECC8471E536}"/>
              </a:ext>
            </a:extLst>
          </p:cNvPr>
          <p:cNvSpPr txBox="1"/>
          <p:nvPr/>
        </p:nvSpPr>
        <p:spPr>
          <a:xfrm>
            <a:off x="222739" y="664052"/>
            <a:ext cx="11746522" cy="2031325"/>
          </a:xfrm>
          <a:prstGeom prst="rect">
            <a:avLst/>
          </a:prstGeom>
          <a:noFill/>
        </p:spPr>
        <p:txBody>
          <a:bodyPr wrap="square" rtlCol="0">
            <a:spAutoFit/>
          </a:bodyPr>
          <a:lstStyle/>
          <a:p>
            <a:pPr indent="266700" algn="just" fontAlgn="ctr">
              <a:lnSpc>
                <a:spcPct val="150000"/>
              </a:lnSpc>
            </a:pPr>
            <a:r>
              <a:rPr lang="en-US" altLang="zh-CN" sz="2800" b="1" dirty="0">
                <a:latin typeface="Times New Roman" pitchFamily="18" charset="0"/>
                <a:ea typeface="宋体" pitchFamily="2" charset="-122"/>
              </a:rPr>
              <a:t>1.</a:t>
            </a:r>
            <a:r>
              <a:rPr lang="zh-CN" altLang="en-US" sz="2800" b="1" dirty="0">
                <a:latin typeface="Times New Roman" pitchFamily="18" charset="0"/>
                <a:ea typeface="宋体" pitchFamily="2" charset="-122"/>
              </a:rPr>
              <a:t> </a:t>
            </a:r>
            <a:r>
              <a:rPr lang="en-US" altLang="zh-CN" sz="2800" b="1" dirty="0">
                <a:latin typeface="Times New Roman" pitchFamily="18" charset="0"/>
                <a:ea typeface="宋体" pitchFamily="2" charset="-122"/>
              </a:rPr>
              <a:t>【</a:t>
            </a:r>
            <a:r>
              <a:rPr lang="zh-CN" altLang="en-US" sz="2800" b="1" dirty="0">
                <a:latin typeface="Times New Roman" pitchFamily="18" charset="0"/>
                <a:ea typeface="宋体" pitchFamily="2" charset="-122"/>
              </a:rPr>
              <a:t>扫描</a:t>
            </a:r>
            <a:r>
              <a:rPr lang="en-US" altLang="zh-CN" sz="2800" b="1" dirty="0">
                <a:latin typeface="Times New Roman" pitchFamily="18" charset="0"/>
                <a:ea typeface="宋体" pitchFamily="2" charset="-122"/>
              </a:rPr>
              <a:t>】</a:t>
            </a:r>
            <a:r>
              <a:rPr lang="zh-CN" altLang="en-US" sz="2800" b="1" dirty="0">
                <a:latin typeface="Times New Roman" pitchFamily="18" charset="0"/>
                <a:ea typeface="宋体" pitchFamily="2" charset="-122"/>
              </a:rPr>
              <a:t>操控板</a:t>
            </a:r>
            <a:endParaRPr lang="en-US" altLang="zh-CN" sz="2800" b="1" dirty="0">
              <a:latin typeface="Times New Roman" pitchFamily="18" charset="0"/>
              <a:ea typeface="宋体" pitchFamily="2" charset="-122"/>
            </a:endParaRPr>
          </a:p>
          <a:p>
            <a:pPr indent="266700" algn="just" fontAlgn="ctr">
              <a:lnSpc>
                <a:spcPct val="150000"/>
              </a:lnSpc>
            </a:pPr>
            <a:r>
              <a:rPr lang="zh-CN" altLang="en-US" sz="2800" dirty="0">
                <a:latin typeface="Times New Roman" pitchFamily="18" charset="0"/>
                <a:ea typeface="宋体" pitchFamily="2" charset="-122"/>
              </a:rPr>
              <a:t>单击功能区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模型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形状</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区域中的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扫描</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按钮    ，界面顶部弹出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扫描</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操控板，如图</a:t>
            </a:r>
            <a:r>
              <a:rPr lang="en-US" altLang="zh-CN" sz="2800" dirty="0">
                <a:latin typeface="Times New Roman" pitchFamily="18" charset="0"/>
                <a:ea typeface="宋体" pitchFamily="2" charset="-122"/>
              </a:rPr>
              <a:t>3-31</a:t>
            </a:r>
            <a:r>
              <a:rPr lang="zh-CN" altLang="en-US" sz="2800" dirty="0">
                <a:latin typeface="Times New Roman" pitchFamily="18" charset="0"/>
                <a:ea typeface="宋体" pitchFamily="2" charset="-122"/>
              </a:rPr>
              <a:t>所示。</a:t>
            </a:r>
          </a:p>
        </p:txBody>
      </p:sp>
      <p:pic>
        <p:nvPicPr>
          <p:cNvPr id="3" name="图片 2">
            <a:extLst>
              <a:ext uri="{FF2B5EF4-FFF2-40B4-BE49-F238E27FC236}">
                <a16:creationId xmlns:a16="http://schemas.microsoft.com/office/drawing/2014/main" id="{9EB2A7D9-234F-D0D7-B87C-2BECB1E046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6647" y="1639958"/>
            <a:ext cx="342949" cy="325800"/>
          </a:xfrm>
          <a:prstGeom prst="rect">
            <a:avLst/>
          </a:prstGeom>
        </p:spPr>
      </p:pic>
      <p:pic>
        <p:nvPicPr>
          <p:cNvPr id="4" name="图片 3">
            <a:extLst>
              <a:ext uri="{FF2B5EF4-FFF2-40B4-BE49-F238E27FC236}">
                <a16:creationId xmlns:a16="http://schemas.microsoft.com/office/drawing/2014/main" id="{62BE6BE0-DC1B-9531-0049-339D0851C3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94364" y="2997199"/>
            <a:ext cx="9203273" cy="1839843"/>
          </a:xfrm>
          <a:prstGeom prst="rect">
            <a:avLst/>
          </a:prstGeom>
        </p:spPr>
      </p:pic>
      <p:sp>
        <p:nvSpPr>
          <p:cNvPr id="5" name="TextBox 6">
            <a:extLst>
              <a:ext uri="{FF2B5EF4-FFF2-40B4-BE49-F238E27FC236}">
                <a16:creationId xmlns:a16="http://schemas.microsoft.com/office/drawing/2014/main" id="{C029C7DC-C9DE-F299-4422-23289EEFF106}"/>
              </a:ext>
            </a:extLst>
          </p:cNvPr>
          <p:cNvSpPr txBox="1"/>
          <p:nvPr/>
        </p:nvSpPr>
        <p:spPr>
          <a:xfrm>
            <a:off x="4843093" y="5142466"/>
            <a:ext cx="2505814"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3-31 【</a:t>
            </a:r>
            <a:r>
              <a:rPr lang="zh-CN" altLang="en-US" dirty="0">
                <a:ea typeface="黑体"/>
                <a:cs typeface="Times New Roman"/>
              </a:rPr>
              <a:t>扫描</a:t>
            </a:r>
            <a:r>
              <a:rPr lang="en-US" altLang="zh-CN" dirty="0">
                <a:ea typeface="黑体"/>
                <a:cs typeface="Times New Roman"/>
              </a:rPr>
              <a:t>】</a:t>
            </a:r>
            <a:r>
              <a:rPr lang="zh-CN" altLang="en-US" dirty="0">
                <a:ea typeface="黑体"/>
                <a:cs typeface="Times New Roman"/>
              </a:rPr>
              <a:t>操控板</a:t>
            </a:r>
            <a:endParaRPr lang="zh-CN" altLang="en-US" dirty="0"/>
          </a:p>
        </p:txBody>
      </p:sp>
    </p:spTree>
    <p:extLst>
      <p:ext uri="{BB962C8B-B14F-4D97-AF65-F5344CB8AC3E}">
        <p14:creationId xmlns:p14="http://schemas.microsoft.com/office/powerpoint/2010/main" val="12204040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a:extLst>
              <a:ext uri="{FF2B5EF4-FFF2-40B4-BE49-F238E27FC236}">
                <a16:creationId xmlns:a16="http://schemas.microsoft.com/office/drawing/2014/main" id="{8EF6C85A-A17A-D6EB-0FF2-7ECC8471E536}"/>
              </a:ext>
            </a:extLst>
          </p:cNvPr>
          <p:cNvSpPr txBox="1"/>
          <p:nvPr/>
        </p:nvSpPr>
        <p:spPr>
          <a:xfrm>
            <a:off x="222739" y="664052"/>
            <a:ext cx="11746522" cy="5262979"/>
          </a:xfrm>
          <a:prstGeom prst="rect">
            <a:avLst/>
          </a:prstGeom>
          <a:noFill/>
        </p:spPr>
        <p:txBody>
          <a:bodyPr wrap="square" rtlCol="0">
            <a:spAutoFit/>
          </a:bodyPr>
          <a:lstStyle/>
          <a:p>
            <a:pPr indent="266700" algn="just" fontAlgn="ctr">
              <a:lnSpc>
                <a:spcPct val="150000"/>
              </a:lnSpc>
            </a:pPr>
            <a:r>
              <a:rPr lang="en-US" altLang="zh-CN" sz="2800" b="1" dirty="0">
                <a:latin typeface="Times New Roman" pitchFamily="18" charset="0"/>
                <a:ea typeface="宋体" pitchFamily="2" charset="-122"/>
              </a:rPr>
              <a:t>2. 【</a:t>
            </a:r>
            <a:r>
              <a:rPr lang="zh-CN" altLang="en-US" sz="2800" b="1" dirty="0">
                <a:latin typeface="Times New Roman" pitchFamily="18" charset="0"/>
                <a:ea typeface="宋体" pitchFamily="2" charset="-122"/>
              </a:rPr>
              <a:t>参考</a:t>
            </a:r>
            <a:r>
              <a:rPr lang="en-US" altLang="zh-CN" sz="2800" b="1" dirty="0">
                <a:latin typeface="Times New Roman" pitchFamily="18" charset="0"/>
                <a:ea typeface="宋体" pitchFamily="2" charset="-122"/>
              </a:rPr>
              <a:t>】</a:t>
            </a:r>
            <a:r>
              <a:rPr lang="zh-CN" altLang="en-US" sz="2800" b="1" dirty="0">
                <a:latin typeface="Times New Roman" pitchFamily="18" charset="0"/>
                <a:ea typeface="宋体" pitchFamily="2" charset="-122"/>
              </a:rPr>
              <a:t>下滑面板</a:t>
            </a:r>
            <a:endParaRPr lang="en-US" altLang="zh-CN" sz="2800" b="1" dirty="0">
              <a:latin typeface="Times New Roman" pitchFamily="18" charset="0"/>
              <a:ea typeface="宋体" pitchFamily="2" charset="-122"/>
            </a:endParaRPr>
          </a:p>
          <a:p>
            <a:pPr indent="266700" algn="just" fontAlgn="ctr">
              <a:lnSpc>
                <a:spcPct val="150000"/>
              </a:lnSpc>
            </a:pPr>
            <a:r>
              <a:rPr lang="en-US" altLang="zh-CN" sz="2800" dirty="0">
                <a:latin typeface="Times New Roman" pitchFamily="18" charset="0"/>
                <a:ea typeface="宋体" pitchFamily="2" charset="-122"/>
              </a:rPr>
              <a:t>1</a:t>
            </a:r>
            <a:r>
              <a:rPr lang="zh-CN" altLang="en-US" sz="2800" dirty="0">
                <a:latin typeface="Times New Roman" pitchFamily="18" charset="0"/>
                <a:ea typeface="宋体" pitchFamily="2" charset="-122"/>
              </a:rPr>
              <a:t>）扫描轨迹</a:t>
            </a:r>
          </a:p>
          <a:p>
            <a:pPr indent="266700" algn="just" fontAlgn="ctr">
              <a:lnSpc>
                <a:spcPct val="150000"/>
              </a:lnSpc>
            </a:pPr>
            <a:r>
              <a:rPr lang="zh-CN" altLang="en-US" sz="2800" dirty="0">
                <a:latin typeface="Times New Roman" pitchFamily="18" charset="0"/>
                <a:ea typeface="宋体" pitchFamily="2" charset="-122"/>
              </a:rPr>
              <a:t>扫描轨迹的类型有两种：</a:t>
            </a:r>
            <a:endParaRPr lang="en-US" altLang="zh-CN" sz="2800" dirty="0">
              <a:latin typeface="Times New Roman" pitchFamily="18" charset="0"/>
              <a:ea typeface="宋体" pitchFamily="2" charset="-122"/>
            </a:endParaRPr>
          </a:p>
          <a:p>
            <a:pPr indent="266700" algn="just" fontAlgn="ctr">
              <a:lnSpc>
                <a:spcPct val="150000"/>
              </a:lnSpc>
            </a:pPr>
            <a:r>
              <a:rPr lang="zh-CN" altLang="en-US" sz="2800" dirty="0">
                <a:latin typeface="Wingdings" panose="05000000000000000000" pitchFamily="2" charset="2"/>
                <a:ea typeface="宋体" pitchFamily="2" charset="-122"/>
              </a:rPr>
              <a:t></a:t>
            </a:r>
            <a:r>
              <a:rPr lang="zh-CN" altLang="en-US" sz="2800" dirty="0">
                <a:latin typeface="Times New Roman" pitchFamily="18" charset="0"/>
                <a:ea typeface="宋体" pitchFamily="2" charset="-122"/>
              </a:rPr>
              <a:t>	原点轨迹：在扫描的过程中，截面的原点永远落在此轨迹上，创建扫描特征时必须选择一条原点轨迹。</a:t>
            </a:r>
          </a:p>
          <a:p>
            <a:pPr indent="266700" algn="just" fontAlgn="ctr">
              <a:lnSpc>
                <a:spcPct val="150000"/>
              </a:lnSpc>
            </a:pPr>
            <a:r>
              <a:rPr lang="zh-CN" altLang="en-US" sz="2800" dirty="0">
                <a:latin typeface="Wingdings" panose="05000000000000000000" pitchFamily="2" charset="2"/>
                <a:ea typeface="宋体" pitchFamily="2" charset="-122"/>
              </a:rPr>
              <a:t></a:t>
            </a:r>
            <a:r>
              <a:rPr lang="zh-CN" altLang="en-US" sz="2800" dirty="0">
                <a:latin typeface="Times New Roman" pitchFamily="18" charset="0"/>
                <a:ea typeface="宋体" pitchFamily="2" charset="-122"/>
              </a:rPr>
              <a:t>	链轨迹：扫描过程中截面顶点参考的轨迹，用于变截面扫描。可以有多条，其中一条可以是截面</a:t>
            </a:r>
            <a:r>
              <a:rPr lang="en-US" altLang="zh-CN" sz="2800" dirty="0">
                <a:latin typeface="Times New Roman" pitchFamily="18" charset="0"/>
                <a:ea typeface="宋体" pitchFamily="2" charset="-122"/>
              </a:rPr>
              <a:t>X</a:t>
            </a:r>
            <a:r>
              <a:rPr lang="zh-CN" altLang="en-US" sz="2800" dirty="0">
                <a:latin typeface="Times New Roman" pitchFamily="18" charset="0"/>
                <a:ea typeface="宋体" pitchFamily="2" charset="-122"/>
              </a:rPr>
              <a:t>方向上的控制轨迹。</a:t>
            </a:r>
          </a:p>
          <a:p>
            <a:pPr indent="266700" algn="just" fontAlgn="ctr">
              <a:lnSpc>
                <a:spcPct val="150000"/>
              </a:lnSpc>
            </a:pPr>
            <a:endParaRPr lang="en-US" altLang="zh-CN" sz="2800" dirty="0">
              <a:latin typeface="Times New Roman" pitchFamily="18" charset="0"/>
              <a:ea typeface="宋体" pitchFamily="2" charset="-122"/>
            </a:endParaRPr>
          </a:p>
        </p:txBody>
      </p:sp>
    </p:spTree>
    <p:extLst>
      <p:ext uri="{BB962C8B-B14F-4D97-AF65-F5344CB8AC3E}">
        <p14:creationId xmlns:p14="http://schemas.microsoft.com/office/powerpoint/2010/main" val="7354694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a:extLst>
              <a:ext uri="{FF2B5EF4-FFF2-40B4-BE49-F238E27FC236}">
                <a16:creationId xmlns:a16="http://schemas.microsoft.com/office/drawing/2014/main" id="{8EF6C85A-A17A-D6EB-0FF2-7ECC8471E536}"/>
              </a:ext>
            </a:extLst>
          </p:cNvPr>
          <p:cNvSpPr txBox="1"/>
          <p:nvPr/>
        </p:nvSpPr>
        <p:spPr>
          <a:xfrm>
            <a:off x="222739" y="664052"/>
            <a:ext cx="11746522" cy="4616648"/>
          </a:xfrm>
          <a:prstGeom prst="rect">
            <a:avLst/>
          </a:prstGeom>
          <a:noFill/>
        </p:spPr>
        <p:txBody>
          <a:bodyPr wrap="square" rtlCol="0">
            <a:spAutoFit/>
          </a:bodyPr>
          <a:lstStyle/>
          <a:p>
            <a:pPr indent="266700" algn="just" fontAlgn="ctr">
              <a:lnSpc>
                <a:spcPct val="150000"/>
              </a:lnSpc>
            </a:pPr>
            <a:r>
              <a:rPr lang="en-US" altLang="zh-CN" sz="2800" b="1" dirty="0">
                <a:latin typeface="Times New Roman" pitchFamily="18" charset="0"/>
                <a:ea typeface="宋体" pitchFamily="2" charset="-122"/>
              </a:rPr>
              <a:t>2. 【</a:t>
            </a:r>
            <a:r>
              <a:rPr lang="zh-CN" altLang="en-US" sz="2800" b="1" dirty="0">
                <a:latin typeface="Times New Roman" pitchFamily="18" charset="0"/>
                <a:ea typeface="宋体" pitchFamily="2" charset="-122"/>
              </a:rPr>
              <a:t>参考</a:t>
            </a:r>
            <a:r>
              <a:rPr lang="en-US" altLang="zh-CN" sz="2800" b="1" dirty="0">
                <a:latin typeface="Times New Roman" pitchFamily="18" charset="0"/>
                <a:ea typeface="宋体" pitchFamily="2" charset="-122"/>
              </a:rPr>
              <a:t>】</a:t>
            </a:r>
            <a:r>
              <a:rPr lang="zh-CN" altLang="en-US" sz="2800" b="1" dirty="0">
                <a:latin typeface="Times New Roman" pitchFamily="18" charset="0"/>
                <a:ea typeface="宋体" pitchFamily="2" charset="-122"/>
              </a:rPr>
              <a:t>下滑面板</a:t>
            </a:r>
            <a:endParaRPr lang="en-US" altLang="zh-CN" sz="2800" b="1" dirty="0">
              <a:latin typeface="Times New Roman" pitchFamily="18" charset="0"/>
              <a:ea typeface="宋体" pitchFamily="2" charset="-122"/>
            </a:endParaRPr>
          </a:p>
          <a:p>
            <a:pPr indent="266700" algn="just" fontAlgn="ctr">
              <a:lnSpc>
                <a:spcPct val="150000"/>
              </a:lnSpc>
            </a:pPr>
            <a:r>
              <a:rPr lang="en-US" altLang="zh-CN" sz="2800" dirty="0">
                <a:latin typeface="Times New Roman" pitchFamily="18" charset="0"/>
                <a:ea typeface="宋体" pitchFamily="2" charset="-122"/>
              </a:rPr>
              <a:t>2</a:t>
            </a:r>
            <a:r>
              <a:rPr lang="zh-CN" altLang="en-US" sz="2800" dirty="0">
                <a:latin typeface="Times New Roman" pitchFamily="18" charset="0"/>
                <a:ea typeface="宋体" pitchFamily="2" charset="-122"/>
              </a:rPr>
              <a:t>）字母选项含义。</a:t>
            </a:r>
          </a:p>
          <a:p>
            <a:pPr indent="266700" algn="just" fontAlgn="ctr">
              <a:lnSpc>
                <a:spcPct val="150000"/>
              </a:lnSpc>
            </a:pPr>
            <a:r>
              <a:rPr lang="zh-CN" altLang="en-US" sz="2800" dirty="0">
                <a:latin typeface="Wingdings" panose="05000000000000000000" pitchFamily="2" charset="2"/>
                <a:ea typeface="宋体" pitchFamily="2" charset="-122"/>
              </a:rPr>
              <a:t></a:t>
            </a:r>
            <a:r>
              <a:rPr lang="zh-CN" altLang="en-US" sz="2800" dirty="0">
                <a:latin typeface="Times New Roman" pitchFamily="18" charset="0"/>
                <a:ea typeface="宋体" pitchFamily="2" charset="-122"/>
              </a:rPr>
              <a:t>	</a:t>
            </a:r>
            <a:r>
              <a:rPr lang="en-US" altLang="zh-CN" sz="2800" dirty="0">
                <a:latin typeface="Times New Roman" pitchFamily="18" charset="0"/>
                <a:ea typeface="宋体" pitchFamily="2" charset="-122"/>
              </a:rPr>
              <a:t>【X】</a:t>
            </a:r>
            <a:r>
              <a:rPr lang="zh-CN" altLang="en-US" sz="2800" dirty="0">
                <a:latin typeface="Times New Roman" pitchFamily="18" charset="0"/>
                <a:ea typeface="宋体" pitchFamily="2" charset="-122"/>
              </a:rPr>
              <a:t>选项：该轨迹作为</a:t>
            </a:r>
            <a:r>
              <a:rPr lang="en-US" altLang="zh-CN" sz="2800" dirty="0">
                <a:latin typeface="Times New Roman" pitchFamily="18" charset="0"/>
                <a:ea typeface="宋体" pitchFamily="2" charset="-122"/>
              </a:rPr>
              <a:t>X</a:t>
            </a:r>
            <a:r>
              <a:rPr lang="zh-CN" altLang="en-US" sz="2800" dirty="0">
                <a:latin typeface="Times New Roman" pitchFamily="18" charset="0"/>
                <a:ea typeface="宋体" pitchFamily="2" charset="-122"/>
              </a:rPr>
              <a:t>方向上的控制轨迹。</a:t>
            </a:r>
          </a:p>
          <a:p>
            <a:pPr indent="266700" algn="just" fontAlgn="ctr">
              <a:lnSpc>
                <a:spcPct val="150000"/>
              </a:lnSpc>
            </a:pPr>
            <a:r>
              <a:rPr lang="zh-CN" altLang="en-US" sz="2800" dirty="0">
                <a:latin typeface="Wingdings" panose="05000000000000000000" pitchFamily="2" charset="2"/>
                <a:ea typeface="宋体" pitchFamily="2" charset="-122"/>
              </a:rPr>
              <a:t></a:t>
            </a:r>
            <a:r>
              <a:rPr lang="zh-CN" altLang="en-US" sz="2800" dirty="0">
                <a:latin typeface="Times New Roman" pitchFamily="18" charset="0"/>
                <a:ea typeface="宋体" pitchFamily="2" charset="-122"/>
              </a:rPr>
              <a:t>	</a:t>
            </a:r>
            <a:r>
              <a:rPr lang="en-US" altLang="zh-CN" sz="2800" dirty="0">
                <a:latin typeface="Times New Roman" pitchFamily="18" charset="0"/>
                <a:ea typeface="宋体" pitchFamily="2" charset="-122"/>
              </a:rPr>
              <a:t>【N】</a:t>
            </a:r>
            <a:r>
              <a:rPr lang="zh-CN" altLang="en-US" sz="2800" dirty="0">
                <a:latin typeface="Times New Roman" pitchFamily="18" charset="0"/>
                <a:ea typeface="宋体" pitchFamily="2" charset="-122"/>
              </a:rPr>
              <a:t>选项：该轨迹作为法向轨迹，扫描截面与该轨迹垂直。例如当勾选链</a:t>
            </a:r>
            <a:r>
              <a:rPr lang="en-US" altLang="zh-CN" sz="2800" dirty="0">
                <a:latin typeface="Times New Roman" pitchFamily="18" charset="0"/>
                <a:ea typeface="宋体" pitchFamily="2" charset="-122"/>
              </a:rPr>
              <a:t>1</a:t>
            </a:r>
            <a:r>
              <a:rPr lang="zh-CN" altLang="en-US" sz="2800" dirty="0">
                <a:latin typeface="Times New Roman" pitchFamily="18" charset="0"/>
                <a:ea typeface="宋体" pitchFamily="2" charset="-122"/>
              </a:rPr>
              <a:t>轨迹中的</a:t>
            </a:r>
            <a:r>
              <a:rPr lang="en-US" altLang="zh-CN" sz="2800" dirty="0">
                <a:latin typeface="Times New Roman" pitchFamily="18" charset="0"/>
                <a:ea typeface="宋体" pitchFamily="2" charset="-122"/>
              </a:rPr>
              <a:t>【N】</a:t>
            </a:r>
            <a:r>
              <a:rPr lang="zh-CN" altLang="en-US" sz="2800" dirty="0">
                <a:latin typeface="Times New Roman" pitchFamily="18" charset="0"/>
                <a:ea typeface="宋体" pitchFamily="2" charset="-122"/>
              </a:rPr>
              <a:t>选项时，扫描截面与链</a:t>
            </a:r>
            <a:r>
              <a:rPr lang="en-US" altLang="zh-CN" sz="2800" dirty="0">
                <a:latin typeface="Times New Roman" pitchFamily="18" charset="0"/>
                <a:ea typeface="宋体" pitchFamily="2" charset="-122"/>
              </a:rPr>
              <a:t>1</a:t>
            </a:r>
            <a:r>
              <a:rPr lang="zh-CN" altLang="en-US" sz="2800" dirty="0">
                <a:latin typeface="Times New Roman" pitchFamily="18" charset="0"/>
                <a:ea typeface="宋体" pitchFamily="2" charset="-122"/>
              </a:rPr>
              <a:t>轨迹垂直。</a:t>
            </a:r>
          </a:p>
          <a:p>
            <a:pPr indent="266700" algn="just" fontAlgn="ctr">
              <a:lnSpc>
                <a:spcPct val="150000"/>
              </a:lnSpc>
            </a:pPr>
            <a:r>
              <a:rPr lang="zh-CN" altLang="en-US" sz="2800" dirty="0">
                <a:latin typeface="Wingdings" panose="05000000000000000000" pitchFamily="2" charset="2"/>
                <a:ea typeface="宋体" pitchFamily="2" charset="-122"/>
              </a:rPr>
              <a:t></a:t>
            </a:r>
            <a:r>
              <a:rPr lang="zh-CN" altLang="en-US" sz="2800" dirty="0">
                <a:latin typeface="Times New Roman" pitchFamily="18" charset="0"/>
                <a:ea typeface="宋体" pitchFamily="2" charset="-122"/>
              </a:rPr>
              <a:t>	</a:t>
            </a:r>
            <a:r>
              <a:rPr lang="en-US" altLang="zh-CN" sz="2800" dirty="0">
                <a:latin typeface="Times New Roman" pitchFamily="18" charset="0"/>
                <a:ea typeface="宋体" pitchFamily="2" charset="-122"/>
              </a:rPr>
              <a:t>【T】</a:t>
            </a:r>
            <a:r>
              <a:rPr lang="zh-CN" altLang="en-US" sz="2800" dirty="0">
                <a:latin typeface="Times New Roman" pitchFamily="18" charset="0"/>
                <a:ea typeface="宋体" pitchFamily="2" charset="-122"/>
              </a:rPr>
              <a:t>选项：切向参考。</a:t>
            </a:r>
          </a:p>
          <a:p>
            <a:pPr indent="266700" algn="just" fontAlgn="ctr">
              <a:lnSpc>
                <a:spcPct val="150000"/>
              </a:lnSpc>
            </a:pPr>
            <a:endParaRPr lang="en-US" altLang="zh-CN" sz="2800" dirty="0">
              <a:latin typeface="Times New Roman" pitchFamily="18" charset="0"/>
              <a:ea typeface="宋体" pitchFamily="2" charset="-122"/>
            </a:endParaRPr>
          </a:p>
        </p:txBody>
      </p:sp>
    </p:spTree>
    <p:extLst>
      <p:ext uri="{BB962C8B-B14F-4D97-AF65-F5344CB8AC3E}">
        <p14:creationId xmlns:p14="http://schemas.microsoft.com/office/powerpoint/2010/main" val="7015324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a:extLst>
              <a:ext uri="{FF2B5EF4-FFF2-40B4-BE49-F238E27FC236}">
                <a16:creationId xmlns:a16="http://schemas.microsoft.com/office/drawing/2014/main" id="{8EF6C85A-A17A-D6EB-0FF2-7ECC8471E536}"/>
              </a:ext>
            </a:extLst>
          </p:cNvPr>
          <p:cNvSpPr txBox="1"/>
          <p:nvPr/>
        </p:nvSpPr>
        <p:spPr>
          <a:xfrm>
            <a:off x="222739" y="319497"/>
            <a:ext cx="11746522" cy="2677656"/>
          </a:xfrm>
          <a:prstGeom prst="rect">
            <a:avLst/>
          </a:prstGeom>
          <a:noFill/>
        </p:spPr>
        <p:txBody>
          <a:bodyPr wrap="square" rtlCol="0">
            <a:spAutoFit/>
          </a:bodyPr>
          <a:lstStyle/>
          <a:p>
            <a:pPr indent="266700" algn="just" fontAlgn="ctr">
              <a:lnSpc>
                <a:spcPct val="150000"/>
              </a:lnSpc>
            </a:pPr>
            <a:r>
              <a:rPr lang="en-US" altLang="zh-CN" sz="2800" b="1" dirty="0">
                <a:latin typeface="Times New Roman" pitchFamily="18" charset="0"/>
                <a:ea typeface="宋体" pitchFamily="2" charset="-122"/>
              </a:rPr>
              <a:t>3</a:t>
            </a:r>
            <a:r>
              <a:rPr lang="zh-CN" altLang="en-US" sz="2800" b="1" dirty="0">
                <a:latin typeface="Times New Roman" pitchFamily="18" charset="0"/>
                <a:ea typeface="宋体" pitchFamily="2" charset="-122"/>
              </a:rPr>
              <a:t>）扫描截平面控制</a:t>
            </a:r>
            <a:endParaRPr lang="en-US" altLang="zh-CN" sz="2800" b="1" dirty="0">
              <a:latin typeface="Times New Roman" pitchFamily="18" charset="0"/>
              <a:ea typeface="宋体" pitchFamily="2" charset="-122"/>
            </a:endParaRPr>
          </a:p>
          <a:p>
            <a:pPr indent="266700" algn="just" fontAlgn="ctr">
              <a:lnSpc>
                <a:spcPct val="150000"/>
              </a:lnSpc>
            </a:pPr>
            <a:r>
              <a:rPr lang="zh-CN" altLang="en-US" sz="2800" dirty="0">
                <a:latin typeface="Times New Roman" pitchFamily="18" charset="0"/>
                <a:ea typeface="宋体" pitchFamily="2" charset="-122"/>
              </a:rPr>
              <a:t>扫描截平面控制就是在扫描过程中对扫描截面的</a:t>
            </a:r>
            <a:r>
              <a:rPr lang="en-US" altLang="zh-CN" sz="2800" dirty="0">
                <a:latin typeface="Times New Roman" pitchFamily="18" charset="0"/>
                <a:ea typeface="宋体" pitchFamily="2" charset="-122"/>
              </a:rPr>
              <a:t>X</a:t>
            </a:r>
            <a:r>
              <a:rPr lang="zh-CN" altLang="en-US" sz="2800" dirty="0">
                <a:latin typeface="Times New Roman" pitchFamily="18" charset="0"/>
                <a:ea typeface="宋体" pitchFamily="2" charset="-122"/>
              </a:rPr>
              <a:t>方向和</a:t>
            </a:r>
            <a:r>
              <a:rPr lang="en-US" altLang="zh-CN" sz="2800" dirty="0">
                <a:latin typeface="Times New Roman" pitchFamily="18" charset="0"/>
                <a:ea typeface="宋体" pitchFamily="2" charset="-122"/>
              </a:rPr>
              <a:t>Z</a:t>
            </a:r>
            <a:r>
              <a:rPr lang="zh-CN" altLang="en-US" sz="2800" dirty="0">
                <a:latin typeface="Times New Roman" pitchFamily="18" charset="0"/>
                <a:ea typeface="宋体" pitchFamily="2" charset="-122"/>
              </a:rPr>
              <a:t>方向进行选择和控制。</a:t>
            </a:r>
            <a:r>
              <a:rPr lang="en-US" altLang="zh-CN" sz="2800" dirty="0">
                <a:latin typeface="Times New Roman" pitchFamily="18" charset="0"/>
                <a:ea typeface="宋体" pitchFamily="2" charset="-122"/>
              </a:rPr>
              <a:t>Z</a:t>
            </a:r>
            <a:r>
              <a:rPr lang="zh-CN" altLang="en-US" sz="2800" dirty="0">
                <a:latin typeface="Times New Roman" pitchFamily="18" charset="0"/>
                <a:ea typeface="宋体" pitchFamily="2" charset="-122"/>
              </a:rPr>
              <a:t>方向控制有三种：</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垂直于轨迹</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垂直于投影</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和</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恒定法向</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，单击截面控制下拉三角按钮，如图</a:t>
            </a:r>
            <a:r>
              <a:rPr lang="en-US" altLang="zh-CN" sz="2800" dirty="0">
                <a:latin typeface="Times New Roman" pitchFamily="18" charset="0"/>
                <a:ea typeface="宋体" pitchFamily="2" charset="-122"/>
              </a:rPr>
              <a:t>3-33</a:t>
            </a:r>
            <a:r>
              <a:rPr lang="zh-CN" altLang="en-US" sz="2800" dirty="0">
                <a:latin typeface="Times New Roman" pitchFamily="18" charset="0"/>
                <a:ea typeface="宋体" pitchFamily="2" charset="-122"/>
              </a:rPr>
              <a:t>所示。</a:t>
            </a:r>
            <a:endParaRPr lang="en-US" altLang="zh-CN" sz="2800" dirty="0">
              <a:latin typeface="Times New Roman" pitchFamily="18" charset="0"/>
              <a:ea typeface="宋体" pitchFamily="2" charset="-122"/>
            </a:endParaRPr>
          </a:p>
        </p:txBody>
      </p:sp>
      <p:pic>
        <p:nvPicPr>
          <p:cNvPr id="3" name="图片 2">
            <a:extLst>
              <a:ext uri="{FF2B5EF4-FFF2-40B4-BE49-F238E27FC236}">
                <a16:creationId xmlns:a16="http://schemas.microsoft.com/office/drawing/2014/main" id="{063AA2F7-39F4-3990-B13B-3D47259F05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4997" y="3108351"/>
            <a:ext cx="2552826" cy="3053909"/>
          </a:xfrm>
          <a:prstGeom prst="rect">
            <a:avLst/>
          </a:prstGeom>
        </p:spPr>
      </p:pic>
      <p:sp>
        <p:nvSpPr>
          <p:cNvPr id="4" name="TextBox 6">
            <a:extLst>
              <a:ext uri="{FF2B5EF4-FFF2-40B4-BE49-F238E27FC236}">
                <a16:creationId xmlns:a16="http://schemas.microsoft.com/office/drawing/2014/main" id="{4EAF1573-3BCD-FA03-70C4-CB65FA3DE61C}"/>
              </a:ext>
            </a:extLst>
          </p:cNvPr>
          <p:cNvSpPr txBox="1"/>
          <p:nvPr/>
        </p:nvSpPr>
        <p:spPr>
          <a:xfrm>
            <a:off x="4390614" y="6169171"/>
            <a:ext cx="2914580"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3-33【</a:t>
            </a:r>
            <a:r>
              <a:rPr lang="zh-CN" altLang="en-US" dirty="0">
                <a:ea typeface="黑体"/>
                <a:cs typeface="Times New Roman"/>
              </a:rPr>
              <a:t>截平面控制</a:t>
            </a:r>
            <a:r>
              <a:rPr lang="en-US" altLang="zh-CN" dirty="0">
                <a:ea typeface="黑体"/>
                <a:cs typeface="Times New Roman"/>
              </a:rPr>
              <a:t>】</a:t>
            </a:r>
            <a:r>
              <a:rPr lang="zh-CN" altLang="en-US" dirty="0">
                <a:ea typeface="黑体"/>
                <a:cs typeface="Times New Roman"/>
              </a:rPr>
              <a:t>种类</a:t>
            </a:r>
            <a:endParaRPr lang="zh-CN" altLang="en-US" dirty="0"/>
          </a:p>
        </p:txBody>
      </p:sp>
    </p:spTree>
    <p:extLst>
      <p:ext uri="{BB962C8B-B14F-4D97-AF65-F5344CB8AC3E}">
        <p14:creationId xmlns:p14="http://schemas.microsoft.com/office/powerpoint/2010/main" val="34463204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a:extLst>
              <a:ext uri="{FF2B5EF4-FFF2-40B4-BE49-F238E27FC236}">
                <a16:creationId xmlns:a16="http://schemas.microsoft.com/office/drawing/2014/main" id="{8EF6C85A-A17A-D6EB-0FF2-7ECC8471E536}"/>
              </a:ext>
            </a:extLst>
          </p:cNvPr>
          <p:cNvSpPr txBox="1"/>
          <p:nvPr/>
        </p:nvSpPr>
        <p:spPr>
          <a:xfrm>
            <a:off x="222739" y="425513"/>
            <a:ext cx="11746522" cy="6555641"/>
          </a:xfrm>
          <a:prstGeom prst="rect">
            <a:avLst/>
          </a:prstGeom>
          <a:noFill/>
        </p:spPr>
        <p:txBody>
          <a:bodyPr wrap="square" rtlCol="0">
            <a:spAutoFit/>
          </a:bodyPr>
          <a:lstStyle/>
          <a:p>
            <a:pPr indent="266700" algn="just" fontAlgn="ctr">
              <a:lnSpc>
                <a:spcPct val="150000"/>
              </a:lnSpc>
            </a:pPr>
            <a:r>
              <a:rPr lang="en-US" altLang="zh-CN" sz="2800" b="1" dirty="0">
                <a:latin typeface="Times New Roman" pitchFamily="18" charset="0"/>
                <a:ea typeface="宋体" pitchFamily="2" charset="-122"/>
              </a:rPr>
              <a:t>3</a:t>
            </a:r>
            <a:r>
              <a:rPr lang="zh-CN" altLang="en-US" sz="2800" b="1" dirty="0">
                <a:latin typeface="Times New Roman" pitchFamily="18" charset="0"/>
                <a:ea typeface="宋体" pitchFamily="2" charset="-122"/>
              </a:rPr>
              <a:t>）扫描截平面控制</a:t>
            </a:r>
            <a:endParaRPr lang="en-US" altLang="zh-CN" sz="2800" b="1" dirty="0">
              <a:latin typeface="Times New Roman" pitchFamily="18" charset="0"/>
              <a:ea typeface="宋体" pitchFamily="2" charset="-122"/>
            </a:endParaRPr>
          </a:p>
          <a:p>
            <a:pPr indent="266700" algn="just" fontAlgn="ctr">
              <a:lnSpc>
                <a:spcPct val="150000"/>
              </a:lnSpc>
            </a:pP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垂直于轨迹</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选项：在扫描过程中，扫描截面始终垂直于指定的轨迹，系统默认是垂直于原点轨迹。选择方法是：在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截平面控制</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下拉列表框中，选择</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垂直于轨迹</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选项，回到</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轨迹</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选项框中，在对应的轨迹右侧勾选</a:t>
            </a:r>
            <a:r>
              <a:rPr lang="en-US" altLang="zh-CN" sz="2800" dirty="0">
                <a:latin typeface="Times New Roman" pitchFamily="18" charset="0"/>
                <a:ea typeface="宋体" pitchFamily="2" charset="-122"/>
              </a:rPr>
              <a:t>【N】</a:t>
            </a:r>
            <a:r>
              <a:rPr lang="zh-CN" altLang="en-US" sz="2800" dirty="0">
                <a:latin typeface="Times New Roman" pitchFamily="18" charset="0"/>
                <a:ea typeface="宋体" pitchFamily="2" charset="-122"/>
              </a:rPr>
              <a:t>列复选框。</a:t>
            </a:r>
            <a:endParaRPr lang="en-US" altLang="zh-CN" sz="2800" dirty="0">
              <a:latin typeface="Times New Roman" pitchFamily="18" charset="0"/>
              <a:ea typeface="宋体" pitchFamily="2" charset="-122"/>
            </a:endParaRPr>
          </a:p>
          <a:p>
            <a:pPr indent="266700" algn="just" fontAlgn="ctr">
              <a:lnSpc>
                <a:spcPct val="150000"/>
              </a:lnSpc>
            </a:pPr>
            <a:endParaRPr lang="en-US" altLang="zh-CN" sz="2800" dirty="0">
              <a:latin typeface="Times New Roman" pitchFamily="18" charset="0"/>
              <a:ea typeface="宋体" pitchFamily="2" charset="-122"/>
            </a:endParaRPr>
          </a:p>
          <a:p>
            <a:pPr indent="266700" algn="just" fontAlgn="ctr">
              <a:lnSpc>
                <a:spcPct val="150000"/>
              </a:lnSpc>
            </a:pP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垂直于投影</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选项：扫描过程中扫描截平面始终与轨迹在某个平面的投影垂直。当选取该选项时，系统要求选取一个平面、轴、坐标系轴或直图元来定义轨迹的投影方向。</a:t>
            </a:r>
            <a:endParaRPr lang="en-US" altLang="zh-CN" sz="2800" dirty="0">
              <a:latin typeface="Times New Roman" pitchFamily="18" charset="0"/>
              <a:ea typeface="宋体" pitchFamily="2" charset="-122"/>
            </a:endParaRPr>
          </a:p>
          <a:p>
            <a:pPr indent="266700" algn="just" fontAlgn="ctr">
              <a:lnSpc>
                <a:spcPct val="150000"/>
              </a:lnSpc>
            </a:pPr>
            <a:endParaRPr lang="en-US" altLang="zh-CN" sz="2800" dirty="0">
              <a:latin typeface="Times New Roman" pitchFamily="18" charset="0"/>
              <a:ea typeface="宋体" pitchFamily="2" charset="-122"/>
            </a:endParaRPr>
          </a:p>
        </p:txBody>
      </p:sp>
    </p:spTree>
    <p:extLst>
      <p:ext uri="{BB962C8B-B14F-4D97-AF65-F5344CB8AC3E}">
        <p14:creationId xmlns:p14="http://schemas.microsoft.com/office/powerpoint/2010/main" val="41468270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a:extLst>
              <a:ext uri="{FF2B5EF4-FFF2-40B4-BE49-F238E27FC236}">
                <a16:creationId xmlns:a16="http://schemas.microsoft.com/office/drawing/2014/main" id="{8EF6C85A-A17A-D6EB-0FF2-7ECC8471E536}"/>
              </a:ext>
            </a:extLst>
          </p:cNvPr>
          <p:cNvSpPr txBox="1"/>
          <p:nvPr/>
        </p:nvSpPr>
        <p:spPr>
          <a:xfrm>
            <a:off x="222739" y="698330"/>
            <a:ext cx="11746522" cy="2677656"/>
          </a:xfrm>
          <a:prstGeom prst="rect">
            <a:avLst/>
          </a:prstGeom>
          <a:noFill/>
        </p:spPr>
        <p:txBody>
          <a:bodyPr wrap="square" rtlCol="0">
            <a:spAutoFit/>
          </a:bodyPr>
          <a:lstStyle/>
          <a:p>
            <a:pPr indent="266700" algn="just" fontAlgn="ctr">
              <a:lnSpc>
                <a:spcPct val="150000"/>
              </a:lnSpc>
            </a:pPr>
            <a:r>
              <a:rPr lang="en-US" altLang="zh-CN" sz="2800" b="1" dirty="0">
                <a:latin typeface="Times New Roman" pitchFamily="18" charset="0"/>
                <a:ea typeface="宋体" pitchFamily="2" charset="-122"/>
              </a:rPr>
              <a:t>3</a:t>
            </a:r>
            <a:r>
              <a:rPr lang="zh-CN" altLang="en-US" sz="2800" b="1" dirty="0">
                <a:latin typeface="Times New Roman" pitchFamily="18" charset="0"/>
                <a:ea typeface="宋体" pitchFamily="2" charset="-122"/>
              </a:rPr>
              <a:t>）扫描截平面控制</a:t>
            </a:r>
            <a:endParaRPr lang="en-US" altLang="zh-CN" sz="2800" b="1" dirty="0">
              <a:latin typeface="Times New Roman" pitchFamily="18" charset="0"/>
              <a:ea typeface="宋体" pitchFamily="2" charset="-122"/>
            </a:endParaRPr>
          </a:p>
          <a:p>
            <a:pPr indent="266700" algn="just" fontAlgn="ctr">
              <a:lnSpc>
                <a:spcPct val="150000"/>
              </a:lnSpc>
            </a:pP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恒定法向</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选项：扫描过程中截平面的</a:t>
            </a:r>
            <a:r>
              <a:rPr lang="en-US" altLang="zh-CN" sz="2800" dirty="0">
                <a:latin typeface="Times New Roman" pitchFamily="18" charset="0"/>
                <a:ea typeface="宋体" pitchFamily="2" charset="-122"/>
              </a:rPr>
              <a:t>Z</a:t>
            </a:r>
            <a:r>
              <a:rPr lang="zh-CN" altLang="en-US" sz="2800" dirty="0">
                <a:latin typeface="Times New Roman" pitchFamily="18" charset="0"/>
                <a:ea typeface="宋体" pitchFamily="2" charset="-122"/>
              </a:rPr>
              <a:t>方向总是指向某一个方向。选取该选项时，系统要求选取一个平面、轴、坐标轴或直图元来定义法向，且截平面的绘图原点落在原点轨迹上。</a:t>
            </a:r>
            <a:endParaRPr lang="en-US" altLang="zh-CN" sz="2800" dirty="0">
              <a:latin typeface="Times New Roman" pitchFamily="18" charset="0"/>
              <a:ea typeface="宋体" pitchFamily="2" charset="-122"/>
            </a:endParaRPr>
          </a:p>
        </p:txBody>
      </p:sp>
    </p:spTree>
    <p:extLst>
      <p:ext uri="{BB962C8B-B14F-4D97-AF65-F5344CB8AC3E}">
        <p14:creationId xmlns:p14="http://schemas.microsoft.com/office/powerpoint/2010/main" val="38199435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10748763-8C14-1EF8-4F8F-7D90D58220D5}"/>
              </a:ext>
            </a:extLst>
          </p:cNvPr>
          <p:cNvSpPr txBox="1"/>
          <p:nvPr/>
        </p:nvSpPr>
        <p:spPr>
          <a:xfrm>
            <a:off x="196235" y="446548"/>
            <a:ext cx="11746522" cy="5262979"/>
          </a:xfrm>
          <a:prstGeom prst="rect">
            <a:avLst/>
          </a:prstGeom>
          <a:noFill/>
        </p:spPr>
        <p:txBody>
          <a:bodyPr wrap="square" rtlCol="0">
            <a:spAutoFit/>
          </a:bodyPr>
          <a:lstStyle/>
          <a:p>
            <a:pPr indent="266700" algn="just" fontAlgn="ctr">
              <a:lnSpc>
                <a:spcPct val="150000"/>
              </a:lnSpc>
            </a:pPr>
            <a:r>
              <a:rPr lang="en-US" altLang="zh-CN" sz="2800" b="1" dirty="0">
                <a:latin typeface="Times New Roman" pitchFamily="18" charset="0"/>
                <a:ea typeface="宋体" pitchFamily="2" charset="-122"/>
              </a:rPr>
              <a:t>3. </a:t>
            </a:r>
            <a:r>
              <a:rPr lang="zh-CN" altLang="en-US" sz="2800" b="1" dirty="0">
                <a:latin typeface="Times New Roman" pitchFamily="18" charset="0"/>
                <a:ea typeface="宋体" pitchFamily="2" charset="-122"/>
              </a:rPr>
              <a:t>扫描轨迹及扫描截面的要求</a:t>
            </a:r>
            <a:endParaRPr lang="en-US" altLang="zh-CN" sz="2800" b="1" dirty="0">
              <a:latin typeface="Times New Roman" pitchFamily="18" charset="0"/>
              <a:ea typeface="宋体" pitchFamily="2" charset="-122"/>
            </a:endParaRPr>
          </a:p>
          <a:p>
            <a:pPr indent="266700" algn="just" fontAlgn="ctr">
              <a:lnSpc>
                <a:spcPct val="150000"/>
              </a:lnSpc>
            </a:pPr>
            <a:r>
              <a:rPr lang="en-US" altLang="zh-CN" sz="2800" dirty="0">
                <a:latin typeface="Times New Roman" pitchFamily="18" charset="0"/>
                <a:ea typeface="宋体" pitchFamily="2" charset="-122"/>
              </a:rPr>
              <a:t>1</a:t>
            </a:r>
            <a:r>
              <a:rPr lang="zh-CN" altLang="en-US" sz="2800" dirty="0">
                <a:latin typeface="Times New Roman" pitchFamily="18" charset="0"/>
                <a:ea typeface="宋体" pitchFamily="2" charset="-122"/>
              </a:rPr>
              <a:t>）扫描轨迹的要求</a:t>
            </a:r>
          </a:p>
          <a:p>
            <a:pPr indent="266700" algn="just" fontAlgn="ctr">
              <a:lnSpc>
                <a:spcPct val="150000"/>
              </a:lnSpc>
            </a:pPr>
            <a:r>
              <a:rPr lang="zh-CN" altLang="en-US" sz="2800" dirty="0">
                <a:latin typeface="Times New Roman" pitchFamily="18" charset="0"/>
                <a:ea typeface="宋体" pitchFamily="2" charset="-122"/>
              </a:rPr>
              <a:t>（</a:t>
            </a:r>
            <a:r>
              <a:rPr lang="en-US" altLang="zh-CN" sz="2800" dirty="0">
                <a:latin typeface="Times New Roman" pitchFamily="18" charset="0"/>
                <a:ea typeface="宋体" pitchFamily="2" charset="-122"/>
              </a:rPr>
              <a:t>1</a:t>
            </a:r>
            <a:r>
              <a:rPr lang="zh-CN" altLang="en-US" sz="2800" dirty="0">
                <a:latin typeface="Times New Roman" pitchFamily="18" charset="0"/>
                <a:ea typeface="宋体" pitchFamily="2" charset="-122"/>
              </a:rPr>
              <a:t>）扫描轨迹草图图元可封闭也可开放，但不能有交错情形。</a:t>
            </a:r>
          </a:p>
          <a:p>
            <a:pPr indent="266700" algn="just" fontAlgn="ctr">
              <a:lnSpc>
                <a:spcPct val="150000"/>
              </a:lnSpc>
            </a:pPr>
            <a:r>
              <a:rPr lang="zh-CN" altLang="en-US" sz="2800" dirty="0">
                <a:latin typeface="Times New Roman" pitchFamily="18" charset="0"/>
                <a:ea typeface="宋体" pitchFamily="2" charset="-122"/>
              </a:rPr>
              <a:t>（</a:t>
            </a:r>
            <a:r>
              <a:rPr lang="en-US" altLang="zh-CN" sz="2800" dirty="0">
                <a:latin typeface="Times New Roman" pitchFamily="18" charset="0"/>
                <a:ea typeface="宋体" pitchFamily="2" charset="-122"/>
              </a:rPr>
              <a:t>2</a:t>
            </a:r>
            <a:r>
              <a:rPr lang="zh-CN" altLang="en-US" sz="2800" dirty="0">
                <a:latin typeface="Times New Roman" pitchFamily="18" charset="0"/>
                <a:ea typeface="宋体" pitchFamily="2" charset="-122"/>
              </a:rPr>
              <a:t>）扫描轨迹可以是草绘的直线、圆弧、曲线或者三者的组合，也可以是已存在的基准曲线、模型边界。</a:t>
            </a:r>
          </a:p>
          <a:p>
            <a:pPr indent="266700" algn="just" fontAlgn="ctr">
              <a:lnSpc>
                <a:spcPct val="150000"/>
              </a:lnSpc>
            </a:pPr>
            <a:r>
              <a:rPr lang="zh-CN" altLang="en-US" sz="2800" dirty="0">
                <a:latin typeface="Times New Roman" pitchFamily="18" charset="0"/>
                <a:ea typeface="宋体" pitchFamily="2" charset="-122"/>
              </a:rPr>
              <a:t>（</a:t>
            </a:r>
            <a:r>
              <a:rPr lang="en-US" altLang="zh-CN" sz="2800" dirty="0">
                <a:latin typeface="Times New Roman" pitchFamily="18" charset="0"/>
                <a:ea typeface="宋体" pitchFamily="2" charset="-122"/>
              </a:rPr>
              <a:t>3</a:t>
            </a:r>
            <a:r>
              <a:rPr lang="zh-CN" altLang="en-US" sz="2800" dirty="0">
                <a:latin typeface="Times New Roman" pitchFamily="18" charset="0"/>
                <a:ea typeface="宋体" pitchFamily="2" charset="-122"/>
              </a:rPr>
              <a:t>）截面草图与轨迹截面之间的比例要恰当。比例不恰当通常会导致特征创建失败。若扫描轨迹曲率半径过小，草绘截面比较大，截面在扫描时会自我交错，从而导致扫描特征创建失败。</a:t>
            </a:r>
          </a:p>
        </p:txBody>
      </p:sp>
    </p:spTree>
    <p:extLst>
      <p:ext uri="{BB962C8B-B14F-4D97-AF65-F5344CB8AC3E}">
        <p14:creationId xmlns:p14="http://schemas.microsoft.com/office/powerpoint/2010/main" val="23689118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10748763-8C14-1EF8-4F8F-7D90D58220D5}"/>
              </a:ext>
            </a:extLst>
          </p:cNvPr>
          <p:cNvSpPr txBox="1"/>
          <p:nvPr/>
        </p:nvSpPr>
        <p:spPr>
          <a:xfrm>
            <a:off x="196235" y="446548"/>
            <a:ext cx="11746522" cy="4616648"/>
          </a:xfrm>
          <a:prstGeom prst="rect">
            <a:avLst/>
          </a:prstGeom>
          <a:noFill/>
        </p:spPr>
        <p:txBody>
          <a:bodyPr wrap="square" rtlCol="0">
            <a:spAutoFit/>
          </a:bodyPr>
          <a:lstStyle/>
          <a:p>
            <a:pPr indent="266700" algn="just" fontAlgn="ctr">
              <a:lnSpc>
                <a:spcPct val="150000"/>
              </a:lnSpc>
            </a:pPr>
            <a:r>
              <a:rPr lang="en-US" altLang="zh-CN" sz="2800" b="1" dirty="0">
                <a:latin typeface="Times New Roman" pitchFamily="18" charset="0"/>
                <a:ea typeface="宋体" pitchFamily="2" charset="-122"/>
              </a:rPr>
              <a:t>3. </a:t>
            </a:r>
            <a:r>
              <a:rPr lang="zh-CN" altLang="en-US" sz="2800" b="1" dirty="0">
                <a:latin typeface="Times New Roman" pitchFamily="18" charset="0"/>
                <a:ea typeface="宋体" pitchFamily="2" charset="-122"/>
              </a:rPr>
              <a:t>扫描轨迹及扫描截面的要求</a:t>
            </a:r>
            <a:endParaRPr lang="en-US" altLang="zh-CN" sz="2800" b="1" dirty="0">
              <a:latin typeface="Times New Roman" pitchFamily="18" charset="0"/>
              <a:ea typeface="宋体" pitchFamily="2" charset="-122"/>
            </a:endParaRPr>
          </a:p>
          <a:p>
            <a:pPr indent="266700" algn="just" fontAlgn="ctr">
              <a:lnSpc>
                <a:spcPct val="150000"/>
              </a:lnSpc>
            </a:pPr>
            <a:r>
              <a:rPr lang="en-US" altLang="zh-CN" sz="2800" dirty="0">
                <a:latin typeface="Times New Roman" pitchFamily="18" charset="0"/>
                <a:ea typeface="宋体" pitchFamily="2" charset="-122"/>
              </a:rPr>
              <a:t>2</a:t>
            </a:r>
            <a:r>
              <a:rPr lang="zh-CN" altLang="en-US" sz="2800" dirty="0">
                <a:latin typeface="Times New Roman" pitchFamily="18" charset="0"/>
                <a:ea typeface="宋体" pitchFamily="2" charset="-122"/>
              </a:rPr>
              <a:t>）扫描截面的要求</a:t>
            </a:r>
          </a:p>
          <a:p>
            <a:pPr indent="266700" algn="just" fontAlgn="ctr">
              <a:lnSpc>
                <a:spcPct val="150000"/>
              </a:lnSpc>
            </a:pPr>
            <a:r>
              <a:rPr lang="zh-CN" altLang="en-US" sz="2800" dirty="0">
                <a:latin typeface="Times New Roman" pitchFamily="18" charset="0"/>
                <a:ea typeface="宋体" pitchFamily="2" charset="-122"/>
              </a:rPr>
              <a:t>（</a:t>
            </a:r>
            <a:r>
              <a:rPr lang="en-US" altLang="zh-CN" sz="2800" dirty="0">
                <a:latin typeface="Times New Roman" pitchFamily="18" charset="0"/>
                <a:ea typeface="宋体" pitchFamily="2" charset="-122"/>
              </a:rPr>
              <a:t>1</a:t>
            </a:r>
            <a:r>
              <a:rPr lang="zh-CN" altLang="en-US" sz="2800" dirty="0">
                <a:latin typeface="Times New Roman" pitchFamily="18" charset="0"/>
                <a:ea typeface="宋体" pitchFamily="2" charset="-122"/>
              </a:rPr>
              <a:t>）扫描截面草图各图元可并行、嵌套，但不可自我交错。</a:t>
            </a:r>
          </a:p>
          <a:p>
            <a:pPr indent="266700" algn="just" fontAlgn="ctr">
              <a:lnSpc>
                <a:spcPct val="150000"/>
              </a:lnSpc>
            </a:pPr>
            <a:r>
              <a:rPr lang="zh-CN" altLang="en-US" sz="2800" dirty="0">
                <a:latin typeface="Times New Roman" pitchFamily="18" charset="0"/>
                <a:ea typeface="宋体" pitchFamily="2" charset="-122"/>
              </a:rPr>
              <a:t>（</a:t>
            </a:r>
            <a:r>
              <a:rPr lang="en-US" altLang="zh-CN" sz="2800" dirty="0">
                <a:latin typeface="Times New Roman" pitchFamily="18" charset="0"/>
                <a:ea typeface="宋体" pitchFamily="2" charset="-122"/>
              </a:rPr>
              <a:t>2</a:t>
            </a:r>
            <a:r>
              <a:rPr lang="zh-CN" altLang="en-US" sz="2800" dirty="0">
                <a:latin typeface="Times New Roman" pitchFamily="18" charset="0"/>
                <a:ea typeface="宋体" pitchFamily="2" charset="-122"/>
              </a:rPr>
              <a:t>）扫描实体时扫描截面必须封闭，扫描曲面和薄壳时扫描截面可开放也可封闭。</a:t>
            </a:r>
          </a:p>
          <a:p>
            <a:pPr indent="266700" algn="just" fontAlgn="ctr">
              <a:lnSpc>
                <a:spcPct val="150000"/>
              </a:lnSpc>
            </a:pPr>
            <a:r>
              <a:rPr lang="zh-CN" altLang="en-US" sz="2800" dirty="0">
                <a:latin typeface="Times New Roman" pitchFamily="18" charset="0"/>
                <a:ea typeface="宋体" pitchFamily="2" charset="-122"/>
              </a:rPr>
              <a:t>（</a:t>
            </a:r>
            <a:r>
              <a:rPr lang="en-US" altLang="zh-CN" sz="2800" dirty="0">
                <a:latin typeface="Times New Roman" pitchFamily="18" charset="0"/>
                <a:ea typeface="宋体" pitchFamily="2" charset="-122"/>
              </a:rPr>
              <a:t>3</a:t>
            </a:r>
            <a:r>
              <a:rPr lang="zh-CN" altLang="en-US" sz="2800" dirty="0">
                <a:latin typeface="Times New Roman" pitchFamily="18" charset="0"/>
                <a:ea typeface="宋体" pitchFamily="2" charset="-122"/>
              </a:rPr>
              <a:t>）系统会自动将截面草图的绘图平面定义为扫描轨迹的法向，并通过扫描轨迹的起点。</a:t>
            </a:r>
          </a:p>
        </p:txBody>
      </p:sp>
    </p:spTree>
    <p:extLst>
      <p:ext uri="{BB962C8B-B14F-4D97-AF65-F5344CB8AC3E}">
        <p14:creationId xmlns:p14="http://schemas.microsoft.com/office/powerpoint/2010/main" val="20406947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10748763-8C14-1EF8-4F8F-7D90D58220D5}"/>
              </a:ext>
            </a:extLst>
          </p:cNvPr>
          <p:cNvSpPr txBox="1"/>
          <p:nvPr/>
        </p:nvSpPr>
        <p:spPr>
          <a:xfrm>
            <a:off x="196235" y="446548"/>
            <a:ext cx="11746522" cy="5909310"/>
          </a:xfrm>
          <a:prstGeom prst="rect">
            <a:avLst/>
          </a:prstGeom>
          <a:noFill/>
        </p:spPr>
        <p:txBody>
          <a:bodyPr wrap="square" rtlCol="0">
            <a:spAutoFit/>
          </a:bodyPr>
          <a:lstStyle/>
          <a:p>
            <a:pPr indent="266700" algn="just" fontAlgn="ctr">
              <a:lnSpc>
                <a:spcPct val="150000"/>
              </a:lnSpc>
            </a:pPr>
            <a:r>
              <a:rPr lang="en-US" altLang="zh-CN" sz="2800" b="1" dirty="0">
                <a:latin typeface="Times New Roman" pitchFamily="18" charset="0"/>
                <a:ea typeface="宋体" pitchFamily="2" charset="-122"/>
              </a:rPr>
              <a:t>4</a:t>
            </a:r>
            <a:r>
              <a:rPr lang="zh-CN" altLang="en-US" sz="2800" b="1" dirty="0">
                <a:latin typeface="Times New Roman" pitchFamily="18" charset="0"/>
                <a:ea typeface="宋体" pitchFamily="2" charset="-122"/>
              </a:rPr>
              <a:t>．可变截面扫描特征</a:t>
            </a:r>
            <a:endParaRPr lang="en-US" altLang="zh-CN" sz="2800" b="1" dirty="0">
              <a:latin typeface="Times New Roman" pitchFamily="18" charset="0"/>
              <a:ea typeface="宋体" pitchFamily="2" charset="-122"/>
            </a:endParaRPr>
          </a:p>
          <a:p>
            <a:pPr indent="720000" algn="just" fontAlgn="ctr">
              <a:lnSpc>
                <a:spcPct val="150000"/>
              </a:lnSpc>
            </a:pPr>
            <a:r>
              <a:rPr lang="zh-CN" altLang="en-US" sz="2800" dirty="0">
                <a:latin typeface="Times New Roman" pitchFamily="18" charset="0"/>
                <a:ea typeface="宋体" pitchFamily="2" charset="-122"/>
              </a:rPr>
              <a:t>可变截面扫描特征的外形首先取决于扫描截面的形状，其次是扫描截面中各图元与轨迹之间的约束。</a:t>
            </a:r>
            <a:endParaRPr lang="en-US" altLang="zh-CN" sz="2800" dirty="0">
              <a:latin typeface="Times New Roman" pitchFamily="18" charset="0"/>
              <a:ea typeface="宋体" pitchFamily="2" charset="-122"/>
            </a:endParaRPr>
          </a:p>
          <a:p>
            <a:pPr indent="720000" algn="just" fontAlgn="ctr">
              <a:lnSpc>
                <a:spcPct val="150000"/>
              </a:lnSpc>
            </a:pPr>
            <a:r>
              <a:rPr lang="zh-CN" altLang="en-US" sz="2800" dirty="0">
                <a:latin typeface="Times New Roman" pitchFamily="18" charset="0"/>
                <a:ea typeface="宋体" pitchFamily="2" charset="-122"/>
              </a:rPr>
              <a:t>扫描截面的变化可以通过其他轨迹控制，也可以利用关系式或基准图形控制。可变截面扫描特征的创建常使用关系式搭配轨迹参数</a:t>
            </a:r>
            <a:r>
              <a:rPr lang="en-US" altLang="zh-CN" sz="2800" dirty="0" err="1">
                <a:latin typeface="Times New Roman" pitchFamily="18" charset="0"/>
                <a:ea typeface="宋体" pitchFamily="2" charset="-122"/>
              </a:rPr>
              <a:t>trajpar</a:t>
            </a:r>
            <a:r>
              <a:rPr lang="zh-CN" altLang="en-US" sz="2800" dirty="0">
                <a:latin typeface="Times New Roman" pitchFamily="18" charset="0"/>
                <a:ea typeface="宋体" pitchFamily="2" charset="-122"/>
              </a:rPr>
              <a:t>。轨迹参数</a:t>
            </a:r>
            <a:r>
              <a:rPr lang="en-US" altLang="zh-CN" sz="2800" dirty="0" err="1">
                <a:latin typeface="Times New Roman" pitchFamily="18" charset="0"/>
                <a:ea typeface="宋体" pitchFamily="2" charset="-122"/>
              </a:rPr>
              <a:t>trajpar</a:t>
            </a:r>
            <a:r>
              <a:rPr lang="zh-CN" altLang="en-US" sz="2800" dirty="0">
                <a:latin typeface="Times New Roman" pitchFamily="18" charset="0"/>
                <a:ea typeface="宋体" pitchFamily="2" charset="-122"/>
              </a:rPr>
              <a:t>是可变截面扫描特征的一个特有参数。轨迹参数实际上是扫描过程中扫描截面与原点轨迹的交点到扫描起点的距离占整个原点轨迹的比例值，其数值为</a:t>
            </a:r>
            <a:r>
              <a:rPr lang="en-US" altLang="zh-CN" sz="2800" dirty="0">
                <a:latin typeface="Times New Roman" pitchFamily="18" charset="0"/>
                <a:ea typeface="宋体" pitchFamily="2" charset="-122"/>
              </a:rPr>
              <a:t>0~1</a:t>
            </a:r>
            <a:r>
              <a:rPr lang="zh-CN" altLang="en-US" sz="2800" dirty="0">
                <a:latin typeface="Times New Roman" pitchFamily="18" charset="0"/>
                <a:ea typeface="宋体" pitchFamily="2" charset="-122"/>
              </a:rPr>
              <a:t>。用轨迹参数</a:t>
            </a:r>
            <a:r>
              <a:rPr lang="en-US" altLang="zh-CN" sz="2800" dirty="0" err="1">
                <a:latin typeface="Times New Roman" pitchFamily="18" charset="0"/>
                <a:ea typeface="宋体" pitchFamily="2" charset="-122"/>
              </a:rPr>
              <a:t>trajpar</a:t>
            </a:r>
            <a:r>
              <a:rPr lang="zh-CN" altLang="en-US" sz="2800" dirty="0">
                <a:latin typeface="Times New Roman" pitchFamily="18" charset="0"/>
                <a:ea typeface="宋体" pitchFamily="2" charset="-122"/>
              </a:rPr>
              <a:t>可以控制大小渐变、螺旋变化以及循环变化，从而可以得到各种各样的截面形状。</a:t>
            </a:r>
          </a:p>
        </p:txBody>
      </p:sp>
    </p:spTree>
    <p:extLst>
      <p:ext uri="{BB962C8B-B14F-4D97-AF65-F5344CB8AC3E}">
        <p14:creationId xmlns:p14="http://schemas.microsoft.com/office/powerpoint/2010/main" val="29649713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10748763-8C14-1EF8-4F8F-7D90D58220D5}"/>
              </a:ext>
            </a:extLst>
          </p:cNvPr>
          <p:cNvSpPr txBox="1"/>
          <p:nvPr/>
        </p:nvSpPr>
        <p:spPr>
          <a:xfrm>
            <a:off x="196235" y="446548"/>
            <a:ext cx="11746522" cy="738664"/>
          </a:xfrm>
          <a:prstGeom prst="rect">
            <a:avLst/>
          </a:prstGeom>
          <a:noFill/>
        </p:spPr>
        <p:txBody>
          <a:bodyPr wrap="square" rtlCol="0">
            <a:spAutoFit/>
          </a:bodyPr>
          <a:lstStyle/>
          <a:p>
            <a:pPr indent="266700" algn="just" fontAlgn="ctr">
              <a:lnSpc>
                <a:spcPct val="150000"/>
              </a:lnSpc>
            </a:pPr>
            <a:r>
              <a:rPr lang="en-US" altLang="zh-CN" sz="2800" b="1" dirty="0">
                <a:latin typeface="Times New Roman" pitchFamily="18" charset="0"/>
                <a:ea typeface="宋体" pitchFamily="2" charset="-122"/>
              </a:rPr>
              <a:t>5</a:t>
            </a:r>
            <a:r>
              <a:rPr lang="zh-CN" altLang="en-US" sz="2800" b="1" dirty="0">
                <a:latin typeface="Times New Roman" pitchFamily="18" charset="0"/>
                <a:ea typeface="宋体" pitchFamily="2" charset="-122"/>
              </a:rPr>
              <a:t>．扫描属性</a:t>
            </a:r>
            <a:endParaRPr lang="en-US" altLang="zh-CN" sz="2800" b="1" dirty="0">
              <a:latin typeface="Times New Roman" pitchFamily="18" charset="0"/>
              <a:ea typeface="宋体" pitchFamily="2" charset="-122"/>
            </a:endParaRPr>
          </a:p>
        </p:txBody>
      </p:sp>
      <p:pic>
        <p:nvPicPr>
          <p:cNvPr id="2" name="图片 1">
            <a:extLst>
              <a:ext uri="{FF2B5EF4-FFF2-40B4-BE49-F238E27FC236}">
                <a16:creationId xmlns:a16="http://schemas.microsoft.com/office/drawing/2014/main" id="{F814C70E-062A-9DF4-FF2F-8DE4AD1BE31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7135" y="1979754"/>
            <a:ext cx="3885684" cy="2898492"/>
          </a:xfrm>
          <a:prstGeom prst="rect">
            <a:avLst/>
          </a:prstGeom>
        </p:spPr>
      </p:pic>
      <p:pic>
        <p:nvPicPr>
          <p:cNvPr id="4" name="图片 3">
            <a:extLst>
              <a:ext uri="{FF2B5EF4-FFF2-40B4-BE49-F238E27FC236}">
                <a16:creationId xmlns:a16="http://schemas.microsoft.com/office/drawing/2014/main" id="{D45EA8E5-F3DC-6AF7-EF27-02944C3351A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68280" y="1979752"/>
            <a:ext cx="3798728" cy="2898491"/>
          </a:xfrm>
          <a:prstGeom prst="rect">
            <a:avLst/>
          </a:prstGeom>
        </p:spPr>
      </p:pic>
      <p:sp>
        <p:nvSpPr>
          <p:cNvPr id="5" name="TextBox 6">
            <a:extLst>
              <a:ext uri="{FF2B5EF4-FFF2-40B4-BE49-F238E27FC236}">
                <a16:creationId xmlns:a16="http://schemas.microsoft.com/office/drawing/2014/main" id="{FC91F8B9-5799-EA39-2ECD-41DF40449362}"/>
              </a:ext>
            </a:extLst>
          </p:cNvPr>
          <p:cNvSpPr txBox="1"/>
          <p:nvPr/>
        </p:nvSpPr>
        <p:spPr>
          <a:xfrm>
            <a:off x="1904806" y="4976475"/>
            <a:ext cx="2505814"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3-34 【</a:t>
            </a:r>
            <a:r>
              <a:rPr lang="zh-CN" altLang="en-US" dirty="0">
                <a:ea typeface="黑体"/>
                <a:cs typeface="Times New Roman"/>
              </a:rPr>
              <a:t>自由端</a:t>
            </a:r>
            <a:r>
              <a:rPr lang="en-US" altLang="zh-CN" dirty="0">
                <a:ea typeface="黑体"/>
                <a:cs typeface="Times New Roman"/>
              </a:rPr>
              <a:t>】</a:t>
            </a:r>
            <a:r>
              <a:rPr lang="zh-CN" altLang="en-US" dirty="0">
                <a:ea typeface="黑体"/>
                <a:cs typeface="Times New Roman"/>
              </a:rPr>
              <a:t>属性</a:t>
            </a:r>
            <a:endParaRPr lang="zh-CN" altLang="en-US" dirty="0"/>
          </a:p>
        </p:txBody>
      </p:sp>
      <p:sp>
        <p:nvSpPr>
          <p:cNvPr id="6" name="TextBox 6">
            <a:extLst>
              <a:ext uri="{FF2B5EF4-FFF2-40B4-BE49-F238E27FC236}">
                <a16:creationId xmlns:a16="http://schemas.microsoft.com/office/drawing/2014/main" id="{812A149F-2B20-D5B3-E694-BA2BDCB8A60F}"/>
              </a:ext>
            </a:extLst>
          </p:cNvPr>
          <p:cNvSpPr txBox="1"/>
          <p:nvPr/>
        </p:nvSpPr>
        <p:spPr>
          <a:xfrm>
            <a:off x="7530355" y="4963223"/>
            <a:ext cx="2505814"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3-35 【</a:t>
            </a:r>
            <a:r>
              <a:rPr lang="zh-CN" altLang="en-US" dirty="0">
                <a:ea typeface="黑体"/>
                <a:cs typeface="Times New Roman"/>
              </a:rPr>
              <a:t>合并端</a:t>
            </a:r>
            <a:r>
              <a:rPr lang="en-US" altLang="zh-CN" dirty="0">
                <a:ea typeface="黑体"/>
                <a:cs typeface="Times New Roman"/>
              </a:rPr>
              <a:t>】</a:t>
            </a:r>
            <a:r>
              <a:rPr lang="zh-CN" altLang="en-US" dirty="0">
                <a:ea typeface="黑体"/>
                <a:cs typeface="Times New Roman"/>
              </a:rPr>
              <a:t>属性</a:t>
            </a:r>
            <a:endParaRPr lang="zh-CN" altLang="en-US" dirty="0"/>
          </a:p>
        </p:txBody>
      </p:sp>
    </p:spTree>
    <p:extLst>
      <p:ext uri="{BB962C8B-B14F-4D97-AF65-F5344CB8AC3E}">
        <p14:creationId xmlns:p14="http://schemas.microsoft.com/office/powerpoint/2010/main" val="35504527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6">
            <a:extLst>
              <a:ext uri="{FF2B5EF4-FFF2-40B4-BE49-F238E27FC236}">
                <a16:creationId xmlns:a16="http://schemas.microsoft.com/office/drawing/2014/main" id="{FC91F8B9-5799-EA39-2ECD-41DF40449362}"/>
              </a:ext>
            </a:extLst>
          </p:cNvPr>
          <p:cNvSpPr txBox="1"/>
          <p:nvPr/>
        </p:nvSpPr>
        <p:spPr>
          <a:xfrm>
            <a:off x="1904806" y="4976475"/>
            <a:ext cx="2505814"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3-36 【</a:t>
            </a:r>
            <a:r>
              <a:rPr lang="zh-CN" altLang="en-US" dirty="0">
                <a:ea typeface="黑体"/>
                <a:cs typeface="Times New Roman"/>
              </a:rPr>
              <a:t>开放端</a:t>
            </a:r>
            <a:r>
              <a:rPr lang="en-US" altLang="zh-CN" dirty="0">
                <a:ea typeface="黑体"/>
                <a:cs typeface="Times New Roman"/>
              </a:rPr>
              <a:t>】</a:t>
            </a:r>
            <a:r>
              <a:rPr lang="zh-CN" altLang="en-US" dirty="0">
                <a:ea typeface="黑体"/>
                <a:cs typeface="Times New Roman"/>
              </a:rPr>
              <a:t>属性</a:t>
            </a:r>
            <a:endParaRPr lang="zh-CN" altLang="en-US" dirty="0"/>
          </a:p>
        </p:txBody>
      </p:sp>
      <p:sp>
        <p:nvSpPr>
          <p:cNvPr id="6" name="TextBox 6">
            <a:extLst>
              <a:ext uri="{FF2B5EF4-FFF2-40B4-BE49-F238E27FC236}">
                <a16:creationId xmlns:a16="http://schemas.microsoft.com/office/drawing/2014/main" id="{812A149F-2B20-D5B3-E694-BA2BDCB8A60F}"/>
              </a:ext>
            </a:extLst>
          </p:cNvPr>
          <p:cNvSpPr txBox="1"/>
          <p:nvPr/>
        </p:nvSpPr>
        <p:spPr>
          <a:xfrm>
            <a:off x="7530355" y="4963223"/>
            <a:ext cx="2505814"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3-37 【</a:t>
            </a:r>
            <a:r>
              <a:rPr lang="zh-CN" altLang="en-US" dirty="0">
                <a:ea typeface="黑体"/>
                <a:cs typeface="Times New Roman"/>
              </a:rPr>
              <a:t>封闭端</a:t>
            </a:r>
            <a:r>
              <a:rPr lang="en-US" altLang="zh-CN" dirty="0">
                <a:ea typeface="黑体"/>
                <a:cs typeface="Times New Roman"/>
              </a:rPr>
              <a:t>】</a:t>
            </a:r>
            <a:r>
              <a:rPr lang="zh-CN" altLang="en-US" dirty="0">
                <a:ea typeface="黑体"/>
                <a:cs typeface="Times New Roman"/>
              </a:rPr>
              <a:t>属性</a:t>
            </a:r>
            <a:endParaRPr lang="zh-CN" altLang="en-US" dirty="0"/>
          </a:p>
        </p:txBody>
      </p:sp>
      <p:pic>
        <p:nvPicPr>
          <p:cNvPr id="7" name="图片 6">
            <a:extLst>
              <a:ext uri="{FF2B5EF4-FFF2-40B4-BE49-F238E27FC236}">
                <a16:creationId xmlns:a16="http://schemas.microsoft.com/office/drawing/2014/main" id="{035E9A87-CE1A-6EDB-F359-4E09A3F9BD6D}"/>
              </a:ext>
            </a:extLst>
          </p:cNvPr>
          <p:cNvPicPr>
            <a:picLocks noChangeAspect="1"/>
          </p:cNvPicPr>
          <p:nvPr/>
        </p:nvPicPr>
        <p:blipFill rotWithShape="1">
          <a:blip r:embed="rId2">
            <a:extLst>
              <a:ext uri="{28A0092B-C50C-407E-A947-70E740481C1C}">
                <a14:useLocalDpi xmlns:a14="http://schemas.microsoft.com/office/drawing/2010/main" val="0"/>
              </a:ext>
            </a:extLst>
          </a:blip>
          <a:srcRect l="5820" t="9058" r="7965" b="7610"/>
          <a:stretch/>
        </p:blipFill>
        <p:spPr bwMode="auto">
          <a:xfrm>
            <a:off x="1458585" y="1638840"/>
            <a:ext cx="3398255" cy="3297879"/>
          </a:xfrm>
          <a:prstGeom prst="rect">
            <a:avLst/>
          </a:prstGeom>
          <a:ln>
            <a:noFill/>
          </a:ln>
          <a:extLst>
            <a:ext uri="{53640926-AAD7-44D8-BBD7-CCE9431645EC}">
              <a14:shadowObscured xmlns:a14="http://schemas.microsoft.com/office/drawing/2010/main"/>
            </a:ext>
          </a:extLst>
        </p:spPr>
      </p:pic>
      <p:pic>
        <p:nvPicPr>
          <p:cNvPr id="8" name="图片 7">
            <a:extLst>
              <a:ext uri="{FF2B5EF4-FFF2-40B4-BE49-F238E27FC236}">
                <a16:creationId xmlns:a16="http://schemas.microsoft.com/office/drawing/2014/main" id="{5C0D6000-9095-E6F9-9DAA-5E3C8B4001C2}"/>
              </a:ext>
            </a:extLst>
          </p:cNvPr>
          <p:cNvPicPr>
            <a:picLocks noChangeAspect="1"/>
          </p:cNvPicPr>
          <p:nvPr/>
        </p:nvPicPr>
        <p:blipFill rotWithShape="1">
          <a:blip r:embed="rId3">
            <a:extLst>
              <a:ext uri="{28A0092B-C50C-407E-A947-70E740481C1C}">
                <a14:useLocalDpi xmlns:a14="http://schemas.microsoft.com/office/drawing/2010/main" val="0"/>
              </a:ext>
            </a:extLst>
          </a:blip>
          <a:srcRect l="9353" t="9739" r="8633" b="6730"/>
          <a:stretch/>
        </p:blipFill>
        <p:spPr bwMode="auto">
          <a:xfrm>
            <a:off x="6869986" y="1665344"/>
            <a:ext cx="3328032" cy="325480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2014445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10748763-8C14-1EF8-4F8F-7D90D58220D5}"/>
              </a:ext>
            </a:extLst>
          </p:cNvPr>
          <p:cNvSpPr txBox="1"/>
          <p:nvPr/>
        </p:nvSpPr>
        <p:spPr>
          <a:xfrm>
            <a:off x="196235" y="446548"/>
            <a:ext cx="11746522" cy="2031325"/>
          </a:xfrm>
          <a:prstGeom prst="rect">
            <a:avLst/>
          </a:prstGeom>
          <a:noFill/>
        </p:spPr>
        <p:txBody>
          <a:bodyPr wrap="square" rtlCol="0">
            <a:spAutoFit/>
          </a:bodyPr>
          <a:lstStyle/>
          <a:p>
            <a:pPr indent="266700" algn="just" fontAlgn="ctr">
              <a:lnSpc>
                <a:spcPct val="150000"/>
              </a:lnSpc>
            </a:pPr>
            <a:r>
              <a:rPr lang="zh-CN" altLang="en-US" sz="2800" b="1" dirty="0">
                <a:latin typeface="Times New Roman" pitchFamily="18" charset="0"/>
                <a:ea typeface="宋体" pitchFamily="2" charset="-122"/>
              </a:rPr>
              <a:t>恒定截面扫描实例</a:t>
            </a:r>
            <a:endParaRPr lang="en-US" altLang="zh-CN" sz="2800" b="1" dirty="0">
              <a:latin typeface="Times New Roman" pitchFamily="18" charset="0"/>
              <a:ea typeface="宋体" pitchFamily="2" charset="-122"/>
            </a:endParaRPr>
          </a:p>
          <a:p>
            <a:pPr indent="266700" algn="just" fontAlgn="ctr">
              <a:lnSpc>
                <a:spcPct val="150000"/>
              </a:lnSpc>
            </a:pPr>
            <a:r>
              <a:rPr lang="en-US" altLang="zh-CN" sz="2800" dirty="0">
                <a:latin typeface="Times New Roman" pitchFamily="18" charset="0"/>
                <a:ea typeface="宋体" pitchFamily="2" charset="-122"/>
              </a:rPr>
              <a:t>1.</a:t>
            </a:r>
            <a:r>
              <a:rPr lang="zh-CN" altLang="en-US" sz="2800" dirty="0">
                <a:latin typeface="Times New Roman" pitchFamily="18" charset="0"/>
                <a:ea typeface="宋体" pitchFamily="2" charset="-122"/>
              </a:rPr>
              <a:t>新建文件</a:t>
            </a:r>
            <a:endParaRPr lang="en-US" altLang="zh-CN" sz="2800" dirty="0">
              <a:latin typeface="Times New Roman" pitchFamily="18" charset="0"/>
              <a:ea typeface="宋体" pitchFamily="2" charset="-122"/>
            </a:endParaRPr>
          </a:p>
          <a:p>
            <a:pPr indent="266700" algn="just" fontAlgn="ctr">
              <a:lnSpc>
                <a:spcPct val="150000"/>
              </a:lnSpc>
            </a:pPr>
            <a:r>
              <a:rPr lang="en-US" altLang="zh-CN" sz="2800" dirty="0">
                <a:latin typeface="Times New Roman" pitchFamily="18" charset="0"/>
                <a:ea typeface="宋体" pitchFamily="2" charset="-122"/>
              </a:rPr>
              <a:t>2.</a:t>
            </a:r>
            <a:r>
              <a:rPr lang="zh-CN" altLang="en-US" sz="2800" dirty="0">
                <a:latin typeface="Times New Roman" pitchFamily="18" charset="0"/>
                <a:ea typeface="宋体" pitchFamily="2" charset="-122"/>
              </a:rPr>
              <a:t>草绘创建扫描轨迹</a:t>
            </a:r>
            <a:endParaRPr lang="en-US" altLang="zh-CN" sz="2800" dirty="0">
              <a:latin typeface="Times New Roman" pitchFamily="18" charset="0"/>
              <a:ea typeface="宋体" pitchFamily="2" charset="-122"/>
            </a:endParaRPr>
          </a:p>
        </p:txBody>
      </p:sp>
      <p:sp>
        <p:nvSpPr>
          <p:cNvPr id="5" name="TextBox 6">
            <a:extLst>
              <a:ext uri="{FF2B5EF4-FFF2-40B4-BE49-F238E27FC236}">
                <a16:creationId xmlns:a16="http://schemas.microsoft.com/office/drawing/2014/main" id="{FC91F8B9-5799-EA39-2ECD-41DF40449362}"/>
              </a:ext>
            </a:extLst>
          </p:cNvPr>
          <p:cNvSpPr txBox="1"/>
          <p:nvPr/>
        </p:nvSpPr>
        <p:spPr>
          <a:xfrm>
            <a:off x="4958509" y="5862771"/>
            <a:ext cx="2274982"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3-38 </a:t>
            </a:r>
            <a:r>
              <a:rPr lang="zh-CN" altLang="en-US" dirty="0">
                <a:ea typeface="黑体"/>
                <a:cs typeface="Times New Roman"/>
              </a:rPr>
              <a:t>绘制扫描轨迹</a:t>
            </a:r>
            <a:endParaRPr lang="zh-CN" altLang="en-US" dirty="0"/>
          </a:p>
        </p:txBody>
      </p:sp>
      <p:pic>
        <p:nvPicPr>
          <p:cNvPr id="7" name="图片 6">
            <a:extLst>
              <a:ext uri="{FF2B5EF4-FFF2-40B4-BE49-F238E27FC236}">
                <a16:creationId xmlns:a16="http://schemas.microsoft.com/office/drawing/2014/main" id="{FAD7D91A-B126-0598-BBA0-2C79887C6F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22545" y="2551037"/>
            <a:ext cx="6746911" cy="3238570"/>
          </a:xfrm>
          <a:prstGeom prst="rect">
            <a:avLst/>
          </a:prstGeom>
        </p:spPr>
      </p:pic>
    </p:spTree>
    <p:extLst>
      <p:ext uri="{BB962C8B-B14F-4D97-AF65-F5344CB8AC3E}">
        <p14:creationId xmlns:p14="http://schemas.microsoft.com/office/powerpoint/2010/main" val="25489065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10748763-8C14-1EF8-4F8F-7D90D58220D5}"/>
              </a:ext>
            </a:extLst>
          </p:cNvPr>
          <p:cNvSpPr txBox="1"/>
          <p:nvPr/>
        </p:nvSpPr>
        <p:spPr>
          <a:xfrm>
            <a:off x="196235" y="446548"/>
            <a:ext cx="11746522" cy="738664"/>
          </a:xfrm>
          <a:prstGeom prst="rect">
            <a:avLst/>
          </a:prstGeom>
          <a:noFill/>
        </p:spPr>
        <p:txBody>
          <a:bodyPr wrap="square" rtlCol="0">
            <a:spAutoFit/>
          </a:bodyPr>
          <a:lstStyle/>
          <a:p>
            <a:pPr indent="266700" algn="just" fontAlgn="ctr">
              <a:lnSpc>
                <a:spcPct val="150000"/>
              </a:lnSpc>
            </a:pPr>
            <a:r>
              <a:rPr lang="en-US" altLang="zh-CN" sz="2800" dirty="0">
                <a:latin typeface="Times New Roman" pitchFamily="18" charset="0"/>
                <a:ea typeface="宋体" pitchFamily="2" charset="-122"/>
              </a:rPr>
              <a:t>3.</a:t>
            </a:r>
            <a:r>
              <a:rPr lang="zh-CN" altLang="en-US" sz="2800" dirty="0">
                <a:latin typeface="Times New Roman" pitchFamily="18" charset="0"/>
                <a:ea typeface="宋体" pitchFamily="2" charset="-122"/>
              </a:rPr>
              <a:t>创建</a:t>
            </a:r>
            <a:r>
              <a:rPr lang="en-US" altLang="zh-CN" sz="2800" dirty="0">
                <a:latin typeface="Times New Roman" pitchFamily="18" charset="0"/>
                <a:ea typeface="宋体" pitchFamily="2" charset="-122"/>
              </a:rPr>
              <a:t>L</a:t>
            </a:r>
            <a:r>
              <a:rPr lang="zh-CN" altLang="en-US" sz="2800" dirty="0">
                <a:latin typeface="Times New Roman" pitchFamily="18" charset="0"/>
                <a:ea typeface="宋体" pitchFamily="2" charset="-122"/>
              </a:rPr>
              <a:t>型内六角扳手</a:t>
            </a:r>
            <a:endParaRPr lang="en-US" altLang="zh-CN" sz="2800" dirty="0">
              <a:latin typeface="Times New Roman" pitchFamily="18" charset="0"/>
              <a:ea typeface="宋体" pitchFamily="2" charset="-122"/>
            </a:endParaRPr>
          </a:p>
        </p:txBody>
      </p:sp>
      <p:sp>
        <p:nvSpPr>
          <p:cNvPr id="5" name="TextBox 6">
            <a:extLst>
              <a:ext uri="{FF2B5EF4-FFF2-40B4-BE49-F238E27FC236}">
                <a16:creationId xmlns:a16="http://schemas.microsoft.com/office/drawing/2014/main" id="{FC91F8B9-5799-EA39-2ECD-41DF40449362}"/>
              </a:ext>
            </a:extLst>
          </p:cNvPr>
          <p:cNvSpPr txBox="1"/>
          <p:nvPr/>
        </p:nvSpPr>
        <p:spPr>
          <a:xfrm>
            <a:off x="1942558" y="5836267"/>
            <a:ext cx="1813317"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3-39 </a:t>
            </a:r>
            <a:r>
              <a:rPr lang="zh-CN" altLang="en-US" dirty="0">
                <a:ea typeface="黑体"/>
                <a:cs typeface="Times New Roman"/>
              </a:rPr>
              <a:t>草绘截面</a:t>
            </a:r>
            <a:endParaRPr lang="zh-CN" altLang="en-US" dirty="0"/>
          </a:p>
        </p:txBody>
      </p:sp>
      <p:pic>
        <p:nvPicPr>
          <p:cNvPr id="2" name="图片 1">
            <a:extLst>
              <a:ext uri="{FF2B5EF4-FFF2-40B4-BE49-F238E27FC236}">
                <a16:creationId xmlns:a16="http://schemas.microsoft.com/office/drawing/2014/main" id="{08794EFF-7FEE-3F5A-E013-30BB42F909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504" y="1185211"/>
            <a:ext cx="5128798" cy="4526475"/>
          </a:xfrm>
          <a:prstGeom prst="rect">
            <a:avLst/>
          </a:prstGeom>
        </p:spPr>
      </p:pic>
      <p:pic>
        <p:nvPicPr>
          <p:cNvPr id="4" name="图片 3">
            <a:extLst>
              <a:ext uri="{FF2B5EF4-FFF2-40B4-BE49-F238E27FC236}">
                <a16:creationId xmlns:a16="http://schemas.microsoft.com/office/drawing/2014/main" id="{DDB0DE0E-2C81-FF84-054D-3ED49AFF94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0621" y="1616766"/>
            <a:ext cx="5525420" cy="3538330"/>
          </a:xfrm>
          <a:prstGeom prst="rect">
            <a:avLst/>
          </a:prstGeom>
        </p:spPr>
      </p:pic>
      <p:sp>
        <p:nvSpPr>
          <p:cNvPr id="6" name="TextBox 6">
            <a:extLst>
              <a:ext uri="{FF2B5EF4-FFF2-40B4-BE49-F238E27FC236}">
                <a16:creationId xmlns:a16="http://schemas.microsoft.com/office/drawing/2014/main" id="{E567A651-233F-2019-B9A8-3DA24231A958}"/>
              </a:ext>
            </a:extLst>
          </p:cNvPr>
          <p:cNvSpPr txBox="1"/>
          <p:nvPr/>
        </p:nvSpPr>
        <p:spPr>
          <a:xfrm>
            <a:off x="7343552" y="5833223"/>
            <a:ext cx="3296095"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3-40 </a:t>
            </a:r>
            <a:r>
              <a:rPr lang="zh-CN" altLang="en-US" dirty="0">
                <a:ea typeface="黑体"/>
                <a:cs typeface="Times New Roman"/>
              </a:rPr>
              <a:t>扫描生成</a:t>
            </a:r>
            <a:r>
              <a:rPr lang="en-US" altLang="zh-CN" dirty="0">
                <a:ea typeface="黑体"/>
                <a:cs typeface="Times New Roman"/>
              </a:rPr>
              <a:t>L</a:t>
            </a:r>
            <a:r>
              <a:rPr lang="zh-CN" altLang="en-US" dirty="0">
                <a:ea typeface="黑体"/>
                <a:cs typeface="Times New Roman"/>
              </a:rPr>
              <a:t>型内六角扳手</a:t>
            </a:r>
            <a:endParaRPr lang="zh-CN" altLang="en-US" dirty="0"/>
          </a:p>
        </p:txBody>
      </p:sp>
    </p:spTree>
    <p:extLst>
      <p:ext uri="{BB962C8B-B14F-4D97-AF65-F5344CB8AC3E}">
        <p14:creationId xmlns:p14="http://schemas.microsoft.com/office/powerpoint/2010/main" val="38579641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10748763-8C14-1EF8-4F8F-7D90D58220D5}"/>
              </a:ext>
            </a:extLst>
          </p:cNvPr>
          <p:cNvSpPr txBox="1"/>
          <p:nvPr/>
        </p:nvSpPr>
        <p:spPr>
          <a:xfrm>
            <a:off x="196235" y="208012"/>
            <a:ext cx="11746522" cy="2031325"/>
          </a:xfrm>
          <a:prstGeom prst="rect">
            <a:avLst/>
          </a:prstGeom>
          <a:noFill/>
        </p:spPr>
        <p:txBody>
          <a:bodyPr wrap="square" rtlCol="0">
            <a:spAutoFit/>
          </a:bodyPr>
          <a:lstStyle/>
          <a:p>
            <a:pPr indent="266700" algn="just" fontAlgn="ctr">
              <a:lnSpc>
                <a:spcPct val="150000"/>
              </a:lnSpc>
            </a:pPr>
            <a:r>
              <a:rPr lang="zh-CN" altLang="en-US" sz="2800" b="1" dirty="0">
                <a:latin typeface="Times New Roman" pitchFamily="18" charset="0"/>
                <a:ea typeface="宋体" pitchFamily="2" charset="-122"/>
              </a:rPr>
              <a:t>可变截面扫描实例</a:t>
            </a:r>
            <a:r>
              <a:rPr lang="en-US" altLang="zh-CN" sz="2800" b="1" dirty="0">
                <a:latin typeface="Times New Roman" pitchFamily="18" charset="0"/>
                <a:ea typeface="宋体" pitchFamily="2" charset="-122"/>
              </a:rPr>
              <a:t>1</a:t>
            </a:r>
          </a:p>
          <a:p>
            <a:pPr indent="266700" algn="just" fontAlgn="ctr">
              <a:lnSpc>
                <a:spcPct val="150000"/>
              </a:lnSpc>
            </a:pPr>
            <a:r>
              <a:rPr lang="en-US" altLang="zh-CN" sz="2800" dirty="0">
                <a:latin typeface="Times New Roman" pitchFamily="18" charset="0"/>
                <a:ea typeface="宋体" pitchFamily="2" charset="-122"/>
              </a:rPr>
              <a:t>1</a:t>
            </a:r>
            <a:r>
              <a:rPr lang="zh-CN" altLang="en-US" sz="2800" dirty="0">
                <a:latin typeface="Times New Roman" pitchFamily="18" charset="0"/>
                <a:ea typeface="宋体" pitchFamily="2" charset="-122"/>
              </a:rPr>
              <a:t>）新建文件</a:t>
            </a:r>
            <a:endParaRPr lang="en-US" altLang="zh-CN" sz="2800" dirty="0">
              <a:latin typeface="Times New Roman" pitchFamily="18" charset="0"/>
              <a:ea typeface="宋体" pitchFamily="2" charset="-122"/>
            </a:endParaRPr>
          </a:p>
          <a:p>
            <a:pPr indent="266700" algn="just" fontAlgn="ctr">
              <a:lnSpc>
                <a:spcPct val="150000"/>
              </a:lnSpc>
            </a:pPr>
            <a:r>
              <a:rPr lang="en-US" altLang="zh-CN" sz="2800" dirty="0">
                <a:latin typeface="Times New Roman" pitchFamily="18" charset="0"/>
                <a:ea typeface="宋体" pitchFamily="2" charset="-122"/>
              </a:rPr>
              <a:t>2</a:t>
            </a:r>
            <a:r>
              <a:rPr lang="zh-CN" altLang="en-US" sz="2800" dirty="0">
                <a:latin typeface="Times New Roman" pitchFamily="18" charset="0"/>
                <a:ea typeface="宋体" pitchFamily="2" charset="-122"/>
              </a:rPr>
              <a:t>）草绘扫描轨迹</a:t>
            </a:r>
            <a:endParaRPr lang="en-US" altLang="zh-CN" sz="2800" dirty="0">
              <a:latin typeface="Times New Roman" pitchFamily="18" charset="0"/>
              <a:ea typeface="宋体" pitchFamily="2" charset="-122"/>
            </a:endParaRPr>
          </a:p>
        </p:txBody>
      </p:sp>
      <p:sp>
        <p:nvSpPr>
          <p:cNvPr id="5" name="TextBox 6">
            <a:extLst>
              <a:ext uri="{FF2B5EF4-FFF2-40B4-BE49-F238E27FC236}">
                <a16:creationId xmlns:a16="http://schemas.microsoft.com/office/drawing/2014/main" id="{FC91F8B9-5799-EA39-2ECD-41DF40449362}"/>
              </a:ext>
            </a:extLst>
          </p:cNvPr>
          <p:cNvSpPr txBox="1"/>
          <p:nvPr/>
        </p:nvSpPr>
        <p:spPr>
          <a:xfrm>
            <a:off x="1526239" y="6088055"/>
            <a:ext cx="1930337"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3-41 </a:t>
            </a:r>
            <a:r>
              <a:rPr lang="zh-CN" altLang="en-US" dirty="0">
                <a:ea typeface="黑体"/>
                <a:cs typeface="Times New Roman"/>
              </a:rPr>
              <a:t>草绘曲线</a:t>
            </a:r>
            <a:r>
              <a:rPr lang="en-US" altLang="zh-CN" dirty="0">
                <a:ea typeface="黑体"/>
                <a:cs typeface="Times New Roman"/>
              </a:rPr>
              <a:t>1</a:t>
            </a:r>
            <a:endParaRPr lang="zh-CN" altLang="en-US" dirty="0"/>
          </a:p>
        </p:txBody>
      </p:sp>
      <p:pic>
        <p:nvPicPr>
          <p:cNvPr id="2" name="图片 1">
            <a:extLst>
              <a:ext uri="{FF2B5EF4-FFF2-40B4-BE49-F238E27FC236}">
                <a16:creationId xmlns:a16="http://schemas.microsoft.com/office/drawing/2014/main" id="{09F44F03-0EE6-56D3-BC74-BC1EBF2067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840" y="2217678"/>
            <a:ext cx="4135534" cy="3870377"/>
          </a:xfrm>
          <a:prstGeom prst="rect">
            <a:avLst/>
          </a:prstGeom>
        </p:spPr>
      </p:pic>
      <p:pic>
        <p:nvPicPr>
          <p:cNvPr id="4" name="图片 3">
            <a:extLst>
              <a:ext uri="{FF2B5EF4-FFF2-40B4-BE49-F238E27FC236}">
                <a16:creationId xmlns:a16="http://schemas.microsoft.com/office/drawing/2014/main" id="{DE440CDF-92E4-A86F-C5D3-11E1972E3C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13278" y="2067339"/>
            <a:ext cx="4470409" cy="3864734"/>
          </a:xfrm>
          <a:prstGeom prst="rect">
            <a:avLst/>
          </a:prstGeom>
        </p:spPr>
      </p:pic>
      <p:sp>
        <p:nvSpPr>
          <p:cNvPr id="6" name="TextBox 6">
            <a:extLst>
              <a:ext uri="{FF2B5EF4-FFF2-40B4-BE49-F238E27FC236}">
                <a16:creationId xmlns:a16="http://schemas.microsoft.com/office/drawing/2014/main" id="{DD60BD46-50FE-CA16-4CAD-A043D204563B}"/>
              </a:ext>
            </a:extLst>
          </p:cNvPr>
          <p:cNvSpPr txBox="1"/>
          <p:nvPr/>
        </p:nvSpPr>
        <p:spPr>
          <a:xfrm>
            <a:off x="7083313" y="6088055"/>
            <a:ext cx="1930337"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3-42 </a:t>
            </a:r>
            <a:r>
              <a:rPr lang="zh-CN" altLang="en-US" dirty="0">
                <a:ea typeface="黑体"/>
                <a:cs typeface="Times New Roman"/>
              </a:rPr>
              <a:t>草绘曲线</a:t>
            </a:r>
            <a:r>
              <a:rPr lang="en-US" altLang="zh-CN" dirty="0">
                <a:ea typeface="黑体"/>
                <a:cs typeface="Times New Roman"/>
              </a:rPr>
              <a:t>2</a:t>
            </a:r>
            <a:endParaRPr lang="zh-CN" altLang="en-US" dirty="0"/>
          </a:p>
        </p:txBody>
      </p:sp>
    </p:spTree>
    <p:extLst>
      <p:ext uri="{BB962C8B-B14F-4D97-AF65-F5344CB8AC3E}">
        <p14:creationId xmlns:p14="http://schemas.microsoft.com/office/powerpoint/2010/main" val="42412317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10748763-8C14-1EF8-4F8F-7D90D58220D5}"/>
              </a:ext>
            </a:extLst>
          </p:cNvPr>
          <p:cNvSpPr txBox="1"/>
          <p:nvPr/>
        </p:nvSpPr>
        <p:spPr>
          <a:xfrm>
            <a:off x="222739" y="339445"/>
            <a:ext cx="11746522" cy="738664"/>
          </a:xfrm>
          <a:prstGeom prst="rect">
            <a:avLst/>
          </a:prstGeom>
          <a:noFill/>
        </p:spPr>
        <p:txBody>
          <a:bodyPr wrap="square" rtlCol="0">
            <a:spAutoFit/>
          </a:bodyPr>
          <a:lstStyle/>
          <a:p>
            <a:pPr indent="266700" algn="just" fontAlgn="ctr">
              <a:lnSpc>
                <a:spcPct val="150000"/>
              </a:lnSpc>
            </a:pPr>
            <a:r>
              <a:rPr lang="en-US" altLang="zh-CN" sz="2800" dirty="0">
                <a:latin typeface="Times New Roman" pitchFamily="18" charset="0"/>
                <a:ea typeface="宋体" pitchFamily="2" charset="-122"/>
              </a:rPr>
              <a:t>3</a:t>
            </a:r>
            <a:r>
              <a:rPr lang="zh-CN" altLang="en-US" sz="2800" dirty="0">
                <a:latin typeface="Times New Roman" pitchFamily="18" charset="0"/>
                <a:ea typeface="宋体" pitchFamily="2" charset="-122"/>
              </a:rPr>
              <a:t>）创建可变截面扫描</a:t>
            </a:r>
            <a:endParaRPr lang="en-US" altLang="zh-CN" sz="2800" dirty="0">
              <a:latin typeface="Times New Roman" pitchFamily="18" charset="0"/>
              <a:ea typeface="宋体" pitchFamily="2" charset="-122"/>
            </a:endParaRPr>
          </a:p>
        </p:txBody>
      </p:sp>
      <p:sp>
        <p:nvSpPr>
          <p:cNvPr id="5" name="TextBox 6">
            <a:extLst>
              <a:ext uri="{FF2B5EF4-FFF2-40B4-BE49-F238E27FC236}">
                <a16:creationId xmlns:a16="http://schemas.microsoft.com/office/drawing/2014/main" id="{FC91F8B9-5799-EA39-2ECD-41DF40449362}"/>
              </a:ext>
            </a:extLst>
          </p:cNvPr>
          <p:cNvSpPr txBox="1"/>
          <p:nvPr/>
        </p:nvSpPr>
        <p:spPr>
          <a:xfrm>
            <a:off x="4436732" y="6088055"/>
            <a:ext cx="3318537" cy="369332"/>
          </a:xfrm>
          <a:prstGeom prst="rect">
            <a:avLst/>
          </a:prstGeom>
          <a:noFill/>
        </p:spPr>
        <p:txBody>
          <a:bodyPr wrap="none" rtlCol="0">
            <a:spAutoFit/>
          </a:bodyPr>
          <a:lstStyle/>
          <a:p>
            <a:pPr algn="ctr"/>
            <a:r>
              <a:rPr lang="zh-CN" altLang="zh-CN"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3-43 </a:t>
            </a:r>
            <a:r>
              <a:rPr lang="zh-CN" altLang="zh-CN" sz="1800" dirty="0">
                <a:effectLst/>
                <a:ea typeface="黑体" panose="02010609060101010101" pitchFamily="49" charset="-122"/>
                <a:cs typeface="Times New Roman" panose="02020603050405020304" pitchFamily="18" charset="0"/>
              </a:rPr>
              <a:t>选择轨迹并确定</a:t>
            </a:r>
            <a:r>
              <a:rPr lang="en-US" altLang="zh-CN" sz="1800" dirty="0">
                <a:effectLst/>
                <a:ea typeface="黑体" panose="02010609060101010101" pitchFamily="49" charset="-122"/>
                <a:cs typeface="Times New Roman" panose="02020603050405020304" pitchFamily="18" charset="0"/>
              </a:rPr>
              <a:t>X</a:t>
            </a:r>
            <a:r>
              <a:rPr lang="zh-CN" altLang="zh-CN" sz="1800" dirty="0">
                <a:effectLst/>
                <a:ea typeface="黑体" panose="02010609060101010101" pitchFamily="49" charset="-122"/>
                <a:cs typeface="Times New Roman" panose="02020603050405020304" pitchFamily="18" charset="0"/>
              </a:rPr>
              <a:t>轴方向</a:t>
            </a:r>
            <a:endParaRPr lang="zh-CN" altLang="en-US" dirty="0"/>
          </a:p>
        </p:txBody>
      </p:sp>
      <p:pic>
        <p:nvPicPr>
          <p:cNvPr id="7" name="图片 6">
            <a:extLst>
              <a:ext uri="{FF2B5EF4-FFF2-40B4-BE49-F238E27FC236}">
                <a16:creationId xmlns:a16="http://schemas.microsoft.com/office/drawing/2014/main" id="{BDE19DE3-E05E-CE49-D3B8-CDF4C7BA2D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1744" y="1184126"/>
            <a:ext cx="8108512" cy="4664356"/>
          </a:xfrm>
          <a:prstGeom prst="rect">
            <a:avLst/>
          </a:prstGeom>
        </p:spPr>
      </p:pic>
    </p:spTree>
    <p:extLst>
      <p:ext uri="{BB962C8B-B14F-4D97-AF65-F5344CB8AC3E}">
        <p14:creationId xmlns:p14="http://schemas.microsoft.com/office/powerpoint/2010/main" val="33097039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10748763-8C14-1EF8-4F8F-7D90D58220D5}"/>
              </a:ext>
            </a:extLst>
          </p:cNvPr>
          <p:cNvSpPr txBox="1"/>
          <p:nvPr/>
        </p:nvSpPr>
        <p:spPr>
          <a:xfrm>
            <a:off x="222739" y="339445"/>
            <a:ext cx="11746522" cy="738664"/>
          </a:xfrm>
          <a:prstGeom prst="rect">
            <a:avLst/>
          </a:prstGeom>
          <a:noFill/>
        </p:spPr>
        <p:txBody>
          <a:bodyPr wrap="square" rtlCol="0">
            <a:spAutoFit/>
          </a:bodyPr>
          <a:lstStyle/>
          <a:p>
            <a:pPr indent="266700" algn="just" fontAlgn="ctr">
              <a:lnSpc>
                <a:spcPct val="150000"/>
              </a:lnSpc>
            </a:pPr>
            <a:r>
              <a:rPr lang="en-US" altLang="zh-CN" sz="2800" dirty="0">
                <a:latin typeface="Times New Roman" pitchFamily="18" charset="0"/>
                <a:ea typeface="宋体" pitchFamily="2" charset="-122"/>
              </a:rPr>
              <a:t>3</a:t>
            </a:r>
            <a:r>
              <a:rPr lang="zh-CN" altLang="en-US" sz="2800" dirty="0">
                <a:latin typeface="Times New Roman" pitchFamily="18" charset="0"/>
                <a:ea typeface="宋体" pitchFamily="2" charset="-122"/>
              </a:rPr>
              <a:t>）创建可变截面扫描</a:t>
            </a:r>
            <a:endParaRPr lang="en-US" altLang="zh-CN" sz="2800" dirty="0">
              <a:latin typeface="Times New Roman" pitchFamily="18" charset="0"/>
              <a:ea typeface="宋体" pitchFamily="2" charset="-122"/>
            </a:endParaRPr>
          </a:p>
        </p:txBody>
      </p:sp>
      <p:sp>
        <p:nvSpPr>
          <p:cNvPr id="5" name="TextBox 6">
            <a:extLst>
              <a:ext uri="{FF2B5EF4-FFF2-40B4-BE49-F238E27FC236}">
                <a16:creationId xmlns:a16="http://schemas.microsoft.com/office/drawing/2014/main" id="{FC91F8B9-5799-EA39-2ECD-41DF40449362}"/>
              </a:ext>
            </a:extLst>
          </p:cNvPr>
          <p:cNvSpPr txBox="1"/>
          <p:nvPr/>
        </p:nvSpPr>
        <p:spPr>
          <a:xfrm>
            <a:off x="1977096" y="5279671"/>
            <a:ext cx="1813317" cy="369332"/>
          </a:xfrm>
          <a:prstGeom prst="rect">
            <a:avLst/>
          </a:prstGeom>
          <a:noFill/>
        </p:spPr>
        <p:txBody>
          <a:bodyPr wrap="none" rtlCol="0">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3-44 </a:t>
            </a:r>
            <a:r>
              <a:rPr lang="zh-CN" altLang="en-US" sz="1800" dirty="0">
                <a:effectLst/>
                <a:ea typeface="黑体" panose="02010609060101010101" pitchFamily="49" charset="-122"/>
                <a:cs typeface="Times New Roman" panose="02020603050405020304" pitchFamily="18" charset="0"/>
              </a:rPr>
              <a:t>绘制截面</a:t>
            </a:r>
            <a:endParaRPr lang="zh-CN" altLang="en-US" dirty="0"/>
          </a:p>
        </p:txBody>
      </p:sp>
      <p:pic>
        <p:nvPicPr>
          <p:cNvPr id="2" name="图片 1">
            <a:extLst>
              <a:ext uri="{FF2B5EF4-FFF2-40B4-BE49-F238E27FC236}">
                <a16:creationId xmlns:a16="http://schemas.microsoft.com/office/drawing/2014/main" id="{677CB695-1DF4-9F70-5209-B6AD23D6F6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342" y="1883464"/>
            <a:ext cx="3550681" cy="3091071"/>
          </a:xfrm>
          <a:prstGeom prst="rect">
            <a:avLst/>
          </a:prstGeom>
        </p:spPr>
      </p:pic>
      <p:pic>
        <p:nvPicPr>
          <p:cNvPr id="4" name="图片 3">
            <a:extLst>
              <a:ext uri="{FF2B5EF4-FFF2-40B4-BE49-F238E27FC236}">
                <a16:creationId xmlns:a16="http://schemas.microsoft.com/office/drawing/2014/main" id="{23AA2AE1-53B0-A787-B75E-1A3BA563A99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01324" y="1752992"/>
            <a:ext cx="3562532" cy="3221543"/>
          </a:xfrm>
          <a:prstGeom prst="rect">
            <a:avLst/>
          </a:prstGeom>
        </p:spPr>
      </p:pic>
      <p:sp>
        <p:nvSpPr>
          <p:cNvPr id="6" name="TextBox 6">
            <a:extLst>
              <a:ext uri="{FF2B5EF4-FFF2-40B4-BE49-F238E27FC236}">
                <a16:creationId xmlns:a16="http://schemas.microsoft.com/office/drawing/2014/main" id="{B5990073-06F3-5B19-A544-3319A20704C1}"/>
              </a:ext>
            </a:extLst>
          </p:cNvPr>
          <p:cNvSpPr txBox="1"/>
          <p:nvPr/>
        </p:nvSpPr>
        <p:spPr>
          <a:xfrm>
            <a:off x="6641985" y="5279671"/>
            <a:ext cx="3890809" cy="369332"/>
          </a:xfrm>
          <a:prstGeom prst="rect">
            <a:avLst/>
          </a:prstGeom>
          <a:noFill/>
        </p:spPr>
        <p:txBody>
          <a:bodyPr wrap="none" rtlCol="0">
            <a:spAutoFit/>
          </a:bodyPr>
          <a:lstStyle/>
          <a:p>
            <a:pPr algn="ctr"/>
            <a:r>
              <a:rPr lang="zh-CN" altLang="en-US" sz="1800" dirty="0">
                <a:effectLst/>
                <a:ea typeface="黑体" panose="02010609060101010101" pitchFamily="49" charset="-122"/>
                <a:cs typeface="Times New Roman" panose="02020603050405020304" pitchFamily="18" charset="0"/>
              </a:rPr>
              <a:t>图</a:t>
            </a:r>
            <a:r>
              <a:rPr lang="en-US" altLang="zh-CN" sz="1800" dirty="0">
                <a:effectLst/>
                <a:ea typeface="黑体" panose="02010609060101010101" pitchFamily="49" charset="-122"/>
                <a:cs typeface="Times New Roman" panose="02020603050405020304" pitchFamily="18" charset="0"/>
              </a:rPr>
              <a:t>3-45 </a:t>
            </a:r>
            <a:r>
              <a:rPr lang="zh-CN" altLang="en-US" sz="1800" dirty="0">
                <a:effectLst/>
                <a:ea typeface="黑体" panose="02010609060101010101" pitchFamily="49" charset="-122"/>
                <a:cs typeface="Times New Roman" panose="02020603050405020304" pitchFamily="18" charset="0"/>
              </a:rPr>
              <a:t>可变截面扫描（垂直于轨迹）</a:t>
            </a:r>
            <a:endParaRPr lang="zh-CN" altLang="en-US" dirty="0"/>
          </a:p>
        </p:txBody>
      </p:sp>
    </p:spTree>
    <p:extLst>
      <p:ext uri="{BB962C8B-B14F-4D97-AF65-F5344CB8AC3E}">
        <p14:creationId xmlns:p14="http://schemas.microsoft.com/office/powerpoint/2010/main" val="15485113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10748763-8C14-1EF8-4F8F-7D90D58220D5}"/>
              </a:ext>
            </a:extLst>
          </p:cNvPr>
          <p:cNvSpPr txBox="1"/>
          <p:nvPr/>
        </p:nvSpPr>
        <p:spPr>
          <a:xfrm>
            <a:off x="196235" y="208012"/>
            <a:ext cx="11746522" cy="2031325"/>
          </a:xfrm>
          <a:prstGeom prst="rect">
            <a:avLst/>
          </a:prstGeom>
          <a:noFill/>
        </p:spPr>
        <p:txBody>
          <a:bodyPr wrap="square" rtlCol="0">
            <a:spAutoFit/>
          </a:bodyPr>
          <a:lstStyle/>
          <a:p>
            <a:pPr indent="266700" algn="just" fontAlgn="ctr">
              <a:lnSpc>
                <a:spcPct val="150000"/>
              </a:lnSpc>
            </a:pPr>
            <a:r>
              <a:rPr lang="zh-CN" altLang="en-US" sz="2800" b="1" dirty="0">
                <a:latin typeface="Times New Roman" pitchFamily="18" charset="0"/>
                <a:ea typeface="宋体" pitchFamily="2" charset="-122"/>
              </a:rPr>
              <a:t>可变截面扫描实例</a:t>
            </a:r>
            <a:r>
              <a:rPr lang="en-US" altLang="zh-CN" sz="2800" b="1" dirty="0">
                <a:latin typeface="Times New Roman" pitchFamily="18" charset="0"/>
                <a:ea typeface="宋体" pitchFamily="2" charset="-122"/>
              </a:rPr>
              <a:t>2</a:t>
            </a:r>
          </a:p>
          <a:p>
            <a:pPr indent="266700" algn="just" fontAlgn="ctr">
              <a:lnSpc>
                <a:spcPct val="150000"/>
              </a:lnSpc>
            </a:pPr>
            <a:r>
              <a:rPr lang="en-US" altLang="zh-CN" sz="2800" dirty="0">
                <a:latin typeface="Times New Roman" pitchFamily="18" charset="0"/>
                <a:ea typeface="宋体" pitchFamily="2" charset="-122"/>
              </a:rPr>
              <a:t>1</a:t>
            </a:r>
            <a:r>
              <a:rPr lang="zh-CN" altLang="en-US" sz="2800" dirty="0">
                <a:latin typeface="Times New Roman" pitchFamily="18" charset="0"/>
                <a:ea typeface="宋体" pitchFamily="2" charset="-122"/>
              </a:rPr>
              <a:t>）新建文件</a:t>
            </a:r>
            <a:endParaRPr lang="en-US" altLang="zh-CN" sz="2800" dirty="0">
              <a:latin typeface="Times New Roman" pitchFamily="18" charset="0"/>
              <a:ea typeface="宋体" pitchFamily="2" charset="-122"/>
            </a:endParaRPr>
          </a:p>
          <a:p>
            <a:pPr indent="266700" algn="just" fontAlgn="ctr">
              <a:lnSpc>
                <a:spcPct val="150000"/>
              </a:lnSpc>
            </a:pPr>
            <a:r>
              <a:rPr lang="en-US" altLang="zh-CN" sz="2800" dirty="0">
                <a:latin typeface="Times New Roman" pitchFamily="18" charset="0"/>
                <a:ea typeface="宋体" pitchFamily="2" charset="-122"/>
              </a:rPr>
              <a:t>2</a:t>
            </a:r>
            <a:r>
              <a:rPr lang="zh-CN" altLang="en-US" sz="2800" dirty="0">
                <a:latin typeface="Times New Roman" pitchFamily="18" charset="0"/>
                <a:ea typeface="宋体" pitchFamily="2" charset="-122"/>
              </a:rPr>
              <a:t>）草绘扫描轨迹</a:t>
            </a:r>
            <a:endParaRPr lang="en-US" altLang="zh-CN" sz="2800" dirty="0">
              <a:latin typeface="Times New Roman" pitchFamily="18" charset="0"/>
              <a:ea typeface="宋体" pitchFamily="2" charset="-122"/>
            </a:endParaRPr>
          </a:p>
        </p:txBody>
      </p:sp>
      <p:sp>
        <p:nvSpPr>
          <p:cNvPr id="5" name="TextBox 6">
            <a:extLst>
              <a:ext uri="{FF2B5EF4-FFF2-40B4-BE49-F238E27FC236}">
                <a16:creationId xmlns:a16="http://schemas.microsoft.com/office/drawing/2014/main" id="{FC91F8B9-5799-EA39-2ECD-41DF40449362}"/>
              </a:ext>
            </a:extLst>
          </p:cNvPr>
          <p:cNvSpPr txBox="1"/>
          <p:nvPr/>
        </p:nvSpPr>
        <p:spPr>
          <a:xfrm>
            <a:off x="4958510" y="6088054"/>
            <a:ext cx="2274982"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3-46 </a:t>
            </a:r>
            <a:r>
              <a:rPr lang="zh-CN" altLang="en-US" dirty="0">
                <a:ea typeface="黑体"/>
                <a:cs typeface="Times New Roman"/>
              </a:rPr>
              <a:t>草绘扫描轨迹</a:t>
            </a:r>
            <a:endParaRPr lang="zh-CN" altLang="en-US" dirty="0"/>
          </a:p>
        </p:txBody>
      </p:sp>
      <p:pic>
        <p:nvPicPr>
          <p:cNvPr id="7" name="图片 6">
            <a:extLst>
              <a:ext uri="{FF2B5EF4-FFF2-40B4-BE49-F238E27FC236}">
                <a16:creationId xmlns:a16="http://schemas.microsoft.com/office/drawing/2014/main" id="{4BA2675B-B17D-1BAE-7852-2CDC15456D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58433" y="2091883"/>
            <a:ext cx="4075135" cy="3996171"/>
          </a:xfrm>
          <a:prstGeom prst="rect">
            <a:avLst/>
          </a:prstGeom>
        </p:spPr>
      </p:pic>
    </p:spTree>
    <p:extLst>
      <p:ext uri="{BB962C8B-B14F-4D97-AF65-F5344CB8AC3E}">
        <p14:creationId xmlns:p14="http://schemas.microsoft.com/office/powerpoint/2010/main" val="6002565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10748763-8C14-1EF8-4F8F-7D90D58220D5}"/>
              </a:ext>
            </a:extLst>
          </p:cNvPr>
          <p:cNvSpPr txBox="1"/>
          <p:nvPr/>
        </p:nvSpPr>
        <p:spPr>
          <a:xfrm>
            <a:off x="222739" y="748867"/>
            <a:ext cx="11746522" cy="3323987"/>
          </a:xfrm>
          <a:prstGeom prst="rect">
            <a:avLst/>
          </a:prstGeom>
          <a:noFill/>
        </p:spPr>
        <p:txBody>
          <a:bodyPr wrap="square" rtlCol="0">
            <a:spAutoFit/>
          </a:bodyPr>
          <a:lstStyle/>
          <a:p>
            <a:pPr indent="266700" algn="just" fontAlgn="ctr">
              <a:lnSpc>
                <a:spcPct val="150000"/>
              </a:lnSpc>
            </a:pPr>
            <a:r>
              <a:rPr lang="en-US" altLang="zh-CN" sz="2800" dirty="0">
                <a:latin typeface="Times New Roman" pitchFamily="18" charset="0"/>
                <a:ea typeface="宋体" pitchFamily="2" charset="-122"/>
              </a:rPr>
              <a:t>3</a:t>
            </a:r>
            <a:r>
              <a:rPr lang="zh-CN" altLang="en-US" sz="2800" dirty="0">
                <a:latin typeface="Times New Roman" pitchFamily="18" charset="0"/>
                <a:ea typeface="宋体" pitchFamily="2" charset="-122"/>
              </a:rPr>
              <a:t>）创建可变截面扫描</a:t>
            </a:r>
            <a:endParaRPr lang="en-US" altLang="zh-CN" sz="2800" dirty="0">
              <a:latin typeface="Times New Roman" pitchFamily="18" charset="0"/>
              <a:ea typeface="宋体" pitchFamily="2" charset="-122"/>
            </a:endParaRPr>
          </a:p>
          <a:p>
            <a:pPr indent="266700" algn="just" fontAlgn="ctr">
              <a:lnSpc>
                <a:spcPct val="150000"/>
              </a:lnSpc>
            </a:pPr>
            <a:r>
              <a:rPr lang="zh-CN" altLang="en-US" sz="2800" dirty="0">
                <a:latin typeface="Times New Roman" pitchFamily="18" charset="0"/>
                <a:ea typeface="宋体" pitchFamily="2" charset="-122"/>
              </a:rPr>
              <a:t>（</a:t>
            </a:r>
            <a:r>
              <a:rPr lang="en-US" altLang="zh-CN" sz="2800" dirty="0">
                <a:latin typeface="Times New Roman" pitchFamily="18" charset="0"/>
                <a:ea typeface="宋体" pitchFamily="2" charset="-122"/>
              </a:rPr>
              <a:t>1</a:t>
            </a:r>
            <a:r>
              <a:rPr lang="zh-CN" altLang="en-US" sz="2800" dirty="0">
                <a:latin typeface="Times New Roman" pitchFamily="18" charset="0"/>
                <a:ea typeface="宋体" pitchFamily="2" charset="-122"/>
              </a:rPr>
              <a:t>）单击功能区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形状</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区域中的“扫描”按钮     ，界面顶部弹出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扫描</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操控板。保持默认设置不变，选中“允许截面变化”按钮   ，打开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参考</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下滑面板，选中扫描轨迹曲线，然后单击“草绘”按钮    ，进入草绘模式。</a:t>
            </a:r>
            <a:endParaRPr lang="en-US" altLang="zh-CN" sz="2800" dirty="0">
              <a:latin typeface="Times New Roman" pitchFamily="18" charset="0"/>
              <a:ea typeface="宋体" pitchFamily="2" charset="-122"/>
            </a:endParaRPr>
          </a:p>
        </p:txBody>
      </p:sp>
      <p:pic>
        <p:nvPicPr>
          <p:cNvPr id="2" name="图片 1">
            <a:extLst>
              <a:ext uri="{FF2B5EF4-FFF2-40B4-BE49-F238E27FC236}">
                <a16:creationId xmlns:a16="http://schemas.microsoft.com/office/drawing/2014/main" id="{3278E09A-F88F-5803-84C3-5003357B5C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86750" y="1681162"/>
            <a:ext cx="342949" cy="325800"/>
          </a:xfrm>
          <a:prstGeom prst="rect">
            <a:avLst/>
          </a:prstGeom>
        </p:spPr>
      </p:pic>
      <p:pic>
        <p:nvPicPr>
          <p:cNvPr id="4" name="图片 3">
            <a:extLst>
              <a:ext uri="{FF2B5EF4-FFF2-40B4-BE49-F238E27FC236}">
                <a16:creationId xmlns:a16="http://schemas.microsoft.com/office/drawing/2014/main" id="{9F8D1B3E-67E3-7CCF-5659-D0C0E7099123}"/>
              </a:ext>
            </a:extLst>
          </p:cNvPr>
          <p:cNvPicPr>
            <a:picLocks noChangeAspect="1"/>
          </p:cNvPicPr>
          <p:nvPr/>
        </p:nvPicPr>
        <p:blipFill>
          <a:blip r:embed="rId3"/>
          <a:stretch>
            <a:fillRect/>
          </a:stretch>
        </p:blipFill>
        <p:spPr>
          <a:xfrm>
            <a:off x="10269220" y="2326049"/>
            <a:ext cx="428625" cy="411480"/>
          </a:xfrm>
          <a:prstGeom prst="rect">
            <a:avLst/>
          </a:prstGeom>
        </p:spPr>
      </p:pic>
      <p:pic>
        <p:nvPicPr>
          <p:cNvPr id="6" name="图片 5">
            <a:extLst>
              <a:ext uri="{FF2B5EF4-FFF2-40B4-BE49-F238E27FC236}">
                <a16:creationId xmlns:a16="http://schemas.microsoft.com/office/drawing/2014/main" id="{326AE80F-50C5-C683-1191-DB1F0A4AFFF9}"/>
              </a:ext>
            </a:extLst>
          </p:cNvPr>
          <p:cNvPicPr>
            <a:picLocks noChangeAspect="1"/>
          </p:cNvPicPr>
          <p:nvPr/>
        </p:nvPicPr>
        <p:blipFill>
          <a:blip r:embed="rId4"/>
          <a:stretch>
            <a:fillRect/>
          </a:stretch>
        </p:blipFill>
        <p:spPr>
          <a:xfrm>
            <a:off x="10369236" y="2933702"/>
            <a:ext cx="428625" cy="428625"/>
          </a:xfrm>
          <a:prstGeom prst="rect">
            <a:avLst/>
          </a:prstGeom>
        </p:spPr>
      </p:pic>
    </p:spTree>
    <p:extLst>
      <p:ext uri="{BB962C8B-B14F-4D97-AF65-F5344CB8AC3E}">
        <p14:creationId xmlns:p14="http://schemas.microsoft.com/office/powerpoint/2010/main" val="11178675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10748763-8C14-1EF8-4F8F-7D90D58220D5}"/>
              </a:ext>
            </a:extLst>
          </p:cNvPr>
          <p:cNvSpPr txBox="1"/>
          <p:nvPr/>
        </p:nvSpPr>
        <p:spPr>
          <a:xfrm>
            <a:off x="222739" y="334521"/>
            <a:ext cx="11746522" cy="1384995"/>
          </a:xfrm>
          <a:prstGeom prst="rect">
            <a:avLst/>
          </a:prstGeom>
          <a:noFill/>
        </p:spPr>
        <p:txBody>
          <a:bodyPr wrap="square" rtlCol="0">
            <a:spAutoFit/>
          </a:bodyPr>
          <a:lstStyle/>
          <a:p>
            <a:pPr indent="266700" algn="just" fontAlgn="ctr">
              <a:lnSpc>
                <a:spcPct val="150000"/>
              </a:lnSpc>
            </a:pPr>
            <a:r>
              <a:rPr lang="zh-CN" altLang="en-US" sz="2800" dirty="0">
                <a:latin typeface="Times New Roman" pitchFamily="18" charset="0"/>
                <a:ea typeface="宋体" pitchFamily="2" charset="-122"/>
              </a:rPr>
              <a:t>（</a:t>
            </a:r>
            <a:r>
              <a:rPr lang="en-US" altLang="zh-CN" sz="2800" dirty="0">
                <a:latin typeface="Times New Roman" pitchFamily="18" charset="0"/>
                <a:ea typeface="宋体" pitchFamily="2" charset="-122"/>
              </a:rPr>
              <a:t>2</a:t>
            </a:r>
            <a:r>
              <a:rPr lang="zh-CN" altLang="en-US" sz="2800" dirty="0">
                <a:latin typeface="Times New Roman" pitchFamily="18" charset="0"/>
                <a:ea typeface="宋体" pitchFamily="2" charset="-122"/>
              </a:rPr>
              <a:t>）草绘截面，然后单击</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工具</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模型意图</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区域单击</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关系</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，弹出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关系</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对话框，如图</a:t>
            </a:r>
            <a:r>
              <a:rPr lang="en-US" altLang="zh-CN" sz="2800" dirty="0">
                <a:latin typeface="Times New Roman" pitchFamily="18" charset="0"/>
                <a:ea typeface="宋体" pitchFamily="2" charset="-122"/>
              </a:rPr>
              <a:t>3-47</a:t>
            </a:r>
            <a:r>
              <a:rPr lang="zh-CN" altLang="en-US" sz="2800" dirty="0">
                <a:latin typeface="Times New Roman" pitchFamily="18" charset="0"/>
                <a:ea typeface="宋体" pitchFamily="2" charset="-122"/>
              </a:rPr>
              <a:t>所示。</a:t>
            </a:r>
            <a:endParaRPr lang="en-US" altLang="zh-CN" sz="2800" dirty="0">
              <a:latin typeface="Times New Roman" pitchFamily="18" charset="0"/>
              <a:ea typeface="宋体" pitchFamily="2" charset="-122"/>
            </a:endParaRPr>
          </a:p>
        </p:txBody>
      </p:sp>
      <p:pic>
        <p:nvPicPr>
          <p:cNvPr id="5" name="图片 4">
            <a:extLst>
              <a:ext uri="{FF2B5EF4-FFF2-40B4-BE49-F238E27FC236}">
                <a16:creationId xmlns:a16="http://schemas.microsoft.com/office/drawing/2014/main" id="{B1607D33-AA55-57A1-EB9D-05A75244430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65585" y="1757359"/>
            <a:ext cx="6660831" cy="4329113"/>
          </a:xfrm>
          <a:prstGeom prst="rect">
            <a:avLst/>
          </a:prstGeom>
        </p:spPr>
      </p:pic>
      <p:sp>
        <p:nvSpPr>
          <p:cNvPr id="7" name="TextBox 6">
            <a:extLst>
              <a:ext uri="{FF2B5EF4-FFF2-40B4-BE49-F238E27FC236}">
                <a16:creationId xmlns:a16="http://schemas.microsoft.com/office/drawing/2014/main" id="{445CF48C-9D2E-54A8-A0D9-B79FBA6E5E33}"/>
              </a:ext>
            </a:extLst>
          </p:cNvPr>
          <p:cNvSpPr txBox="1"/>
          <p:nvPr/>
        </p:nvSpPr>
        <p:spPr>
          <a:xfrm>
            <a:off x="5189342" y="6130918"/>
            <a:ext cx="1813317"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3-47 </a:t>
            </a:r>
            <a:r>
              <a:rPr lang="zh-CN" altLang="en-US" dirty="0">
                <a:ea typeface="黑体"/>
                <a:cs typeface="Times New Roman"/>
              </a:rPr>
              <a:t>草绘截面</a:t>
            </a:r>
            <a:endParaRPr lang="zh-CN" altLang="en-US" dirty="0"/>
          </a:p>
        </p:txBody>
      </p:sp>
    </p:spTree>
    <p:extLst>
      <p:ext uri="{BB962C8B-B14F-4D97-AF65-F5344CB8AC3E}">
        <p14:creationId xmlns:p14="http://schemas.microsoft.com/office/powerpoint/2010/main" val="1655018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10748763-8C14-1EF8-4F8F-7D90D58220D5}"/>
              </a:ext>
            </a:extLst>
          </p:cNvPr>
          <p:cNvSpPr txBox="1"/>
          <p:nvPr/>
        </p:nvSpPr>
        <p:spPr>
          <a:xfrm>
            <a:off x="222739" y="334521"/>
            <a:ext cx="11746522" cy="1384995"/>
          </a:xfrm>
          <a:prstGeom prst="rect">
            <a:avLst/>
          </a:prstGeom>
          <a:noFill/>
        </p:spPr>
        <p:txBody>
          <a:bodyPr wrap="square" rtlCol="0">
            <a:spAutoFit/>
          </a:bodyPr>
          <a:lstStyle/>
          <a:p>
            <a:pPr indent="266700" algn="just" fontAlgn="ctr">
              <a:lnSpc>
                <a:spcPct val="150000"/>
              </a:lnSpc>
            </a:pPr>
            <a:r>
              <a:rPr lang="zh-CN" altLang="en-US" sz="2800" dirty="0">
                <a:latin typeface="Times New Roman" pitchFamily="18" charset="0"/>
                <a:ea typeface="宋体" pitchFamily="2" charset="-122"/>
              </a:rPr>
              <a:t>（</a:t>
            </a:r>
            <a:r>
              <a:rPr lang="en-US" altLang="zh-CN" sz="2800" dirty="0">
                <a:latin typeface="Times New Roman" pitchFamily="18" charset="0"/>
                <a:ea typeface="宋体" pitchFamily="2" charset="-122"/>
              </a:rPr>
              <a:t>3</a:t>
            </a: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关系</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对话框的文本框中输入带</a:t>
            </a:r>
            <a:r>
              <a:rPr lang="en-US" altLang="zh-CN" sz="2800" dirty="0" err="1">
                <a:latin typeface="Times New Roman" pitchFamily="18" charset="0"/>
                <a:ea typeface="宋体" pitchFamily="2" charset="-122"/>
              </a:rPr>
              <a:t>Trajpar</a:t>
            </a:r>
            <a:r>
              <a:rPr lang="zh-CN" altLang="en-US" sz="2800" dirty="0">
                <a:latin typeface="Times New Roman" pitchFamily="18" charset="0"/>
                <a:ea typeface="宋体" pitchFamily="2" charset="-122"/>
              </a:rPr>
              <a:t>参数的截面关系，如图</a:t>
            </a:r>
            <a:r>
              <a:rPr lang="en-US" altLang="zh-CN" sz="2800" dirty="0">
                <a:latin typeface="Times New Roman" pitchFamily="18" charset="0"/>
                <a:ea typeface="宋体" pitchFamily="2" charset="-122"/>
              </a:rPr>
              <a:t>3-48</a:t>
            </a:r>
            <a:r>
              <a:rPr lang="zh-CN" altLang="en-US" sz="2800" dirty="0">
                <a:latin typeface="Times New Roman" pitchFamily="18" charset="0"/>
                <a:ea typeface="宋体" pitchFamily="2" charset="-122"/>
              </a:rPr>
              <a:t>所示。</a:t>
            </a:r>
            <a:endParaRPr lang="en-US" altLang="zh-CN" sz="2800" dirty="0">
              <a:latin typeface="Times New Roman" pitchFamily="18" charset="0"/>
              <a:ea typeface="宋体" pitchFamily="2" charset="-122"/>
            </a:endParaRPr>
          </a:p>
        </p:txBody>
      </p:sp>
      <p:sp>
        <p:nvSpPr>
          <p:cNvPr id="7" name="TextBox 6">
            <a:extLst>
              <a:ext uri="{FF2B5EF4-FFF2-40B4-BE49-F238E27FC236}">
                <a16:creationId xmlns:a16="http://schemas.microsoft.com/office/drawing/2014/main" id="{445CF48C-9D2E-54A8-A0D9-B79FBA6E5E33}"/>
              </a:ext>
            </a:extLst>
          </p:cNvPr>
          <p:cNvSpPr txBox="1"/>
          <p:nvPr/>
        </p:nvSpPr>
        <p:spPr>
          <a:xfrm>
            <a:off x="4428621" y="6130918"/>
            <a:ext cx="3334759"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3-48</a:t>
            </a:r>
            <a:r>
              <a:rPr lang="zh-CN" altLang="en-US" dirty="0">
                <a:ea typeface="黑体"/>
                <a:cs typeface="Times New Roman"/>
              </a:rPr>
              <a:t>带</a:t>
            </a:r>
            <a:r>
              <a:rPr lang="en-US" altLang="zh-CN" dirty="0" err="1">
                <a:ea typeface="黑体"/>
                <a:cs typeface="Times New Roman"/>
              </a:rPr>
              <a:t>Trajpar</a:t>
            </a:r>
            <a:r>
              <a:rPr lang="zh-CN" altLang="en-US" dirty="0">
                <a:ea typeface="黑体"/>
                <a:cs typeface="Times New Roman"/>
              </a:rPr>
              <a:t>参数的截面关系</a:t>
            </a:r>
            <a:endParaRPr lang="zh-CN" altLang="en-US" dirty="0"/>
          </a:p>
        </p:txBody>
      </p:sp>
      <p:pic>
        <p:nvPicPr>
          <p:cNvPr id="2" name="图片 1">
            <a:extLst>
              <a:ext uri="{FF2B5EF4-FFF2-40B4-BE49-F238E27FC236}">
                <a16:creationId xmlns:a16="http://schemas.microsoft.com/office/drawing/2014/main" id="{F1D3CABB-ABC0-9D9D-AB50-2B82800075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7082" y="1027018"/>
            <a:ext cx="5557837" cy="5095183"/>
          </a:xfrm>
          <a:prstGeom prst="rect">
            <a:avLst/>
          </a:prstGeom>
        </p:spPr>
      </p:pic>
    </p:spTree>
    <p:extLst>
      <p:ext uri="{BB962C8B-B14F-4D97-AF65-F5344CB8AC3E}">
        <p14:creationId xmlns:p14="http://schemas.microsoft.com/office/powerpoint/2010/main" val="29900790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10748763-8C14-1EF8-4F8F-7D90D58220D5}"/>
              </a:ext>
            </a:extLst>
          </p:cNvPr>
          <p:cNvSpPr txBox="1"/>
          <p:nvPr/>
        </p:nvSpPr>
        <p:spPr>
          <a:xfrm>
            <a:off x="222739" y="334521"/>
            <a:ext cx="11746522" cy="738664"/>
          </a:xfrm>
          <a:prstGeom prst="rect">
            <a:avLst/>
          </a:prstGeom>
          <a:noFill/>
        </p:spPr>
        <p:txBody>
          <a:bodyPr wrap="square" rtlCol="0">
            <a:spAutoFit/>
          </a:bodyPr>
          <a:lstStyle/>
          <a:p>
            <a:pPr indent="266700" algn="just" fontAlgn="ctr">
              <a:lnSpc>
                <a:spcPct val="150000"/>
              </a:lnSpc>
            </a:pPr>
            <a:r>
              <a:rPr lang="en-US" altLang="zh-CN" sz="2800" dirty="0">
                <a:latin typeface="Times New Roman" pitchFamily="18" charset="0"/>
                <a:ea typeface="宋体" pitchFamily="2" charset="-122"/>
              </a:rPr>
              <a:t>4</a:t>
            </a:r>
            <a:r>
              <a:rPr lang="zh-CN" altLang="en-US" sz="2800" dirty="0">
                <a:latin typeface="Times New Roman" pitchFamily="18" charset="0"/>
                <a:ea typeface="宋体" pitchFamily="2" charset="-122"/>
              </a:rPr>
              <a:t>）完成模型创建</a:t>
            </a:r>
            <a:endParaRPr lang="en-US" altLang="zh-CN" sz="2800" dirty="0">
              <a:latin typeface="Times New Roman" pitchFamily="18" charset="0"/>
              <a:ea typeface="宋体" pitchFamily="2" charset="-122"/>
            </a:endParaRPr>
          </a:p>
        </p:txBody>
      </p:sp>
      <p:sp>
        <p:nvSpPr>
          <p:cNvPr id="7" name="TextBox 6">
            <a:extLst>
              <a:ext uri="{FF2B5EF4-FFF2-40B4-BE49-F238E27FC236}">
                <a16:creationId xmlns:a16="http://schemas.microsoft.com/office/drawing/2014/main" id="{445CF48C-9D2E-54A8-A0D9-B79FBA6E5E33}"/>
              </a:ext>
            </a:extLst>
          </p:cNvPr>
          <p:cNvSpPr txBox="1"/>
          <p:nvPr/>
        </p:nvSpPr>
        <p:spPr>
          <a:xfrm>
            <a:off x="4958509" y="5516550"/>
            <a:ext cx="2274982"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3-49 </a:t>
            </a:r>
            <a:r>
              <a:rPr lang="zh-CN" altLang="en-US" dirty="0">
                <a:ea typeface="黑体"/>
                <a:cs typeface="Times New Roman"/>
              </a:rPr>
              <a:t>模型最终效果</a:t>
            </a:r>
            <a:endParaRPr lang="zh-CN" altLang="en-US" dirty="0"/>
          </a:p>
        </p:txBody>
      </p:sp>
      <p:pic>
        <p:nvPicPr>
          <p:cNvPr id="4" name="图片 3">
            <a:extLst>
              <a:ext uri="{FF2B5EF4-FFF2-40B4-BE49-F238E27FC236}">
                <a16:creationId xmlns:a16="http://schemas.microsoft.com/office/drawing/2014/main" id="{919621CD-4964-AF0A-28DA-8B67E2D06E2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97966" y="1447583"/>
            <a:ext cx="5596069" cy="3962833"/>
          </a:xfrm>
          <a:prstGeom prst="rect">
            <a:avLst/>
          </a:prstGeom>
        </p:spPr>
      </p:pic>
    </p:spTree>
    <p:extLst>
      <p:ext uri="{BB962C8B-B14F-4D97-AF65-F5344CB8AC3E}">
        <p14:creationId xmlns:p14="http://schemas.microsoft.com/office/powerpoint/2010/main" val="16328468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05FA94-1FF5-9271-5895-345FA502C79D}"/>
              </a:ext>
            </a:extLst>
          </p:cNvPr>
          <p:cNvSpPr txBox="1"/>
          <p:nvPr/>
        </p:nvSpPr>
        <p:spPr>
          <a:xfrm>
            <a:off x="460562" y="470647"/>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3.4</a:t>
            </a:r>
            <a:r>
              <a:rPr lang="zh-CN" altLang="en-US" sz="3200" dirty="0">
                <a:solidFill>
                  <a:schemeClr val="bg1"/>
                </a:solidFill>
                <a:latin typeface="Times New Roman" pitchFamily="18" charset="0"/>
                <a:ea typeface="黑体" pitchFamily="49" charset="-122"/>
              </a:rPr>
              <a:t>螺旋扫描</a:t>
            </a:r>
            <a:endParaRPr lang="en-US" altLang="zh-CN" sz="3200" dirty="0">
              <a:solidFill>
                <a:schemeClr val="bg1"/>
              </a:solidFill>
              <a:latin typeface="Times New Roman" pitchFamily="18" charset="0"/>
              <a:ea typeface="黑体" pitchFamily="49" charset="-122"/>
            </a:endParaRPr>
          </a:p>
        </p:txBody>
      </p:sp>
      <p:sp>
        <p:nvSpPr>
          <p:cNvPr id="3" name="TextBox 3">
            <a:extLst>
              <a:ext uri="{FF2B5EF4-FFF2-40B4-BE49-F238E27FC236}">
                <a16:creationId xmlns:a16="http://schemas.microsoft.com/office/drawing/2014/main" id="{169742F7-9B96-289D-7F26-E5007A84B671}"/>
              </a:ext>
            </a:extLst>
          </p:cNvPr>
          <p:cNvSpPr txBox="1"/>
          <p:nvPr/>
        </p:nvSpPr>
        <p:spPr>
          <a:xfrm>
            <a:off x="222739" y="1154381"/>
            <a:ext cx="11746522" cy="2031325"/>
          </a:xfrm>
          <a:prstGeom prst="rect">
            <a:avLst/>
          </a:prstGeom>
          <a:noFill/>
        </p:spPr>
        <p:txBody>
          <a:bodyPr wrap="square" rtlCol="0">
            <a:spAutoFit/>
          </a:bodyPr>
          <a:lstStyle/>
          <a:p>
            <a:pPr indent="266700" algn="just" fontAlgn="ctr">
              <a:lnSpc>
                <a:spcPct val="150000"/>
              </a:lnSpc>
            </a:pPr>
            <a:r>
              <a:rPr lang="zh-CN" altLang="en-US" sz="2800" dirty="0">
                <a:latin typeface="Times New Roman" pitchFamily="18" charset="0"/>
                <a:ea typeface="宋体" pitchFamily="2" charset="-122"/>
              </a:rPr>
              <a:t>螺旋扫描是一种沿螺旋轨迹曲线扫描二维截面来创建三维几何特征的创建方法。其中螺旋轨迹曲线由螺旋轴与螺旋轮廓定义而成。再定义扫描截面以后，该截面沿螺旋轨迹曲线扫描形成螺旋扫描特征，如图</a:t>
            </a:r>
            <a:r>
              <a:rPr lang="en-US" altLang="zh-CN" sz="2800" dirty="0">
                <a:latin typeface="Times New Roman" pitchFamily="18" charset="0"/>
                <a:ea typeface="宋体" pitchFamily="2" charset="-122"/>
              </a:rPr>
              <a:t>3-50</a:t>
            </a:r>
            <a:r>
              <a:rPr lang="zh-CN" altLang="en-US" sz="2800" dirty="0">
                <a:latin typeface="Times New Roman" pitchFamily="18" charset="0"/>
                <a:ea typeface="宋体" pitchFamily="2" charset="-122"/>
              </a:rPr>
              <a:t>所示。</a:t>
            </a:r>
          </a:p>
        </p:txBody>
      </p:sp>
      <p:pic>
        <p:nvPicPr>
          <p:cNvPr id="4" name="图片 3">
            <a:extLst>
              <a:ext uri="{FF2B5EF4-FFF2-40B4-BE49-F238E27FC236}">
                <a16:creationId xmlns:a16="http://schemas.microsoft.com/office/drawing/2014/main" id="{2FEDC5C5-77E9-08D5-F8C9-76114DFABE52}"/>
              </a:ext>
            </a:extLst>
          </p:cNvPr>
          <p:cNvPicPr>
            <a:picLocks noChangeAspect="1"/>
          </p:cNvPicPr>
          <p:nvPr/>
        </p:nvPicPr>
        <p:blipFill rotWithShape="1">
          <a:blip r:embed="rId2">
            <a:extLst>
              <a:ext uri="{28A0092B-C50C-407E-A947-70E740481C1C}">
                <a14:useLocalDpi xmlns:a14="http://schemas.microsoft.com/office/drawing/2010/main" val="0"/>
              </a:ext>
            </a:extLst>
          </a:blip>
          <a:srcRect l="5236" t="14081" r="12430" b="25574"/>
          <a:stretch/>
        </p:blipFill>
        <p:spPr bwMode="auto">
          <a:xfrm>
            <a:off x="2938192" y="3158360"/>
            <a:ext cx="6315616" cy="2904539"/>
          </a:xfrm>
          <a:prstGeom prst="rect">
            <a:avLst/>
          </a:prstGeom>
          <a:ln>
            <a:noFill/>
          </a:ln>
          <a:extLst>
            <a:ext uri="{53640926-AAD7-44D8-BBD7-CCE9431645EC}">
              <a14:shadowObscured xmlns:a14="http://schemas.microsoft.com/office/drawing/2010/main"/>
            </a:ext>
          </a:extLst>
        </p:spPr>
      </p:pic>
      <p:sp>
        <p:nvSpPr>
          <p:cNvPr id="5" name="TextBox 6">
            <a:extLst>
              <a:ext uri="{FF2B5EF4-FFF2-40B4-BE49-F238E27FC236}">
                <a16:creationId xmlns:a16="http://schemas.microsoft.com/office/drawing/2014/main" id="{B1945C12-C0B2-E371-95B8-FDED4B48D757}"/>
              </a:ext>
            </a:extLst>
          </p:cNvPr>
          <p:cNvSpPr txBox="1"/>
          <p:nvPr/>
        </p:nvSpPr>
        <p:spPr>
          <a:xfrm>
            <a:off x="4958509" y="5962883"/>
            <a:ext cx="2274982"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3-50 </a:t>
            </a:r>
            <a:r>
              <a:rPr lang="zh-CN" altLang="en-US" dirty="0">
                <a:ea typeface="黑体"/>
                <a:cs typeface="Times New Roman"/>
              </a:rPr>
              <a:t>螺旋扫描特征</a:t>
            </a:r>
            <a:endParaRPr lang="zh-CN" altLang="en-US" dirty="0"/>
          </a:p>
        </p:txBody>
      </p:sp>
    </p:spTree>
    <p:extLst>
      <p:ext uri="{BB962C8B-B14F-4D97-AF65-F5344CB8AC3E}">
        <p14:creationId xmlns:p14="http://schemas.microsoft.com/office/powerpoint/2010/main" val="35462547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a:extLst>
              <a:ext uri="{FF2B5EF4-FFF2-40B4-BE49-F238E27FC236}">
                <a16:creationId xmlns:a16="http://schemas.microsoft.com/office/drawing/2014/main" id="{8EF6C85A-A17A-D6EB-0FF2-7ECC8471E536}"/>
              </a:ext>
            </a:extLst>
          </p:cNvPr>
          <p:cNvSpPr txBox="1"/>
          <p:nvPr/>
        </p:nvSpPr>
        <p:spPr>
          <a:xfrm>
            <a:off x="222739" y="664052"/>
            <a:ext cx="11746522" cy="2677656"/>
          </a:xfrm>
          <a:prstGeom prst="rect">
            <a:avLst/>
          </a:prstGeom>
          <a:noFill/>
        </p:spPr>
        <p:txBody>
          <a:bodyPr wrap="square" rtlCol="0">
            <a:spAutoFit/>
          </a:bodyPr>
          <a:lstStyle/>
          <a:p>
            <a:pPr indent="266700" algn="just" fontAlgn="ctr">
              <a:lnSpc>
                <a:spcPct val="150000"/>
              </a:lnSpc>
            </a:pPr>
            <a:r>
              <a:rPr lang="en-US" altLang="zh-CN" sz="2800" b="1" dirty="0">
                <a:latin typeface="Times New Roman" pitchFamily="18" charset="0"/>
                <a:ea typeface="宋体" pitchFamily="2" charset="-122"/>
              </a:rPr>
              <a:t>1.</a:t>
            </a:r>
            <a:r>
              <a:rPr lang="zh-CN" altLang="en-US" sz="2800" b="1" dirty="0">
                <a:latin typeface="Times New Roman" pitchFamily="18" charset="0"/>
                <a:ea typeface="宋体" pitchFamily="2" charset="-122"/>
              </a:rPr>
              <a:t> </a:t>
            </a:r>
            <a:r>
              <a:rPr lang="en-US" altLang="zh-CN" sz="2800" b="1" dirty="0">
                <a:latin typeface="Times New Roman" pitchFamily="18" charset="0"/>
                <a:ea typeface="宋体" pitchFamily="2" charset="-122"/>
              </a:rPr>
              <a:t>【</a:t>
            </a:r>
            <a:r>
              <a:rPr lang="zh-CN" altLang="en-US" sz="2800" b="1" dirty="0">
                <a:latin typeface="Times New Roman" pitchFamily="18" charset="0"/>
                <a:ea typeface="宋体" pitchFamily="2" charset="-122"/>
              </a:rPr>
              <a:t>螺旋扫描</a:t>
            </a:r>
            <a:r>
              <a:rPr lang="en-US" altLang="zh-CN" sz="2800" b="1" dirty="0">
                <a:latin typeface="Times New Roman" pitchFamily="18" charset="0"/>
                <a:ea typeface="宋体" pitchFamily="2" charset="-122"/>
              </a:rPr>
              <a:t>】</a:t>
            </a:r>
            <a:r>
              <a:rPr lang="zh-CN" altLang="en-US" sz="2800" b="1" dirty="0">
                <a:latin typeface="Times New Roman" pitchFamily="18" charset="0"/>
                <a:ea typeface="宋体" pitchFamily="2" charset="-122"/>
              </a:rPr>
              <a:t>操控板</a:t>
            </a:r>
            <a:endParaRPr lang="en-US" altLang="zh-CN" sz="2800" b="1" dirty="0">
              <a:latin typeface="Times New Roman" pitchFamily="18" charset="0"/>
              <a:ea typeface="宋体" pitchFamily="2" charset="-122"/>
            </a:endParaRPr>
          </a:p>
          <a:p>
            <a:pPr indent="266700" algn="just" fontAlgn="ctr">
              <a:lnSpc>
                <a:spcPct val="150000"/>
              </a:lnSpc>
            </a:pPr>
            <a:r>
              <a:rPr lang="zh-CN" altLang="en-US" sz="2800" dirty="0">
                <a:latin typeface="Times New Roman" pitchFamily="18" charset="0"/>
                <a:ea typeface="宋体" pitchFamily="2" charset="-122"/>
              </a:rPr>
              <a:t>单击功能区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模型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形状</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区域中</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扫描</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按钮旁的倒三角，单击出现的“螺旋扫描”按钮    ，弹出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螺旋扫描</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操控板，如图</a:t>
            </a:r>
            <a:r>
              <a:rPr lang="en-US" altLang="zh-CN" sz="2800" dirty="0">
                <a:latin typeface="Times New Roman" pitchFamily="18" charset="0"/>
                <a:ea typeface="宋体" pitchFamily="2" charset="-122"/>
              </a:rPr>
              <a:t>3-51</a:t>
            </a:r>
            <a:r>
              <a:rPr lang="zh-CN" altLang="en-US" sz="2800" dirty="0">
                <a:latin typeface="Times New Roman" pitchFamily="18" charset="0"/>
                <a:ea typeface="宋体" pitchFamily="2" charset="-122"/>
              </a:rPr>
              <a:t>所示。</a:t>
            </a:r>
          </a:p>
        </p:txBody>
      </p:sp>
      <p:sp>
        <p:nvSpPr>
          <p:cNvPr id="5" name="TextBox 6">
            <a:extLst>
              <a:ext uri="{FF2B5EF4-FFF2-40B4-BE49-F238E27FC236}">
                <a16:creationId xmlns:a16="http://schemas.microsoft.com/office/drawing/2014/main" id="{C029C7DC-C9DE-F299-4422-23289EEFF106}"/>
              </a:ext>
            </a:extLst>
          </p:cNvPr>
          <p:cNvSpPr txBox="1"/>
          <p:nvPr/>
        </p:nvSpPr>
        <p:spPr>
          <a:xfrm>
            <a:off x="4612261" y="5142466"/>
            <a:ext cx="2967479"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3-51 【</a:t>
            </a:r>
            <a:r>
              <a:rPr lang="zh-CN" altLang="en-US" dirty="0">
                <a:ea typeface="黑体"/>
                <a:cs typeface="Times New Roman"/>
              </a:rPr>
              <a:t>螺旋扫描</a:t>
            </a:r>
            <a:r>
              <a:rPr lang="en-US" altLang="zh-CN" dirty="0">
                <a:ea typeface="黑体"/>
                <a:cs typeface="Times New Roman"/>
              </a:rPr>
              <a:t>】</a:t>
            </a:r>
            <a:r>
              <a:rPr lang="zh-CN" altLang="en-US" dirty="0">
                <a:ea typeface="黑体"/>
                <a:cs typeface="Times New Roman"/>
              </a:rPr>
              <a:t>操控板</a:t>
            </a:r>
            <a:endParaRPr lang="zh-CN" altLang="en-US" dirty="0"/>
          </a:p>
        </p:txBody>
      </p:sp>
      <p:pic>
        <p:nvPicPr>
          <p:cNvPr id="6" name="图片 5">
            <a:extLst>
              <a:ext uri="{FF2B5EF4-FFF2-40B4-BE49-F238E27FC236}">
                <a16:creationId xmlns:a16="http://schemas.microsoft.com/office/drawing/2014/main" id="{B7A6D123-C74A-F863-040D-C2F33F1F02D4}"/>
              </a:ext>
            </a:extLst>
          </p:cNvPr>
          <p:cNvPicPr>
            <a:picLocks noChangeAspect="1"/>
          </p:cNvPicPr>
          <p:nvPr/>
        </p:nvPicPr>
        <p:blipFill>
          <a:blip r:embed="rId2"/>
          <a:stretch>
            <a:fillRect/>
          </a:stretch>
        </p:blipFill>
        <p:spPr>
          <a:xfrm>
            <a:off x="5138103" y="2276475"/>
            <a:ext cx="360001" cy="300000"/>
          </a:xfrm>
          <a:prstGeom prst="rect">
            <a:avLst/>
          </a:prstGeom>
        </p:spPr>
      </p:pic>
      <p:pic>
        <p:nvPicPr>
          <p:cNvPr id="7" name="图片 6">
            <a:extLst>
              <a:ext uri="{FF2B5EF4-FFF2-40B4-BE49-F238E27FC236}">
                <a16:creationId xmlns:a16="http://schemas.microsoft.com/office/drawing/2014/main" id="{A0F9F232-920A-CA78-B4EF-D185813796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8440" y="3474399"/>
            <a:ext cx="9475120" cy="1428998"/>
          </a:xfrm>
          <a:prstGeom prst="rect">
            <a:avLst/>
          </a:prstGeom>
        </p:spPr>
      </p:pic>
    </p:spTree>
    <p:extLst>
      <p:ext uri="{BB962C8B-B14F-4D97-AF65-F5344CB8AC3E}">
        <p14:creationId xmlns:p14="http://schemas.microsoft.com/office/powerpoint/2010/main" val="8723934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a:extLst>
              <a:ext uri="{FF2B5EF4-FFF2-40B4-BE49-F238E27FC236}">
                <a16:creationId xmlns:a16="http://schemas.microsoft.com/office/drawing/2014/main" id="{8EF6C85A-A17A-D6EB-0FF2-7ECC8471E536}"/>
              </a:ext>
            </a:extLst>
          </p:cNvPr>
          <p:cNvSpPr txBox="1"/>
          <p:nvPr/>
        </p:nvSpPr>
        <p:spPr>
          <a:xfrm>
            <a:off x="222739" y="571288"/>
            <a:ext cx="11746522" cy="5909310"/>
          </a:xfrm>
          <a:prstGeom prst="rect">
            <a:avLst/>
          </a:prstGeom>
          <a:noFill/>
        </p:spPr>
        <p:txBody>
          <a:bodyPr wrap="square" rtlCol="0">
            <a:spAutoFit/>
          </a:bodyPr>
          <a:lstStyle/>
          <a:p>
            <a:pPr indent="266700" algn="just" fontAlgn="ctr">
              <a:lnSpc>
                <a:spcPct val="150000"/>
              </a:lnSpc>
            </a:pPr>
            <a:r>
              <a:rPr lang="en-US" altLang="zh-CN" sz="2800" b="1" dirty="0">
                <a:latin typeface="Times New Roman" pitchFamily="18" charset="0"/>
                <a:ea typeface="宋体" pitchFamily="2" charset="-122"/>
              </a:rPr>
              <a:t>2</a:t>
            </a:r>
            <a:r>
              <a:rPr lang="zh-CN" altLang="en-US" sz="2800" b="1" dirty="0">
                <a:latin typeface="Times New Roman" pitchFamily="18" charset="0"/>
                <a:ea typeface="宋体" pitchFamily="2" charset="-122"/>
              </a:rPr>
              <a:t>．螺旋扫描特征控制</a:t>
            </a:r>
            <a:endParaRPr lang="en-US" altLang="zh-CN" sz="2800" b="1" dirty="0">
              <a:latin typeface="Times New Roman" pitchFamily="18" charset="0"/>
              <a:ea typeface="宋体" pitchFamily="2" charset="-122"/>
            </a:endParaRPr>
          </a:p>
          <a:p>
            <a:pPr indent="266700" algn="just" fontAlgn="ctr">
              <a:lnSpc>
                <a:spcPct val="150000"/>
              </a:lnSpc>
            </a:pPr>
            <a:r>
              <a:rPr lang="zh-CN" altLang="en-US" sz="2800" b="1" dirty="0">
                <a:latin typeface="Times New Roman" pitchFamily="18" charset="0"/>
                <a:ea typeface="宋体" pitchFamily="2" charset="-122"/>
              </a:rPr>
              <a:t>螺旋扫描类型</a:t>
            </a:r>
          </a:p>
          <a:p>
            <a:pPr indent="266700" algn="just" fontAlgn="ctr">
              <a:lnSpc>
                <a:spcPct val="150000"/>
              </a:lnSpc>
            </a:pPr>
            <a:r>
              <a:rPr lang="zh-CN" altLang="en-US" sz="2800" dirty="0">
                <a:latin typeface="Wingdings" panose="05000000000000000000" pitchFamily="2" charset="2"/>
                <a:ea typeface="宋体" pitchFamily="2" charset="-122"/>
              </a:rPr>
              <a:t></a:t>
            </a:r>
            <a:r>
              <a:rPr lang="zh-CN" altLang="en-US" sz="2800" dirty="0">
                <a:latin typeface="Times New Roman" pitchFamily="18" charset="0"/>
                <a:ea typeface="宋体" pitchFamily="2" charset="-122"/>
              </a:rPr>
              <a:t>	实体：单击</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螺旋扫描</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操控板中的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实心</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按钮    ，使其呈按下状态。</a:t>
            </a:r>
          </a:p>
          <a:p>
            <a:pPr marL="457200" indent="-457200" algn="just" fontAlgn="ctr">
              <a:lnSpc>
                <a:spcPct val="150000"/>
              </a:lnSpc>
              <a:buFont typeface="Wingdings" panose="05000000000000000000" pitchFamily="2" charset="2"/>
              <a:buChar char="q"/>
            </a:pPr>
            <a:r>
              <a:rPr lang="zh-CN" altLang="en-US" sz="2800" dirty="0">
                <a:latin typeface="Times New Roman" pitchFamily="18" charset="0"/>
                <a:ea typeface="宋体" pitchFamily="2" charset="-122"/>
              </a:rPr>
              <a:t>曲面：单击</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曲面</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按钮     ，使其呈按下状态。</a:t>
            </a:r>
            <a:endParaRPr lang="en-US" altLang="zh-CN" sz="2800" dirty="0">
              <a:latin typeface="Times New Roman" pitchFamily="18" charset="0"/>
              <a:ea typeface="宋体" pitchFamily="2" charset="-122"/>
            </a:endParaRPr>
          </a:p>
          <a:p>
            <a:pPr algn="just" fontAlgn="ctr">
              <a:lnSpc>
                <a:spcPct val="150000"/>
              </a:lnSpc>
            </a:pPr>
            <a:r>
              <a:rPr lang="zh-CN" altLang="en-US" sz="2800" b="1" dirty="0">
                <a:latin typeface="Times New Roman" pitchFamily="18" charset="0"/>
                <a:ea typeface="宋体" pitchFamily="2" charset="-122"/>
              </a:rPr>
              <a:t>螺旋扫描设置</a:t>
            </a:r>
          </a:p>
          <a:p>
            <a:pPr algn="just" fontAlgn="ctr">
              <a:lnSpc>
                <a:spcPct val="150000"/>
              </a:lnSpc>
            </a:pPr>
            <a:r>
              <a:rPr lang="zh-CN" altLang="en-US" sz="2800" dirty="0">
                <a:latin typeface="Wingdings" panose="05000000000000000000" pitchFamily="2" charset="2"/>
                <a:ea typeface="宋体" pitchFamily="2" charset="-122"/>
              </a:rPr>
              <a:t></a:t>
            </a:r>
            <a:r>
              <a:rPr lang="zh-CN" altLang="en-US" sz="2800" dirty="0">
                <a:latin typeface="Times New Roman" pitchFamily="18" charset="0"/>
                <a:ea typeface="宋体" pitchFamily="2" charset="-122"/>
              </a:rPr>
              <a:t>	移除材料：将</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实心</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按钮     和</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移除材料</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按钮      同时按下。</a:t>
            </a:r>
          </a:p>
          <a:p>
            <a:pPr algn="just" fontAlgn="ctr">
              <a:lnSpc>
                <a:spcPct val="150000"/>
              </a:lnSpc>
            </a:pPr>
            <a:r>
              <a:rPr lang="zh-CN" altLang="en-US" sz="2800" dirty="0">
                <a:latin typeface="Wingdings" panose="05000000000000000000" pitchFamily="2" charset="2"/>
                <a:ea typeface="宋体" pitchFamily="2" charset="-122"/>
              </a:rPr>
              <a:t></a:t>
            </a:r>
            <a:r>
              <a:rPr lang="zh-CN" altLang="en-US" sz="2800" dirty="0">
                <a:latin typeface="Times New Roman" pitchFamily="18" charset="0"/>
                <a:ea typeface="宋体" pitchFamily="2" charset="-122"/>
              </a:rPr>
              <a:t>	薄壳特征：将</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实心</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按钮     和</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创建薄壳</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按钮      同时按下。</a:t>
            </a:r>
          </a:p>
          <a:p>
            <a:pPr algn="just" fontAlgn="ctr">
              <a:lnSpc>
                <a:spcPct val="150000"/>
              </a:lnSpc>
            </a:pPr>
            <a:endParaRPr lang="zh-CN" altLang="en-US" sz="2800" dirty="0">
              <a:latin typeface="Times New Roman" pitchFamily="18" charset="0"/>
              <a:ea typeface="宋体" pitchFamily="2" charset="-122"/>
            </a:endParaRPr>
          </a:p>
        </p:txBody>
      </p:sp>
      <p:pic>
        <p:nvPicPr>
          <p:cNvPr id="3" name="图片 2">
            <a:extLst>
              <a:ext uri="{FF2B5EF4-FFF2-40B4-BE49-F238E27FC236}">
                <a16:creationId xmlns:a16="http://schemas.microsoft.com/office/drawing/2014/main" id="{356422A0-1F0C-5D73-C8CF-27CC1C725782}"/>
              </a:ext>
            </a:extLst>
          </p:cNvPr>
          <p:cNvPicPr>
            <a:picLocks noChangeAspect="1"/>
          </p:cNvPicPr>
          <p:nvPr/>
        </p:nvPicPr>
        <p:blipFill>
          <a:blip r:embed="rId2"/>
          <a:stretch>
            <a:fillRect/>
          </a:stretch>
        </p:blipFill>
        <p:spPr>
          <a:xfrm>
            <a:off x="9186864" y="2128985"/>
            <a:ext cx="380048" cy="380048"/>
          </a:xfrm>
          <a:prstGeom prst="rect">
            <a:avLst/>
          </a:prstGeom>
        </p:spPr>
      </p:pic>
      <p:pic>
        <p:nvPicPr>
          <p:cNvPr id="4" name="图片 3">
            <a:extLst>
              <a:ext uri="{FF2B5EF4-FFF2-40B4-BE49-F238E27FC236}">
                <a16:creationId xmlns:a16="http://schemas.microsoft.com/office/drawing/2014/main" id="{65D2FC40-94FF-2834-9EE5-5E3AD7613865}"/>
              </a:ext>
            </a:extLst>
          </p:cNvPr>
          <p:cNvPicPr>
            <a:picLocks noChangeAspect="1"/>
          </p:cNvPicPr>
          <p:nvPr/>
        </p:nvPicPr>
        <p:blipFill>
          <a:blip r:embed="rId3"/>
          <a:stretch>
            <a:fillRect/>
          </a:stretch>
        </p:blipFill>
        <p:spPr>
          <a:xfrm>
            <a:off x="4738044" y="3429000"/>
            <a:ext cx="398145" cy="380048"/>
          </a:xfrm>
          <a:prstGeom prst="rect">
            <a:avLst/>
          </a:prstGeom>
        </p:spPr>
      </p:pic>
      <p:pic>
        <p:nvPicPr>
          <p:cNvPr id="8" name="图片 7">
            <a:extLst>
              <a:ext uri="{FF2B5EF4-FFF2-40B4-BE49-F238E27FC236}">
                <a16:creationId xmlns:a16="http://schemas.microsoft.com/office/drawing/2014/main" id="{C5BF48D9-7151-C819-5B91-86642C55D71C}"/>
              </a:ext>
            </a:extLst>
          </p:cNvPr>
          <p:cNvPicPr>
            <a:picLocks noChangeAspect="1"/>
          </p:cNvPicPr>
          <p:nvPr/>
        </p:nvPicPr>
        <p:blipFill>
          <a:blip r:embed="rId2"/>
          <a:stretch>
            <a:fillRect/>
          </a:stretch>
        </p:blipFill>
        <p:spPr>
          <a:xfrm>
            <a:off x="5536248" y="4717631"/>
            <a:ext cx="380048" cy="380048"/>
          </a:xfrm>
          <a:prstGeom prst="rect">
            <a:avLst/>
          </a:prstGeom>
        </p:spPr>
      </p:pic>
      <p:pic>
        <p:nvPicPr>
          <p:cNvPr id="9" name="图片 8">
            <a:extLst>
              <a:ext uri="{FF2B5EF4-FFF2-40B4-BE49-F238E27FC236}">
                <a16:creationId xmlns:a16="http://schemas.microsoft.com/office/drawing/2014/main" id="{BE3B425F-BF80-FE6C-4161-A2498AA2D998}"/>
              </a:ext>
            </a:extLst>
          </p:cNvPr>
          <p:cNvPicPr>
            <a:picLocks noChangeAspect="1"/>
          </p:cNvPicPr>
          <p:nvPr/>
        </p:nvPicPr>
        <p:blipFill>
          <a:blip r:embed="rId2"/>
          <a:stretch>
            <a:fillRect/>
          </a:stretch>
        </p:blipFill>
        <p:spPr>
          <a:xfrm>
            <a:off x="5536248" y="5323362"/>
            <a:ext cx="380048" cy="380048"/>
          </a:xfrm>
          <a:prstGeom prst="rect">
            <a:avLst/>
          </a:prstGeom>
        </p:spPr>
      </p:pic>
      <p:pic>
        <p:nvPicPr>
          <p:cNvPr id="10" name="图片 9">
            <a:extLst>
              <a:ext uri="{FF2B5EF4-FFF2-40B4-BE49-F238E27FC236}">
                <a16:creationId xmlns:a16="http://schemas.microsoft.com/office/drawing/2014/main" id="{E739FB72-8645-D30F-02DD-B06D0D8B1F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86864" y="4686141"/>
            <a:ext cx="394391" cy="411538"/>
          </a:xfrm>
          <a:prstGeom prst="rect">
            <a:avLst/>
          </a:prstGeom>
        </p:spPr>
      </p:pic>
      <p:pic>
        <p:nvPicPr>
          <p:cNvPr id="11" name="图片 10">
            <a:extLst>
              <a:ext uri="{FF2B5EF4-FFF2-40B4-BE49-F238E27FC236}">
                <a16:creationId xmlns:a16="http://schemas.microsoft.com/office/drawing/2014/main" id="{209BF0AC-6B46-D9CD-87D0-648CB6E4CAD0}"/>
              </a:ext>
            </a:extLst>
          </p:cNvPr>
          <p:cNvPicPr>
            <a:picLocks noChangeAspect="1"/>
          </p:cNvPicPr>
          <p:nvPr/>
        </p:nvPicPr>
        <p:blipFill>
          <a:blip r:embed="rId5"/>
          <a:stretch>
            <a:fillRect/>
          </a:stretch>
        </p:blipFill>
        <p:spPr>
          <a:xfrm>
            <a:off x="9242643" y="5360510"/>
            <a:ext cx="342900" cy="342900"/>
          </a:xfrm>
          <a:prstGeom prst="rect">
            <a:avLst/>
          </a:prstGeom>
        </p:spPr>
      </p:pic>
    </p:spTree>
    <p:extLst>
      <p:ext uri="{BB962C8B-B14F-4D97-AF65-F5344CB8AC3E}">
        <p14:creationId xmlns:p14="http://schemas.microsoft.com/office/powerpoint/2010/main" val="15982885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a:extLst>
              <a:ext uri="{FF2B5EF4-FFF2-40B4-BE49-F238E27FC236}">
                <a16:creationId xmlns:a16="http://schemas.microsoft.com/office/drawing/2014/main" id="{8EF6C85A-A17A-D6EB-0FF2-7ECC8471E536}"/>
              </a:ext>
            </a:extLst>
          </p:cNvPr>
          <p:cNvSpPr txBox="1"/>
          <p:nvPr/>
        </p:nvSpPr>
        <p:spPr>
          <a:xfrm>
            <a:off x="222739" y="571288"/>
            <a:ext cx="11746522" cy="5262979"/>
          </a:xfrm>
          <a:prstGeom prst="rect">
            <a:avLst/>
          </a:prstGeom>
          <a:noFill/>
        </p:spPr>
        <p:txBody>
          <a:bodyPr wrap="square" rtlCol="0">
            <a:spAutoFit/>
          </a:bodyPr>
          <a:lstStyle/>
          <a:p>
            <a:pPr indent="266700" algn="just" fontAlgn="ctr">
              <a:lnSpc>
                <a:spcPct val="150000"/>
              </a:lnSpc>
            </a:pPr>
            <a:r>
              <a:rPr lang="zh-CN" altLang="en-US" sz="2800" b="1" dirty="0">
                <a:latin typeface="Times New Roman" pitchFamily="18" charset="0"/>
                <a:ea typeface="宋体" pitchFamily="2" charset="-122"/>
              </a:rPr>
              <a:t>扫描截面</a:t>
            </a:r>
          </a:p>
          <a:p>
            <a:pPr indent="266700" algn="just" fontAlgn="ctr">
              <a:lnSpc>
                <a:spcPct val="150000"/>
              </a:lnSpc>
            </a:pPr>
            <a:r>
              <a:rPr lang="zh-CN" altLang="en-US" sz="2800" dirty="0">
                <a:latin typeface="Times New Roman" pitchFamily="18" charset="0"/>
                <a:ea typeface="宋体" pitchFamily="2" charset="-122"/>
              </a:rPr>
              <a:t>（</a:t>
            </a:r>
            <a:r>
              <a:rPr lang="en-US" altLang="zh-CN" sz="2800" dirty="0">
                <a:latin typeface="Times New Roman" pitchFamily="18" charset="0"/>
                <a:ea typeface="宋体" pitchFamily="2" charset="-122"/>
              </a:rPr>
              <a:t>1</a:t>
            </a:r>
            <a:r>
              <a:rPr lang="zh-CN" altLang="en-US" sz="2800" dirty="0">
                <a:latin typeface="Times New Roman" pitchFamily="18" charset="0"/>
                <a:ea typeface="宋体" pitchFamily="2" charset="-122"/>
              </a:rPr>
              <a:t>）单击</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螺旋扫描</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操控板中的“草绘”按钮    ，进入草绘模式，绘制扫描截面。</a:t>
            </a:r>
          </a:p>
          <a:p>
            <a:pPr indent="266700" algn="just" fontAlgn="ctr">
              <a:lnSpc>
                <a:spcPct val="150000"/>
              </a:lnSpc>
            </a:pPr>
            <a:r>
              <a:rPr lang="zh-CN" altLang="en-US" sz="2800" dirty="0">
                <a:latin typeface="Times New Roman" pitchFamily="18" charset="0"/>
                <a:ea typeface="宋体" pitchFamily="2" charset="-122"/>
              </a:rPr>
              <a:t>（</a:t>
            </a:r>
            <a:r>
              <a:rPr lang="en-US" altLang="zh-CN" sz="2800" dirty="0">
                <a:latin typeface="Times New Roman" pitchFamily="18" charset="0"/>
                <a:ea typeface="宋体" pitchFamily="2" charset="-122"/>
              </a:rPr>
              <a:t>2</a:t>
            </a:r>
            <a:r>
              <a:rPr lang="zh-CN" altLang="en-US" sz="2800" dirty="0">
                <a:latin typeface="Times New Roman" pitchFamily="18" charset="0"/>
                <a:ea typeface="宋体" pitchFamily="2" charset="-122"/>
              </a:rPr>
              <a:t>）设置截面方向。单击操控板中的“参考”按钮，在弹出的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参考</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下滑面板中设置截面方向：</a:t>
            </a:r>
          </a:p>
          <a:p>
            <a:pPr indent="266700" algn="just" fontAlgn="ctr">
              <a:lnSpc>
                <a:spcPct val="150000"/>
              </a:lnSpc>
            </a:pPr>
            <a:r>
              <a:rPr lang="zh-CN" altLang="en-US" sz="2800" dirty="0">
                <a:latin typeface="Wingdings" panose="05000000000000000000" pitchFamily="2" charset="2"/>
                <a:ea typeface="宋体" pitchFamily="2" charset="-122"/>
              </a:rPr>
              <a:t></a:t>
            </a:r>
            <a:r>
              <a:rPr lang="zh-CN" altLang="en-US" sz="2800" dirty="0">
                <a:latin typeface="Times New Roman" pitchFamily="18" charset="0"/>
                <a:ea typeface="宋体" pitchFamily="2" charset="-122"/>
              </a:rPr>
              <a:t>	</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穿过螺旋轴</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：扫描截面位于穿过螺旋轴的平面内。</a:t>
            </a:r>
          </a:p>
          <a:p>
            <a:pPr indent="266700" algn="just" fontAlgn="ctr">
              <a:lnSpc>
                <a:spcPct val="150000"/>
              </a:lnSpc>
            </a:pPr>
            <a:r>
              <a:rPr lang="zh-CN" altLang="en-US" sz="2800" dirty="0">
                <a:latin typeface="Wingdings" panose="05000000000000000000" pitchFamily="2" charset="2"/>
                <a:ea typeface="宋体" pitchFamily="2" charset="-122"/>
              </a:rPr>
              <a:t></a:t>
            </a:r>
            <a:r>
              <a:rPr lang="zh-CN" altLang="en-US" sz="2800" dirty="0">
                <a:latin typeface="Times New Roman" pitchFamily="18" charset="0"/>
                <a:ea typeface="宋体" pitchFamily="2" charset="-122"/>
              </a:rPr>
              <a:t>	</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垂直于轨迹</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：扫描截面的法方向将与轨迹线时刻保持垂直。</a:t>
            </a:r>
          </a:p>
          <a:p>
            <a:pPr algn="just" fontAlgn="ctr">
              <a:lnSpc>
                <a:spcPct val="150000"/>
              </a:lnSpc>
            </a:pPr>
            <a:endParaRPr lang="zh-CN" altLang="en-US" sz="2800" dirty="0">
              <a:latin typeface="Times New Roman" pitchFamily="18" charset="0"/>
              <a:ea typeface="宋体" pitchFamily="2" charset="-122"/>
            </a:endParaRPr>
          </a:p>
        </p:txBody>
      </p:sp>
      <p:pic>
        <p:nvPicPr>
          <p:cNvPr id="5" name="图片 4">
            <a:extLst>
              <a:ext uri="{FF2B5EF4-FFF2-40B4-BE49-F238E27FC236}">
                <a16:creationId xmlns:a16="http://schemas.microsoft.com/office/drawing/2014/main" id="{4F9F1424-AA09-08F4-346E-BC9674E85921}"/>
              </a:ext>
            </a:extLst>
          </p:cNvPr>
          <p:cNvPicPr>
            <a:picLocks noChangeAspect="1"/>
          </p:cNvPicPr>
          <p:nvPr/>
        </p:nvPicPr>
        <p:blipFill>
          <a:blip r:embed="rId2"/>
          <a:stretch>
            <a:fillRect/>
          </a:stretch>
        </p:blipFill>
        <p:spPr>
          <a:xfrm>
            <a:off x="8268970" y="1476375"/>
            <a:ext cx="377190" cy="428625"/>
          </a:xfrm>
          <a:prstGeom prst="rect">
            <a:avLst/>
          </a:prstGeom>
        </p:spPr>
      </p:pic>
    </p:spTree>
    <p:extLst>
      <p:ext uri="{BB962C8B-B14F-4D97-AF65-F5344CB8AC3E}">
        <p14:creationId xmlns:p14="http://schemas.microsoft.com/office/powerpoint/2010/main" val="2639806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a:extLst>
              <a:ext uri="{FF2B5EF4-FFF2-40B4-BE49-F238E27FC236}">
                <a16:creationId xmlns:a16="http://schemas.microsoft.com/office/drawing/2014/main" id="{8EF6C85A-A17A-D6EB-0FF2-7ECC8471E536}"/>
              </a:ext>
            </a:extLst>
          </p:cNvPr>
          <p:cNvSpPr txBox="1"/>
          <p:nvPr/>
        </p:nvSpPr>
        <p:spPr>
          <a:xfrm>
            <a:off x="222739" y="571288"/>
            <a:ext cx="11746522" cy="5262979"/>
          </a:xfrm>
          <a:prstGeom prst="rect">
            <a:avLst/>
          </a:prstGeom>
          <a:noFill/>
        </p:spPr>
        <p:txBody>
          <a:bodyPr wrap="square" rtlCol="0">
            <a:spAutoFit/>
          </a:bodyPr>
          <a:lstStyle/>
          <a:p>
            <a:pPr indent="266700" algn="just" fontAlgn="ctr">
              <a:lnSpc>
                <a:spcPct val="150000"/>
              </a:lnSpc>
            </a:pPr>
            <a:r>
              <a:rPr lang="zh-CN" altLang="en-US" sz="2800" b="1" dirty="0">
                <a:latin typeface="Times New Roman" pitchFamily="18" charset="0"/>
                <a:ea typeface="宋体" pitchFamily="2" charset="-122"/>
              </a:rPr>
              <a:t>螺旋方向</a:t>
            </a:r>
          </a:p>
          <a:p>
            <a:pPr indent="266700" algn="just" fontAlgn="ctr">
              <a:lnSpc>
                <a:spcPct val="150000"/>
              </a:lnSpc>
            </a:pPr>
            <a:r>
              <a:rPr lang="zh-CN" altLang="en-US" sz="2800" dirty="0">
                <a:latin typeface="Times New Roman" pitchFamily="18" charset="0"/>
                <a:ea typeface="宋体" pitchFamily="2" charset="-122"/>
              </a:rPr>
              <a:t>定义轨迹的螺旋方向。</a:t>
            </a:r>
          </a:p>
          <a:p>
            <a:pPr indent="266700" algn="just" fontAlgn="ctr">
              <a:lnSpc>
                <a:spcPct val="150000"/>
              </a:lnSpc>
            </a:pPr>
            <a:r>
              <a:rPr lang="zh-CN" altLang="en-US" sz="2800" dirty="0">
                <a:latin typeface="Times New Roman" pitchFamily="18" charset="0"/>
                <a:ea typeface="宋体" pitchFamily="2" charset="-122"/>
              </a:rPr>
              <a:t>按下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螺旋扫描</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操控板中的“左手定则”按钮，创建的特征为左旋；按下功能区中的“右手定则”按钮，创建的特征为右旋。</a:t>
            </a:r>
          </a:p>
          <a:p>
            <a:pPr indent="266700" algn="just" fontAlgn="ctr">
              <a:lnSpc>
                <a:spcPct val="150000"/>
              </a:lnSpc>
            </a:pPr>
            <a:r>
              <a:rPr lang="zh-CN" altLang="en-US" sz="2800" b="1" dirty="0">
                <a:latin typeface="Times New Roman" pitchFamily="18" charset="0"/>
                <a:ea typeface="宋体" pitchFamily="2" charset="-122"/>
              </a:rPr>
              <a:t>螺距控制</a:t>
            </a:r>
          </a:p>
          <a:p>
            <a:pPr indent="266700" algn="just" fontAlgn="ctr">
              <a:lnSpc>
                <a:spcPct val="150000"/>
              </a:lnSpc>
            </a:pPr>
            <a:r>
              <a:rPr lang="zh-CN" altLang="en-US" sz="2800" dirty="0">
                <a:latin typeface="Times New Roman" pitchFamily="18" charset="0"/>
                <a:ea typeface="宋体" pitchFamily="2" charset="-122"/>
              </a:rPr>
              <a:t>单击“间距”按钮，弹出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间距</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下滑面板。通过添加“间距”来控制螺距。</a:t>
            </a:r>
          </a:p>
          <a:p>
            <a:pPr algn="just" fontAlgn="ctr">
              <a:lnSpc>
                <a:spcPct val="150000"/>
              </a:lnSpc>
            </a:pPr>
            <a:endParaRPr lang="zh-CN" altLang="en-US" sz="2800" dirty="0">
              <a:latin typeface="Times New Roman" pitchFamily="18" charset="0"/>
              <a:ea typeface="宋体" pitchFamily="2" charset="-122"/>
            </a:endParaRPr>
          </a:p>
        </p:txBody>
      </p:sp>
    </p:spTree>
    <p:extLst>
      <p:ext uri="{BB962C8B-B14F-4D97-AF65-F5344CB8AC3E}">
        <p14:creationId xmlns:p14="http://schemas.microsoft.com/office/powerpoint/2010/main" val="41798166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a:extLst>
              <a:ext uri="{FF2B5EF4-FFF2-40B4-BE49-F238E27FC236}">
                <a16:creationId xmlns:a16="http://schemas.microsoft.com/office/drawing/2014/main" id="{8EF6C85A-A17A-D6EB-0FF2-7ECC8471E536}"/>
              </a:ext>
            </a:extLst>
          </p:cNvPr>
          <p:cNvSpPr txBox="1"/>
          <p:nvPr/>
        </p:nvSpPr>
        <p:spPr>
          <a:xfrm>
            <a:off x="222739" y="285536"/>
            <a:ext cx="11746522" cy="2031325"/>
          </a:xfrm>
          <a:prstGeom prst="rect">
            <a:avLst/>
          </a:prstGeom>
          <a:noFill/>
        </p:spPr>
        <p:txBody>
          <a:bodyPr wrap="square" rtlCol="0">
            <a:spAutoFit/>
          </a:bodyPr>
          <a:lstStyle/>
          <a:p>
            <a:pPr indent="266700" algn="just" fontAlgn="ctr">
              <a:lnSpc>
                <a:spcPct val="150000"/>
              </a:lnSpc>
            </a:pPr>
            <a:r>
              <a:rPr lang="zh-CN" altLang="en-US" sz="2800" b="1" dirty="0">
                <a:latin typeface="Times New Roman" pitchFamily="18" charset="0"/>
                <a:ea typeface="宋体" pitchFamily="2" charset="-122"/>
              </a:rPr>
              <a:t>螺旋扫描实例</a:t>
            </a:r>
            <a:r>
              <a:rPr lang="en-US" altLang="zh-CN" sz="2800" b="1" dirty="0">
                <a:latin typeface="Times New Roman" pitchFamily="18" charset="0"/>
                <a:ea typeface="宋体" pitchFamily="2" charset="-122"/>
              </a:rPr>
              <a:t>—</a:t>
            </a:r>
            <a:r>
              <a:rPr lang="zh-CN" altLang="en-US" sz="2800" b="1" dirty="0">
                <a:latin typeface="Times New Roman" pitchFamily="18" charset="0"/>
                <a:ea typeface="宋体" pitchFamily="2" charset="-122"/>
              </a:rPr>
              <a:t>丝杠</a:t>
            </a:r>
            <a:endParaRPr lang="en-US" altLang="zh-CN" sz="2800" b="1" dirty="0">
              <a:latin typeface="Times New Roman" pitchFamily="18" charset="0"/>
              <a:ea typeface="宋体" pitchFamily="2" charset="-122"/>
            </a:endParaRPr>
          </a:p>
          <a:p>
            <a:pPr indent="266700" algn="just" fontAlgn="ctr">
              <a:lnSpc>
                <a:spcPct val="150000"/>
              </a:lnSpc>
            </a:pPr>
            <a:r>
              <a:rPr lang="en-US" altLang="zh-CN" sz="2800" dirty="0">
                <a:latin typeface="Times New Roman" pitchFamily="18" charset="0"/>
                <a:ea typeface="宋体" pitchFamily="2" charset="-122"/>
              </a:rPr>
              <a:t>1</a:t>
            </a:r>
            <a:r>
              <a:rPr lang="zh-CN" altLang="en-US" sz="2800" dirty="0">
                <a:latin typeface="Times New Roman" pitchFamily="18" charset="0"/>
                <a:ea typeface="宋体" pitchFamily="2" charset="-122"/>
              </a:rPr>
              <a:t>）建立一个新文件</a:t>
            </a:r>
          </a:p>
          <a:p>
            <a:pPr indent="266700" algn="just" fontAlgn="ctr">
              <a:lnSpc>
                <a:spcPct val="150000"/>
              </a:lnSpc>
            </a:pPr>
            <a:r>
              <a:rPr lang="en-US" altLang="zh-CN" sz="2800" dirty="0">
                <a:latin typeface="Times New Roman" pitchFamily="18" charset="0"/>
                <a:ea typeface="宋体" pitchFamily="2" charset="-122"/>
              </a:rPr>
              <a:t>2</a:t>
            </a:r>
            <a:r>
              <a:rPr lang="zh-CN" altLang="en-US" sz="2800" dirty="0">
                <a:latin typeface="Times New Roman" pitchFamily="18" charset="0"/>
                <a:ea typeface="宋体" pitchFamily="2" charset="-122"/>
              </a:rPr>
              <a:t>）创建丝杠主体</a:t>
            </a:r>
            <a:endParaRPr lang="en-US" altLang="zh-CN" sz="2800" dirty="0">
              <a:latin typeface="Times New Roman" pitchFamily="18" charset="0"/>
              <a:ea typeface="宋体" pitchFamily="2" charset="-122"/>
            </a:endParaRPr>
          </a:p>
        </p:txBody>
      </p:sp>
      <p:pic>
        <p:nvPicPr>
          <p:cNvPr id="3" name="图片 2">
            <a:extLst>
              <a:ext uri="{FF2B5EF4-FFF2-40B4-BE49-F238E27FC236}">
                <a16:creationId xmlns:a16="http://schemas.microsoft.com/office/drawing/2014/main" id="{56B92F74-2556-3CB6-F10F-02A759F6C5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956" y="2557461"/>
            <a:ext cx="9154088" cy="2543176"/>
          </a:xfrm>
          <a:prstGeom prst="rect">
            <a:avLst/>
          </a:prstGeom>
        </p:spPr>
      </p:pic>
      <p:sp>
        <p:nvSpPr>
          <p:cNvPr id="4" name="TextBox 6">
            <a:extLst>
              <a:ext uri="{FF2B5EF4-FFF2-40B4-BE49-F238E27FC236}">
                <a16:creationId xmlns:a16="http://schemas.microsoft.com/office/drawing/2014/main" id="{E0F3240B-2640-EE79-991F-663F9B61C7A5}"/>
              </a:ext>
            </a:extLst>
          </p:cNvPr>
          <p:cNvSpPr txBox="1"/>
          <p:nvPr/>
        </p:nvSpPr>
        <p:spPr>
          <a:xfrm>
            <a:off x="5189342" y="5213906"/>
            <a:ext cx="1813317"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3-52 </a:t>
            </a:r>
            <a:r>
              <a:rPr lang="zh-CN" altLang="en-US" dirty="0">
                <a:ea typeface="黑体"/>
                <a:cs typeface="Times New Roman"/>
              </a:rPr>
              <a:t>草绘轮廓</a:t>
            </a:r>
            <a:endParaRPr lang="zh-CN" altLang="en-US" dirty="0"/>
          </a:p>
        </p:txBody>
      </p:sp>
    </p:spTree>
    <p:extLst>
      <p:ext uri="{BB962C8B-B14F-4D97-AF65-F5344CB8AC3E}">
        <p14:creationId xmlns:p14="http://schemas.microsoft.com/office/powerpoint/2010/main" val="807489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6">
            <a:extLst>
              <a:ext uri="{FF2B5EF4-FFF2-40B4-BE49-F238E27FC236}">
                <a16:creationId xmlns:a16="http://schemas.microsoft.com/office/drawing/2014/main" id="{E0F3240B-2640-EE79-991F-663F9B61C7A5}"/>
              </a:ext>
            </a:extLst>
          </p:cNvPr>
          <p:cNvSpPr txBox="1"/>
          <p:nvPr/>
        </p:nvSpPr>
        <p:spPr>
          <a:xfrm>
            <a:off x="5189342" y="4242349"/>
            <a:ext cx="1813317"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3-53 </a:t>
            </a:r>
            <a:r>
              <a:rPr lang="zh-CN" altLang="en-US" dirty="0">
                <a:ea typeface="黑体"/>
                <a:cs typeface="Times New Roman"/>
              </a:rPr>
              <a:t>创建主体</a:t>
            </a:r>
            <a:endParaRPr lang="zh-CN" altLang="en-US" dirty="0"/>
          </a:p>
        </p:txBody>
      </p:sp>
      <p:pic>
        <p:nvPicPr>
          <p:cNvPr id="5" name="图片 4">
            <a:extLst>
              <a:ext uri="{FF2B5EF4-FFF2-40B4-BE49-F238E27FC236}">
                <a16:creationId xmlns:a16="http://schemas.microsoft.com/office/drawing/2014/main" id="{36A06C22-6FB4-FC94-5C77-5875D6FFC0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9075" y="2143442"/>
            <a:ext cx="8393851" cy="1885316"/>
          </a:xfrm>
          <a:prstGeom prst="rect">
            <a:avLst/>
          </a:prstGeom>
        </p:spPr>
      </p:pic>
    </p:spTree>
    <p:extLst>
      <p:ext uri="{BB962C8B-B14F-4D97-AF65-F5344CB8AC3E}">
        <p14:creationId xmlns:p14="http://schemas.microsoft.com/office/powerpoint/2010/main" val="328071988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a:extLst>
              <a:ext uri="{FF2B5EF4-FFF2-40B4-BE49-F238E27FC236}">
                <a16:creationId xmlns:a16="http://schemas.microsoft.com/office/drawing/2014/main" id="{8EF6C85A-A17A-D6EB-0FF2-7ECC8471E536}"/>
              </a:ext>
            </a:extLst>
          </p:cNvPr>
          <p:cNvSpPr txBox="1"/>
          <p:nvPr/>
        </p:nvSpPr>
        <p:spPr>
          <a:xfrm>
            <a:off x="222739" y="328400"/>
            <a:ext cx="11746522" cy="738664"/>
          </a:xfrm>
          <a:prstGeom prst="rect">
            <a:avLst/>
          </a:prstGeom>
          <a:noFill/>
        </p:spPr>
        <p:txBody>
          <a:bodyPr wrap="square" rtlCol="0">
            <a:spAutoFit/>
          </a:bodyPr>
          <a:lstStyle/>
          <a:p>
            <a:pPr indent="266700" algn="just" fontAlgn="ctr">
              <a:lnSpc>
                <a:spcPct val="150000"/>
              </a:lnSpc>
            </a:pPr>
            <a:r>
              <a:rPr lang="en-US" altLang="zh-CN" sz="2800" dirty="0">
                <a:latin typeface="Times New Roman" pitchFamily="18" charset="0"/>
                <a:ea typeface="宋体" pitchFamily="2" charset="-122"/>
              </a:rPr>
              <a:t>3</a:t>
            </a:r>
            <a:r>
              <a:rPr lang="zh-CN" altLang="en-US" sz="2800" dirty="0">
                <a:latin typeface="Times New Roman" pitchFamily="18" charset="0"/>
                <a:ea typeface="宋体" pitchFamily="2" charset="-122"/>
              </a:rPr>
              <a:t>）创建螺纹</a:t>
            </a:r>
            <a:endParaRPr lang="en-US" altLang="zh-CN" sz="2800" dirty="0">
              <a:latin typeface="Times New Roman" pitchFamily="18" charset="0"/>
              <a:ea typeface="宋体" pitchFamily="2" charset="-122"/>
            </a:endParaRPr>
          </a:p>
        </p:txBody>
      </p:sp>
      <p:sp>
        <p:nvSpPr>
          <p:cNvPr id="4" name="TextBox 6">
            <a:extLst>
              <a:ext uri="{FF2B5EF4-FFF2-40B4-BE49-F238E27FC236}">
                <a16:creationId xmlns:a16="http://schemas.microsoft.com/office/drawing/2014/main" id="{E0F3240B-2640-EE79-991F-663F9B61C7A5}"/>
              </a:ext>
            </a:extLst>
          </p:cNvPr>
          <p:cNvSpPr txBox="1"/>
          <p:nvPr/>
        </p:nvSpPr>
        <p:spPr>
          <a:xfrm>
            <a:off x="4496845" y="3879073"/>
            <a:ext cx="3198311"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3-54 </a:t>
            </a:r>
            <a:r>
              <a:rPr lang="zh-CN" altLang="en-US" dirty="0">
                <a:ea typeface="黑体"/>
                <a:cs typeface="Times New Roman"/>
              </a:rPr>
              <a:t>草绘螺旋轴和螺旋轮廓</a:t>
            </a:r>
            <a:endParaRPr lang="zh-CN" altLang="en-US" dirty="0"/>
          </a:p>
        </p:txBody>
      </p:sp>
      <p:pic>
        <p:nvPicPr>
          <p:cNvPr id="5" name="图片 4">
            <a:extLst>
              <a:ext uri="{FF2B5EF4-FFF2-40B4-BE49-F238E27FC236}">
                <a16:creationId xmlns:a16="http://schemas.microsoft.com/office/drawing/2014/main" id="{F9B05CF0-E96F-8F26-FFA1-09751A7FC9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4987" y="1317626"/>
            <a:ext cx="9162026" cy="2495551"/>
          </a:xfrm>
          <a:prstGeom prst="rect">
            <a:avLst/>
          </a:prstGeom>
        </p:spPr>
      </p:pic>
      <p:sp>
        <p:nvSpPr>
          <p:cNvPr id="6" name="TextBox 3">
            <a:extLst>
              <a:ext uri="{FF2B5EF4-FFF2-40B4-BE49-F238E27FC236}">
                <a16:creationId xmlns:a16="http://schemas.microsoft.com/office/drawing/2014/main" id="{1E3093AE-2F23-30BB-6684-1286439F586B}"/>
              </a:ext>
            </a:extLst>
          </p:cNvPr>
          <p:cNvSpPr txBox="1"/>
          <p:nvPr/>
        </p:nvSpPr>
        <p:spPr>
          <a:xfrm>
            <a:off x="122723" y="4086744"/>
            <a:ext cx="11746522" cy="2031325"/>
          </a:xfrm>
          <a:prstGeom prst="rect">
            <a:avLst/>
          </a:prstGeom>
          <a:noFill/>
        </p:spPr>
        <p:txBody>
          <a:bodyPr wrap="square" rtlCol="0">
            <a:spAutoFit/>
          </a:bodyPr>
          <a:lstStyle/>
          <a:p>
            <a:pPr indent="266700" algn="just" fontAlgn="ctr">
              <a:lnSpc>
                <a:spcPct val="150000"/>
              </a:lnSpc>
            </a:pPr>
            <a:r>
              <a:rPr lang="zh-CN" altLang="en-US" sz="2800" dirty="0">
                <a:latin typeface="Times New Roman" pitchFamily="18" charset="0"/>
                <a:ea typeface="宋体" pitchFamily="2" charset="-122"/>
              </a:rPr>
              <a:t>设置螺旋扫描参数。</a:t>
            </a:r>
          </a:p>
          <a:p>
            <a:pPr indent="266700" algn="just" fontAlgn="ctr">
              <a:lnSpc>
                <a:spcPct val="150000"/>
              </a:lnSpc>
            </a:pP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间距值</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下方的文本框中输入螺纹间距为</a:t>
            </a:r>
            <a:r>
              <a:rPr lang="en-US" altLang="zh-CN" sz="2800" dirty="0">
                <a:latin typeface="Times New Roman" pitchFamily="18" charset="0"/>
                <a:ea typeface="宋体" pitchFamily="2" charset="-122"/>
              </a:rPr>
              <a:t>15</a:t>
            </a: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设置</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下方按下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移除材料</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按钮下    ，其余设置保持默认。</a:t>
            </a:r>
          </a:p>
        </p:txBody>
      </p:sp>
      <p:pic>
        <p:nvPicPr>
          <p:cNvPr id="7" name="图片 6">
            <a:extLst>
              <a:ext uri="{FF2B5EF4-FFF2-40B4-BE49-F238E27FC236}">
                <a16:creationId xmlns:a16="http://schemas.microsoft.com/office/drawing/2014/main" id="{A8BB2000-F9BE-E78F-8564-A98CE6B68D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0555" y="5662783"/>
            <a:ext cx="394391" cy="411538"/>
          </a:xfrm>
          <a:prstGeom prst="rect">
            <a:avLst/>
          </a:prstGeom>
        </p:spPr>
      </p:pic>
    </p:spTree>
    <p:extLst>
      <p:ext uri="{BB962C8B-B14F-4D97-AF65-F5344CB8AC3E}">
        <p14:creationId xmlns:p14="http://schemas.microsoft.com/office/powerpoint/2010/main" val="4041202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a:extLst>
              <a:ext uri="{FF2B5EF4-FFF2-40B4-BE49-F238E27FC236}">
                <a16:creationId xmlns:a16="http://schemas.microsoft.com/office/drawing/2014/main" id="{8EF6C85A-A17A-D6EB-0FF2-7ECC8471E536}"/>
              </a:ext>
            </a:extLst>
          </p:cNvPr>
          <p:cNvSpPr txBox="1"/>
          <p:nvPr/>
        </p:nvSpPr>
        <p:spPr>
          <a:xfrm>
            <a:off x="222739" y="328400"/>
            <a:ext cx="11746522" cy="738664"/>
          </a:xfrm>
          <a:prstGeom prst="rect">
            <a:avLst/>
          </a:prstGeom>
          <a:noFill/>
        </p:spPr>
        <p:txBody>
          <a:bodyPr wrap="square" rtlCol="0">
            <a:spAutoFit/>
          </a:bodyPr>
          <a:lstStyle/>
          <a:p>
            <a:pPr indent="266700" algn="just" fontAlgn="ctr">
              <a:lnSpc>
                <a:spcPct val="150000"/>
              </a:lnSpc>
            </a:pPr>
            <a:r>
              <a:rPr lang="en-US" altLang="zh-CN" sz="2800" dirty="0">
                <a:latin typeface="Times New Roman" pitchFamily="18" charset="0"/>
                <a:ea typeface="宋体" pitchFamily="2" charset="-122"/>
              </a:rPr>
              <a:t>3</a:t>
            </a:r>
            <a:r>
              <a:rPr lang="zh-CN" altLang="en-US" sz="2800" dirty="0">
                <a:latin typeface="Times New Roman" pitchFamily="18" charset="0"/>
                <a:ea typeface="宋体" pitchFamily="2" charset="-122"/>
              </a:rPr>
              <a:t>）创建螺纹</a:t>
            </a:r>
            <a:endParaRPr lang="en-US" altLang="zh-CN" sz="2800" dirty="0">
              <a:latin typeface="Times New Roman" pitchFamily="18" charset="0"/>
              <a:ea typeface="宋体" pitchFamily="2" charset="-122"/>
            </a:endParaRPr>
          </a:p>
        </p:txBody>
      </p:sp>
      <p:sp>
        <p:nvSpPr>
          <p:cNvPr id="4" name="TextBox 6">
            <a:extLst>
              <a:ext uri="{FF2B5EF4-FFF2-40B4-BE49-F238E27FC236}">
                <a16:creationId xmlns:a16="http://schemas.microsoft.com/office/drawing/2014/main" id="{E0F3240B-2640-EE79-991F-663F9B61C7A5}"/>
              </a:ext>
            </a:extLst>
          </p:cNvPr>
          <p:cNvSpPr txBox="1"/>
          <p:nvPr/>
        </p:nvSpPr>
        <p:spPr>
          <a:xfrm>
            <a:off x="1478733" y="5353607"/>
            <a:ext cx="1813317"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3-55 </a:t>
            </a:r>
            <a:r>
              <a:rPr lang="zh-CN" altLang="en-US" dirty="0">
                <a:ea typeface="黑体"/>
                <a:cs typeface="Times New Roman"/>
              </a:rPr>
              <a:t>草绘轮廓</a:t>
            </a:r>
            <a:endParaRPr lang="zh-CN" altLang="en-US" dirty="0"/>
          </a:p>
        </p:txBody>
      </p:sp>
      <p:pic>
        <p:nvPicPr>
          <p:cNvPr id="3" name="图片 2">
            <a:extLst>
              <a:ext uri="{FF2B5EF4-FFF2-40B4-BE49-F238E27FC236}">
                <a16:creationId xmlns:a16="http://schemas.microsoft.com/office/drawing/2014/main" id="{425E62FB-9927-56AA-6710-B461A9E28937}"/>
              </a:ext>
            </a:extLst>
          </p:cNvPr>
          <p:cNvPicPr>
            <a:picLocks noChangeAspect="1"/>
          </p:cNvPicPr>
          <p:nvPr/>
        </p:nvPicPr>
        <p:blipFill rotWithShape="1">
          <a:blip r:embed="rId2">
            <a:extLst>
              <a:ext uri="{28A0092B-C50C-407E-A947-70E740481C1C}">
                <a14:useLocalDpi xmlns:a14="http://schemas.microsoft.com/office/drawing/2010/main" val="0"/>
              </a:ext>
            </a:extLst>
          </a:blip>
          <a:srcRect t="6857" b="6286"/>
          <a:stretch/>
        </p:blipFill>
        <p:spPr bwMode="auto">
          <a:xfrm>
            <a:off x="519875" y="1674664"/>
            <a:ext cx="3778187" cy="3440675"/>
          </a:xfrm>
          <a:prstGeom prst="rect">
            <a:avLst/>
          </a:prstGeom>
          <a:ln>
            <a:noFill/>
          </a:ln>
          <a:extLst>
            <a:ext uri="{53640926-AAD7-44D8-BBD7-CCE9431645EC}">
              <a14:shadowObscured xmlns:a14="http://schemas.microsoft.com/office/drawing/2010/main"/>
            </a:ext>
          </a:extLst>
        </p:spPr>
      </p:pic>
      <p:pic>
        <p:nvPicPr>
          <p:cNvPr id="8" name="图片 7">
            <a:extLst>
              <a:ext uri="{FF2B5EF4-FFF2-40B4-BE49-F238E27FC236}">
                <a16:creationId xmlns:a16="http://schemas.microsoft.com/office/drawing/2014/main" id="{C9D44296-437C-BC25-2862-CB763E8A4C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12729" y="2686526"/>
            <a:ext cx="6252775" cy="1484948"/>
          </a:xfrm>
          <a:prstGeom prst="rect">
            <a:avLst/>
          </a:prstGeom>
        </p:spPr>
      </p:pic>
      <p:sp>
        <p:nvSpPr>
          <p:cNvPr id="9" name="TextBox 6">
            <a:extLst>
              <a:ext uri="{FF2B5EF4-FFF2-40B4-BE49-F238E27FC236}">
                <a16:creationId xmlns:a16="http://schemas.microsoft.com/office/drawing/2014/main" id="{C78A6B04-8512-7D53-9998-2E3D112164A1}"/>
              </a:ext>
            </a:extLst>
          </p:cNvPr>
          <p:cNvSpPr txBox="1"/>
          <p:nvPr/>
        </p:nvSpPr>
        <p:spPr>
          <a:xfrm>
            <a:off x="7456543" y="5353607"/>
            <a:ext cx="2274982"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3-56 </a:t>
            </a:r>
            <a:r>
              <a:rPr lang="zh-CN" altLang="en-US" dirty="0">
                <a:ea typeface="黑体"/>
                <a:cs typeface="Times New Roman"/>
              </a:rPr>
              <a:t>螺旋扫描结果</a:t>
            </a:r>
            <a:endParaRPr lang="zh-CN" altLang="en-US" dirty="0"/>
          </a:p>
        </p:txBody>
      </p:sp>
    </p:spTree>
    <p:extLst>
      <p:ext uri="{BB962C8B-B14F-4D97-AF65-F5344CB8AC3E}">
        <p14:creationId xmlns:p14="http://schemas.microsoft.com/office/powerpoint/2010/main" val="18362406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a:extLst>
              <a:ext uri="{FF2B5EF4-FFF2-40B4-BE49-F238E27FC236}">
                <a16:creationId xmlns:a16="http://schemas.microsoft.com/office/drawing/2014/main" id="{8EF6C85A-A17A-D6EB-0FF2-7ECC8471E536}"/>
              </a:ext>
            </a:extLst>
          </p:cNvPr>
          <p:cNvSpPr txBox="1"/>
          <p:nvPr/>
        </p:nvSpPr>
        <p:spPr>
          <a:xfrm>
            <a:off x="222739" y="619947"/>
            <a:ext cx="11746522" cy="2677656"/>
          </a:xfrm>
          <a:prstGeom prst="rect">
            <a:avLst/>
          </a:prstGeom>
          <a:noFill/>
        </p:spPr>
        <p:txBody>
          <a:bodyPr wrap="square" rtlCol="0">
            <a:spAutoFit/>
          </a:bodyPr>
          <a:lstStyle/>
          <a:p>
            <a:pPr indent="266700" algn="just" fontAlgn="ctr">
              <a:lnSpc>
                <a:spcPct val="150000"/>
              </a:lnSpc>
            </a:pPr>
            <a:r>
              <a:rPr lang="en-US" altLang="zh-CN" sz="2800" dirty="0">
                <a:latin typeface="Times New Roman" pitchFamily="18" charset="0"/>
                <a:ea typeface="宋体" pitchFamily="2" charset="-122"/>
              </a:rPr>
              <a:t>4</a:t>
            </a:r>
            <a:r>
              <a:rPr lang="zh-CN" altLang="en-US" sz="2800" dirty="0">
                <a:latin typeface="Times New Roman" pitchFamily="18" charset="0"/>
                <a:ea typeface="宋体" pitchFamily="2" charset="-122"/>
              </a:rPr>
              <a:t>）倒角</a:t>
            </a:r>
          </a:p>
          <a:p>
            <a:pPr indent="266700" algn="just" fontAlgn="ctr">
              <a:lnSpc>
                <a:spcPct val="150000"/>
              </a:lnSpc>
            </a:pPr>
            <a:r>
              <a:rPr lang="zh-CN" altLang="en-US" sz="2800" dirty="0">
                <a:latin typeface="Times New Roman" pitchFamily="18" charset="0"/>
                <a:ea typeface="宋体" pitchFamily="2" charset="-122"/>
              </a:rPr>
              <a:t>为丝杠两顶端端面轮廓倒角，倒角值为</a:t>
            </a:r>
            <a:r>
              <a:rPr lang="en-US" altLang="zh-CN" sz="2800" dirty="0">
                <a:latin typeface="Times New Roman" pitchFamily="18" charset="0"/>
                <a:ea typeface="宋体" pitchFamily="2" charset="-122"/>
              </a:rPr>
              <a:t>1</a:t>
            </a:r>
            <a:r>
              <a:rPr lang="zh-CN" altLang="en-US" sz="2800" dirty="0">
                <a:latin typeface="Times New Roman" pitchFamily="18" charset="0"/>
                <a:ea typeface="宋体" pitchFamily="2" charset="-122"/>
              </a:rPr>
              <a:t>。</a:t>
            </a:r>
          </a:p>
          <a:p>
            <a:pPr indent="266700" algn="just" fontAlgn="ctr">
              <a:lnSpc>
                <a:spcPct val="150000"/>
              </a:lnSpc>
            </a:pPr>
            <a:r>
              <a:rPr lang="en-US" altLang="zh-CN" sz="2800" dirty="0">
                <a:latin typeface="Times New Roman" pitchFamily="18" charset="0"/>
                <a:ea typeface="宋体" pitchFamily="2" charset="-122"/>
              </a:rPr>
              <a:t>5</a:t>
            </a:r>
            <a:r>
              <a:rPr lang="zh-CN" altLang="en-US" sz="2800" dirty="0">
                <a:latin typeface="Times New Roman" pitchFamily="18" charset="0"/>
                <a:ea typeface="宋体" pitchFamily="2" charset="-122"/>
              </a:rPr>
              <a:t>）倒圆角</a:t>
            </a:r>
          </a:p>
          <a:p>
            <a:pPr indent="266700" algn="just" fontAlgn="ctr">
              <a:lnSpc>
                <a:spcPct val="150000"/>
              </a:lnSpc>
            </a:pPr>
            <a:r>
              <a:rPr lang="zh-CN" altLang="en-US" sz="2800" dirty="0">
                <a:latin typeface="Times New Roman" pitchFamily="18" charset="0"/>
                <a:ea typeface="宋体" pitchFamily="2" charset="-122"/>
              </a:rPr>
              <a:t>为丝杠两端圆柱台阶处倒圆角，圆角半径为</a:t>
            </a:r>
            <a:r>
              <a:rPr lang="en-US" altLang="zh-CN" sz="2800" dirty="0">
                <a:latin typeface="Times New Roman" pitchFamily="18" charset="0"/>
                <a:ea typeface="宋体" pitchFamily="2" charset="-122"/>
              </a:rPr>
              <a:t>5</a:t>
            </a:r>
            <a:r>
              <a:rPr lang="zh-CN" altLang="en-US" sz="2800" dirty="0">
                <a:latin typeface="Times New Roman" pitchFamily="18" charset="0"/>
                <a:ea typeface="宋体" pitchFamily="2" charset="-122"/>
              </a:rPr>
              <a:t>。</a:t>
            </a:r>
          </a:p>
        </p:txBody>
      </p:sp>
    </p:spTree>
    <p:extLst>
      <p:ext uri="{BB962C8B-B14F-4D97-AF65-F5344CB8AC3E}">
        <p14:creationId xmlns:p14="http://schemas.microsoft.com/office/powerpoint/2010/main" val="248105043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05FA94-1FF5-9271-5895-345FA502C79D}"/>
              </a:ext>
            </a:extLst>
          </p:cNvPr>
          <p:cNvSpPr txBox="1"/>
          <p:nvPr/>
        </p:nvSpPr>
        <p:spPr>
          <a:xfrm>
            <a:off x="460562" y="470647"/>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3.5</a:t>
            </a:r>
            <a:r>
              <a:rPr lang="zh-CN" altLang="en-US" sz="3200" dirty="0">
                <a:solidFill>
                  <a:schemeClr val="bg1"/>
                </a:solidFill>
                <a:latin typeface="Times New Roman" pitchFamily="18" charset="0"/>
                <a:ea typeface="黑体" pitchFamily="49" charset="-122"/>
              </a:rPr>
              <a:t>混合</a:t>
            </a:r>
            <a:endParaRPr lang="en-US" altLang="zh-CN" sz="3200" dirty="0">
              <a:solidFill>
                <a:schemeClr val="bg1"/>
              </a:solidFill>
              <a:latin typeface="Times New Roman" pitchFamily="18" charset="0"/>
              <a:ea typeface="黑体" pitchFamily="49" charset="-122"/>
            </a:endParaRPr>
          </a:p>
        </p:txBody>
      </p:sp>
      <p:sp>
        <p:nvSpPr>
          <p:cNvPr id="3" name="TextBox 3">
            <a:extLst>
              <a:ext uri="{FF2B5EF4-FFF2-40B4-BE49-F238E27FC236}">
                <a16:creationId xmlns:a16="http://schemas.microsoft.com/office/drawing/2014/main" id="{169742F7-9B96-289D-7F26-E5007A84B671}"/>
              </a:ext>
            </a:extLst>
          </p:cNvPr>
          <p:cNvSpPr txBox="1"/>
          <p:nvPr/>
        </p:nvSpPr>
        <p:spPr>
          <a:xfrm>
            <a:off x="222739" y="1154381"/>
            <a:ext cx="11746522" cy="3970318"/>
          </a:xfrm>
          <a:prstGeom prst="rect">
            <a:avLst/>
          </a:prstGeom>
          <a:noFill/>
        </p:spPr>
        <p:txBody>
          <a:bodyPr wrap="square" rtlCol="0">
            <a:spAutoFit/>
          </a:bodyPr>
          <a:lstStyle/>
          <a:p>
            <a:pPr indent="266700" algn="just" fontAlgn="ctr">
              <a:lnSpc>
                <a:spcPct val="150000"/>
              </a:lnSpc>
            </a:pPr>
            <a:r>
              <a:rPr lang="zh-CN" altLang="en-US" sz="2800" dirty="0">
                <a:latin typeface="Times New Roman" pitchFamily="18" charset="0"/>
                <a:ea typeface="宋体" pitchFamily="2" charset="-122"/>
              </a:rPr>
              <a:t>混合特征就是将一组截面在其边线处用过渡曲面连接形成的一个连续的特征。创建混合特征至少需要两个截面。</a:t>
            </a:r>
            <a:endParaRPr lang="en-US" altLang="zh-CN" sz="2800" dirty="0">
              <a:latin typeface="Times New Roman" pitchFamily="18" charset="0"/>
              <a:ea typeface="宋体" pitchFamily="2" charset="-122"/>
            </a:endParaRPr>
          </a:p>
          <a:p>
            <a:pPr indent="266700" algn="just" fontAlgn="ctr">
              <a:lnSpc>
                <a:spcPct val="150000"/>
              </a:lnSpc>
            </a:pPr>
            <a:r>
              <a:rPr lang="en-US" altLang="zh-CN" sz="2800" dirty="0">
                <a:latin typeface="Times New Roman" pitchFamily="18" charset="0"/>
                <a:ea typeface="宋体" pitchFamily="2" charset="-122"/>
              </a:rPr>
              <a:t>1</a:t>
            </a:r>
            <a:r>
              <a:rPr lang="zh-CN" altLang="en-US" sz="2800" dirty="0">
                <a:latin typeface="Times New Roman" pitchFamily="18" charset="0"/>
                <a:ea typeface="宋体" pitchFamily="2" charset="-122"/>
              </a:rPr>
              <a:t>．</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混合</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操控板</a:t>
            </a:r>
          </a:p>
          <a:p>
            <a:pPr indent="266700" algn="just" fontAlgn="ctr">
              <a:lnSpc>
                <a:spcPct val="150000"/>
              </a:lnSpc>
            </a:pPr>
            <a:r>
              <a:rPr lang="zh-CN" altLang="en-US" sz="2800" dirty="0">
                <a:latin typeface="Times New Roman" pitchFamily="18" charset="0"/>
                <a:ea typeface="宋体" pitchFamily="2" charset="-122"/>
              </a:rPr>
              <a:t>单击功能区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模型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形状</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按钮    ，单击出现的“混合”按钮 ，打开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混合</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操控板，如图</a:t>
            </a:r>
            <a:r>
              <a:rPr lang="en-US" altLang="zh-CN" sz="2800" dirty="0">
                <a:latin typeface="Times New Roman" pitchFamily="18" charset="0"/>
                <a:ea typeface="宋体" pitchFamily="2" charset="-122"/>
              </a:rPr>
              <a:t>3-57</a:t>
            </a:r>
            <a:r>
              <a:rPr lang="zh-CN" altLang="en-US" sz="2800" dirty="0">
                <a:latin typeface="Times New Roman" pitchFamily="18" charset="0"/>
                <a:ea typeface="宋体" pitchFamily="2" charset="-122"/>
              </a:rPr>
              <a:t>所示。</a:t>
            </a:r>
          </a:p>
          <a:p>
            <a:pPr indent="266700" algn="just" fontAlgn="ctr">
              <a:lnSpc>
                <a:spcPct val="150000"/>
              </a:lnSpc>
            </a:pPr>
            <a:endParaRPr lang="zh-CN" altLang="en-US" sz="2800" dirty="0">
              <a:latin typeface="Times New Roman" pitchFamily="18" charset="0"/>
              <a:ea typeface="宋体" pitchFamily="2" charset="-122"/>
            </a:endParaRPr>
          </a:p>
        </p:txBody>
      </p:sp>
      <p:sp>
        <p:nvSpPr>
          <p:cNvPr id="5" name="TextBox 6">
            <a:extLst>
              <a:ext uri="{FF2B5EF4-FFF2-40B4-BE49-F238E27FC236}">
                <a16:creationId xmlns:a16="http://schemas.microsoft.com/office/drawing/2014/main" id="{B1945C12-C0B2-E371-95B8-FDED4B48D757}"/>
              </a:ext>
            </a:extLst>
          </p:cNvPr>
          <p:cNvSpPr txBox="1"/>
          <p:nvPr/>
        </p:nvSpPr>
        <p:spPr>
          <a:xfrm>
            <a:off x="4869542" y="5962883"/>
            <a:ext cx="2452916"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3-57【</a:t>
            </a:r>
            <a:r>
              <a:rPr lang="zh-CN" altLang="en-US" dirty="0">
                <a:ea typeface="黑体"/>
                <a:cs typeface="Times New Roman"/>
              </a:rPr>
              <a:t>混合</a:t>
            </a:r>
            <a:r>
              <a:rPr lang="en-US" altLang="zh-CN" dirty="0">
                <a:ea typeface="黑体"/>
                <a:cs typeface="Times New Roman"/>
              </a:rPr>
              <a:t>】</a:t>
            </a:r>
            <a:r>
              <a:rPr lang="zh-CN" altLang="en-US" dirty="0">
                <a:ea typeface="黑体"/>
                <a:cs typeface="Times New Roman"/>
              </a:rPr>
              <a:t>操控板</a:t>
            </a:r>
            <a:endParaRPr lang="zh-CN" altLang="en-US" dirty="0"/>
          </a:p>
        </p:txBody>
      </p:sp>
      <p:pic>
        <p:nvPicPr>
          <p:cNvPr id="6" name="图片 5">
            <a:extLst>
              <a:ext uri="{FF2B5EF4-FFF2-40B4-BE49-F238E27FC236}">
                <a16:creationId xmlns:a16="http://schemas.microsoft.com/office/drawing/2014/main" id="{4AF84229-F75D-EB2F-49DF-FEA960E1E9F7}"/>
              </a:ext>
            </a:extLst>
          </p:cNvPr>
          <p:cNvPicPr>
            <a:picLocks noChangeAspect="1"/>
          </p:cNvPicPr>
          <p:nvPr/>
        </p:nvPicPr>
        <p:blipFill>
          <a:blip r:embed="rId2"/>
          <a:stretch>
            <a:fillRect/>
          </a:stretch>
        </p:blipFill>
        <p:spPr>
          <a:xfrm>
            <a:off x="7801293" y="3386138"/>
            <a:ext cx="291429" cy="325714"/>
          </a:xfrm>
          <a:prstGeom prst="rect">
            <a:avLst/>
          </a:prstGeom>
        </p:spPr>
      </p:pic>
      <p:pic>
        <p:nvPicPr>
          <p:cNvPr id="7" name="图片 6">
            <a:extLst>
              <a:ext uri="{FF2B5EF4-FFF2-40B4-BE49-F238E27FC236}">
                <a16:creationId xmlns:a16="http://schemas.microsoft.com/office/drawing/2014/main" id="{26F343A3-69BC-3612-7290-9221FFFD27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2336" y="4444772"/>
            <a:ext cx="9287328" cy="1359853"/>
          </a:xfrm>
          <a:prstGeom prst="rect">
            <a:avLst/>
          </a:prstGeom>
        </p:spPr>
      </p:pic>
    </p:spTree>
    <p:extLst>
      <p:ext uri="{BB962C8B-B14F-4D97-AF65-F5344CB8AC3E}">
        <p14:creationId xmlns:p14="http://schemas.microsoft.com/office/powerpoint/2010/main" val="321847069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3AD8D947-EB86-8C29-1D12-BAB16FB16E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5804" y="1551067"/>
            <a:ext cx="5474975" cy="3190240"/>
          </a:xfrm>
          <a:prstGeom prst="rect">
            <a:avLst/>
          </a:prstGeom>
        </p:spPr>
      </p:pic>
      <p:sp>
        <p:nvSpPr>
          <p:cNvPr id="3" name="TextBox 6">
            <a:extLst>
              <a:ext uri="{FF2B5EF4-FFF2-40B4-BE49-F238E27FC236}">
                <a16:creationId xmlns:a16="http://schemas.microsoft.com/office/drawing/2014/main" id="{28991AF4-F703-037B-8DE6-9680F891789D}"/>
              </a:ext>
            </a:extLst>
          </p:cNvPr>
          <p:cNvSpPr txBox="1"/>
          <p:nvPr/>
        </p:nvSpPr>
        <p:spPr>
          <a:xfrm>
            <a:off x="2182376" y="5122267"/>
            <a:ext cx="2683748"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3-58【</a:t>
            </a:r>
            <a:r>
              <a:rPr lang="zh-CN" altLang="en-US" dirty="0">
                <a:ea typeface="黑体"/>
                <a:cs typeface="Times New Roman"/>
              </a:rPr>
              <a:t>截面</a:t>
            </a:r>
            <a:r>
              <a:rPr lang="en-US" altLang="zh-CN" dirty="0">
                <a:ea typeface="黑体"/>
                <a:cs typeface="Times New Roman"/>
              </a:rPr>
              <a:t>】</a:t>
            </a:r>
            <a:r>
              <a:rPr lang="zh-CN" altLang="en-US" dirty="0">
                <a:ea typeface="黑体"/>
                <a:cs typeface="Times New Roman"/>
              </a:rPr>
              <a:t>下滑面板</a:t>
            </a:r>
            <a:endParaRPr lang="zh-CN" altLang="en-US" dirty="0"/>
          </a:p>
        </p:txBody>
      </p:sp>
      <p:pic>
        <p:nvPicPr>
          <p:cNvPr id="4" name="图片 3">
            <a:extLst>
              <a:ext uri="{FF2B5EF4-FFF2-40B4-BE49-F238E27FC236}">
                <a16:creationId xmlns:a16="http://schemas.microsoft.com/office/drawing/2014/main" id="{B90B85F0-3BA3-2EDB-3586-711C3FAFBF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18071" y="1551068"/>
            <a:ext cx="4154779" cy="3268470"/>
          </a:xfrm>
          <a:prstGeom prst="rect">
            <a:avLst/>
          </a:prstGeom>
        </p:spPr>
      </p:pic>
      <p:sp>
        <p:nvSpPr>
          <p:cNvPr id="5" name="TextBox 6">
            <a:extLst>
              <a:ext uri="{FF2B5EF4-FFF2-40B4-BE49-F238E27FC236}">
                <a16:creationId xmlns:a16="http://schemas.microsoft.com/office/drawing/2014/main" id="{5244A6E8-28DC-216F-5298-9A3C9A073C7F}"/>
              </a:ext>
            </a:extLst>
          </p:cNvPr>
          <p:cNvSpPr txBox="1"/>
          <p:nvPr/>
        </p:nvSpPr>
        <p:spPr>
          <a:xfrm>
            <a:off x="7927137" y="5122267"/>
            <a:ext cx="2736647"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3-59 【</a:t>
            </a:r>
            <a:r>
              <a:rPr lang="zh-CN" altLang="en-US" dirty="0">
                <a:ea typeface="黑体"/>
                <a:cs typeface="Times New Roman"/>
              </a:rPr>
              <a:t>选项</a:t>
            </a:r>
            <a:r>
              <a:rPr lang="en-US" altLang="zh-CN" dirty="0">
                <a:ea typeface="黑体"/>
                <a:cs typeface="Times New Roman"/>
              </a:rPr>
              <a:t>】</a:t>
            </a:r>
            <a:r>
              <a:rPr lang="zh-CN" altLang="en-US" dirty="0">
                <a:ea typeface="黑体"/>
                <a:cs typeface="Times New Roman"/>
              </a:rPr>
              <a:t>下滑面板</a:t>
            </a:r>
            <a:endParaRPr lang="zh-CN" altLang="en-US" dirty="0"/>
          </a:p>
        </p:txBody>
      </p:sp>
    </p:spTree>
    <p:extLst>
      <p:ext uri="{BB962C8B-B14F-4D97-AF65-F5344CB8AC3E}">
        <p14:creationId xmlns:p14="http://schemas.microsoft.com/office/powerpoint/2010/main" val="34052030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169742F7-9B96-289D-7F26-E5007A84B671}"/>
              </a:ext>
            </a:extLst>
          </p:cNvPr>
          <p:cNvSpPr txBox="1"/>
          <p:nvPr/>
        </p:nvSpPr>
        <p:spPr>
          <a:xfrm>
            <a:off x="222739" y="882915"/>
            <a:ext cx="11746522" cy="3970318"/>
          </a:xfrm>
          <a:prstGeom prst="rect">
            <a:avLst/>
          </a:prstGeom>
          <a:noFill/>
        </p:spPr>
        <p:txBody>
          <a:bodyPr wrap="square" rtlCol="0">
            <a:spAutoFit/>
          </a:bodyPr>
          <a:lstStyle/>
          <a:p>
            <a:pPr indent="266700" algn="just" fontAlgn="ctr">
              <a:lnSpc>
                <a:spcPct val="150000"/>
              </a:lnSpc>
            </a:pPr>
            <a:r>
              <a:rPr lang="zh-CN" altLang="en-US" sz="2800" b="1" dirty="0">
                <a:latin typeface="Times New Roman" pitchFamily="18" charset="0"/>
                <a:ea typeface="宋体" pitchFamily="2" charset="-122"/>
              </a:rPr>
              <a:t>混合特征截面要求</a:t>
            </a:r>
          </a:p>
          <a:p>
            <a:pPr indent="266700" algn="just" fontAlgn="ctr">
              <a:lnSpc>
                <a:spcPct val="150000"/>
              </a:lnSpc>
            </a:pPr>
            <a:r>
              <a:rPr lang="zh-CN" altLang="en-US" sz="2800" dirty="0">
                <a:latin typeface="Times New Roman" pitchFamily="18" charset="0"/>
                <a:ea typeface="宋体" pitchFamily="2" charset="-122"/>
              </a:rPr>
              <a:t>混合特征各截面必须满足以下要求：</a:t>
            </a:r>
          </a:p>
          <a:p>
            <a:pPr indent="266700" algn="just" fontAlgn="ctr">
              <a:lnSpc>
                <a:spcPct val="150000"/>
              </a:lnSpc>
            </a:pPr>
            <a:r>
              <a:rPr lang="en-US" altLang="zh-CN" sz="2800" dirty="0">
                <a:latin typeface="Times New Roman" pitchFamily="18" charset="0"/>
                <a:ea typeface="宋体" pitchFamily="2" charset="-122"/>
              </a:rPr>
              <a:t>1</a:t>
            </a:r>
            <a:r>
              <a:rPr lang="zh-CN" altLang="en-US" sz="2800" dirty="0">
                <a:latin typeface="Times New Roman" pitchFamily="18" charset="0"/>
                <a:ea typeface="宋体" pitchFamily="2" charset="-122"/>
              </a:rPr>
              <a:t>）可使用多个截面定义混合特征，至少要有两个截面。</a:t>
            </a:r>
          </a:p>
          <a:p>
            <a:pPr indent="266700" algn="just" fontAlgn="ctr">
              <a:lnSpc>
                <a:spcPct val="150000"/>
              </a:lnSpc>
            </a:pPr>
            <a:r>
              <a:rPr lang="en-US" altLang="zh-CN" sz="2800" dirty="0">
                <a:latin typeface="Times New Roman" pitchFamily="18" charset="0"/>
                <a:ea typeface="宋体" pitchFamily="2" charset="-122"/>
              </a:rPr>
              <a:t>2</a:t>
            </a:r>
            <a:r>
              <a:rPr lang="zh-CN" altLang="en-US" sz="2800" dirty="0">
                <a:latin typeface="Times New Roman" pitchFamily="18" charset="0"/>
                <a:ea typeface="宋体" pitchFamily="2" charset="-122"/>
              </a:rPr>
              <a:t>）混合为实体时每个截面草图必须封闭。</a:t>
            </a:r>
          </a:p>
          <a:p>
            <a:pPr indent="266700" algn="just" fontAlgn="ctr">
              <a:lnSpc>
                <a:spcPct val="150000"/>
              </a:lnSpc>
            </a:pPr>
            <a:r>
              <a:rPr lang="en-US" altLang="zh-CN" sz="2800" dirty="0">
                <a:latin typeface="Times New Roman" pitchFamily="18" charset="0"/>
                <a:ea typeface="宋体" pitchFamily="2" charset="-122"/>
              </a:rPr>
              <a:t>3</a:t>
            </a:r>
            <a:r>
              <a:rPr lang="zh-CN" altLang="en-US" sz="2800" dirty="0">
                <a:latin typeface="Times New Roman" pitchFamily="18" charset="0"/>
                <a:ea typeface="宋体" pitchFamily="2" charset="-122"/>
              </a:rPr>
              <a:t>）每个截面只允许有一个环。</a:t>
            </a:r>
          </a:p>
          <a:p>
            <a:pPr indent="266700" algn="just" fontAlgn="ctr">
              <a:lnSpc>
                <a:spcPct val="150000"/>
              </a:lnSpc>
            </a:pPr>
            <a:r>
              <a:rPr lang="en-US" altLang="zh-CN" sz="2800" dirty="0">
                <a:latin typeface="Times New Roman" pitchFamily="18" charset="0"/>
                <a:ea typeface="宋体" pitchFamily="2" charset="-122"/>
              </a:rPr>
              <a:t>4</a:t>
            </a:r>
            <a:r>
              <a:rPr lang="zh-CN" altLang="en-US" sz="2800" dirty="0">
                <a:latin typeface="Times New Roman" pitchFamily="18" charset="0"/>
                <a:ea typeface="宋体" pitchFamily="2" charset="-122"/>
              </a:rPr>
              <a:t>）每个截面草图的顶点数量必须相同。</a:t>
            </a:r>
          </a:p>
        </p:txBody>
      </p:sp>
    </p:spTree>
    <p:extLst>
      <p:ext uri="{BB962C8B-B14F-4D97-AF65-F5344CB8AC3E}">
        <p14:creationId xmlns:p14="http://schemas.microsoft.com/office/powerpoint/2010/main" val="31220510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169742F7-9B96-289D-7F26-E5007A84B671}"/>
              </a:ext>
            </a:extLst>
          </p:cNvPr>
          <p:cNvSpPr txBox="1"/>
          <p:nvPr/>
        </p:nvSpPr>
        <p:spPr>
          <a:xfrm>
            <a:off x="222739" y="454287"/>
            <a:ext cx="11746522" cy="5909310"/>
          </a:xfrm>
          <a:prstGeom prst="rect">
            <a:avLst/>
          </a:prstGeom>
          <a:noFill/>
        </p:spPr>
        <p:txBody>
          <a:bodyPr wrap="square" rtlCol="0">
            <a:spAutoFit/>
          </a:bodyPr>
          <a:lstStyle/>
          <a:p>
            <a:pPr indent="266700" algn="just" fontAlgn="ctr">
              <a:lnSpc>
                <a:spcPct val="150000"/>
              </a:lnSpc>
            </a:pPr>
            <a:r>
              <a:rPr lang="zh-CN" altLang="en-US" sz="2800" dirty="0">
                <a:latin typeface="Times New Roman" pitchFamily="18" charset="0"/>
                <a:ea typeface="宋体" pitchFamily="2" charset="-122"/>
              </a:rPr>
              <a:t>当截面草图的顶点数不相同时，可采用以下两种方法使得每个截面草图的顶点数量相同：</a:t>
            </a:r>
          </a:p>
          <a:p>
            <a:pPr indent="266700" algn="just" fontAlgn="ctr">
              <a:lnSpc>
                <a:spcPct val="150000"/>
              </a:lnSpc>
            </a:pPr>
            <a:r>
              <a:rPr lang="zh-CN" altLang="en-US" sz="2800" dirty="0">
                <a:latin typeface="Times New Roman" pitchFamily="18" charset="0"/>
                <a:ea typeface="宋体" pitchFamily="2" charset="-122"/>
              </a:rPr>
              <a:t>方法一：利用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分割</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按钮把图元打断 ，产生数量相同的顶点。</a:t>
            </a:r>
          </a:p>
          <a:p>
            <a:pPr indent="266700" algn="just" fontAlgn="ctr">
              <a:lnSpc>
                <a:spcPct val="150000"/>
              </a:lnSpc>
            </a:pPr>
            <a:r>
              <a:rPr lang="zh-CN" altLang="en-US" sz="2800" dirty="0">
                <a:latin typeface="Times New Roman" pitchFamily="18" charset="0"/>
                <a:ea typeface="宋体" pitchFamily="2" charset="-122"/>
              </a:rPr>
              <a:t>方法二：利用混合顶点。混合边界会从一个截面的顶点混合至另一截面的顶点，每个顶点一般只允许一条边界通过。若单击选中顶点并按鼠标右键，在弹出的快捷菜单中选取</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混合顶点</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选项，便会在顶点处显示小圆圈符号，将允许多条边界通过。在同一个截面中可加设多个混合顶点，在同一个顶点处也可加设多个混合顶点。值得注意的是，各个截面草图的顶点数量加混合顶点的数量必须相等。</a:t>
            </a:r>
          </a:p>
        </p:txBody>
      </p:sp>
    </p:spTree>
    <p:extLst>
      <p:ext uri="{BB962C8B-B14F-4D97-AF65-F5344CB8AC3E}">
        <p14:creationId xmlns:p14="http://schemas.microsoft.com/office/powerpoint/2010/main" val="280702716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169742F7-9B96-289D-7F26-E5007A84B671}"/>
              </a:ext>
            </a:extLst>
          </p:cNvPr>
          <p:cNvSpPr txBox="1"/>
          <p:nvPr/>
        </p:nvSpPr>
        <p:spPr>
          <a:xfrm>
            <a:off x="222739" y="454287"/>
            <a:ext cx="11746522" cy="2031325"/>
          </a:xfrm>
          <a:prstGeom prst="rect">
            <a:avLst/>
          </a:prstGeom>
          <a:noFill/>
        </p:spPr>
        <p:txBody>
          <a:bodyPr wrap="square" rtlCol="0">
            <a:spAutoFit/>
          </a:bodyPr>
          <a:lstStyle/>
          <a:p>
            <a:pPr indent="266700" algn="just" fontAlgn="ctr">
              <a:lnSpc>
                <a:spcPct val="150000"/>
              </a:lnSpc>
            </a:pPr>
            <a:r>
              <a:rPr lang="zh-CN" altLang="en-US" sz="2800" dirty="0">
                <a:latin typeface="Times New Roman" pitchFamily="18" charset="0"/>
                <a:ea typeface="宋体" pitchFamily="2" charset="-122"/>
              </a:rPr>
              <a:t>混合建模实例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圆柱铣刀</a:t>
            </a:r>
            <a:endParaRPr lang="en-US" altLang="zh-CN" sz="2800" dirty="0">
              <a:latin typeface="Times New Roman" pitchFamily="18" charset="0"/>
              <a:ea typeface="宋体" pitchFamily="2" charset="-122"/>
            </a:endParaRPr>
          </a:p>
          <a:p>
            <a:pPr indent="266700" algn="just" fontAlgn="ctr">
              <a:lnSpc>
                <a:spcPct val="150000"/>
              </a:lnSpc>
            </a:pPr>
            <a:r>
              <a:rPr lang="en-US" altLang="zh-CN" sz="2800" dirty="0">
                <a:latin typeface="Times New Roman" pitchFamily="18" charset="0"/>
                <a:ea typeface="宋体" pitchFamily="2" charset="-122"/>
              </a:rPr>
              <a:t>1</a:t>
            </a:r>
            <a:r>
              <a:rPr lang="zh-CN" altLang="en-US" sz="2800" dirty="0">
                <a:latin typeface="Times New Roman" pitchFamily="18" charset="0"/>
                <a:ea typeface="宋体" pitchFamily="2" charset="-122"/>
              </a:rPr>
              <a:t>）建立一个新文件</a:t>
            </a:r>
            <a:endParaRPr lang="en-US" altLang="zh-CN" sz="2800" dirty="0">
              <a:latin typeface="Times New Roman" pitchFamily="18" charset="0"/>
              <a:ea typeface="宋体" pitchFamily="2" charset="-122"/>
            </a:endParaRPr>
          </a:p>
          <a:p>
            <a:pPr indent="266700" algn="just" fontAlgn="ctr">
              <a:lnSpc>
                <a:spcPct val="150000"/>
              </a:lnSpc>
            </a:pPr>
            <a:r>
              <a:rPr lang="en-US" altLang="zh-CN" sz="2800" dirty="0">
                <a:latin typeface="Times New Roman" pitchFamily="18" charset="0"/>
                <a:ea typeface="宋体" pitchFamily="2" charset="-122"/>
              </a:rPr>
              <a:t>2</a:t>
            </a:r>
            <a:r>
              <a:rPr lang="zh-CN" altLang="en-US" sz="2800" dirty="0">
                <a:latin typeface="Times New Roman" pitchFamily="18" charset="0"/>
                <a:ea typeface="宋体" pitchFamily="2" charset="-122"/>
              </a:rPr>
              <a:t>）创建铣刀截面草图</a:t>
            </a:r>
            <a:r>
              <a:rPr lang="en-US" altLang="zh-CN" sz="2800" dirty="0">
                <a:latin typeface="Times New Roman" pitchFamily="18" charset="0"/>
                <a:ea typeface="宋体" pitchFamily="2" charset="-122"/>
              </a:rPr>
              <a:t>1</a:t>
            </a:r>
            <a:endParaRPr lang="zh-CN" altLang="en-US" sz="2800" dirty="0">
              <a:latin typeface="Times New Roman" pitchFamily="18" charset="0"/>
              <a:ea typeface="宋体" pitchFamily="2" charset="-122"/>
            </a:endParaRPr>
          </a:p>
        </p:txBody>
      </p:sp>
      <p:pic>
        <p:nvPicPr>
          <p:cNvPr id="2" name="图片 1">
            <a:extLst>
              <a:ext uri="{FF2B5EF4-FFF2-40B4-BE49-F238E27FC236}">
                <a16:creationId xmlns:a16="http://schemas.microsoft.com/office/drawing/2014/main" id="{DAAC8B4E-05D2-2986-2998-F3461934FC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6288" y="1018116"/>
            <a:ext cx="4791796" cy="4582584"/>
          </a:xfrm>
          <a:prstGeom prst="rect">
            <a:avLst/>
          </a:prstGeom>
        </p:spPr>
      </p:pic>
      <p:sp>
        <p:nvSpPr>
          <p:cNvPr id="4" name="TextBox 6">
            <a:extLst>
              <a:ext uri="{FF2B5EF4-FFF2-40B4-BE49-F238E27FC236}">
                <a16:creationId xmlns:a16="http://schemas.microsoft.com/office/drawing/2014/main" id="{5B371009-0D7F-E1B9-DC0D-BE3FFBA80CD2}"/>
              </a:ext>
            </a:extLst>
          </p:cNvPr>
          <p:cNvSpPr txBox="1"/>
          <p:nvPr/>
        </p:nvSpPr>
        <p:spPr>
          <a:xfrm>
            <a:off x="5540811" y="5740946"/>
            <a:ext cx="2339102"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3-60</a:t>
            </a:r>
            <a:r>
              <a:rPr lang="zh-CN" altLang="en-US" dirty="0">
                <a:ea typeface="黑体"/>
                <a:cs typeface="Times New Roman"/>
              </a:rPr>
              <a:t>铣刀截面草图</a:t>
            </a:r>
            <a:r>
              <a:rPr lang="en-US" altLang="zh-CN" dirty="0">
                <a:ea typeface="黑体"/>
                <a:cs typeface="Times New Roman"/>
              </a:rPr>
              <a:t>1</a:t>
            </a:r>
            <a:endParaRPr lang="zh-CN" altLang="en-US" dirty="0"/>
          </a:p>
        </p:txBody>
      </p:sp>
    </p:spTree>
    <p:extLst>
      <p:ext uri="{BB962C8B-B14F-4D97-AF65-F5344CB8AC3E}">
        <p14:creationId xmlns:p14="http://schemas.microsoft.com/office/powerpoint/2010/main" val="385724118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169742F7-9B96-289D-7F26-E5007A84B671}"/>
              </a:ext>
            </a:extLst>
          </p:cNvPr>
          <p:cNvSpPr txBox="1"/>
          <p:nvPr/>
        </p:nvSpPr>
        <p:spPr>
          <a:xfrm>
            <a:off x="222739" y="454287"/>
            <a:ext cx="11746522" cy="738664"/>
          </a:xfrm>
          <a:prstGeom prst="rect">
            <a:avLst/>
          </a:prstGeom>
          <a:noFill/>
        </p:spPr>
        <p:txBody>
          <a:bodyPr wrap="square" rtlCol="0">
            <a:spAutoFit/>
          </a:bodyPr>
          <a:lstStyle/>
          <a:p>
            <a:pPr indent="266700" algn="just" fontAlgn="ctr">
              <a:lnSpc>
                <a:spcPct val="150000"/>
              </a:lnSpc>
            </a:pPr>
            <a:r>
              <a:rPr lang="en-US" altLang="zh-CN" sz="2800" dirty="0">
                <a:latin typeface="Times New Roman" pitchFamily="18" charset="0"/>
                <a:ea typeface="宋体" pitchFamily="2" charset="-122"/>
              </a:rPr>
              <a:t>3</a:t>
            </a:r>
            <a:r>
              <a:rPr lang="zh-CN" altLang="en-US" sz="2800" dirty="0">
                <a:latin typeface="Times New Roman" pitchFamily="18" charset="0"/>
                <a:ea typeface="宋体" pitchFamily="2" charset="-122"/>
              </a:rPr>
              <a:t>）创建铣刀截面组</a:t>
            </a:r>
          </a:p>
        </p:txBody>
      </p:sp>
      <p:sp>
        <p:nvSpPr>
          <p:cNvPr id="4" name="TextBox 6">
            <a:extLst>
              <a:ext uri="{FF2B5EF4-FFF2-40B4-BE49-F238E27FC236}">
                <a16:creationId xmlns:a16="http://schemas.microsoft.com/office/drawing/2014/main" id="{5B371009-0D7F-E1B9-DC0D-BE3FFBA80CD2}"/>
              </a:ext>
            </a:extLst>
          </p:cNvPr>
          <p:cNvSpPr txBox="1"/>
          <p:nvPr/>
        </p:nvSpPr>
        <p:spPr>
          <a:xfrm>
            <a:off x="5457455" y="5255160"/>
            <a:ext cx="2505815"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3-61 </a:t>
            </a:r>
            <a:r>
              <a:rPr lang="zh-CN" altLang="en-US" dirty="0">
                <a:ea typeface="黑体"/>
                <a:cs typeface="Times New Roman"/>
              </a:rPr>
              <a:t>铣刀截面草图组</a:t>
            </a:r>
            <a:endParaRPr lang="zh-CN" altLang="en-US" dirty="0"/>
          </a:p>
        </p:txBody>
      </p:sp>
      <p:pic>
        <p:nvPicPr>
          <p:cNvPr id="5" name="图片 4">
            <a:extLst>
              <a:ext uri="{FF2B5EF4-FFF2-40B4-BE49-F238E27FC236}">
                <a16:creationId xmlns:a16="http://schemas.microsoft.com/office/drawing/2014/main" id="{06A56EF0-E365-D1A2-03CB-3F5F2BC0C2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1636" y="1057592"/>
            <a:ext cx="6808728" cy="4228783"/>
          </a:xfrm>
          <a:prstGeom prst="rect">
            <a:avLst/>
          </a:prstGeom>
        </p:spPr>
      </p:pic>
    </p:spTree>
    <p:extLst>
      <p:ext uri="{BB962C8B-B14F-4D97-AF65-F5344CB8AC3E}">
        <p14:creationId xmlns:p14="http://schemas.microsoft.com/office/powerpoint/2010/main" val="249702578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169742F7-9B96-289D-7F26-E5007A84B671}"/>
              </a:ext>
            </a:extLst>
          </p:cNvPr>
          <p:cNvSpPr txBox="1"/>
          <p:nvPr/>
        </p:nvSpPr>
        <p:spPr>
          <a:xfrm>
            <a:off x="222739" y="454287"/>
            <a:ext cx="11746522" cy="738664"/>
          </a:xfrm>
          <a:prstGeom prst="rect">
            <a:avLst/>
          </a:prstGeom>
          <a:noFill/>
        </p:spPr>
        <p:txBody>
          <a:bodyPr wrap="square" rtlCol="0">
            <a:spAutoFit/>
          </a:bodyPr>
          <a:lstStyle/>
          <a:p>
            <a:pPr indent="266700" algn="just" fontAlgn="ctr">
              <a:lnSpc>
                <a:spcPct val="150000"/>
              </a:lnSpc>
            </a:pPr>
            <a:r>
              <a:rPr lang="en-US" altLang="zh-CN" sz="2800" dirty="0">
                <a:latin typeface="Times New Roman" pitchFamily="18" charset="0"/>
                <a:ea typeface="宋体" pitchFamily="2" charset="-122"/>
              </a:rPr>
              <a:t>4</a:t>
            </a:r>
            <a:r>
              <a:rPr lang="zh-CN" altLang="en-US" sz="2800" dirty="0">
                <a:latin typeface="Times New Roman" pitchFamily="18" charset="0"/>
                <a:ea typeface="宋体" pitchFamily="2" charset="-122"/>
              </a:rPr>
              <a:t>）创建圆柱铣刀主体</a:t>
            </a:r>
          </a:p>
        </p:txBody>
      </p:sp>
      <p:sp>
        <p:nvSpPr>
          <p:cNvPr id="4" name="TextBox 6">
            <a:extLst>
              <a:ext uri="{FF2B5EF4-FFF2-40B4-BE49-F238E27FC236}">
                <a16:creationId xmlns:a16="http://schemas.microsoft.com/office/drawing/2014/main" id="{5B371009-0D7F-E1B9-DC0D-BE3FFBA80CD2}"/>
              </a:ext>
            </a:extLst>
          </p:cNvPr>
          <p:cNvSpPr txBox="1"/>
          <p:nvPr/>
        </p:nvSpPr>
        <p:spPr>
          <a:xfrm>
            <a:off x="4727677" y="4869394"/>
            <a:ext cx="2736647"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3-62 </a:t>
            </a:r>
            <a:r>
              <a:rPr lang="zh-CN" altLang="en-US" dirty="0">
                <a:ea typeface="黑体"/>
                <a:cs typeface="Times New Roman"/>
              </a:rPr>
              <a:t>创建圆柱铣刀主体</a:t>
            </a:r>
            <a:endParaRPr lang="zh-CN" altLang="en-US" dirty="0"/>
          </a:p>
        </p:txBody>
      </p:sp>
      <p:pic>
        <p:nvPicPr>
          <p:cNvPr id="2" name="图片 1">
            <a:extLst>
              <a:ext uri="{FF2B5EF4-FFF2-40B4-BE49-F238E27FC236}">
                <a16:creationId xmlns:a16="http://schemas.microsoft.com/office/drawing/2014/main" id="{3CA3B2EB-9436-57A1-C80B-D43E3EA063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72498" y="1731949"/>
            <a:ext cx="5247005" cy="2903517"/>
          </a:xfrm>
          <a:prstGeom prst="rect">
            <a:avLst/>
          </a:prstGeom>
        </p:spPr>
      </p:pic>
    </p:spTree>
    <p:extLst>
      <p:ext uri="{BB962C8B-B14F-4D97-AF65-F5344CB8AC3E}">
        <p14:creationId xmlns:p14="http://schemas.microsoft.com/office/powerpoint/2010/main" val="208641685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169742F7-9B96-289D-7F26-E5007A84B671}"/>
              </a:ext>
            </a:extLst>
          </p:cNvPr>
          <p:cNvSpPr txBox="1"/>
          <p:nvPr/>
        </p:nvSpPr>
        <p:spPr>
          <a:xfrm>
            <a:off x="222739" y="454287"/>
            <a:ext cx="11746522" cy="738664"/>
          </a:xfrm>
          <a:prstGeom prst="rect">
            <a:avLst/>
          </a:prstGeom>
          <a:noFill/>
        </p:spPr>
        <p:txBody>
          <a:bodyPr wrap="square" rtlCol="0">
            <a:spAutoFit/>
          </a:bodyPr>
          <a:lstStyle/>
          <a:p>
            <a:pPr indent="266700" algn="just" fontAlgn="ctr">
              <a:lnSpc>
                <a:spcPct val="150000"/>
              </a:lnSpc>
            </a:pPr>
            <a:r>
              <a:rPr lang="en-US" altLang="zh-CN" sz="2800" dirty="0">
                <a:latin typeface="Times New Roman" pitchFamily="18" charset="0"/>
                <a:ea typeface="宋体" pitchFamily="2" charset="-122"/>
              </a:rPr>
              <a:t>5</a:t>
            </a:r>
            <a:r>
              <a:rPr lang="zh-CN" altLang="en-US" sz="2800" dirty="0">
                <a:latin typeface="Times New Roman" pitchFamily="18" charset="0"/>
                <a:ea typeface="宋体" pitchFamily="2" charset="-122"/>
              </a:rPr>
              <a:t>）创建轴孔和键槽</a:t>
            </a:r>
          </a:p>
        </p:txBody>
      </p:sp>
      <p:sp>
        <p:nvSpPr>
          <p:cNvPr id="4" name="TextBox 6">
            <a:extLst>
              <a:ext uri="{FF2B5EF4-FFF2-40B4-BE49-F238E27FC236}">
                <a16:creationId xmlns:a16="http://schemas.microsoft.com/office/drawing/2014/main" id="{5B371009-0D7F-E1B9-DC0D-BE3FFBA80CD2}"/>
              </a:ext>
            </a:extLst>
          </p:cNvPr>
          <p:cNvSpPr txBox="1"/>
          <p:nvPr/>
        </p:nvSpPr>
        <p:spPr>
          <a:xfrm>
            <a:off x="1057938" y="5143937"/>
            <a:ext cx="3145413"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3-63</a:t>
            </a:r>
            <a:r>
              <a:rPr lang="zh-CN" altLang="en-US" dirty="0">
                <a:ea typeface="黑体"/>
                <a:cs typeface="Times New Roman"/>
              </a:rPr>
              <a:t>草绘的轴孔和键槽轮廓</a:t>
            </a:r>
            <a:endParaRPr lang="zh-CN" altLang="en-US" dirty="0"/>
          </a:p>
        </p:txBody>
      </p:sp>
      <p:pic>
        <p:nvPicPr>
          <p:cNvPr id="5" name="图片 4">
            <a:extLst>
              <a:ext uri="{FF2B5EF4-FFF2-40B4-BE49-F238E27FC236}">
                <a16:creationId xmlns:a16="http://schemas.microsoft.com/office/drawing/2014/main" id="{E78C738C-1F27-34F9-4E2A-DC3E4FDAFAF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7104" y="1529397"/>
            <a:ext cx="3327083" cy="3339997"/>
          </a:xfrm>
          <a:prstGeom prst="rect">
            <a:avLst/>
          </a:prstGeom>
        </p:spPr>
      </p:pic>
      <p:pic>
        <p:nvPicPr>
          <p:cNvPr id="6" name="图片 5">
            <a:extLst>
              <a:ext uri="{FF2B5EF4-FFF2-40B4-BE49-F238E27FC236}">
                <a16:creationId xmlns:a16="http://schemas.microsoft.com/office/drawing/2014/main" id="{74E5E0AE-3580-205E-79A3-FA86ABBA48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40676" y="2006547"/>
            <a:ext cx="4514278" cy="2385696"/>
          </a:xfrm>
          <a:prstGeom prst="rect">
            <a:avLst/>
          </a:prstGeom>
        </p:spPr>
      </p:pic>
      <p:sp>
        <p:nvSpPr>
          <p:cNvPr id="7" name="TextBox 6">
            <a:extLst>
              <a:ext uri="{FF2B5EF4-FFF2-40B4-BE49-F238E27FC236}">
                <a16:creationId xmlns:a16="http://schemas.microsoft.com/office/drawing/2014/main" id="{2A12976F-669B-4295-7EA5-6E2AA7C91C5A}"/>
              </a:ext>
            </a:extLst>
          </p:cNvPr>
          <p:cNvSpPr txBox="1"/>
          <p:nvPr/>
        </p:nvSpPr>
        <p:spPr>
          <a:xfrm>
            <a:off x="6529491" y="5143937"/>
            <a:ext cx="2736647"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3-64</a:t>
            </a:r>
            <a:r>
              <a:rPr lang="zh-CN" altLang="en-US" dirty="0">
                <a:ea typeface="黑体"/>
                <a:cs typeface="Times New Roman"/>
              </a:rPr>
              <a:t>创建的轴孔和键槽</a:t>
            </a:r>
            <a:endParaRPr lang="zh-CN" altLang="en-US" dirty="0"/>
          </a:p>
        </p:txBody>
      </p:sp>
    </p:spTree>
    <p:extLst>
      <p:ext uri="{BB962C8B-B14F-4D97-AF65-F5344CB8AC3E}">
        <p14:creationId xmlns:p14="http://schemas.microsoft.com/office/powerpoint/2010/main" val="9942367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169742F7-9B96-289D-7F26-E5007A84B671}"/>
              </a:ext>
            </a:extLst>
          </p:cNvPr>
          <p:cNvSpPr txBox="1"/>
          <p:nvPr/>
        </p:nvSpPr>
        <p:spPr>
          <a:xfrm>
            <a:off x="222739" y="482863"/>
            <a:ext cx="11164399" cy="3323987"/>
          </a:xfrm>
          <a:prstGeom prst="rect">
            <a:avLst/>
          </a:prstGeom>
          <a:noFill/>
        </p:spPr>
        <p:txBody>
          <a:bodyPr wrap="square" rtlCol="0">
            <a:spAutoFit/>
          </a:bodyPr>
          <a:lstStyle/>
          <a:p>
            <a:pPr indent="266700" algn="just" fontAlgn="ctr">
              <a:lnSpc>
                <a:spcPct val="150000"/>
              </a:lnSpc>
            </a:pPr>
            <a:r>
              <a:rPr lang="en-US" altLang="zh-CN" sz="2800" dirty="0">
                <a:latin typeface="Times New Roman" pitchFamily="18" charset="0"/>
                <a:ea typeface="宋体" pitchFamily="2" charset="-122"/>
              </a:rPr>
              <a:t>6</a:t>
            </a:r>
            <a:r>
              <a:rPr lang="zh-CN" altLang="en-US" sz="2800" dirty="0">
                <a:latin typeface="Times New Roman" pitchFamily="18" charset="0"/>
                <a:ea typeface="宋体" pitchFamily="2" charset="-122"/>
              </a:rPr>
              <a:t>）创建倒圆角</a:t>
            </a:r>
            <a:endParaRPr lang="en-US" altLang="zh-CN" sz="2800" dirty="0">
              <a:latin typeface="Times New Roman" pitchFamily="18" charset="0"/>
              <a:ea typeface="宋体" pitchFamily="2" charset="-122"/>
            </a:endParaRPr>
          </a:p>
          <a:p>
            <a:pPr indent="266700" algn="just" fontAlgn="ctr">
              <a:lnSpc>
                <a:spcPct val="150000"/>
              </a:lnSpc>
            </a:pPr>
            <a:r>
              <a:rPr lang="zh-CN" altLang="en-US" sz="2800" dirty="0">
                <a:latin typeface="Times New Roman" pitchFamily="18" charset="0"/>
                <a:ea typeface="宋体" pitchFamily="2" charset="-122"/>
              </a:rPr>
              <a:t>单击功能区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工程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区域中的“倒圆角”按钮，界面顶部显示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倒圆角</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操控板，输入圆角半径为</a:t>
            </a:r>
            <a:r>
              <a:rPr lang="en-US" altLang="zh-CN" sz="2800" dirty="0">
                <a:latin typeface="Times New Roman" pitchFamily="18" charset="0"/>
                <a:ea typeface="宋体" pitchFamily="2" charset="-122"/>
              </a:rPr>
              <a:t>2</a:t>
            </a:r>
            <a:r>
              <a:rPr lang="zh-CN" altLang="en-US" sz="2800" dirty="0">
                <a:latin typeface="Times New Roman" pitchFamily="18" charset="0"/>
                <a:ea typeface="宋体" pitchFamily="2" charset="-122"/>
              </a:rPr>
              <a:t>，按住“</a:t>
            </a:r>
            <a:r>
              <a:rPr lang="en-US" altLang="zh-CN" sz="2800" dirty="0">
                <a:latin typeface="Times New Roman" pitchFamily="18" charset="0"/>
                <a:ea typeface="宋体" pitchFamily="2" charset="-122"/>
              </a:rPr>
              <a:t>Ctrl”</a:t>
            </a:r>
            <a:r>
              <a:rPr lang="zh-CN" altLang="en-US" sz="2800" dirty="0">
                <a:latin typeface="Times New Roman" pitchFamily="18" charset="0"/>
                <a:ea typeface="宋体" pitchFamily="2" charset="-122"/>
              </a:rPr>
              <a:t>键分别选取切削刃与圆柱之间的交线，单击“确认”按钮，完成倒圆角，最后保存当前建立的圆柱铣刀模型。</a:t>
            </a:r>
          </a:p>
        </p:txBody>
      </p:sp>
    </p:spTree>
    <p:extLst>
      <p:ext uri="{BB962C8B-B14F-4D97-AF65-F5344CB8AC3E}">
        <p14:creationId xmlns:p14="http://schemas.microsoft.com/office/powerpoint/2010/main" val="9590229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05FA94-1FF5-9271-5895-345FA502C79D}"/>
              </a:ext>
            </a:extLst>
          </p:cNvPr>
          <p:cNvSpPr txBox="1"/>
          <p:nvPr/>
        </p:nvSpPr>
        <p:spPr>
          <a:xfrm>
            <a:off x="460562" y="470647"/>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3.6 </a:t>
            </a:r>
            <a:r>
              <a:rPr lang="zh-CN" altLang="en-US" sz="3200" dirty="0">
                <a:solidFill>
                  <a:schemeClr val="bg1"/>
                </a:solidFill>
                <a:latin typeface="Times New Roman" pitchFamily="18" charset="0"/>
                <a:ea typeface="黑体" pitchFamily="49" charset="-122"/>
              </a:rPr>
              <a:t>扫描混合</a:t>
            </a:r>
            <a:endParaRPr lang="en-US" altLang="zh-CN" sz="3200" dirty="0">
              <a:solidFill>
                <a:schemeClr val="bg1"/>
              </a:solidFill>
              <a:latin typeface="Times New Roman" pitchFamily="18" charset="0"/>
              <a:ea typeface="黑体" pitchFamily="49" charset="-122"/>
            </a:endParaRPr>
          </a:p>
        </p:txBody>
      </p:sp>
      <p:sp>
        <p:nvSpPr>
          <p:cNvPr id="3" name="TextBox 3">
            <a:extLst>
              <a:ext uri="{FF2B5EF4-FFF2-40B4-BE49-F238E27FC236}">
                <a16:creationId xmlns:a16="http://schemas.microsoft.com/office/drawing/2014/main" id="{169742F7-9B96-289D-7F26-E5007A84B671}"/>
              </a:ext>
            </a:extLst>
          </p:cNvPr>
          <p:cNvSpPr txBox="1"/>
          <p:nvPr/>
        </p:nvSpPr>
        <p:spPr>
          <a:xfrm>
            <a:off x="222739" y="1268685"/>
            <a:ext cx="11746522" cy="3323987"/>
          </a:xfrm>
          <a:prstGeom prst="rect">
            <a:avLst/>
          </a:prstGeom>
          <a:noFill/>
        </p:spPr>
        <p:txBody>
          <a:bodyPr wrap="square" rtlCol="0">
            <a:spAutoFit/>
          </a:bodyPr>
          <a:lstStyle/>
          <a:p>
            <a:pPr indent="266700" algn="just" fontAlgn="ctr">
              <a:lnSpc>
                <a:spcPct val="150000"/>
              </a:lnSpc>
            </a:pPr>
            <a:r>
              <a:rPr lang="zh-CN" altLang="en-US" sz="2800" dirty="0">
                <a:latin typeface="Times New Roman" pitchFamily="18" charset="0"/>
                <a:ea typeface="宋体" pitchFamily="2" charset="-122"/>
              </a:rPr>
              <a:t>扫描混合特征是沿着一条轨迹线将多个截面用过渡曲面连接而形成的特征。扫描混合可以具有两种轨迹：原点轨迹（必需）和第二轨迹（可选）。每个扫描混合特征必须具有至少两个截面，用户也可以根据需要在这两个截面间添加截面。扫描混合的轨迹曲线由用户定义，可以是草绘曲线、基准曲线或边。</a:t>
            </a:r>
          </a:p>
        </p:txBody>
      </p:sp>
    </p:spTree>
    <p:extLst>
      <p:ext uri="{BB962C8B-B14F-4D97-AF65-F5344CB8AC3E}">
        <p14:creationId xmlns:p14="http://schemas.microsoft.com/office/powerpoint/2010/main" val="193128113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169742F7-9B96-289D-7F26-E5007A84B671}"/>
              </a:ext>
            </a:extLst>
          </p:cNvPr>
          <p:cNvSpPr txBox="1"/>
          <p:nvPr/>
        </p:nvSpPr>
        <p:spPr>
          <a:xfrm>
            <a:off x="222739" y="1154381"/>
            <a:ext cx="11746522" cy="2031325"/>
          </a:xfrm>
          <a:prstGeom prst="rect">
            <a:avLst/>
          </a:prstGeom>
          <a:noFill/>
        </p:spPr>
        <p:txBody>
          <a:bodyPr wrap="square" rtlCol="0">
            <a:spAutoFit/>
          </a:bodyPr>
          <a:lstStyle/>
          <a:p>
            <a:pPr indent="266700" algn="just" fontAlgn="ctr">
              <a:lnSpc>
                <a:spcPct val="150000"/>
              </a:lnSpc>
            </a:pPr>
            <a:r>
              <a:rPr lang="en-US" altLang="zh-CN" sz="2800" dirty="0">
                <a:latin typeface="Times New Roman" pitchFamily="18" charset="0"/>
                <a:ea typeface="宋体" pitchFamily="2" charset="-122"/>
              </a:rPr>
              <a:t>1</a:t>
            </a:r>
            <a:r>
              <a:rPr lang="zh-CN" altLang="en-US" sz="2800" dirty="0">
                <a:latin typeface="Times New Roman" pitchFamily="18" charset="0"/>
                <a:ea typeface="宋体" pitchFamily="2" charset="-122"/>
              </a:rPr>
              <a:t>．</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扫描混合</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操控板</a:t>
            </a:r>
            <a:endParaRPr lang="en-US" altLang="zh-CN" sz="2800" dirty="0">
              <a:latin typeface="Times New Roman" pitchFamily="18" charset="0"/>
              <a:ea typeface="宋体" pitchFamily="2" charset="-122"/>
            </a:endParaRPr>
          </a:p>
          <a:p>
            <a:pPr indent="266700" algn="just" fontAlgn="ctr">
              <a:lnSpc>
                <a:spcPct val="150000"/>
              </a:lnSpc>
            </a:pPr>
            <a:r>
              <a:rPr lang="zh-CN" altLang="en-US" sz="2800" dirty="0">
                <a:latin typeface="Times New Roman" pitchFamily="18" charset="0"/>
                <a:ea typeface="宋体" pitchFamily="2" charset="-122"/>
              </a:rPr>
              <a:t>单击功能区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模型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形状</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区域中的“扫描混合”按钮    ，弹出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扫描混合</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操控板，如图</a:t>
            </a:r>
            <a:r>
              <a:rPr lang="en-US" altLang="zh-CN" sz="2800" dirty="0">
                <a:latin typeface="Times New Roman" pitchFamily="18" charset="0"/>
                <a:ea typeface="宋体" pitchFamily="2" charset="-122"/>
              </a:rPr>
              <a:t>3-65</a:t>
            </a:r>
            <a:r>
              <a:rPr lang="zh-CN" altLang="en-US" sz="2800" dirty="0">
                <a:latin typeface="Times New Roman" pitchFamily="18" charset="0"/>
                <a:ea typeface="宋体" pitchFamily="2" charset="-122"/>
              </a:rPr>
              <a:t>所示。</a:t>
            </a:r>
          </a:p>
        </p:txBody>
      </p:sp>
      <p:sp>
        <p:nvSpPr>
          <p:cNvPr id="5" name="TextBox 6">
            <a:extLst>
              <a:ext uri="{FF2B5EF4-FFF2-40B4-BE49-F238E27FC236}">
                <a16:creationId xmlns:a16="http://schemas.microsoft.com/office/drawing/2014/main" id="{B1945C12-C0B2-E371-95B8-FDED4B48D757}"/>
              </a:ext>
            </a:extLst>
          </p:cNvPr>
          <p:cNvSpPr txBox="1"/>
          <p:nvPr/>
        </p:nvSpPr>
        <p:spPr>
          <a:xfrm>
            <a:off x="4612260" y="5319935"/>
            <a:ext cx="2967480"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3-65 【</a:t>
            </a:r>
            <a:r>
              <a:rPr lang="zh-CN" altLang="en-US" dirty="0">
                <a:ea typeface="黑体"/>
                <a:cs typeface="Times New Roman"/>
              </a:rPr>
              <a:t>扫描混合</a:t>
            </a:r>
            <a:r>
              <a:rPr lang="en-US" altLang="zh-CN" dirty="0">
                <a:ea typeface="黑体"/>
                <a:cs typeface="Times New Roman"/>
              </a:rPr>
              <a:t>】</a:t>
            </a:r>
            <a:r>
              <a:rPr lang="zh-CN" altLang="en-US" dirty="0">
                <a:ea typeface="黑体"/>
                <a:cs typeface="Times New Roman"/>
              </a:rPr>
              <a:t>操控板</a:t>
            </a:r>
            <a:endParaRPr lang="zh-CN" altLang="en-US" dirty="0"/>
          </a:p>
        </p:txBody>
      </p:sp>
      <p:pic>
        <p:nvPicPr>
          <p:cNvPr id="4" name="图片 3">
            <a:extLst>
              <a:ext uri="{FF2B5EF4-FFF2-40B4-BE49-F238E27FC236}">
                <a16:creationId xmlns:a16="http://schemas.microsoft.com/office/drawing/2014/main" id="{D77AB3B6-FE2C-B662-B322-D7699201B738}"/>
              </a:ext>
            </a:extLst>
          </p:cNvPr>
          <p:cNvPicPr>
            <a:picLocks noChangeAspect="1"/>
          </p:cNvPicPr>
          <p:nvPr/>
        </p:nvPicPr>
        <p:blipFill>
          <a:blip r:embed="rId2"/>
          <a:stretch>
            <a:fillRect/>
          </a:stretch>
        </p:blipFill>
        <p:spPr>
          <a:xfrm>
            <a:off x="10656800" y="2090738"/>
            <a:ext cx="394335" cy="428625"/>
          </a:xfrm>
          <a:prstGeom prst="rect">
            <a:avLst/>
          </a:prstGeom>
        </p:spPr>
      </p:pic>
      <p:pic>
        <p:nvPicPr>
          <p:cNvPr id="8" name="图片 7">
            <a:extLst>
              <a:ext uri="{FF2B5EF4-FFF2-40B4-BE49-F238E27FC236}">
                <a16:creationId xmlns:a16="http://schemas.microsoft.com/office/drawing/2014/main" id="{501B57E8-61A7-3572-A604-7BBF1903CD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6316" y="3455720"/>
            <a:ext cx="9239368" cy="1574166"/>
          </a:xfrm>
          <a:prstGeom prst="rect">
            <a:avLst/>
          </a:prstGeom>
        </p:spPr>
      </p:pic>
    </p:spTree>
    <p:extLst>
      <p:ext uri="{BB962C8B-B14F-4D97-AF65-F5344CB8AC3E}">
        <p14:creationId xmlns:p14="http://schemas.microsoft.com/office/powerpoint/2010/main" val="238532439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6">
            <a:extLst>
              <a:ext uri="{FF2B5EF4-FFF2-40B4-BE49-F238E27FC236}">
                <a16:creationId xmlns:a16="http://schemas.microsoft.com/office/drawing/2014/main" id="{B1945C12-C0B2-E371-95B8-FDED4B48D757}"/>
              </a:ext>
            </a:extLst>
          </p:cNvPr>
          <p:cNvSpPr txBox="1"/>
          <p:nvPr/>
        </p:nvSpPr>
        <p:spPr>
          <a:xfrm>
            <a:off x="4727676" y="5577109"/>
            <a:ext cx="2736647"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3-66 【</a:t>
            </a:r>
            <a:r>
              <a:rPr lang="zh-CN" altLang="en-US" dirty="0">
                <a:ea typeface="黑体"/>
                <a:cs typeface="Times New Roman"/>
              </a:rPr>
              <a:t>参考</a:t>
            </a:r>
            <a:r>
              <a:rPr lang="en-US" altLang="zh-CN" dirty="0">
                <a:ea typeface="黑体"/>
                <a:cs typeface="Times New Roman"/>
              </a:rPr>
              <a:t>】</a:t>
            </a:r>
            <a:r>
              <a:rPr lang="zh-CN" altLang="en-US" dirty="0">
                <a:ea typeface="黑体"/>
                <a:cs typeface="Times New Roman"/>
              </a:rPr>
              <a:t>下滑面板</a:t>
            </a:r>
            <a:endParaRPr lang="zh-CN" altLang="en-US" dirty="0"/>
          </a:p>
        </p:txBody>
      </p:sp>
      <p:pic>
        <p:nvPicPr>
          <p:cNvPr id="2" name="图片 1">
            <a:extLst>
              <a:ext uri="{FF2B5EF4-FFF2-40B4-BE49-F238E27FC236}">
                <a16:creationId xmlns:a16="http://schemas.microsoft.com/office/drawing/2014/main" id="{69F758A3-351D-3670-A516-22B52FC2D1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10097" y="998052"/>
            <a:ext cx="3971807" cy="4388343"/>
          </a:xfrm>
          <a:prstGeom prst="rect">
            <a:avLst/>
          </a:prstGeom>
        </p:spPr>
      </p:pic>
    </p:spTree>
    <p:extLst>
      <p:ext uri="{BB962C8B-B14F-4D97-AF65-F5344CB8AC3E}">
        <p14:creationId xmlns:p14="http://schemas.microsoft.com/office/powerpoint/2010/main" val="136684072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3D493805-C4EE-2389-DD43-AB27D292BE78}"/>
              </a:ext>
            </a:extLst>
          </p:cNvPr>
          <p:cNvSpPr txBox="1"/>
          <p:nvPr/>
        </p:nvSpPr>
        <p:spPr>
          <a:xfrm>
            <a:off x="222739" y="797196"/>
            <a:ext cx="11746522" cy="4616648"/>
          </a:xfrm>
          <a:prstGeom prst="rect">
            <a:avLst/>
          </a:prstGeom>
          <a:noFill/>
        </p:spPr>
        <p:txBody>
          <a:bodyPr wrap="square" rtlCol="0">
            <a:spAutoFit/>
          </a:bodyPr>
          <a:lstStyle/>
          <a:p>
            <a:pPr indent="266700" algn="just" fontAlgn="ctr">
              <a:lnSpc>
                <a:spcPct val="150000"/>
              </a:lnSpc>
            </a:pP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参考</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下滑面板用来指定扫描轨迹和进行截平面控制。其中，</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截平面控制</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下拉列表框用于设置定向截平面的方式。</a:t>
            </a:r>
          </a:p>
          <a:p>
            <a:pPr indent="266700" algn="just" fontAlgn="ctr">
              <a:lnSpc>
                <a:spcPct val="150000"/>
              </a:lnSpc>
            </a:pPr>
            <a:r>
              <a:rPr lang="zh-CN" altLang="en-US" sz="2800" dirty="0">
                <a:latin typeface="Wingdings" panose="05000000000000000000" pitchFamily="2" charset="2"/>
                <a:ea typeface="宋体" pitchFamily="2" charset="-122"/>
              </a:rPr>
              <a:t></a:t>
            </a:r>
            <a:r>
              <a:rPr lang="zh-CN" altLang="en-US" sz="2800" dirty="0">
                <a:latin typeface="Times New Roman" pitchFamily="18" charset="0"/>
                <a:ea typeface="宋体" pitchFamily="2" charset="-122"/>
              </a:rPr>
              <a:t>	</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垂直于轨迹</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选项：扫描混合过程中，扫描混合截面在轨迹的整个长度上始终保持与轨迹线垂直。</a:t>
            </a:r>
          </a:p>
          <a:p>
            <a:pPr indent="266700" algn="just" fontAlgn="ctr">
              <a:lnSpc>
                <a:spcPct val="150000"/>
              </a:lnSpc>
            </a:pPr>
            <a:r>
              <a:rPr lang="zh-CN" altLang="en-US" sz="2800" dirty="0">
                <a:latin typeface="Wingdings" panose="05000000000000000000" pitchFamily="2" charset="2"/>
                <a:ea typeface="宋体" pitchFamily="2" charset="-122"/>
              </a:rPr>
              <a:t></a:t>
            </a:r>
            <a:r>
              <a:rPr lang="zh-CN" altLang="en-US" sz="2800" dirty="0">
                <a:latin typeface="Times New Roman" pitchFamily="18" charset="0"/>
                <a:ea typeface="宋体" pitchFamily="2" charset="-122"/>
              </a:rPr>
              <a:t>	</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垂直于投影</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选项：扫描混合过程中，扫描混合截面在轨迹的整个长度上始终保持与选定参考垂直。</a:t>
            </a:r>
          </a:p>
          <a:p>
            <a:pPr indent="266700" algn="just" fontAlgn="ctr">
              <a:lnSpc>
                <a:spcPct val="150000"/>
              </a:lnSpc>
            </a:pPr>
            <a:r>
              <a:rPr lang="zh-CN" altLang="en-US" sz="2800" dirty="0">
                <a:latin typeface="Wingdings" panose="05000000000000000000" pitchFamily="2" charset="2"/>
                <a:ea typeface="宋体" pitchFamily="2" charset="-122"/>
              </a:rPr>
              <a:t></a:t>
            </a:r>
            <a:r>
              <a:rPr lang="zh-CN" altLang="en-US" sz="2800" dirty="0">
                <a:latin typeface="Times New Roman" pitchFamily="18" charset="0"/>
                <a:ea typeface="宋体" pitchFamily="2" charset="-122"/>
              </a:rPr>
              <a:t>	</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恒定法向</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选项：扫描混合截面的法线总是指向指定方向。</a:t>
            </a:r>
          </a:p>
        </p:txBody>
      </p:sp>
    </p:spTree>
    <p:extLst>
      <p:ext uri="{BB962C8B-B14F-4D97-AF65-F5344CB8AC3E}">
        <p14:creationId xmlns:p14="http://schemas.microsoft.com/office/powerpoint/2010/main" val="216977870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82628314-084A-8F7F-0D09-6EA4E6EB60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8961" y="717951"/>
            <a:ext cx="3217228" cy="5422097"/>
          </a:xfrm>
          <a:prstGeom prst="rect">
            <a:avLst/>
          </a:prstGeom>
        </p:spPr>
      </p:pic>
      <p:sp>
        <p:nvSpPr>
          <p:cNvPr id="4" name="TextBox 6">
            <a:extLst>
              <a:ext uri="{FF2B5EF4-FFF2-40B4-BE49-F238E27FC236}">
                <a16:creationId xmlns:a16="http://schemas.microsoft.com/office/drawing/2014/main" id="{E1E6842E-95A7-AFDC-0CAA-2FE241E7A7D3}"/>
              </a:ext>
            </a:extLst>
          </p:cNvPr>
          <p:cNvSpPr txBox="1"/>
          <p:nvPr/>
        </p:nvSpPr>
        <p:spPr>
          <a:xfrm>
            <a:off x="809251" y="6262909"/>
            <a:ext cx="2736647"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3-67 【</a:t>
            </a:r>
            <a:r>
              <a:rPr lang="zh-CN" altLang="en-US" dirty="0">
                <a:ea typeface="黑体"/>
                <a:cs typeface="Times New Roman"/>
              </a:rPr>
              <a:t>截面</a:t>
            </a:r>
            <a:r>
              <a:rPr lang="en-US" altLang="zh-CN" dirty="0">
                <a:ea typeface="黑体"/>
                <a:cs typeface="Times New Roman"/>
              </a:rPr>
              <a:t>】</a:t>
            </a:r>
            <a:r>
              <a:rPr lang="zh-CN" altLang="en-US" dirty="0">
                <a:ea typeface="黑体"/>
                <a:cs typeface="Times New Roman"/>
              </a:rPr>
              <a:t>下滑面板</a:t>
            </a:r>
            <a:endParaRPr lang="zh-CN" altLang="en-US" dirty="0"/>
          </a:p>
        </p:txBody>
      </p:sp>
      <p:sp>
        <p:nvSpPr>
          <p:cNvPr id="5" name="TextBox 3">
            <a:extLst>
              <a:ext uri="{FF2B5EF4-FFF2-40B4-BE49-F238E27FC236}">
                <a16:creationId xmlns:a16="http://schemas.microsoft.com/office/drawing/2014/main" id="{9D3A3EFB-E59F-E7A7-9605-2022E7CA6A6F}"/>
              </a:ext>
            </a:extLst>
          </p:cNvPr>
          <p:cNvSpPr txBox="1"/>
          <p:nvPr/>
        </p:nvSpPr>
        <p:spPr>
          <a:xfrm>
            <a:off x="4266102" y="797509"/>
            <a:ext cx="7521086" cy="5262979"/>
          </a:xfrm>
          <a:prstGeom prst="rect">
            <a:avLst/>
          </a:prstGeom>
          <a:noFill/>
        </p:spPr>
        <p:txBody>
          <a:bodyPr wrap="square" rtlCol="0">
            <a:spAutoFit/>
          </a:bodyPr>
          <a:lstStyle/>
          <a:p>
            <a:pPr indent="266700" algn="just" fontAlgn="ctr">
              <a:lnSpc>
                <a:spcPct val="150000"/>
              </a:lnSpc>
            </a:pPr>
            <a:r>
              <a:rPr lang="zh-CN" altLang="en-US" sz="2800" dirty="0">
                <a:latin typeface="Times New Roman" pitchFamily="18" charset="0"/>
                <a:ea typeface="宋体" pitchFamily="2" charset="-122"/>
              </a:rPr>
              <a:t>扫描混合需要至少两个截面，截面可以是已有模型的截面，也可以是草绘截面。</a:t>
            </a:r>
          </a:p>
          <a:p>
            <a:pPr indent="266700" algn="just" fontAlgn="ctr">
              <a:lnSpc>
                <a:spcPct val="150000"/>
              </a:lnSpc>
            </a:pPr>
            <a:r>
              <a:rPr lang="zh-CN" altLang="en-US" sz="2800" dirty="0">
                <a:latin typeface="Wingdings" panose="05000000000000000000" pitchFamily="2" charset="2"/>
                <a:ea typeface="宋体" pitchFamily="2" charset="-122"/>
              </a:rPr>
              <a:t></a:t>
            </a:r>
            <a:r>
              <a:rPr lang="zh-CN" altLang="en-US" sz="2800" dirty="0">
                <a:latin typeface="Times New Roman" pitchFamily="18" charset="0"/>
                <a:ea typeface="宋体" pitchFamily="2" charset="-122"/>
              </a:rPr>
              <a:t>	</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截面位置</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选项框：扫描混合的截面位置默认为开放轨迹的起点和终点。为了更精确地控制扫描混合特征，也可以在其他位置插入截面，但用户必须在插入点处事先打断轨迹。</a:t>
            </a:r>
          </a:p>
          <a:p>
            <a:pPr indent="266700" algn="just" fontAlgn="ctr">
              <a:lnSpc>
                <a:spcPct val="150000"/>
              </a:lnSpc>
            </a:pPr>
            <a:r>
              <a:rPr lang="zh-CN" altLang="en-US" sz="2800" dirty="0">
                <a:latin typeface="Wingdings" panose="05000000000000000000" pitchFamily="2" charset="2"/>
                <a:ea typeface="宋体" pitchFamily="2" charset="-122"/>
              </a:rPr>
              <a:t></a:t>
            </a:r>
            <a:r>
              <a:rPr lang="zh-CN" altLang="en-US" sz="2800" dirty="0">
                <a:latin typeface="Times New Roman" pitchFamily="18" charset="0"/>
                <a:ea typeface="宋体" pitchFamily="2" charset="-122"/>
              </a:rPr>
              <a:t>	</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旋转</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文本框：可以指定截面沿法向的旋转角度。</a:t>
            </a:r>
          </a:p>
        </p:txBody>
      </p:sp>
    </p:spTree>
    <p:extLst>
      <p:ext uri="{BB962C8B-B14F-4D97-AF65-F5344CB8AC3E}">
        <p14:creationId xmlns:p14="http://schemas.microsoft.com/office/powerpoint/2010/main" val="221815916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3">
            <a:extLst>
              <a:ext uri="{FF2B5EF4-FFF2-40B4-BE49-F238E27FC236}">
                <a16:creationId xmlns:a16="http://schemas.microsoft.com/office/drawing/2014/main" id="{9D3A3EFB-E59F-E7A7-9605-2022E7CA6A6F}"/>
              </a:ext>
            </a:extLst>
          </p:cNvPr>
          <p:cNvSpPr txBox="1"/>
          <p:nvPr/>
        </p:nvSpPr>
        <p:spPr>
          <a:xfrm>
            <a:off x="0" y="414734"/>
            <a:ext cx="11310110" cy="2031325"/>
          </a:xfrm>
          <a:prstGeom prst="rect">
            <a:avLst/>
          </a:prstGeom>
          <a:noFill/>
        </p:spPr>
        <p:txBody>
          <a:bodyPr wrap="square" rtlCol="0">
            <a:spAutoFit/>
          </a:bodyPr>
          <a:lstStyle/>
          <a:p>
            <a:pPr indent="266700" algn="just" fontAlgn="ctr">
              <a:lnSpc>
                <a:spcPct val="150000"/>
              </a:lnSpc>
            </a:pPr>
            <a:r>
              <a:rPr lang="zh-CN" altLang="en-US" sz="2800" dirty="0">
                <a:latin typeface="Times New Roman" pitchFamily="18" charset="0"/>
                <a:ea typeface="宋体" pitchFamily="2" charset="-122"/>
              </a:rPr>
              <a:t>扫描混合建模实例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伞齿轮的建模</a:t>
            </a:r>
            <a:endParaRPr lang="en-US" altLang="zh-CN" sz="2800" dirty="0">
              <a:latin typeface="Times New Roman" pitchFamily="18" charset="0"/>
              <a:ea typeface="宋体" pitchFamily="2" charset="-122"/>
            </a:endParaRPr>
          </a:p>
          <a:p>
            <a:pPr indent="266700" algn="just" fontAlgn="ctr">
              <a:lnSpc>
                <a:spcPct val="150000"/>
              </a:lnSpc>
            </a:pPr>
            <a:r>
              <a:rPr lang="en-US" altLang="zh-CN" sz="2800" dirty="0">
                <a:latin typeface="Times New Roman" pitchFamily="18" charset="0"/>
                <a:ea typeface="宋体" pitchFamily="2" charset="-122"/>
              </a:rPr>
              <a:t>1</a:t>
            </a:r>
            <a:r>
              <a:rPr lang="zh-CN" altLang="en-US" sz="2800" dirty="0">
                <a:latin typeface="Times New Roman" pitchFamily="18" charset="0"/>
                <a:ea typeface="宋体" pitchFamily="2" charset="-122"/>
              </a:rPr>
              <a:t>）建立新文件</a:t>
            </a:r>
            <a:endParaRPr lang="en-US" altLang="zh-CN" sz="2800" dirty="0">
              <a:latin typeface="Times New Roman" pitchFamily="18" charset="0"/>
              <a:ea typeface="宋体" pitchFamily="2" charset="-122"/>
            </a:endParaRPr>
          </a:p>
          <a:p>
            <a:pPr indent="266700" algn="just" fontAlgn="ctr">
              <a:lnSpc>
                <a:spcPct val="150000"/>
              </a:lnSpc>
            </a:pPr>
            <a:r>
              <a:rPr lang="en-US" altLang="zh-CN" sz="2800" dirty="0">
                <a:latin typeface="Times New Roman" pitchFamily="18" charset="0"/>
                <a:ea typeface="宋体" pitchFamily="2" charset="-122"/>
              </a:rPr>
              <a:t>2</a:t>
            </a:r>
            <a:r>
              <a:rPr lang="zh-CN" altLang="en-US" sz="2800" dirty="0">
                <a:latin typeface="Times New Roman" pitchFamily="18" charset="0"/>
                <a:ea typeface="宋体" pitchFamily="2" charset="-122"/>
              </a:rPr>
              <a:t>）创建主体</a:t>
            </a:r>
          </a:p>
        </p:txBody>
      </p:sp>
      <p:pic>
        <p:nvPicPr>
          <p:cNvPr id="3" name="图片 2">
            <a:extLst>
              <a:ext uri="{FF2B5EF4-FFF2-40B4-BE49-F238E27FC236}">
                <a16:creationId xmlns:a16="http://schemas.microsoft.com/office/drawing/2014/main" id="{764AA00D-DB8C-B293-34ED-7A3B5F6D36A8}"/>
              </a:ext>
            </a:extLst>
          </p:cNvPr>
          <p:cNvPicPr>
            <a:picLocks noChangeAspect="1"/>
          </p:cNvPicPr>
          <p:nvPr/>
        </p:nvPicPr>
        <p:blipFill rotWithShape="1">
          <a:blip r:embed="rId2">
            <a:extLst>
              <a:ext uri="{28A0092B-C50C-407E-A947-70E740481C1C}">
                <a14:useLocalDpi xmlns:a14="http://schemas.microsoft.com/office/drawing/2010/main" val="0"/>
              </a:ext>
            </a:extLst>
          </a:blip>
          <a:srcRect t="4797"/>
          <a:stretch/>
        </p:blipFill>
        <p:spPr bwMode="auto">
          <a:xfrm>
            <a:off x="2697723" y="1952774"/>
            <a:ext cx="4306791" cy="3623695"/>
          </a:xfrm>
          <a:prstGeom prst="rect">
            <a:avLst/>
          </a:prstGeom>
          <a:ln>
            <a:noFill/>
          </a:ln>
          <a:extLst>
            <a:ext uri="{53640926-AAD7-44D8-BBD7-CCE9431645EC}">
              <a14:shadowObscured xmlns:a14="http://schemas.microsoft.com/office/drawing/2010/main"/>
            </a:ext>
          </a:extLst>
        </p:spPr>
      </p:pic>
      <p:sp>
        <p:nvSpPr>
          <p:cNvPr id="6" name="TextBox 6">
            <a:extLst>
              <a:ext uri="{FF2B5EF4-FFF2-40B4-BE49-F238E27FC236}">
                <a16:creationId xmlns:a16="http://schemas.microsoft.com/office/drawing/2014/main" id="{AB41DCD0-3518-B04A-5D60-2C53A183436F}"/>
              </a:ext>
            </a:extLst>
          </p:cNvPr>
          <p:cNvSpPr txBox="1"/>
          <p:nvPr/>
        </p:nvSpPr>
        <p:spPr>
          <a:xfrm>
            <a:off x="3891790" y="5547291"/>
            <a:ext cx="2274982"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3-68 </a:t>
            </a:r>
            <a:r>
              <a:rPr lang="zh-CN" altLang="en-US" dirty="0">
                <a:ea typeface="黑体"/>
                <a:cs typeface="Times New Roman"/>
              </a:rPr>
              <a:t>草绘主体轮廓</a:t>
            </a:r>
            <a:endParaRPr lang="zh-CN" altLang="en-US" dirty="0"/>
          </a:p>
        </p:txBody>
      </p:sp>
      <p:pic>
        <p:nvPicPr>
          <p:cNvPr id="7" name="图片 6">
            <a:extLst>
              <a:ext uri="{FF2B5EF4-FFF2-40B4-BE49-F238E27FC236}">
                <a16:creationId xmlns:a16="http://schemas.microsoft.com/office/drawing/2014/main" id="{DE68DBEA-B2E4-4749-5FC5-702C013D6F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41479" y="2366547"/>
            <a:ext cx="4305596" cy="2996998"/>
          </a:xfrm>
          <a:prstGeom prst="rect">
            <a:avLst/>
          </a:prstGeom>
        </p:spPr>
      </p:pic>
      <p:sp>
        <p:nvSpPr>
          <p:cNvPr id="8" name="TextBox 6">
            <a:extLst>
              <a:ext uri="{FF2B5EF4-FFF2-40B4-BE49-F238E27FC236}">
                <a16:creationId xmlns:a16="http://schemas.microsoft.com/office/drawing/2014/main" id="{68B48F58-E71A-0929-3F2A-C7FD900ECDFA}"/>
              </a:ext>
            </a:extLst>
          </p:cNvPr>
          <p:cNvSpPr txBox="1"/>
          <p:nvPr/>
        </p:nvSpPr>
        <p:spPr>
          <a:xfrm>
            <a:off x="8882680" y="5547291"/>
            <a:ext cx="1813317"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3-69 </a:t>
            </a:r>
            <a:r>
              <a:rPr lang="zh-CN" altLang="en-US" dirty="0">
                <a:ea typeface="黑体"/>
                <a:cs typeface="Times New Roman"/>
              </a:rPr>
              <a:t>创建主体</a:t>
            </a:r>
            <a:endParaRPr lang="zh-CN" altLang="en-US" dirty="0"/>
          </a:p>
        </p:txBody>
      </p:sp>
    </p:spTree>
    <p:extLst>
      <p:ext uri="{BB962C8B-B14F-4D97-AF65-F5344CB8AC3E}">
        <p14:creationId xmlns:p14="http://schemas.microsoft.com/office/powerpoint/2010/main" val="82131600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3">
            <a:extLst>
              <a:ext uri="{FF2B5EF4-FFF2-40B4-BE49-F238E27FC236}">
                <a16:creationId xmlns:a16="http://schemas.microsoft.com/office/drawing/2014/main" id="{9D3A3EFB-E59F-E7A7-9605-2022E7CA6A6F}"/>
              </a:ext>
            </a:extLst>
          </p:cNvPr>
          <p:cNvSpPr txBox="1"/>
          <p:nvPr/>
        </p:nvSpPr>
        <p:spPr>
          <a:xfrm>
            <a:off x="0" y="414734"/>
            <a:ext cx="11310110" cy="738664"/>
          </a:xfrm>
          <a:prstGeom prst="rect">
            <a:avLst/>
          </a:prstGeom>
          <a:noFill/>
        </p:spPr>
        <p:txBody>
          <a:bodyPr wrap="square" rtlCol="0">
            <a:spAutoFit/>
          </a:bodyPr>
          <a:lstStyle/>
          <a:p>
            <a:pPr indent="266700" algn="just" fontAlgn="ctr">
              <a:lnSpc>
                <a:spcPct val="150000"/>
              </a:lnSpc>
            </a:pPr>
            <a:r>
              <a:rPr lang="en-US" altLang="zh-CN" sz="2800" dirty="0">
                <a:latin typeface="Times New Roman" pitchFamily="18" charset="0"/>
                <a:ea typeface="宋体" pitchFamily="2" charset="-122"/>
              </a:rPr>
              <a:t>3</a:t>
            </a:r>
            <a:r>
              <a:rPr lang="zh-CN" altLang="en-US" sz="2800" dirty="0">
                <a:latin typeface="Times New Roman" pitchFamily="18" charset="0"/>
                <a:ea typeface="宋体" pitchFamily="2" charset="-122"/>
              </a:rPr>
              <a:t>）投影轨迹线</a:t>
            </a:r>
          </a:p>
        </p:txBody>
      </p:sp>
      <p:sp>
        <p:nvSpPr>
          <p:cNvPr id="6" name="TextBox 6">
            <a:extLst>
              <a:ext uri="{FF2B5EF4-FFF2-40B4-BE49-F238E27FC236}">
                <a16:creationId xmlns:a16="http://schemas.microsoft.com/office/drawing/2014/main" id="{AB41DCD0-3518-B04A-5D60-2C53A183436F}"/>
              </a:ext>
            </a:extLst>
          </p:cNvPr>
          <p:cNvSpPr txBox="1"/>
          <p:nvPr/>
        </p:nvSpPr>
        <p:spPr>
          <a:xfrm>
            <a:off x="1996729" y="5362625"/>
            <a:ext cx="2274982"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3-70 </a:t>
            </a:r>
            <a:r>
              <a:rPr lang="zh-CN" altLang="en-US" dirty="0">
                <a:ea typeface="黑体"/>
                <a:cs typeface="Times New Roman"/>
              </a:rPr>
              <a:t>草绘样条曲线</a:t>
            </a:r>
            <a:endParaRPr lang="zh-CN" altLang="en-US" dirty="0"/>
          </a:p>
        </p:txBody>
      </p:sp>
      <p:sp>
        <p:nvSpPr>
          <p:cNvPr id="8" name="TextBox 6">
            <a:extLst>
              <a:ext uri="{FF2B5EF4-FFF2-40B4-BE49-F238E27FC236}">
                <a16:creationId xmlns:a16="http://schemas.microsoft.com/office/drawing/2014/main" id="{68B48F58-E71A-0929-3F2A-C7FD900ECDFA}"/>
              </a:ext>
            </a:extLst>
          </p:cNvPr>
          <p:cNvSpPr txBox="1"/>
          <p:nvPr/>
        </p:nvSpPr>
        <p:spPr>
          <a:xfrm>
            <a:off x="8621491" y="5362625"/>
            <a:ext cx="2044149"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3-71 </a:t>
            </a:r>
            <a:r>
              <a:rPr lang="zh-CN" altLang="en-US" dirty="0">
                <a:ea typeface="黑体"/>
                <a:cs typeface="Times New Roman"/>
              </a:rPr>
              <a:t>投影轨迹线</a:t>
            </a:r>
            <a:endParaRPr lang="zh-CN" altLang="en-US" dirty="0"/>
          </a:p>
        </p:txBody>
      </p:sp>
      <p:pic>
        <p:nvPicPr>
          <p:cNvPr id="2" name="图片 1">
            <a:extLst>
              <a:ext uri="{FF2B5EF4-FFF2-40B4-BE49-F238E27FC236}">
                <a16:creationId xmlns:a16="http://schemas.microsoft.com/office/drawing/2014/main" id="{2EF5CC93-3C50-68CF-F48A-9F877CDACD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6570" y="2122078"/>
            <a:ext cx="5689890" cy="2664528"/>
          </a:xfrm>
          <a:prstGeom prst="rect">
            <a:avLst/>
          </a:prstGeom>
        </p:spPr>
      </p:pic>
      <p:pic>
        <p:nvPicPr>
          <p:cNvPr id="4" name="图片 3">
            <a:extLst>
              <a:ext uri="{FF2B5EF4-FFF2-40B4-BE49-F238E27FC236}">
                <a16:creationId xmlns:a16="http://schemas.microsoft.com/office/drawing/2014/main" id="{2EDDA9CC-B50F-9E81-6BC7-E979F7B784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47721" y="2132172"/>
            <a:ext cx="3652533" cy="2593655"/>
          </a:xfrm>
          <a:prstGeom prst="rect">
            <a:avLst/>
          </a:prstGeom>
        </p:spPr>
      </p:pic>
    </p:spTree>
    <p:extLst>
      <p:ext uri="{BB962C8B-B14F-4D97-AF65-F5344CB8AC3E}">
        <p14:creationId xmlns:p14="http://schemas.microsoft.com/office/powerpoint/2010/main" val="242150795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3">
            <a:extLst>
              <a:ext uri="{FF2B5EF4-FFF2-40B4-BE49-F238E27FC236}">
                <a16:creationId xmlns:a16="http://schemas.microsoft.com/office/drawing/2014/main" id="{9D3A3EFB-E59F-E7A7-9605-2022E7CA6A6F}"/>
              </a:ext>
            </a:extLst>
          </p:cNvPr>
          <p:cNvSpPr txBox="1"/>
          <p:nvPr/>
        </p:nvSpPr>
        <p:spPr>
          <a:xfrm>
            <a:off x="0" y="414734"/>
            <a:ext cx="11310110" cy="738664"/>
          </a:xfrm>
          <a:prstGeom prst="rect">
            <a:avLst/>
          </a:prstGeom>
          <a:noFill/>
        </p:spPr>
        <p:txBody>
          <a:bodyPr wrap="square" rtlCol="0">
            <a:spAutoFit/>
          </a:bodyPr>
          <a:lstStyle/>
          <a:p>
            <a:pPr indent="266700" algn="just" fontAlgn="ctr">
              <a:lnSpc>
                <a:spcPct val="150000"/>
              </a:lnSpc>
            </a:pPr>
            <a:r>
              <a:rPr lang="en-US" altLang="zh-CN" sz="2800" dirty="0">
                <a:latin typeface="Times New Roman" pitchFamily="18" charset="0"/>
                <a:ea typeface="宋体" pitchFamily="2" charset="-122"/>
              </a:rPr>
              <a:t>4</a:t>
            </a:r>
            <a:r>
              <a:rPr lang="zh-CN" altLang="en-US" sz="2800" dirty="0">
                <a:latin typeface="Times New Roman" pitchFamily="18" charset="0"/>
                <a:ea typeface="宋体" pitchFamily="2" charset="-122"/>
              </a:rPr>
              <a:t>）创建辅助平面</a:t>
            </a:r>
          </a:p>
        </p:txBody>
      </p:sp>
      <p:sp>
        <p:nvSpPr>
          <p:cNvPr id="6" name="TextBox 6">
            <a:extLst>
              <a:ext uri="{FF2B5EF4-FFF2-40B4-BE49-F238E27FC236}">
                <a16:creationId xmlns:a16="http://schemas.microsoft.com/office/drawing/2014/main" id="{AB41DCD0-3518-B04A-5D60-2C53A183436F}"/>
              </a:ext>
            </a:extLst>
          </p:cNvPr>
          <p:cNvSpPr txBox="1"/>
          <p:nvPr/>
        </p:nvSpPr>
        <p:spPr>
          <a:xfrm>
            <a:off x="1713479" y="5216853"/>
            <a:ext cx="2841483"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3-72 </a:t>
            </a:r>
            <a:r>
              <a:rPr lang="zh-CN" altLang="en-US" dirty="0">
                <a:ea typeface="黑体"/>
                <a:cs typeface="Times New Roman"/>
              </a:rPr>
              <a:t>创建辅助平面</a:t>
            </a:r>
            <a:r>
              <a:rPr lang="en-US" altLang="zh-CN" dirty="0">
                <a:ea typeface="黑体"/>
                <a:cs typeface="Times New Roman"/>
              </a:rPr>
              <a:t>DTM1</a:t>
            </a:r>
            <a:endParaRPr lang="zh-CN" altLang="en-US" dirty="0"/>
          </a:p>
        </p:txBody>
      </p:sp>
      <p:sp>
        <p:nvSpPr>
          <p:cNvPr id="8" name="TextBox 6">
            <a:extLst>
              <a:ext uri="{FF2B5EF4-FFF2-40B4-BE49-F238E27FC236}">
                <a16:creationId xmlns:a16="http://schemas.microsoft.com/office/drawing/2014/main" id="{68B48F58-E71A-0929-3F2A-C7FD900ECDFA}"/>
              </a:ext>
            </a:extLst>
          </p:cNvPr>
          <p:cNvSpPr txBox="1"/>
          <p:nvPr/>
        </p:nvSpPr>
        <p:spPr>
          <a:xfrm>
            <a:off x="7931220" y="5177957"/>
            <a:ext cx="2788585"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3-73</a:t>
            </a:r>
            <a:r>
              <a:rPr lang="zh-CN" altLang="en-US" dirty="0">
                <a:ea typeface="黑体"/>
                <a:cs typeface="Times New Roman"/>
              </a:rPr>
              <a:t>创建辅助平面</a:t>
            </a:r>
            <a:r>
              <a:rPr lang="en-US" altLang="zh-CN" dirty="0">
                <a:ea typeface="黑体"/>
                <a:cs typeface="Times New Roman"/>
              </a:rPr>
              <a:t>DTM2</a:t>
            </a:r>
            <a:endParaRPr lang="zh-CN" altLang="en-US" dirty="0"/>
          </a:p>
        </p:txBody>
      </p:sp>
      <p:pic>
        <p:nvPicPr>
          <p:cNvPr id="3" name="图片 2">
            <a:extLst>
              <a:ext uri="{FF2B5EF4-FFF2-40B4-BE49-F238E27FC236}">
                <a16:creationId xmlns:a16="http://schemas.microsoft.com/office/drawing/2014/main" id="{27837151-F190-B48A-A044-4433C5E5EE9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8721" y="1763079"/>
            <a:ext cx="5109252" cy="2989864"/>
          </a:xfrm>
          <a:prstGeom prst="rect">
            <a:avLst/>
          </a:prstGeom>
        </p:spPr>
      </p:pic>
      <p:pic>
        <p:nvPicPr>
          <p:cNvPr id="7" name="图片 6">
            <a:extLst>
              <a:ext uri="{FF2B5EF4-FFF2-40B4-BE49-F238E27FC236}">
                <a16:creationId xmlns:a16="http://schemas.microsoft.com/office/drawing/2014/main" id="{5C9442FB-4301-5225-34CE-5C140513E9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15844" y="1702294"/>
            <a:ext cx="4628091" cy="2989863"/>
          </a:xfrm>
          <a:prstGeom prst="rect">
            <a:avLst/>
          </a:prstGeom>
        </p:spPr>
      </p:pic>
    </p:spTree>
    <p:extLst>
      <p:ext uri="{BB962C8B-B14F-4D97-AF65-F5344CB8AC3E}">
        <p14:creationId xmlns:p14="http://schemas.microsoft.com/office/powerpoint/2010/main" val="217787566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3">
            <a:extLst>
              <a:ext uri="{FF2B5EF4-FFF2-40B4-BE49-F238E27FC236}">
                <a16:creationId xmlns:a16="http://schemas.microsoft.com/office/drawing/2014/main" id="{9D3A3EFB-E59F-E7A7-9605-2022E7CA6A6F}"/>
              </a:ext>
            </a:extLst>
          </p:cNvPr>
          <p:cNvSpPr txBox="1"/>
          <p:nvPr/>
        </p:nvSpPr>
        <p:spPr>
          <a:xfrm>
            <a:off x="0" y="414734"/>
            <a:ext cx="11310110" cy="738664"/>
          </a:xfrm>
          <a:prstGeom prst="rect">
            <a:avLst/>
          </a:prstGeom>
          <a:noFill/>
        </p:spPr>
        <p:txBody>
          <a:bodyPr wrap="square" rtlCol="0">
            <a:spAutoFit/>
          </a:bodyPr>
          <a:lstStyle/>
          <a:p>
            <a:pPr indent="266700" algn="just" fontAlgn="ctr">
              <a:lnSpc>
                <a:spcPct val="150000"/>
              </a:lnSpc>
            </a:pPr>
            <a:r>
              <a:rPr lang="en-US" altLang="zh-CN" sz="2800" dirty="0">
                <a:latin typeface="Times New Roman" pitchFamily="18" charset="0"/>
                <a:ea typeface="宋体" pitchFamily="2" charset="-122"/>
              </a:rPr>
              <a:t>5</a:t>
            </a:r>
            <a:r>
              <a:rPr lang="zh-CN" altLang="en-US" sz="2800" dirty="0">
                <a:latin typeface="Times New Roman" pitchFamily="18" charset="0"/>
                <a:ea typeface="宋体" pitchFamily="2" charset="-122"/>
              </a:rPr>
              <a:t>）草绘截面</a:t>
            </a:r>
          </a:p>
        </p:txBody>
      </p:sp>
      <p:sp>
        <p:nvSpPr>
          <p:cNvPr id="6" name="TextBox 6">
            <a:extLst>
              <a:ext uri="{FF2B5EF4-FFF2-40B4-BE49-F238E27FC236}">
                <a16:creationId xmlns:a16="http://schemas.microsoft.com/office/drawing/2014/main" id="{AB41DCD0-3518-B04A-5D60-2C53A183436F}"/>
              </a:ext>
            </a:extLst>
          </p:cNvPr>
          <p:cNvSpPr txBox="1"/>
          <p:nvPr/>
        </p:nvSpPr>
        <p:spPr>
          <a:xfrm>
            <a:off x="1996729" y="5216853"/>
            <a:ext cx="2274982"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3-74 </a:t>
            </a:r>
            <a:r>
              <a:rPr lang="zh-CN" altLang="en-US" dirty="0">
                <a:ea typeface="黑体"/>
                <a:cs typeface="Times New Roman"/>
              </a:rPr>
              <a:t>草绘外部轮廓</a:t>
            </a:r>
            <a:endParaRPr lang="zh-CN" altLang="en-US" dirty="0"/>
          </a:p>
        </p:txBody>
      </p:sp>
      <p:sp>
        <p:nvSpPr>
          <p:cNvPr id="8" name="TextBox 6">
            <a:extLst>
              <a:ext uri="{FF2B5EF4-FFF2-40B4-BE49-F238E27FC236}">
                <a16:creationId xmlns:a16="http://schemas.microsoft.com/office/drawing/2014/main" id="{68B48F58-E71A-0929-3F2A-C7FD900ECDFA}"/>
              </a:ext>
            </a:extLst>
          </p:cNvPr>
          <p:cNvSpPr txBox="1"/>
          <p:nvPr/>
        </p:nvSpPr>
        <p:spPr>
          <a:xfrm>
            <a:off x="8188021" y="5177957"/>
            <a:ext cx="2274982"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3-75 </a:t>
            </a:r>
            <a:r>
              <a:rPr lang="zh-CN" altLang="en-US" dirty="0">
                <a:ea typeface="黑体"/>
                <a:cs typeface="Times New Roman"/>
              </a:rPr>
              <a:t>草绘内部轮廓</a:t>
            </a:r>
            <a:endParaRPr lang="zh-CN" altLang="en-US" dirty="0"/>
          </a:p>
        </p:txBody>
      </p:sp>
      <p:pic>
        <p:nvPicPr>
          <p:cNvPr id="2" name="图片 1">
            <a:extLst>
              <a:ext uri="{FF2B5EF4-FFF2-40B4-BE49-F238E27FC236}">
                <a16:creationId xmlns:a16="http://schemas.microsoft.com/office/drawing/2014/main" id="{5F86C627-6CEA-9D73-5298-395190A02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797" y="1908313"/>
            <a:ext cx="5313123" cy="2783844"/>
          </a:xfrm>
          <a:prstGeom prst="rect">
            <a:avLst/>
          </a:prstGeom>
        </p:spPr>
      </p:pic>
      <p:pic>
        <p:nvPicPr>
          <p:cNvPr id="4" name="图片 3">
            <a:extLst>
              <a:ext uri="{FF2B5EF4-FFF2-40B4-BE49-F238E27FC236}">
                <a16:creationId xmlns:a16="http://schemas.microsoft.com/office/drawing/2014/main" id="{DE404CE1-ECC2-6F76-2BBC-FD9C064EC94E}"/>
              </a:ext>
            </a:extLst>
          </p:cNvPr>
          <p:cNvPicPr>
            <a:picLocks noChangeAspect="1"/>
          </p:cNvPicPr>
          <p:nvPr/>
        </p:nvPicPr>
        <p:blipFill rotWithShape="1">
          <a:blip r:embed="rId3">
            <a:extLst>
              <a:ext uri="{28A0092B-C50C-407E-A947-70E740481C1C}">
                <a14:useLocalDpi xmlns:a14="http://schemas.microsoft.com/office/drawing/2010/main" val="0"/>
              </a:ext>
            </a:extLst>
          </a:blip>
          <a:srcRect t="8702"/>
          <a:stretch/>
        </p:blipFill>
        <p:spPr bwMode="auto">
          <a:xfrm>
            <a:off x="6325175" y="1659836"/>
            <a:ext cx="4939725" cy="324678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75075768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3">
            <a:extLst>
              <a:ext uri="{FF2B5EF4-FFF2-40B4-BE49-F238E27FC236}">
                <a16:creationId xmlns:a16="http://schemas.microsoft.com/office/drawing/2014/main" id="{9D3A3EFB-E59F-E7A7-9605-2022E7CA6A6F}"/>
              </a:ext>
            </a:extLst>
          </p:cNvPr>
          <p:cNvSpPr txBox="1"/>
          <p:nvPr/>
        </p:nvSpPr>
        <p:spPr>
          <a:xfrm>
            <a:off x="0" y="414734"/>
            <a:ext cx="11310110" cy="738664"/>
          </a:xfrm>
          <a:prstGeom prst="rect">
            <a:avLst/>
          </a:prstGeom>
          <a:noFill/>
        </p:spPr>
        <p:txBody>
          <a:bodyPr wrap="square" rtlCol="0">
            <a:spAutoFit/>
          </a:bodyPr>
          <a:lstStyle/>
          <a:p>
            <a:pPr indent="266700" algn="just" fontAlgn="ctr">
              <a:lnSpc>
                <a:spcPct val="150000"/>
              </a:lnSpc>
            </a:pPr>
            <a:r>
              <a:rPr lang="en-US" altLang="zh-CN" sz="2800" dirty="0">
                <a:latin typeface="Times New Roman" pitchFamily="18" charset="0"/>
                <a:ea typeface="宋体" pitchFamily="2" charset="-122"/>
              </a:rPr>
              <a:t>6</a:t>
            </a:r>
            <a:r>
              <a:rPr lang="zh-CN" altLang="en-US" sz="2800" dirty="0">
                <a:latin typeface="Times New Roman" pitchFamily="18" charset="0"/>
                <a:ea typeface="宋体" pitchFamily="2" charset="-122"/>
              </a:rPr>
              <a:t>）旋转修剪</a:t>
            </a:r>
          </a:p>
        </p:txBody>
      </p:sp>
      <p:sp>
        <p:nvSpPr>
          <p:cNvPr id="6" name="TextBox 6">
            <a:extLst>
              <a:ext uri="{FF2B5EF4-FFF2-40B4-BE49-F238E27FC236}">
                <a16:creationId xmlns:a16="http://schemas.microsoft.com/office/drawing/2014/main" id="{AB41DCD0-3518-B04A-5D60-2C53A183436F}"/>
              </a:ext>
            </a:extLst>
          </p:cNvPr>
          <p:cNvSpPr txBox="1"/>
          <p:nvPr/>
        </p:nvSpPr>
        <p:spPr>
          <a:xfrm>
            <a:off x="4003980" y="5140990"/>
            <a:ext cx="2274982"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3-76 </a:t>
            </a:r>
            <a:r>
              <a:rPr lang="zh-CN" altLang="en-US" dirty="0">
                <a:ea typeface="黑体"/>
                <a:cs typeface="Times New Roman"/>
              </a:rPr>
              <a:t>草绘修剪轮廓</a:t>
            </a:r>
            <a:endParaRPr lang="zh-CN" altLang="en-US" dirty="0"/>
          </a:p>
        </p:txBody>
      </p:sp>
      <p:pic>
        <p:nvPicPr>
          <p:cNvPr id="3" name="图片 2">
            <a:extLst>
              <a:ext uri="{FF2B5EF4-FFF2-40B4-BE49-F238E27FC236}">
                <a16:creationId xmlns:a16="http://schemas.microsoft.com/office/drawing/2014/main" id="{A43ADC03-8B5A-96C5-B210-B899210212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1432" y="1430840"/>
            <a:ext cx="5285686" cy="3591732"/>
          </a:xfrm>
          <a:prstGeom prst="rect">
            <a:avLst/>
          </a:prstGeom>
        </p:spPr>
      </p:pic>
    </p:spTree>
    <p:extLst>
      <p:ext uri="{BB962C8B-B14F-4D97-AF65-F5344CB8AC3E}">
        <p14:creationId xmlns:p14="http://schemas.microsoft.com/office/powerpoint/2010/main" val="341430356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3">
            <a:extLst>
              <a:ext uri="{FF2B5EF4-FFF2-40B4-BE49-F238E27FC236}">
                <a16:creationId xmlns:a16="http://schemas.microsoft.com/office/drawing/2014/main" id="{9D3A3EFB-E59F-E7A7-9605-2022E7CA6A6F}"/>
              </a:ext>
            </a:extLst>
          </p:cNvPr>
          <p:cNvSpPr txBox="1"/>
          <p:nvPr/>
        </p:nvSpPr>
        <p:spPr>
          <a:xfrm>
            <a:off x="0" y="414734"/>
            <a:ext cx="11310110" cy="738664"/>
          </a:xfrm>
          <a:prstGeom prst="rect">
            <a:avLst/>
          </a:prstGeom>
          <a:noFill/>
        </p:spPr>
        <p:txBody>
          <a:bodyPr wrap="square" rtlCol="0">
            <a:spAutoFit/>
          </a:bodyPr>
          <a:lstStyle/>
          <a:p>
            <a:pPr indent="266700" algn="just" fontAlgn="ctr">
              <a:lnSpc>
                <a:spcPct val="150000"/>
              </a:lnSpc>
            </a:pPr>
            <a:r>
              <a:rPr lang="en-US" altLang="zh-CN" sz="2800" dirty="0">
                <a:latin typeface="Times New Roman" pitchFamily="18" charset="0"/>
                <a:ea typeface="宋体" pitchFamily="2" charset="-122"/>
              </a:rPr>
              <a:t>7</a:t>
            </a:r>
            <a:r>
              <a:rPr lang="zh-CN" altLang="en-US" sz="2800" dirty="0">
                <a:latin typeface="Times New Roman" pitchFamily="18" charset="0"/>
                <a:ea typeface="宋体" pitchFamily="2" charset="-122"/>
              </a:rPr>
              <a:t>）创建齿槽</a:t>
            </a:r>
          </a:p>
        </p:txBody>
      </p:sp>
      <p:sp>
        <p:nvSpPr>
          <p:cNvPr id="6" name="TextBox 6">
            <a:extLst>
              <a:ext uri="{FF2B5EF4-FFF2-40B4-BE49-F238E27FC236}">
                <a16:creationId xmlns:a16="http://schemas.microsoft.com/office/drawing/2014/main" id="{AB41DCD0-3518-B04A-5D60-2C53A183436F}"/>
              </a:ext>
            </a:extLst>
          </p:cNvPr>
          <p:cNvSpPr txBox="1"/>
          <p:nvPr/>
        </p:nvSpPr>
        <p:spPr>
          <a:xfrm>
            <a:off x="4727676" y="5140990"/>
            <a:ext cx="2736648"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3-77 </a:t>
            </a:r>
            <a:r>
              <a:rPr lang="zh-CN" altLang="en-US" dirty="0">
                <a:ea typeface="黑体"/>
                <a:cs typeface="Times New Roman"/>
              </a:rPr>
              <a:t>扫描混合创建齿槽</a:t>
            </a:r>
            <a:endParaRPr lang="zh-CN" altLang="en-US" dirty="0"/>
          </a:p>
        </p:txBody>
      </p:sp>
      <p:pic>
        <p:nvPicPr>
          <p:cNvPr id="2" name="图片 1">
            <a:extLst>
              <a:ext uri="{FF2B5EF4-FFF2-40B4-BE49-F238E27FC236}">
                <a16:creationId xmlns:a16="http://schemas.microsoft.com/office/drawing/2014/main" id="{91123BAD-DC49-6895-6E3F-C3ABDE6CB7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3047" y="1524909"/>
            <a:ext cx="4365907" cy="3404900"/>
          </a:xfrm>
          <a:prstGeom prst="rect">
            <a:avLst/>
          </a:prstGeom>
        </p:spPr>
      </p:pic>
    </p:spTree>
    <p:extLst>
      <p:ext uri="{BB962C8B-B14F-4D97-AF65-F5344CB8AC3E}">
        <p14:creationId xmlns:p14="http://schemas.microsoft.com/office/powerpoint/2010/main" val="44272815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3">
            <a:extLst>
              <a:ext uri="{FF2B5EF4-FFF2-40B4-BE49-F238E27FC236}">
                <a16:creationId xmlns:a16="http://schemas.microsoft.com/office/drawing/2014/main" id="{9D3A3EFB-E59F-E7A7-9605-2022E7CA6A6F}"/>
              </a:ext>
            </a:extLst>
          </p:cNvPr>
          <p:cNvSpPr txBox="1"/>
          <p:nvPr/>
        </p:nvSpPr>
        <p:spPr>
          <a:xfrm>
            <a:off x="0" y="414734"/>
            <a:ext cx="11310110" cy="738664"/>
          </a:xfrm>
          <a:prstGeom prst="rect">
            <a:avLst/>
          </a:prstGeom>
          <a:noFill/>
        </p:spPr>
        <p:txBody>
          <a:bodyPr wrap="square" rtlCol="0">
            <a:spAutoFit/>
          </a:bodyPr>
          <a:lstStyle/>
          <a:p>
            <a:pPr indent="266700" algn="just" fontAlgn="ctr">
              <a:lnSpc>
                <a:spcPct val="150000"/>
              </a:lnSpc>
            </a:pPr>
            <a:r>
              <a:rPr lang="en-US" altLang="zh-CN" sz="2800" dirty="0">
                <a:latin typeface="Times New Roman" pitchFamily="18" charset="0"/>
                <a:ea typeface="宋体" pitchFamily="2" charset="-122"/>
              </a:rPr>
              <a:t>8</a:t>
            </a:r>
            <a:r>
              <a:rPr lang="zh-CN" altLang="en-US" sz="2800" dirty="0">
                <a:latin typeface="Times New Roman" pitchFamily="18" charset="0"/>
                <a:ea typeface="宋体" pitchFamily="2" charset="-122"/>
              </a:rPr>
              <a:t>）阵列齿槽</a:t>
            </a:r>
          </a:p>
        </p:txBody>
      </p:sp>
      <p:sp>
        <p:nvSpPr>
          <p:cNvPr id="6" name="TextBox 6">
            <a:extLst>
              <a:ext uri="{FF2B5EF4-FFF2-40B4-BE49-F238E27FC236}">
                <a16:creationId xmlns:a16="http://schemas.microsoft.com/office/drawing/2014/main" id="{AB41DCD0-3518-B04A-5D60-2C53A183436F}"/>
              </a:ext>
            </a:extLst>
          </p:cNvPr>
          <p:cNvSpPr txBox="1"/>
          <p:nvPr/>
        </p:nvSpPr>
        <p:spPr>
          <a:xfrm>
            <a:off x="5189341" y="5247006"/>
            <a:ext cx="1813317"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3-78 </a:t>
            </a:r>
            <a:r>
              <a:rPr lang="zh-CN" altLang="en-US" dirty="0">
                <a:ea typeface="黑体"/>
                <a:cs typeface="Times New Roman"/>
              </a:rPr>
              <a:t>阵列齿槽</a:t>
            </a:r>
            <a:endParaRPr lang="zh-CN" altLang="en-US" dirty="0"/>
          </a:p>
        </p:txBody>
      </p:sp>
      <p:pic>
        <p:nvPicPr>
          <p:cNvPr id="3" name="图片 2">
            <a:extLst>
              <a:ext uri="{FF2B5EF4-FFF2-40B4-BE49-F238E27FC236}">
                <a16:creationId xmlns:a16="http://schemas.microsoft.com/office/drawing/2014/main" id="{9C8358FC-D237-64E9-B872-2539CD2559D9}"/>
              </a:ext>
            </a:extLst>
          </p:cNvPr>
          <p:cNvPicPr>
            <a:picLocks noChangeAspect="1"/>
          </p:cNvPicPr>
          <p:nvPr/>
        </p:nvPicPr>
        <p:blipFill rotWithShape="1">
          <a:blip r:embed="rId2">
            <a:extLst>
              <a:ext uri="{28A0092B-C50C-407E-A947-70E740481C1C}">
                <a14:useLocalDpi xmlns:a14="http://schemas.microsoft.com/office/drawing/2010/main" val="0"/>
              </a:ext>
            </a:extLst>
          </a:blip>
          <a:srcRect l="3368" t="6350" r="2300" b="4233"/>
          <a:stretch/>
        </p:blipFill>
        <p:spPr bwMode="auto">
          <a:xfrm>
            <a:off x="4162671" y="1632240"/>
            <a:ext cx="3866659" cy="333275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41725793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3">
            <a:extLst>
              <a:ext uri="{FF2B5EF4-FFF2-40B4-BE49-F238E27FC236}">
                <a16:creationId xmlns:a16="http://schemas.microsoft.com/office/drawing/2014/main" id="{9D3A3EFB-E59F-E7A7-9605-2022E7CA6A6F}"/>
              </a:ext>
            </a:extLst>
          </p:cNvPr>
          <p:cNvSpPr txBox="1"/>
          <p:nvPr/>
        </p:nvSpPr>
        <p:spPr>
          <a:xfrm>
            <a:off x="0" y="414734"/>
            <a:ext cx="11310110" cy="738664"/>
          </a:xfrm>
          <a:prstGeom prst="rect">
            <a:avLst/>
          </a:prstGeom>
          <a:noFill/>
        </p:spPr>
        <p:txBody>
          <a:bodyPr wrap="square" rtlCol="0">
            <a:spAutoFit/>
          </a:bodyPr>
          <a:lstStyle/>
          <a:p>
            <a:pPr indent="266700" algn="just" fontAlgn="ctr">
              <a:lnSpc>
                <a:spcPct val="150000"/>
              </a:lnSpc>
            </a:pPr>
            <a:r>
              <a:rPr lang="en-US" altLang="zh-CN" sz="2800" dirty="0">
                <a:latin typeface="Times New Roman" pitchFamily="18" charset="0"/>
                <a:ea typeface="宋体" pitchFamily="2" charset="-122"/>
              </a:rPr>
              <a:t>9</a:t>
            </a:r>
            <a:r>
              <a:rPr lang="zh-CN" altLang="en-US" sz="2800" dirty="0">
                <a:latin typeface="Times New Roman" pitchFamily="18" charset="0"/>
                <a:ea typeface="宋体" pitchFamily="2" charset="-122"/>
              </a:rPr>
              <a:t>）创建键槽</a:t>
            </a:r>
          </a:p>
        </p:txBody>
      </p:sp>
      <p:sp>
        <p:nvSpPr>
          <p:cNvPr id="6" name="TextBox 6">
            <a:extLst>
              <a:ext uri="{FF2B5EF4-FFF2-40B4-BE49-F238E27FC236}">
                <a16:creationId xmlns:a16="http://schemas.microsoft.com/office/drawing/2014/main" id="{AB41DCD0-3518-B04A-5D60-2C53A183436F}"/>
              </a:ext>
            </a:extLst>
          </p:cNvPr>
          <p:cNvSpPr txBox="1"/>
          <p:nvPr/>
        </p:nvSpPr>
        <p:spPr>
          <a:xfrm>
            <a:off x="1830996" y="5335270"/>
            <a:ext cx="2274982"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3-79 </a:t>
            </a:r>
            <a:r>
              <a:rPr lang="zh-CN" altLang="en-US" dirty="0">
                <a:ea typeface="黑体"/>
                <a:cs typeface="Times New Roman"/>
              </a:rPr>
              <a:t>草绘键槽轮廓</a:t>
            </a:r>
            <a:endParaRPr lang="zh-CN" altLang="en-US" dirty="0"/>
          </a:p>
        </p:txBody>
      </p:sp>
      <p:pic>
        <p:nvPicPr>
          <p:cNvPr id="2" name="图片 1">
            <a:extLst>
              <a:ext uri="{FF2B5EF4-FFF2-40B4-BE49-F238E27FC236}">
                <a16:creationId xmlns:a16="http://schemas.microsoft.com/office/drawing/2014/main" id="{0932043D-91EA-7D0D-DB29-2569F3FD15BF}"/>
              </a:ext>
            </a:extLst>
          </p:cNvPr>
          <p:cNvPicPr>
            <a:picLocks noChangeAspect="1"/>
          </p:cNvPicPr>
          <p:nvPr/>
        </p:nvPicPr>
        <p:blipFill>
          <a:blip r:embed="rId2"/>
          <a:stretch>
            <a:fillRect/>
          </a:stretch>
        </p:blipFill>
        <p:spPr>
          <a:xfrm>
            <a:off x="539497" y="1987101"/>
            <a:ext cx="4649844" cy="2883798"/>
          </a:xfrm>
          <a:prstGeom prst="rect">
            <a:avLst/>
          </a:prstGeom>
        </p:spPr>
      </p:pic>
      <p:pic>
        <p:nvPicPr>
          <p:cNvPr id="4" name="图片 3">
            <a:extLst>
              <a:ext uri="{FF2B5EF4-FFF2-40B4-BE49-F238E27FC236}">
                <a16:creationId xmlns:a16="http://schemas.microsoft.com/office/drawing/2014/main" id="{E7D5DCC9-8DE5-75AB-A964-022DBF166285}"/>
              </a:ext>
            </a:extLst>
          </p:cNvPr>
          <p:cNvPicPr>
            <a:picLocks noChangeAspect="1"/>
          </p:cNvPicPr>
          <p:nvPr/>
        </p:nvPicPr>
        <p:blipFill rotWithShape="1">
          <a:blip r:embed="rId3">
            <a:extLst>
              <a:ext uri="{28A0092B-C50C-407E-A947-70E740481C1C}">
                <a14:useLocalDpi xmlns:a14="http://schemas.microsoft.com/office/drawing/2010/main" val="0"/>
              </a:ext>
            </a:extLst>
          </a:blip>
          <a:srcRect t="6362" b="5103"/>
          <a:stretch/>
        </p:blipFill>
        <p:spPr bwMode="auto">
          <a:xfrm>
            <a:off x="6788625" y="1987101"/>
            <a:ext cx="3357885" cy="3241427"/>
          </a:xfrm>
          <a:prstGeom prst="rect">
            <a:avLst/>
          </a:prstGeom>
          <a:ln>
            <a:noFill/>
          </a:ln>
          <a:extLst>
            <a:ext uri="{53640926-AAD7-44D8-BBD7-CCE9431645EC}">
              <a14:shadowObscured xmlns:a14="http://schemas.microsoft.com/office/drawing/2010/main"/>
            </a:ext>
          </a:extLst>
        </p:spPr>
      </p:pic>
      <p:sp>
        <p:nvSpPr>
          <p:cNvPr id="7" name="TextBox 6">
            <a:extLst>
              <a:ext uri="{FF2B5EF4-FFF2-40B4-BE49-F238E27FC236}">
                <a16:creationId xmlns:a16="http://schemas.microsoft.com/office/drawing/2014/main" id="{2B556FDF-23A8-F41E-F8B8-77E297EFA9A8}"/>
              </a:ext>
            </a:extLst>
          </p:cNvPr>
          <p:cNvSpPr txBox="1"/>
          <p:nvPr/>
        </p:nvSpPr>
        <p:spPr>
          <a:xfrm>
            <a:off x="7560908" y="5335270"/>
            <a:ext cx="1813317" cy="369332"/>
          </a:xfrm>
          <a:prstGeom prst="rect">
            <a:avLst/>
          </a:prstGeom>
          <a:noFill/>
        </p:spPr>
        <p:txBody>
          <a:bodyPr wrap="none" rtlCol="0">
            <a:spAutoFit/>
          </a:bodyPr>
          <a:lstStyle/>
          <a:p>
            <a:pPr algn="ctr"/>
            <a:r>
              <a:rPr lang="zh-CN" altLang="en-US" dirty="0">
                <a:ea typeface="黑体"/>
                <a:cs typeface="Times New Roman"/>
              </a:rPr>
              <a:t>图</a:t>
            </a:r>
            <a:r>
              <a:rPr lang="en-US" altLang="zh-CN" dirty="0">
                <a:ea typeface="黑体"/>
                <a:cs typeface="Times New Roman"/>
              </a:rPr>
              <a:t>3-80 </a:t>
            </a:r>
            <a:r>
              <a:rPr lang="zh-CN" altLang="en-US" dirty="0">
                <a:ea typeface="黑体"/>
                <a:cs typeface="Times New Roman"/>
              </a:rPr>
              <a:t>拉伸键槽</a:t>
            </a:r>
            <a:endParaRPr lang="zh-CN" altLang="en-US" dirty="0"/>
          </a:p>
        </p:txBody>
      </p:sp>
    </p:spTree>
    <p:extLst>
      <p:ext uri="{BB962C8B-B14F-4D97-AF65-F5344CB8AC3E}">
        <p14:creationId xmlns:p14="http://schemas.microsoft.com/office/powerpoint/2010/main" val="342249297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3">
            <a:extLst>
              <a:ext uri="{FF2B5EF4-FFF2-40B4-BE49-F238E27FC236}">
                <a16:creationId xmlns:a16="http://schemas.microsoft.com/office/drawing/2014/main" id="{9D3A3EFB-E59F-E7A7-9605-2022E7CA6A6F}"/>
              </a:ext>
            </a:extLst>
          </p:cNvPr>
          <p:cNvSpPr txBox="1"/>
          <p:nvPr/>
        </p:nvSpPr>
        <p:spPr>
          <a:xfrm>
            <a:off x="251792" y="751344"/>
            <a:ext cx="11310110" cy="2677656"/>
          </a:xfrm>
          <a:prstGeom prst="rect">
            <a:avLst/>
          </a:prstGeom>
          <a:noFill/>
        </p:spPr>
        <p:txBody>
          <a:bodyPr wrap="square" rtlCol="0">
            <a:spAutoFit/>
          </a:bodyPr>
          <a:lstStyle/>
          <a:p>
            <a:pPr indent="266700" algn="just" fontAlgn="ctr">
              <a:lnSpc>
                <a:spcPct val="150000"/>
              </a:lnSpc>
            </a:pPr>
            <a:r>
              <a:rPr lang="en-US" altLang="zh-CN" sz="2800" dirty="0">
                <a:latin typeface="Times New Roman" pitchFamily="18" charset="0"/>
                <a:ea typeface="宋体" pitchFamily="2" charset="-122"/>
              </a:rPr>
              <a:t>10</a:t>
            </a:r>
            <a:r>
              <a:rPr lang="zh-CN" altLang="en-US" sz="2800" dirty="0">
                <a:latin typeface="Times New Roman" pitchFamily="18" charset="0"/>
                <a:ea typeface="宋体" pitchFamily="2" charset="-122"/>
              </a:rPr>
              <a:t>）倒角</a:t>
            </a:r>
          </a:p>
          <a:p>
            <a:pPr indent="266700" algn="just" fontAlgn="ctr">
              <a:lnSpc>
                <a:spcPct val="150000"/>
              </a:lnSpc>
            </a:pPr>
            <a:r>
              <a:rPr lang="zh-CN" altLang="en-US" sz="2800" dirty="0">
                <a:latin typeface="Times New Roman" pitchFamily="18" charset="0"/>
                <a:ea typeface="宋体" pitchFamily="2" charset="-122"/>
              </a:rPr>
              <a:t>为伞齿轮中心圆柱棱边进行倒角，倒角值为</a:t>
            </a:r>
            <a:r>
              <a:rPr lang="en-US" altLang="zh-CN" sz="2800" dirty="0">
                <a:latin typeface="Times New Roman" pitchFamily="18" charset="0"/>
                <a:ea typeface="宋体" pitchFamily="2" charset="-122"/>
              </a:rPr>
              <a:t>2</a:t>
            </a:r>
            <a:r>
              <a:rPr lang="zh-CN" altLang="en-US" sz="2800" dirty="0">
                <a:latin typeface="Times New Roman" pitchFamily="18" charset="0"/>
                <a:ea typeface="宋体" pitchFamily="2" charset="-122"/>
              </a:rPr>
              <a:t>。</a:t>
            </a:r>
          </a:p>
          <a:p>
            <a:pPr indent="266700" algn="just" fontAlgn="ctr">
              <a:lnSpc>
                <a:spcPct val="150000"/>
              </a:lnSpc>
            </a:pPr>
            <a:r>
              <a:rPr lang="en-US" altLang="zh-CN" sz="2800" dirty="0">
                <a:latin typeface="Times New Roman" pitchFamily="18" charset="0"/>
                <a:ea typeface="宋体" pitchFamily="2" charset="-122"/>
              </a:rPr>
              <a:t>11</a:t>
            </a:r>
            <a:r>
              <a:rPr lang="zh-CN" altLang="en-US" sz="2800" dirty="0">
                <a:latin typeface="Times New Roman" pitchFamily="18" charset="0"/>
                <a:ea typeface="宋体" pitchFamily="2" charset="-122"/>
              </a:rPr>
              <a:t>）保存模型</a:t>
            </a:r>
          </a:p>
          <a:p>
            <a:pPr indent="266700" algn="just" fontAlgn="ctr">
              <a:lnSpc>
                <a:spcPct val="150000"/>
              </a:lnSpc>
            </a:pPr>
            <a:r>
              <a:rPr lang="zh-CN" altLang="en-US" sz="2800" dirty="0">
                <a:latin typeface="Times New Roman" pitchFamily="18" charset="0"/>
                <a:ea typeface="宋体" pitchFamily="2" charset="-122"/>
              </a:rPr>
              <a:t>保存当前建立的伞齿轮模型。</a:t>
            </a:r>
          </a:p>
        </p:txBody>
      </p:sp>
    </p:spTree>
    <p:extLst>
      <p:ext uri="{BB962C8B-B14F-4D97-AF65-F5344CB8AC3E}">
        <p14:creationId xmlns:p14="http://schemas.microsoft.com/office/powerpoint/2010/main" val="118006528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1854</TotalTime>
  <Words>4007</Words>
  <Application>Microsoft Office PowerPoint</Application>
  <PresentationFormat>宽屏</PresentationFormat>
  <Paragraphs>308</Paragraphs>
  <Slides>83</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83</vt:i4>
      </vt:variant>
    </vt:vector>
  </HeadingPairs>
  <TitlesOfParts>
    <vt:vector size="90" baseType="lpstr">
      <vt:lpstr>等线</vt:lpstr>
      <vt:lpstr>黑体</vt:lpstr>
      <vt:lpstr>Arial</vt:lpstr>
      <vt:lpstr>Calibri</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502</dc:creator>
  <cp:lastModifiedBy>37584</cp:lastModifiedBy>
  <cp:revision>135</cp:revision>
  <dcterms:created xsi:type="dcterms:W3CDTF">2022-06-25T09:10:00Z</dcterms:created>
  <dcterms:modified xsi:type="dcterms:W3CDTF">2023-03-29T09:02:23Z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9F5551007EA34426BE42E023EFDA5284</vt:lpwstr>
  </property>
  <property fmtid="{D5CDD505-2E9C-101B-9397-08002B2CF9AE}" pid="3" name="KSOProductBuildVer">
    <vt:lpwstr>2052-11.1.0.11579</vt:lpwstr>
  </property>
</Properties>
</file>