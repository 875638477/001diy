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30"/>
  </p:handoutMasterIdLst>
  <p:sldIdLst>
    <p:sldId id="256" r:id="rId3"/>
    <p:sldId id="257" r:id="rId4"/>
    <p:sldId id="311" r:id="rId5"/>
    <p:sldId id="316" r:id="rId6"/>
    <p:sldId id="312" r:id="rId7"/>
    <p:sldId id="313" r:id="rId8"/>
    <p:sldId id="314" r:id="rId9"/>
    <p:sldId id="315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363" r:id="rId57"/>
    <p:sldId id="364" r:id="rId58"/>
    <p:sldId id="365" r:id="rId59"/>
    <p:sldId id="366" r:id="rId60"/>
    <p:sldId id="367" r:id="rId61"/>
    <p:sldId id="368" r:id="rId62"/>
    <p:sldId id="369" r:id="rId63"/>
    <p:sldId id="370" r:id="rId64"/>
    <p:sldId id="371" r:id="rId65"/>
    <p:sldId id="372" r:id="rId66"/>
    <p:sldId id="373" r:id="rId67"/>
    <p:sldId id="374" r:id="rId68"/>
    <p:sldId id="375" r:id="rId69"/>
    <p:sldId id="376" r:id="rId70"/>
    <p:sldId id="377" r:id="rId71"/>
    <p:sldId id="378" r:id="rId72"/>
    <p:sldId id="379" r:id="rId73"/>
    <p:sldId id="380" r:id="rId74"/>
    <p:sldId id="381" r:id="rId75"/>
    <p:sldId id="382" r:id="rId76"/>
    <p:sldId id="383" r:id="rId77"/>
    <p:sldId id="384" r:id="rId78"/>
    <p:sldId id="385" r:id="rId79"/>
    <p:sldId id="386" r:id="rId80"/>
    <p:sldId id="387" r:id="rId81"/>
    <p:sldId id="388" r:id="rId82"/>
    <p:sldId id="389" r:id="rId83"/>
    <p:sldId id="390" r:id="rId84"/>
    <p:sldId id="391" r:id="rId85"/>
    <p:sldId id="392" r:id="rId86"/>
    <p:sldId id="393" r:id="rId87"/>
    <p:sldId id="394" r:id="rId88"/>
    <p:sldId id="395" r:id="rId89"/>
    <p:sldId id="396" r:id="rId90"/>
    <p:sldId id="397" r:id="rId91"/>
    <p:sldId id="398" r:id="rId92"/>
    <p:sldId id="399" r:id="rId93"/>
    <p:sldId id="400" r:id="rId94"/>
    <p:sldId id="401" r:id="rId95"/>
    <p:sldId id="402" r:id="rId96"/>
    <p:sldId id="403" r:id="rId97"/>
    <p:sldId id="404" r:id="rId98"/>
    <p:sldId id="405" r:id="rId99"/>
    <p:sldId id="406" r:id="rId100"/>
    <p:sldId id="407" r:id="rId101"/>
    <p:sldId id="408" r:id="rId102"/>
    <p:sldId id="409" r:id="rId103"/>
    <p:sldId id="410" r:id="rId104"/>
    <p:sldId id="411" r:id="rId105"/>
    <p:sldId id="412" r:id="rId106"/>
    <p:sldId id="413" r:id="rId107"/>
    <p:sldId id="414" r:id="rId108"/>
    <p:sldId id="415" r:id="rId109"/>
    <p:sldId id="416" r:id="rId110"/>
    <p:sldId id="417" r:id="rId111"/>
    <p:sldId id="418" r:id="rId112"/>
    <p:sldId id="419" r:id="rId113"/>
    <p:sldId id="420" r:id="rId114"/>
    <p:sldId id="421" r:id="rId115"/>
    <p:sldId id="422" r:id="rId116"/>
    <p:sldId id="423" r:id="rId117"/>
    <p:sldId id="424" r:id="rId118"/>
    <p:sldId id="425" r:id="rId119"/>
    <p:sldId id="426" r:id="rId120"/>
    <p:sldId id="427" r:id="rId121"/>
    <p:sldId id="428" r:id="rId122"/>
    <p:sldId id="429" r:id="rId123"/>
    <p:sldId id="430" r:id="rId124"/>
    <p:sldId id="432" r:id="rId125"/>
    <p:sldId id="431" r:id="rId126"/>
    <p:sldId id="433" r:id="rId127"/>
    <p:sldId id="435" r:id="rId128"/>
    <p:sldId id="434" r:id="rId129"/>
  </p:sldIdLst>
  <p:sldSz cx="12192000" cy="6858000"/>
  <p:notesSz cx="6858000" cy="9144000"/>
  <p:custDataLst>
    <p:tags r:id="rId1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  <a:srgbClr val="0361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-291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4" Type="http://schemas.openxmlformats.org/officeDocument/2006/relationships/tags" Target="tags/tag1.xml"/><Relationship Id="rId133" Type="http://schemas.openxmlformats.org/officeDocument/2006/relationships/tableStyles" Target="tableStyles.xml"/><Relationship Id="rId132" Type="http://schemas.openxmlformats.org/officeDocument/2006/relationships/viewProps" Target="viewProps.xml"/><Relationship Id="rId131" Type="http://schemas.openxmlformats.org/officeDocument/2006/relationships/presProps" Target="presProps.xml"/><Relationship Id="rId130" Type="http://schemas.openxmlformats.org/officeDocument/2006/relationships/handoutMaster" Target="handoutMasters/handoutMaster1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D4EB5-7A91-4453-9159-82F472709E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447EE-71ED-4CDF-A1E2-57E93385E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 userDrawn="1"/>
        </p:nvCxnSpPr>
        <p:spPr>
          <a:xfrm>
            <a:off x="518756" y="311468"/>
            <a:ext cx="4108450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7488043" y="311468"/>
            <a:ext cx="4108450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图片 99"/>
          <p:cNvPicPr/>
          <p:nvPr userDrawn="1"/>
        </p:nvPicPr>
        <p:blipFill>
          <a:blip r:embed="rId2"/>
          <a:srcRect t="30838" b="33250"/>
          <a:stretch>
            <a:fillRect/>
          </a:stretch>
        </p:blipFill>
        <p:spPr>
          <a:xfrm>
            <a:off x="5155096" y="6473823"/>
            <a:ext cx="1881809" cy="36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 userDrawn="1"/>
        </p:nvSpPr>
        <p:spPr>
          <a:xfrm>
            <a:off x="4652093" y="143510"/>
            <a:ext cx="288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Creo8.0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机械设计实例教程</a:t>
            </a:r>
            <a:endParaRPr lang="zh-CN" altLang="en-US" sz="18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449" y="6352191"/>
            <a:ext cx="2516961" cy="4816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4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5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3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4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9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0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2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3.png"/></Relationships>
</file>

<file path=ppt/slides/_rels/slide9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image" Target="../media/image97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7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3.png"/><Relationship Id="rId1" Type="http://schemas.openxmlformats.org/officeDocument/2006/relationships/image" Target="../media/image94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4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5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7.png"/><Relationship Id="rId1" Type="http://schemas.openxmlformats.org/officeDocument/2006/relationships/image" Target="../media/image11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1.png"/><Relationship Id="rId1" Type="http://schemas.openxmlformats.org/officeDocument/2006/relationships/image" Target="../media/image116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2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3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4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7.png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8.png"/></Relationships>
</file>

<file path=ppt/slides/_rels/slide1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image" Target="../media/image129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3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5.png"/><Relationship Id="rId1" Type="http://schemas.openxmlformats.org/officeDocument/2006/relationships/image" Target="../media/image134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9.png"/><Relationship Id="rId1" Type="http://schemas.openxmlformats.org/officeDocument/2006/relationships/image" Target="../media/image138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1812" y="714583"/>
            <a:ext cx="650837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latin typeface="Times New Roman" panose="02020603050405020304" pitchFamily="18" charset="0"/>
                <a:ea typeface="黑体" panose="02010609060101010101" charset="-122"/>
              </a:rPr>
              <a:t>第</a:t>
            </a:r>
            <a:r>
              <a:rPr lang="en-US" altLang="zh-CN" sz="3600" dirty="0">
                <a:latin typeface="Times New Roman" panose="02020603050405020304" pitchFamily="18" charset="0"/>
                <a:ea typeface="黑体" panose="02010609060101010101" charset="-122"/>
              </a:rPr>
              <a:t>9</a:t>
            </a:r>
            <a:r>
              <a:rPr lang="zh-CN" altLang="en-US" sz="3600" dirty="0">
                <a:latin typeface="Times New Roman" panose="02020603050405020304" pitchFamily="18" charset="0"/>
                <a:ea typeface="黑体" panose="02010609060101010101" charset="-122"/>
              </a:rPr>
              <a:t>章 工程图的绘制</a:t>
            </a:r>
            <a:endParaRPr lang="zh-CN" altLang="en-US" sz="360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33828" y="1945406"/>
            <a:ext cx="3300350" cy="2953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黑体" panose="02010609060101010101" charset="-122"/>
              </a:rPr>
              <a:t>9.1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charset="-122"/>
              </a:rPr>
              <a:t>工程图概述</a:t>
            </a:r>
            <a:endParaRPr lang="en-US" altLang="zh-CN" sz="3200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黑体" panose="02010609060101010101" charset="-122"/>
              </a:rPr>
              <a:t>9.2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charset="-122"/>
              </a:rPr>
              <a:t>视图的创建</a:t>
            </a:r>
            <a:endParaRPr lang="en-US" altLang="zh-CN" sz="3200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黑体" panose="02010609060101010101" charset="-122"/>
              </a:rPr>
              <a:t>9.3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charset="-122"/>
              </a:rPr>
              <a:t>工程图标注</a:t>
            </a:r>
            <a:endParaRPr lang="en-US" altLang="zh-CN" sz="3200" dirty="0">
              <a:latin typeface="Times New Roman" panose="02020603050405020304" pitchFamily="18" charset="0"/>
              <a:ea typeface="黑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Times New Roman" panose="02020603050405020304" pitchFamily="18" charset="0"/>
                <a:ea typeface="黑体" panose="02010609060101010101" charset="-122"/>
              </a:rPr>
              <a:t>9.4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charset="-122"/>
              </a:rPr>
              <a:t>创建绘图表</a:t>
            </a:r>
            <a:endParaRPr lang="en-US" altLang="zh-CN" sz="320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0562" y="470647"/>
            <a:ext cx="3565712" cy="737510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</a:rPr>
              <a:t>9.1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</a:rPr>
              <a:t>工程图概述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3" y="1279582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Creo Parametric 8.0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为用户提供了功能强大的工程图设计模块（也称“绘图模式”）。使用该模块，可以由建立好的零件模型或组件模型等来快速生成所需的工程视图，并可以为视图添加各种标注和注释。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通过模型产生的工程视图可以分为标准三视图、一般视图（也称普通视图）、投影视图、详细视图、辅助视图等。可以根据模型结构和设计要求来为选定视图设置视图可见性（全视图、半视图、局部视图和剖断视图）和剖面情况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工程视图需要遵循一定的制图规范或标准。在机械制图领域，视图是指将机件向投影面投影所得的图形。目前，三面投影体系中常用的投影方法有第一角投影法和第三角投影法，其中我国推荐采用第一角投影法，而国际上一些国家则采用第三角投影法，投影法可由用户自行设置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新建工程图文件</a:t>
            </a:r>
            <a:endParaRPr lang="en-US" altLang="zh-CN" sz="2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Creo Parametric 8.0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中，工程图文件后缀名为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drw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Creo Parametric 8.0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的“快速访问”工具栏中单击“新建”按钮    ，打开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选项组中选择“绘图”单选按钮，在“文件名”文本框中输入文件名或者接受默认的名称，可以根据需要设置是否使用绘图模型文件名，接着取消选中“使用默认模板”复选框，如图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所示，然后单击“确定”按钮，系统弹出图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新建绘图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0193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8300" y="5846787"/>
            <a:ext cx="2358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1" y="826547"/>
            <a:ext cx="3169286" cy="47922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47" y="852988"/>
            <a:ext cx="2371408" cy="47007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15221" y="5748249"/>
            <a:ext cx="280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新建绘图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59182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新建绘图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对话框的“默认模型”选项组中单击“浏览”按钮，利用弹出的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对话框浏览并选择所需要的模型。如果在创建工程图文件之前已经打开了一个模型，那么系统将该模型自动定为默认模型。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在“指定模板”选项组中，提供了“使用模板”、“格式为空”、“空”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个单选按钮。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如果在“指定模板”选项组中选择了“使用模板”单选按钮，则从“模板”选项组的模板列表中选择所需模板，如图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97425" y="6085560"/>
            <a:ext cx="3474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选择“使用模板”单选按钮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151" y="677302"/>
            <a:ext cx="2651699" cy="52662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702078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如果在“指定模板”选项组中选择了“格式为空”单选按钮，则不用模板而是用现有格式创建绘图，如图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所示，此时需要在“格式”选项组中单击“浏览”按钮，浏览并选择要使用的格式。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如果在“指定模板”选项组中选择了“空”单选按钮，则可以在“方向”选项组中图纸大小和方向。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新建绘图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对话框中单击“确定”按钮，从而完成新建一个绘图文件并打开新工程绘图窗口。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258494" y="6085560"/>
            <a:ext cx="367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使用“格式为空”单选按钮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889" y="737551"/>
            <a:ext cx="2542222" cy="51225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3617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工程图环境设置</a:t>
            </a:r>
            <a:endParaRPr lang="en-US" altLang="zh-CN" sz="2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Creo Parametric 8.0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中，可以通过使用绘图设置文件选项、配置选项、模板和格式这些组合来定制自己的绘图环境和绘图行为。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单击“文件”按钮并从打开的文件应用程序菜单中选择“选项”命令，系统弹出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【Creo Parametric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对话框，接着选择“配置编辑器”来设置与绘图相关的配置选项。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下面介绍设置绘图文件选项的应用知识，设置绘图选项的典型方法及步骤如下：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）在一个新建的工程图文件中，单击“文件”按钮，接着选择“准备”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|“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绘图属性”命令，弹出图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绘图属性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992" y="3155052"/>
            <a:ext cx="9822017" cy="230473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58494" y="5699794"/>
            <a:ext cx="367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绘图属性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37358"/>
            <a:ext cx="1117820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绘图属性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对话框中单击“细节选项”对应的“更改”选项，系统弹出图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58494" y="6142710"/>
            <a:ext cx="367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选项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179" y="1628122"/>
            <a:ext cx="472564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对话框的列表中选择要修改的选项，或者直接在“选项”文本框中输入选项名称，接着在“值”下拉列表框中指定所需的选项（值），然后单击“添加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更改”按钮，以及单击“应用”按钮。完成后关闭“选项”对话框，完成其他绘图设置文件选项的设置后关闭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对话框，完成配置新的绘图环境。常规绘图选项的设置如表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58494" y="650822"/>
            <a:ext cx="367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表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常规绘图选项设置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331244" y="1080487"/>
          <a:ext cx="7529513" cy="5040000"/>
        </p:xfrm>
        <a:graphic>
          <a:graphicData uri="http://schemas.openxmlformats.org/drawingml/2006/table">
            <a:tbl>
              <a:tblPr firstRow="1" firstCol="1" bandRow="1"/>
              <a:tblGrid>
                <a:gridCol w="2200276"/>
                <a:gridCol w="3514725"/>
                <a:gridCol w="181451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绘图选项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设置值（推荐）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 err="1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drawing_units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设置所有绘图参数的单位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mm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 err="1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text_height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设置新创建注释的默认文本高度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3.5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 err="1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draw_arrow_length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800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设置指引线箭头的长度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3.5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draw_arrow_width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设置指引线箭头的宽度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tol_display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控制尺寸公差的显示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Yes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projection_type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确定创建投影视图的方法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first_angle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58494" y="1016581"/>
            <a:ext cx="367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表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常规绘图选项设置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488831" y="1521419"/>
          <a:ext cx="9214339" cy="4320000"/>
        </p:xfrm>
        <a:graphic>
          <a:graphicData uri="http://schemas.openxmlformats.org/drawingml/2006/table">
            <a:tbl>
              <a:tblPr firstRow="1" firstCol="1" bandRow="1"/>
              <a:tblGrid>
                <a:gridCol w="2955938"/>
                <a:gridCol w="3514725"/>
                <a:gridCol w="2743676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绘图选项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b="1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设置值（推荐）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 err="1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dim_leader_length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在尺寸引线箭头超出尺寸界线时，设置尺寸引线的长度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 err="1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default_lindim_text_orientation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设置线性尺寸的默认文本方向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 err="1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parallel_to_and_above_leader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00" dirty="0" err="1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witness_line_delta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kern="10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设置尺寸界线在尺寸引线箭头上的延伸量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0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default_diadim_text_orientation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设置直径尺寸的默认文本方向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parallel_to_and_above_leader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8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default_raddim_text_orientation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altLang="en-US" sz="18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设置半径尺寸的默认文本方向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parallel_to_and_above_leader</a:t>
                      </a:r>
                      <a:endParaRPr lang="zh-CN" sz="18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754274" y="1016581"/>
            <a:ext cx="948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续表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37358"/>
            <a:ext cx="1117820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进入工程图模式，导航区的     选项卡除了提供模型树之外，还提供一个绘图树窗口，如图 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58494" y="6142710"/>
            <a:ext cx="367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绘图树与模型树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434" y="647703"/>
            <a:ext cx="320040" cy="333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138" y="1654101"/>
            <a:ext cx="3035725" cy="43335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541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向绘图添加模型</a:t>
            </a:r>
            <a:endParaRPr lang="en-US" altLang="zh-CN" sz="2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向绘图添加模型是指在放置零件的视图之前，必须建立零件与绘图的关系。在打开的绘图文件（工程图文件）中，可以执行以下步骤来向绘图文件添加模型。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）在功能区的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选项卡的“模型视图”面板中单击“绘图模型”按钮     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）系统弹出一个提供“绘图模型”菜单的菜单管理器，如图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所示。在“绘图模型”菜单中选择“添加模型”选项，弹出“打开”对话框，选择绘图模型，该模型被设置为当前绘图模型。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70" y="3833814"/>
            <a:ext cx="33337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58494" y="5156862"/>
            <a:ext cx="367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“绘图模型”菜单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616" y="1476692"/>
            <a:ext cx="6814769" cy="34953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3617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使用绘图页面</a:t>
            </a:r>
            <a:endParaRPr lang="en-US" altLang="zh-CN" sz="2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Creo Parametric 8.0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中，可以创建具有多个页面的绘图，并可以在页面之间移动项目。绘图的页面列在图形窗口左下角的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页面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栏中，可以使用该栏中的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页面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选项卡来在各页面之间浏览。若单击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页面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栏中的“新建页面”按钮     ，则可以添加新页面。用户也可以在功能区的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文档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组中单击“新页面”按钮      ，来添加一个新的页面。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5087" y="3270884"/>
            <a:ext cx="335280" cy="259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1" y="3805238"/>
            <a:ext cx="32004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37358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如果要查看和更新当前页面的属性，如名称、格式、大小和方向，则可以在功能区的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选项卡中单击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文档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面板中的“页面设置”按钮    ，以弹出图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页面设置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58494" y="6142710"/>
            <a:ext cx="3675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页面设置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199" y="1302948"/>
            <a:ext cx="320040" cy="2743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990" y="2297752"/>
            <a:ext cx="5858021" cy="36172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4675" y="4749576"/>
            <a:ext cx="6619143" cy="129405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90096" y="6176476"/>
            <a:ext cx="3343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9-10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阶梯轴模型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3" y="623102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轴零件的工程图创建</a:t>
            </a:r>
            <a:endParaRPr lang="en-US" altLang="zh-CN" sz="2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快速访问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工具栏中单击“打开”按钮，系统弹出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\DATA\ch9\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轴零件工程图创建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prt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文件，单击“打开”按钮，打开如图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所示的阶梯轴模型。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该轴长为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415mm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，最大外径为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70mm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在创建轴零件工程图时，为了节省图纸空间采用了破断视图，此外，在表现键槽结构时，采用剖视图。在表现阶梯轴越程槽结构是，采用了局部放大图。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590096" y="5890716"/>
            <a:ext cx="3343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创建辅助平面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3" y="623102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创建辅助平面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基准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组中的“平面”按钮    ，选取轴端面为参考平面，输入适当偏移距离，在键槽处建立辅助平面。按此方法，分别在两处键槽中部建立辅助平面，如图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100" y="1433512"/>
            <a:ext cx="352425" cy="285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923" y="3429000"/>
            <a:ext cx="6464155" cy="21597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4817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定义零件剖切截面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）单击视图控制工具条中的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按钮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】|【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选项，然后输入截面的名称为“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，按“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Enter”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键后界面顶部会弹出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操控板。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）创建大键槽截面：单击在大键槽处建立的辅助平面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，箭头方向不影响截面图的显示效果，结果如图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所示。其余设置不变，单击操控板中的“确定”按钮，完成创建。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712" y="1433508"/>
            <a:ext cx="335280" cy="350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61173" y="5876422"/>
            <a:ext cx="3343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9-12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创建大键槽截面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70" y="3788092"/>
            <a:ext cx="6296815" cy="1741170"/>
          </a:xfrm>
          <a:prstGeom prst="rect">
            <a:avLst/>
          </a:prstGeom>
        </p:spPr>
      </p:pic>
      <p:sp>
        <p:nvSpPr>
          <p:cNvPr id="4" name="TextBox 2"/>
          <p:cNvSpPr txBox="1"/>
          <p:nvPr/>
        </p:nvSpPr>
        <p:spPr>
          <a:xfrm>
            <a:off x="457203" y="623102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）创建小键槽截面：命名截面名称为“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操控板后，单击在小键槽处建立的辅助平面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，可通过单击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操控板中的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反向工作截面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按钮    进行箭头方向的调节，其余设置不变，创建如图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所示的图形。单击操控板中的“确定”按钮，完成创建。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33586"/>
            <a:ext cx="280035" cy="2800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19070" y="5890716"/>
            <a:ext cx="3343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9-13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创建小键槽截面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891" y="3156323"/>
            <a:ext cx="2706167" cy="250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）回到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，双击空白框中的“无横截面”，将轴恢复完整，单击“关闭”按钮退出。单击界面顶部的快速访问工具栏中的“保存”按钮     ，保存截面创建内容。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54" y="2033587"/>
            <a:ext cx="280035" cy="29337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623102"/>
            <a:ext cx="11178206" cy="4817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新建工程图文件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）单击界面顶部快速访问工具栏中的“新建”按钮     ，新建一个名称为“轴”的绘图文件。在弹出的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新建绘图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对话框中设置“默认模型”为轴零件“轴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prt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）在“指定模板”选框中选择“格式为空”，单击“格式”选框里的“浏览”，系统弹出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\DATA\ch9\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轴零件工程图创建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 a3-h-pt.frm”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文件，单击“打开”按钮，设置如图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所示。单击“确定”按钮按钮，输入设计好的参数，进入工程图工作界面。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239" y="1431456"/>
            <a:ext cx="28956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968" y="999622"/>
            <a:ext cx="2314064" cy="485875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54829" y="5947868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9-14【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新建绘图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对话框设置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37374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创建主视图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组中单击“普通视图”按钮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选择组合状态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对话框。接受默认设置，单击“确定”按钮。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）在图形区方框内单击任意位置，弹出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所示。此时在图形区显示轴零件的预览情况。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6343" y="1376362"/>
            <a:ext cx="3429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54829" y="5947868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9-15 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绘图视图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369" y="652780"/>
            <a:ext cx="5021263" cy="51973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94526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）视图类型设置：在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后的文本框中输入“主视图”。在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视图方向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选项组中选择“几何参考”单选按钮，再设置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参考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1】“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前”为基准平面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，选取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参考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2】“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上”为基准平面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TOP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，设置好后的对话框如图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所示。单击对话框中的“应用”按钮，调整好方向后的主视图如图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4444" y="5662114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9-16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视图类型及方向设置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492" y="1013784"/>
            <a:ext cx="4248246" cy="438688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537" y="2929252"/>
            <a:ext cx="4929927" cy="9283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58769" y="4200025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9-17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主视图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94526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）比例设置：单击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比例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比例和透视图选项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选项组中选择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自定义比例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单选框，在其后的文本框中输入比例值为“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，单击对话框中的“应用”按钮。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）视图显示设置：单击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相切边显示样式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，其余保持默认，设置内容如图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所示。单击对话框中的“应用”按钮，再单击“确定”按钮退出对话框。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6388" y="3254707"/>
            <a:ext cx="594286" cy="26285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956" y="3824605"/>
            <a:ext cx="466666" cy="25333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54829" y="5947868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9-18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视图显示设置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282" y="995710"/>
            <a:ext cx="4643437" cy="4785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94526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）调整主视图位置：单击图形区主视图上的任意位置选中主视图，再单击鼠标右键，在弹出的菜单中单击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锁定视图移动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，使视图移动处于解锁状态。用鼠标将主视图移动到适当位置，如图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所示。此时轴的长度已经超出图框范围，需对视图要做破断处理。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654" y="3154473"/>
            <a:ext cx="8900693" cy="241707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54829" y="5833564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9-19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消隐后的主视图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创建破断视图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）双击主视图，弹出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可见区域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视图可见性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后的选项框中选择“破断视图”，如图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54829" y="5833564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9-20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选择“破断视图”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822" y="2609214"/>
            <a:ext cx="5658356" cy="299148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2)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添加断点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按钮      ，系统在信息提示区提示：“草绘一条水平或竖直的破断线”。单击选中右起第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个轴段的上边，拖动鼠标向下移动创建第一条竖直破断线。此时系统在信息提示区提示“拾取一个点定义第二条破断线”。在该轴段另一个位置单击选中上边，自动创建第二条竖直破断线，两条破断线的位置如图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54829" y="5833564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条竖直破短线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7262" y="704848"/>
            <a:ext cx="300038" cy="285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679" y="3428999"/>
            <a:ext cx="7050642" cy="22145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所示，拖动水平滚动条，显示出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破断线样式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下拉列表框，选取“草绘”选项。此时系统在界面底部信息提示区提示“为样条创建要经过的点”。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54829" y="5833564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9-22 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设置破断线样式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249" y="2297130"/>
            <a:ext cx="5603502" cy="324659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）直接在主视图第一条竖直破断线处绘制样条曲线，完成后单击鼠标中键确定，第二条样条曲线自动生成，如图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54829" y="4776282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9-23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绘制样条曲线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197" y="2033824"/>
            <a:ext cx="8221607" cy="240958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4)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单击对话框中的“应用”按钮，再单击“确定”按钮退出对话框。用鼠标选中主视图中两段图形，调整视图到合适位置，删除底部的比例文字，结果如图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54829" y="5319208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9-24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调整后的主视图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594" y="2582862"/>
            <a:ext cx="8278812" cy="233649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创建键槽截面视图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）创建左视图：在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区域中单击“投影视图”按钮     ，鼠标从主视图向右侧移动，得到左视图，在适当位置单击以放置左视图，如图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54829" y="5247768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9-25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创建左视图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6505" y="1876426"/>
            <a:ext cx="320040" cy="335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206" y="3082184"/>
            <a:ext cx="7841588" cy="175704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37374"/>
            <a:ext cx="11178206" cy="4817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）双击左视图，弹出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对话框。修改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为“大键槽截面”；设置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相切边显示样式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，其余保持默认，单击对话框中的“应用”按钮。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）创建大键槽截面：单击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选项组。选中其中的“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2D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横截面”单选按钮，单击“将横截面添加到视图”按钮      ，选择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下面的“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，再选中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模型边可见性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后面的“区域”单选按钮。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对话框设置如图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所示，单击对话框中的“应用”按钮。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950" y="1377015"/>
            <a:ext cx="693333" cy="3066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05" y="1967230"/>
            <a:ext cx="500000" cy="2714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48" y="3733801"/>
            <a:ext cx="300038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54829" y="5947868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9-26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截面设置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8563" y="800291"/>
            <a:ext cx="4714875" cy="489176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37374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对齐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视图对齐选项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选项组。取消勾选“将此视图与其他视图对齐”选项。单击对话框中的“应用”按钮，再单击“确定”按钮退出对话框。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）移动大键槽截面图至主视图下方，选中截面图，单击鼠标右键，在弹出的菜单中选取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添加箭头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选项。此时在界面底部有信息提示，根据提示单击主视图中大键槽的位置，出现朝左的投影箭头。通过鼠标调整箭头和大键槽截面图至适当位置，结果如图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54829" y="5333499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9-27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大键槽截面图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862" y="1142522"/>
            <a:ext cx="6936276" cy="399883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737398"/>
            <a:ext cx="1117820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）用上述方法投影并创建小键槽截面图，修改并调整截面标识位置，小键槽截面图创建过程中选取截面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54829" y="5976438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9-25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创建左视图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569" y="2003264"/>
            <a:ext cx="6590862" cy="390173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23070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7.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创建越程槽局部放大图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）在功能区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区域中单击“局部放大图”按钮      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）在主视图中选择要局部放大的越程槽上的中心点，如图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9-29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所示，系统加亮显示所选的点。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1828821"/>
            <a:ext cx="335280" cy="3352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618" y="2975005"/>
            <a:ext cx="4342765" cy="296349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54829" y="5976438"/>
            <a:ext cx="3482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9-29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选择局部放大图的中心点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系统出现“草绘样条，不相交其他样条，来定义一轮廓线。”的提示信息。使用鼠标左键围绕着所选的中心点依次选择若干点，以草绘环绕要详细显示区域的样条，单击鼠标中键完成样条的定义。此时，样条显示为一个圆和一个详图视图名称的注解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58627" y="5976438"/>
            <a:ext cx="367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9-30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草绘环绕要详细显示的区域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44" y="2842694"/>
            <a:ext cx="4278313" cy="313374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）在图纸页面中选择要放置局部放大图的位置。局部放大图显示样条范围内的父视图区域，并标注上局部放大图的名称和缩放比例，如图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58627" y="5162046"/>
            <a:ext cx="367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越程槽局部放大图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4740" y="1880676"/>
            <a:ext cx="3342521" cy="309664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8.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保存工程图文件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单击界面顶部快速访问工具栏中的“保存”按钮，完成如图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所示轴的工程图创建。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488" y="470356"/>
            <a:ext cx="7735024" cy="558754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58627" y="6133600"/>
            <a:ext cx="367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9-32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视图创建效果图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415" y="3797055"/>
            <a:ext cx="5815170" cy="22776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3" y="365918"/>
            <a:ext cx="11178206" cy="3617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托架的工程图创建</a:t>
            </a:r>
            <a:endParaRPr lang="zh-CN" altLang="en-US" sz="2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本节通过托架零件模型进行工程图的创建，使读者掌握全剖视图、局部剖视图和旋转剖视图的创建方法。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快速访问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工具栏中单击“打开”按钮，系统弹出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\DATA\ch9\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托架工程图创建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托架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prt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文件，单击“打开”按钮，打开如图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所示的托架模型。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58627" y="6133600"/>
            <a:ext cx="367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9-33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托架模型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创建辅助基准轴和基准平面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）以基准平面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TOP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和基准平面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为参考创建基准轴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A_12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524" y="1966989"/>
            <a:ext cx="4826953" cy="345595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58627" y="5747832"/>
            <a:ext cx="367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9-34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创建基准轴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A_12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2) 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以创建的基准轴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A_12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和基准平面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为参考，创建与基准平面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角度为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45°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的基准平面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，其中，辅助平面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作为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偏移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方式参考，基准轴作为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穿过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方式参考，如图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447" y="2297130"/>
            <a:ext cx="3835107" cy="35858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58627" y="5819272"/>
            <a:ext cx="367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9-35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创建基准平面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DTM2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）以基准平面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RIGHT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面和螺钉孔孔轴为参考创建基准平面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，其中基准平面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RIGHT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作为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平行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方式参考，孔轴作为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穿过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方式参考，结果如图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58627" y="5819272"/>
            <a:ext cx="367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9-36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创建基准平面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DTM3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632" y="2339894"/>
            <a:ext cx="4486736" cy="3160793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）以基准平面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TOP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面和大孔孔轴为参考创建基准平面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，其中基准平面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TOP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面作为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平行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方式参考，孔轴作为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穿过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方式参考，结果如图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58627" y="5819272"/>
            <a:ext cx="367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9-37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创建基准平面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DTM4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379" y="2297130"/>
            <a:ext cx="4861242" cy="310313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80222"/>
            <a:ext cx="11178206" cy="3617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创建截面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）单击视图控制工具条中的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按钮 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对话框，选择对话框中的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选项卡后单击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】|【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选项，分别创建截面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、截面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、截面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，对应的基准平面分别是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。以三个基准平面建立的截面效果分别如图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、图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9-39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、图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所示。可通过单击操控板中的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反向工作截面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按钮      调节箭头方向。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2" y="1290639"/>
            <a:ext cx="335280" cy="335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49" y="3676651"/>
            <a:ext cx="300038" cy="30003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72" y="1885950"/>
            <a:ext cx="3783753" cy="28378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699" y="1118729"/>
            <a:ext cx="4236404" cy="43538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255" y="1633522"/>
            <a:ext cx="3531389" cy="33426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97900" y="5472573"/>
            <a:ext cx="2116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9-38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创建截面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436550" y="5472573"/>
            <a:ext cx="2116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9-39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创建截面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305927" y="5472573"/>
            <a:ext cx="2116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9-40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创建截面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37374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对话框，双击空白框中的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无横截面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，将托架恢复完整。此外，在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中选中截面符号，单击鼠标右键，取消勾选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选项，可不显示截面，单击“关闭”按钮退出。单击界面顶部快速访问工具栏中的“保存”按钮，保存创建的截面。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37374"/>
            <a:ext cx="11178206" cy="4817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新建工程图文件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）单击界面顶部快速访问工具栏中的“新建”按钮     ，新建一个名称为“托架”的绘图文件。在弹出的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新建绘图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对话框中设置“默认模型”为“托架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prt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）在“指定模板”选框中选择“格式为空”，单击“格式”选框里的“浏览”，系统弹出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\DATA\ch9\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托架工程图创建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 a3-h-pt.frm”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文件，单击“打开”按钮，设置如图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所示。单击“确定”按钮，输入设计好的参数，进入工程图工作界面。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953" y="1342877"/>
            <a:ext cx="28956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465934"/>
            <a:ext cx="11178206" cy="601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创建主视图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组中单击“普通视图”按钮  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选择组合状态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对话框。接受默认设置，单击“确定”按钮。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）在图形区方框内单击任意位置，弹出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对话框。此时在图形区显示托架的预览情况。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）修改视图名称：在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后的文本框中输入“主视图”。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）定义主视图方向：在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视图方向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选项组中选择“几何参考”单选按钮，再设置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参考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1】“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后”为基准平面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，选取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参考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2】“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下”为基准平面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TOP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，设置好后的对话框如图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4918" y="1247774"/>
            <a:ext cx="411480" cy="33147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538" y="730247"/>
            <a:ext cx="4606925" cy="47491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28594" y="5758325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视图类型及方向设置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737398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）比例设置：单击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比例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比例和透视图选项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选项组中选择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自定义比例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单选框，在其后的文本框中输入比例值为“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，单击对话框中的“应用”按钮。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）视图显示设置：单击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 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相切边显示样式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，其余保持默认。单击对话框中的“应用”按钮，再单击“确定”按钮退出对话框，创建完成的主视图如图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237" y="3343275"/>
            <a:ext cx="792381" cy="35047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825" y="2286336"/>
            <a:ext cx="5068351" cy="361442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28594" y="6045452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9-42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主视图</a:t>
            </a:r>
            <a:endParaRPr lang="zh-CN" altLang="en-US" dirty="0"/>
          </a:p>
        </p:txBody>
      </p:sp>
      <p:sp>
        <p:nvSpPr>
          <p:cNvPr id="6" name="TextBox 2"/>
          <p:cNvSpPr txBox="1"/>
          <p:nvPr/>
        </p:nvSpPr>
        <p:spPr>
          <a:xfrm>
            <a:off x="457203" y="537374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）调整主视图位置：单击图形区主视图上的任意位置选中主视图，再单击鼠标右键，在弹出的菜单中单击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锁定视图移动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，使视图移动处于解锁状态。用鼠标将主视图移动到适当位置。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737398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创建左视图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组中单击“投影视图”按钮      ，鼠标从主视图向右侧移动，在适当位置单击以放置左视图。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）修改视图名称：双击左视图，弹出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后的文本框中输入“左视图”。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1591" y="1533524"/>
            <a:ext cx="320040" cy="35052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3" y="551654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）视图显示设置：单击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 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相切边显示样式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，其余保持默认。单击对话框中的“应用”按钮，再单击“确定”按钮退出对话框，创建完成的左视图如图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创建俯视图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选中主视图后，参照创建左视图的方法创建俯视图，创建完成的俯视图如图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3525" y="1352561"/>
            <a:ext cx="792381" cy="3504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230" y="1967231"/>
            <a:ext cx="533333" cy="28952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14451" y="5215400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9-43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左视图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1" y="1091882"/>
            <a:ext cx="3057207" cy="38310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688" y="1870074"/>
            <a:ext cx="4991099" cy="28779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28831" y="5215400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9-44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俯视图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537374"/>
            <a:ext cx="11178206" cy="3617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7.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创建俯视图全剖视图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双击俯视图，弹出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选项组。选中其中的“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2D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横截面”单选按钮，单击“将横截面添加到视图”按钮       ，选择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下面的“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剖切区域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选择“完整”。单击对话框中的“应用”按钮，再单击“确定”按钮退出对话框，结果如图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4512" y="2533650"/>
            <a:ext cx="27432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252" y="1216656"/>
            <a:ext cx="6445497" cy="395541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28594" y="5300588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9-45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俯视图全剖视图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537374"/>
            <a:ext cx="11178206" cy="541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8.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创建主视图旋转剖视图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组中单击“旋转视图”按钮      ，界面底部信息提示栏提示：“选择旋转界面的父视图”，单击主视图后出现提示：“选择绘图视图的中心点”，此时在主视图背部空白区域单击，弹出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后的文本框中输入“旋转剖视视图”。在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旋转视图属性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横截面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内选择“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，单击“应用”按钮，在图形区出现截面。再选择基准平面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面作为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对齐参考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，单击“确定”按钮退出。移动旋转剖视图到适当位置，最终效果如图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411" y="1385887"/>
            <a:ext cx="3505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28594" y="5343452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9-46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旋转剖视图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093" y="1435178"/>
            <a:ext cx="5139815" cy="363470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537374"/>
            <a:ext cx="11178206" cy="541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创建左视图局部剖视图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）双击左视图，弹出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选项组。勾选其中的“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2D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横截面”单选按钮，单击“将横截面添加到视图”按钮     ，选择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下面的“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剖切区域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选择“局部”。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）界面底部信息提示栏提示：“选择截面间断的中心点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&lt;C&gt;”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，在如图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所示位置单击并绘制样条曲线，绘制样条曲线结束点时离起始点要有一些距离，单击鼠标中键确定。单击对话框中的“应用”按钮，再单击“确定”按钮退出对话框，创建完成的局部剖视图如图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0887" y="2547937"/>
            <a:ext cx="27432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78650" y="505770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9-47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中心点位置与样条曲线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651" y="954086"/>
            <a:ext cx="3207147" cy="38998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3" y="1125380"/>
            <a:ext cx="2728955" cy="348058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54133" y="5057702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9-48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局部剖视图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046810" y="324433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9-48</a:t>
            </a:r>
            <a:r>
              <a:rPr lang="zh-CN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局部剖视图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2481" y="1668472"/>
            <a:ext cx="6267039" cy="4503727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457203" y="394494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10.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保存工程图文件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单击界面顶部快速访问工具栏中的“保存”按钮，完成如图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9-49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所示的托架的工程图创建。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612275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9-49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托架工程图</a:t>
            </a:r>
            <a:endParaRPr lang="zh-CN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755" y="3872230"/>
            <a:ext cx="3412490" cy="2281972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457203" y="423070"/>
            <a:ext cx="11178206" cy="3617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基座的工程图创建</a:t>
            </a:r>
            <a:endParaRPr lang="en-US" altLang="zh-CN" sz="2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本节通过基座零件模型进行工程图的创建，使读者掌握创建常规视图、阶梯剖视图、半剖视图以及轴测视图的创建方法。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快速访问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工具栏中单击“打开”按钮，系统弹出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\DATA\ch9\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基座工程图创建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基座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prt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文件，单击“打开”按钮，打开如图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所示的基座模型。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612275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9-50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基座模型</a:t>
            </a:r>
            <a:endParaRPr lang="zh-CN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创建辅助平面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基准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组中的“平面”按钮，创建如图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所示参考面，该参考面是在前后侧孔处的水平辅助平面。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39408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创建辅助参考基准平面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165" y="2579687"/>
            <a:ext cx="4745670" cy="256381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创建基座截面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按钮 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对话框，选择对话框中的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选项卡后单击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，输入截面的名称“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，按“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Enter”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键确定。在弹出的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操控板中选取基准平面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RIGHT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，创建如图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）重复上述方法，在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对话框中创建截面“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，其对应的参考平面是基准平面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DTM4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，截面“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65" y="1233487"/>
            <a:ext cx="304800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84009" y="481703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9-52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截面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A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64" y="1671638"/>
            <a:ext cx="3924239" cy="27369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587" y="1782023"/>
            <a:ext cx="4346899" cy="262654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6462" y="481703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9-53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截面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551662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）通过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偏移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创建阶梯状零件截面：在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选项卡后单击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】|【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偏移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，输入截面的名称“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，按“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Enter”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键确定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操控板。单击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草绘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下滑面板中的“编辑”按钮，选择草绘平面为基座底板上表面，进入草绘模式。选中阶梯槽为参考，绘制如图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所示的切割折线，折线穿过大圆中心和沉孔中心。单击“确定”按钮完成，退出草绘模式。再次单击“确定”按钮，完成如图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所示偏移截面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的创建。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84009" y="481703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9-54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草绘切割折线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556462" y="481703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9-55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截面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107" y="1748479"/>
            <a:ext cx="4726940" cy="279470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639" y="1928813"/>
            <a:ext cx="4601195" cy="2624119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551662"/>
            <a:ext cx="11178206" cy="4817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新建工程图文件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）单击界面顶部快速访问工具栏中的“新建”按钮     ，新建一个名称为“基座”的绘图文件。在弹出的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新建绘图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对话框中设置“默认模型”为“基座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prt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）在“指定模板”选框中选择“格式为空”，单击“格式”选框里的“浏览”，系统弹出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\DATA\ch9\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基座工程图创建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 a3-h-pt.frm”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文件，单击“打开”按钮，设置如图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9-14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所示。单击“确定”按钮，输入设计好的参数，进入工程图工作界面。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5666" y="1345729"/>
            <a:ext cx="28956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601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创建主视图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组中单击“普通视图”按钮 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选择组合状态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对话框。接受默认设置，单击“确定”按钮。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）在图形区方框内单击任意位置，弹出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对话框。此时在图形区显示基座的预览情况。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）修改视图名称：在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后的文本框中输入“主视图”。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）定义主视图方向：在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视图方向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选项组中选择“几何参考”单选按钮，再设置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参考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1】“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前”为基准平面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，选取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参考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2】“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上”为基准平面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TOP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，设置好后的对话框如图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6343" y="1262059"/>
            <a:ext cx="411480" cy="33147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28594" y="5872096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9-56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视图名称及定向设置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241" y="846174"/>
            <a:ext cx="4693518" cy="4897404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4217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）比例设置：单击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比例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比例和透视图选项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选项组中选择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自定义比例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单选框，在其后的文本框中输入比例值为“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0.5”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，单击对话框中的“应用”按钮。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）视图显示设置：单击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 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相切边显示样式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，其余保持默认。单击对话框中的“应用”按钮，再单击“确定”按钮退出对话框，创建完成的主视图如图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7813" y="3078523"/>
            <a:ext cx="792381" cy="3504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955" y="3653155"/>
            <a:ext cx="533333" cy="28952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28594" y="5486330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9-57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基座主视图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249" y="1966277"/>
            <a:ext cx="5947503" cy="3062923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541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创建左视图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布局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模型视图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组中单击“投影视图”按钮 ，鼠标从主视图向右侧移动，在适当位置单击以放置左视图。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）修改视图名称：双击左视图，弹出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后的文本框中输入“左视图”。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）视图显示设置：单击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视图显示选项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选项组。设置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  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相切边显示样式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为        ，其余保持默认。单击对话框中的“应用”按钮，再单击“确定”按钮退出对话框，创建完成的左视图如图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6388" y="4278671"/>
            <a:ext cx="792381" cy="3504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090" y="4867592"/>
            <a:ext cx="533333" cy="289523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28594" y="5486330"/>
            <a:ext cx="2934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9-58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左视图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727" y="1585913"/>
            <a:ext cx="4696547" cy="341471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创建俯视图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选中主视图后，参照创建左视图的方法创建俯视图，创建完成的俯视图如图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9-59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39408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9-59 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俯视图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973" y="2300374"/>
            <a:ext cx="3788054" cy="2666103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7.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创建轴测视图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轴测视图的创建方法与主视图的创建方法一样，视图比例及视图显示设置与主视图相同。不同的是在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视图方向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选项组中选择“查看来自模型的名称”单选按钮，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默认方向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下拉列表中选择“等轴测”，设置如图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所示。创建好的轴测图如图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83978" y="5702864"/>
            <a:ext cx="3416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9-60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轴测视图名称及方向设置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556462" y="540282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轴测图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13" y="953653"/>
            <a:ext cx="4306720" cy="444916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885" y="2419673"/>
            <a:ext cx="3565724" cy="2468243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5417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8.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创建主视图阶梯剖视图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）双击主视图，弹出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选项组。选中其中的“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2D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横截面”单选按钮，单击“将横截面添加到视图”按钮     ，选择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下面的“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。单击对话框中的“应用”按钮，创建阶梯剖视图如图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所示，再单击“确定”按钮退出。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）添加箭头：选中主视图，单击鼠标右键，在弹出的菜单中选取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添加箭头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选项，再单击俯视图，对出现的箭头位置进行适当调整，结果如图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2405063"/>
            <a:ext cx="25717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83978" y="5702864"/>
            <a:ext cx="3416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9-62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阶梯剖视图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556462" y="5731438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9-63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添加箭头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3" y="2247113"/>
            <a:ext cx="5260920" cy="27723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995" y="2350957"/>
            <a:ext cx="4089614" cy="256463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601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创建左视图半剖视图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）双击左视图，弹出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选项组。选中其中的“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2D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横截面”单选按钮，单击“将横截面添加到视图”按钮     ，选择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下面的“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A”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剖切区域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选择“半倍”。界面底部系统信息提示区提示：“为半截面创建选择参考平面”，选择基准平面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作为参考平面，注意箭头方向。单击对话框中的“应用”按钮，单击“确定”按钮退出对话框。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）双击剖面线，弹出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菜单管理器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对话框。选中其中的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比例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修改模式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下滑选项，调整剖面线的比例，左视图半剖视图如图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2405063"/>
            <a:ext cx="25717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）添加箭头：选中左视图，单击鼠标右键，在弹出的菜单中选取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添加箭头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选项，再单击主视图，对出现的箭头位置进行适当调整。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39408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9-64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左视图半剖视图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105" y="1811416"/>
            <a:ext cx="3443791" cy="333208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601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10.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创建俯视图半剖视图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）双击左视图，弹出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绘图视图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类别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列表框中的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截面选项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选项组。选中其中的“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2D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横截面”单选按钮，单击“将横截面添加到视图”按钮     ，选择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名称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下面的“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B”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剖切区域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选择“半倍”。界面底部系统信息提示区提示：“为半截面创建选择参考平面”，选择基准平面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FRONT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作为参考平面，注意箭头方向。单击对话框中的“应用”按钮，单击“确定”按钮退出对话框。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）双击剖面线，弹出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菜单管理器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对话框。选中其中的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比例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修改模式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下滑选项，调整剖面线的比例，俯视图半剖视图如图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2405063"/>
            <a:ext cx="25717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）添加箭头：选中左视图，单击鼠标右键，在弹出的菜单中选取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添加箭头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选项，再单击主视图，对出现的箭头位置进行适当调整。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39408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9-65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俯视图半剖视图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869" y="1854300"/>
            <a:ext cx="5148263" cy="333937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2435" y="1524634"/>
            <a:ext cx="6247130" cy="4511231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457203" y="423070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11.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保存工程图文件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单击界面顶部快速访问工具栏中的“保存”按钮，完成如图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所示的基座的工程图创建。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994171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9-65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俯视图半剖视图</a:t>
            </a:r>
            <a:endParaRPr lang="zh-CN" alt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0562" y="470647"/>
            <a:ext cx="3565712" cy="737510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</a:rPr>
              <a:t>9.3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</a:rPr>
              <a:t>工程图标注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3" y="1279582"/>
            <a:ext cx="11178206" cy="4221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打开工程图文件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快速访问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工具栏中单击“打开”按钮，系统弹出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\DATA\ch9\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工程图标注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轴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drw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文件，单击“打开”按钮。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显示自动生成的基准轴和尺寸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）进入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选项卡，单击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组中的“显示模型注释”按钮   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显示模型注释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55" y="4362450"/>
            <a:ext cx="48006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915" y="891862"/>
            <a:ext cx="3392170" cy="45981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99915" y="5665555"/>
            <a:ext cx="3392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9-67【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显示模型注释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</a:t>
            </a:r>
            <a:endParaRPr lang="zh-CN" alt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）选中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显示模型注释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对话框中的“显示模型基准”图标       ，按住“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Ctrl”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键，在图形区依次单击需要显示基准轴的视图。单击对话框中的“全选”按钮       ，再单击“应用”按钮，完成基准轴的显示，如图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965584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9-68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显示基准轴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3304" y="604837"/>
            <a:ext cx="335280" cy="350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1804989"/>
            <a:ext cx="331470" cy="331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866" y="2169160"/>
            <a:ext cx="5696268" cy="368724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）选中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显示模型注释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对话框中的“显示模型尺寸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图标      ，在图形区选择轴右侧的小键槽，显示结果如图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9-69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显示模型注释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对话框中勾选需要的尺寸，在图形区中的对应尺寸则会变为黑色，单击对话框中的“应用”按钮。保留尺寸如图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所示，单击对话框中的“确定”按钮退出。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06325" y="594681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9-69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小键槽尺寸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7913" y="704851"/>
            <a:ext cx="320040" cy="2266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918" y="3045777"/>
            <a:ext cx="2535509" cy="281209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544" y="3045777"/>
            <a:ext cx="2646409" cy="290103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09408" y="594681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9-70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保留尺寸</a:t>
            </a:r>
            <a:endParaRPr lang="zh-CN" alt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手动添加尺寸并编辑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组中单击“尺寸”按钮  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选择参考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选项板，选项保存默认。选择图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中左侧箭头所指的边，按住“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Ctrl”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键再选择右侧箭头所指的边，在适当位置单击鼠标中键放置，结果如图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06325" y="594681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选择图元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4728" y="1322941"/>
            <a:ext cx="320040" cy="2266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09408" y="594681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9-72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尺寸标注结果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1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214" y="3334056"/>
            <a:ext cx="2865634" cy="25774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113" y="3401295"/>
            <a:ext cx="2130242" cy="2510231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）创建直线与圆弧之间的尺寸标注：选择图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中箭头所指的边和圆弧，在与尺寸“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45”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同水平处单击鼠标中键放置，结果如图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06325" y="594681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9-73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选择直线与圆弧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309408" y="594681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9-74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尺寸标注结果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2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236291"/>
            <a:ext cx="2617148" cy="333498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560" y="2545636"/>
            <a:ext cx="2869217" cy="2911336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）调整尺寸显示效果：双击尺寸“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12”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，界面顶部弹出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尺寸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选项卡，在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显示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区域中单击倒三角，如图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所示。在其中选择         ，尺寸结果如图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06325" y="594681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9-75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调整尺寸显示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309408" y="5946812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9-76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调整后尺寸显示结果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8274" y="1245796"/>
            <a:ext cx="762000" cy="304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97" y="2700316"/>
            <a:ext cx="4411601" cy="27861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408" y="2488524"/>
            <a:ext cx="2979496" cy="315541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61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）参照上述方法完成水平尺寸的标注，水平尺寸标注结果如图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837003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9-77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水平尺寸的标注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485" y="1646706"/>
            <a:ext cx="10019030" cy="3777944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61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）参照上述方法完成竖直尺寸的标注，竖直尺寸标注结果如图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522675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9-78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竖直尺寸的标注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664" y="1598295"/>
            <a:ext cx="10354672" cy="366141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413" y="2376487"/>
            <a:ext cx="320040" cy="365760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457203" y="423070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添加直径符号及尺寸公差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）单击轴中最左侧尺寸“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55”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尺寸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选项卡。在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尺寸文本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区域单击“尺寸文本”按钮，在弹出的下滑面板中的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前缀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后缀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下方前缀空白框中输入符号“   ”，该符号可在下滑面板中的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符号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选项框中选取，结果如图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9-79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979886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9-79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添加直径符号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8100"/>
          <a:stretch>
            <a:fillRect/>
          </a:stretch>
        </p:blipFill>
        <p:spPr bwMode="auto">
          <a:xfrm>
            <a:off x="5072063" y="2831385"/>
            <a:ext cx="1868805" cy="300749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）单击轴中最左侧刚刚编辑的尺寸，弹出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尺寸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选项卡。在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公差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公差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下三角按钮，在弹出的下滑面板中选择选项        ，此时可在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公差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下滑面板中输入公差值，结果如图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9-80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979886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9-80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标注尺寸公差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968" y="1222957"/>
            <a:ext cx="670477" cy="2742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4787"/>
          <a:stretch>
            <a:fillRect/>
          </a:stretch>
        </p:blipFill>
        <p:spPr bwMode="auto">
          <a:xfrm>
            <a:off x="4965016" y="2239978"/>
            <a:ext cx="2261969" cy="36464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）参照上述方法，显示剩余尺寸的直径符号和公差。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设置参考基准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）放置基准：单击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组中的“基准特征符号”按钮      ，在轴的最左端尺寸与边线交点处单击，如图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所示。向下方移动鼠标后单击鼠标中键确定。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6037038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9-81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基准放置位置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619" y="2433640"/>
            <a:ext cx="289179" cy="3023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166" y="2735963"/>
            <a:ext cx="2363668" cy="3293331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23070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）修改符号：双击创建好的基准符号，界面顶部弹出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基准特征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选项卡，在其中的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标签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面板中输入字母“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，用以区别截面符号，在空白区域单击，回到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979886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9-82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放置基准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C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407" y="2239977"/>
            <a:ext cx="2135187" cy="3645253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61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）参照上述方式标注轴的其余参考基准，结果如图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879870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9-83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标注其他参考基准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54" y="1602891"/>
            <a:ext cx="10487893" cy="3697772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6.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创建几何公差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）放置几何公差：单击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组中的“几何公差”按钮      ，在轴最左端上边单击，向上移动鼠标，在适当位置单击鼠标中键确定，结果如图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6051326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9-84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添加几何公差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783" y="1833560"/>
            <a:ext cx="422910" cy="3200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50" y="2852655"/>
            <a:ext cx="8652300" cy="3155807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）修改几何公差内容：双击创建好的几何公差，界面顶部弹出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几何公差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选项卡。在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符号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区域中单击“几何特征”下拉按钮，在下滑选项中选取          ；在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公差和基准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区域中修改公差并添加基准符号，如图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所示。在空白区域单击完成，结果如图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2427" y="5394096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9-85【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公差和基准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设置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81" y="1908824"/>
            <a:ext cx="760000" cy="2400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13" y="3245062"/>
            <a:ext cx="10283774" cy="1488441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35" y="1286192"/>
            <a:ext cx="10079530" cy="368585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92427" y="5394096"/>
            <a:ext cx="320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9-86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修改后的几何公差</a:t>
            </a:r>
            <a:endParaRPr lang="zh-CN" alt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）在同一位置处添加多种几何公差：单击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组中的“几何公差”按钮       ，在之前公差下方合适位置单击放置，修改内容后如图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91707" y="5994178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9-87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同一位置添加多种几何公差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8543" y="1260084"/>
            <a:ext cx="422910" cy="3200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461" y="2232019"/>
            <a:ext cx="9285079" cy="356074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61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）参照上述方法完成剩余几何公差的创建，如图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9-88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91707" y="5594126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9-88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创建轴上所有几何公差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144" y="1529080"/>
            <a:ext cx="9935712" cy="384302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61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7.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添加表面粗糙度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91707" y="5594126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9-92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修改后的粗糙度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52" y="1348177"/>
            <a:ext cx="10561697" cy="4117358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61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8.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横截面标注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91707" y="5594126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9-93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横截面标注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106" y="1500504"/>
            <a:ext cx="9387788" cy="3600134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150" y="3211803"/>
            <a:ext cx="3319700" cy="2382323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457203" y="451646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插入技术要求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注释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区域中的“注解”按钮      ，在空白区域单击，输入“技术要求”；再在下方插入注释框，输入要求内容，调整好字体大小，结果如图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9-94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91707" y="5679854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9-94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技术要求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224" y="1266827"/>
            <a:ext cx="304800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10.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保存工程图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单击界面顶部快速访问工具栏中的“保存”按钮      ，完成轴零件工程图的标注。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287" y="1264852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0562" y="470647"/>
            <a:ext cx="3565712" cy="737510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</a:rPr>
              <a:t>9.4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</a:rPr>
              <a:t>创建绘图表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3" y="1279582"/>
            <a:ext cx="11178206" cy="3017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一个完整的零件工程图应该包括标题栏，可能还包括一些技术参数栏，而一个完整的装配工程图除了包括标题栏之外还应该包括明细表。标题栏、技术参数栏和明细表可通过绘图表来完成。绘图表是具有行和列的栅格，在其中可以输入文本。绘图表可以应用到绘图格式、绘图和布局中。本节将通过实例介绍绘图中表格的创建及编辑方法，创建的表格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961" y="1357629"/>
            <a:ext cx="7104078" cy="32572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91707" y="5022624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9-95 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零件标题栏</a:t>
            </a:r>
            <a:endParaRPr lang="zh-CN" altLang="en-US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457203" y="451646"/>
            <a:ext cx="11178206" cy="601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快速访问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工具栏中单击“打开”按钮，系统弹出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文件打开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对话框，选择“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\DATA\ch9\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创建绘图表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\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绘图表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drw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文件，单击“打开”按钮。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插入表格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区域中的“表”按钮下的倒三角，在下拉菜单中单击“插入表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…”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按钮     ，系统弹出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插入表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对话框中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方向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选项组各按钮说明如下：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    ：表的增长方向向右且向下。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    ：表的增长方向向左且向下。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    ：表的增长方向向右且向上。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     ：表的增长方向向左且向上。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7054" y="3068037"/>
            <a:ext cx="335238" cy="28952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219575"/>
            <a:ext cx="365760" cy="3657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4833938"/>
            <a:ext cx="377190" cy="3543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985" y="5397502"/>
            <a:ext cx="377190" cy="388620"/>
          </a:xfrm>
          <a:prstGeom prst="rect">
            <a:avLst/>
          </a:prstGeom>
        </p:spPr>
      </p:pic>
      <p:pic>
        <p:nvPicPr>
          <p:cNvPr id="1026" name="图片 100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85" y="6038220"/>
            <a:ext cx="354330" cy="377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3" y="451646"/>
            <a:ext cx="11178206" cy="2417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）单击向左且向上增长按钮      ；取消勾选对话框中的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自动高度调节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复选框，按图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9-96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设置表的行数、列数、高度和宽度。单击对话框中的“确定”按钮，在图形区任一位置单击放置，框选表格，拖动表格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的右下角控制点，使之与图框右下角重合，结果如图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9-97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7472" y="604837"/>
            <a:ext cx="354330" cy="37719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427" y="951870"/>
            <a:ext cx="2736850" cy="463900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5559" y="5679854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9-96【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插入表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】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对话框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676" y="1383348"/>
            <a:ext cx="5917897" cy="42075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167440" y="5679854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9-97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调整表格位置</a:t>
            </a:r>
            <a:endParaRPr lang="zh-CN" altLang="en-US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3" y="451646"/>
            <a:ext cx="11178206" cy="302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修改单元格尺寸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修改单元格尺寸：选中要修改的单元格，选择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行和列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区域中的“高度和宽度”按钮    ，弹出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高度和宽度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对话框，取消勾选对话框中的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自动高度调节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复选框，按照图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9-95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修改单元格尺寸。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>
              <a:lnSpc>
                <a:spcPct val="150000"/>
              </a:lnSpc>
            </a:pP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9176" y="1847850"/>
            <a:ext cx="320040" cy="320040"/>
          </a:xfrm>
          <a:prstGeom prst="rect">
            <a:avLst/>
          </a:prstGeom>
        </p:spPr>
      </p:pic>
      <p:sp>
        <p:nvSpPr>
          <p:cNvPr id="7" name="TextBox 2"/>
          <p:cNvSpPr txBox="1"/>
          <p:nvPr/>
        </p:nvSpPr>
        <p:spPr>
          <a:xfrm>
            <a:off x="457203" y="2873203"/>
            <a:ext cx="11178206" cy="181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合并单元格：按住“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Ctrl”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键依次选中需要合并的单元格，单击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选项卡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行和列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区域中的“合并单元格”按钮     ，完成合并，合并内容如图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9-98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所示，合并后的表格如图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9-99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678" y="3710217"/>
            <a:ext cx="266700" cy="280035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154" y="1060446"/>
            <a:ext cx="8199692" cy="19113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91707" y="3220916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9-98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合并的单元格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557" y="3739352"/>
            <a:ext cx="8288886" cy="195818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91707" y="5883282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9-99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合并后的表格</a:t>
            </a:r>
            <a:endParaRPr lang="zh-CN" altLang="en-US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3" y="451646"/>
            <a:ext cx="11178206" cy="61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插入表格文字</a:t>
            </a:r>
            <a:endParaRPr lang="zh-CN" altLang="en-US" sz="2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91707" y="4735407"/>
            <a:ext cx="360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图</a:t>
            </a:r>
            <a:r>
              <a:rPr lang="en-US" altLang="zh-CN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9-103</a:t>
            </a:r>
            <a:r>
              <a:rPr lang="zh-CN" altLang="en-US" sz="1800" dirty="0">
                <a:effectLst/>
                <a:ea typeface="黑体" panose="02010609060101010101" charset="-122"/>
                <a:cs typeface="Times New Roman" panose="02020603050405020304" pitchFamily="18" charset="0"/>
              </a:rPr>
              <a:t>插入表格文字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25" y="2282666"/>
            <a:ext cx="8572550" cy="200515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ZkNzQ4ZWFiZmQ4NTRhOWRkZTk3YTMwMjlmMmZhYm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14369</Words>
  <Application>WPS 演示</Application>
  <PresentationFormat>宽屏</PresentationFormat>
  <Paragraphs>583</Paragraphs>
  <Slides>127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127</vt:i4>
      </vt:variant>
    </vt:vector>
  </HeadingPairs>
  <TitlesOfParts>
    <vt:vector size="137" baseType="lpstr">
      <vt:lpstr>Arial</vt:lpstr>
      <vt:lpstr>宋体</vt:lpstr>
      <vt:lpstr>Wingdings</vt:lpstr>
      <vt:lpstr>黑体</vt:lpstr>
      <vt:lpstr>Times New Roman</vt:lpstr>
      <vt:lpstr>微软雅黑</vt:lpstr>
      <vt:lpstr>Arial Unicode MS</vt:lpstr>
      <vt:lpstr>Calibri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502</dc:creator>
  <cp:lastModifiedBy>Administrator</cp:lastModifiedBy>
  <cp:revision>262</cp:revision>
  <dcterms:created xsi:type="dcterms:W3CDTF">2022-06-25T09:10:00Z</dcterms:created>
  <dcterms:modified xsi:type="dcterms:W3CDTF">2023-08-08T01:31:28Z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9F5551007EA34426BE42E023EFDA5284</vt:lpwstr>
  </property>
  <property fmtid="{D5CDD505-2E9C-101B-9397-08002B2CF9AE}" pid="3" name="KSOProductBuildVer">
    <vt:lpwstr>2052-11.1.0.14309</vt:lpwstr>
  </property>
</Properties>
</file>