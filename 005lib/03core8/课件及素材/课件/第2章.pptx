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handoutMasterIdLst>
    <p:handoutMasterId r:id="rId53"/>
  </p:handout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3300"/>
    <a:srgbClr val="0000FF"/>
    <a:srgbClr val="03616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无样式，无网格">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C2FFA5D-87B4-456A-9821-1D502468CF0F}" styleName="主题样式 1 - 强调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3B4B98B0-60AC-42C2-AFA5-B58CD77FA1E5}" styleName="浅色样式 1 - 强调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660"/>
  </p:normalViewPr>
  <p:slideViewPr>
    <p:cSldViewPr snapToGrid="0">
      <p:cViewPr varScale="1">
        <p:scale>
          <a:sx n="68" d="100"/>
          <a:sy n="68" d="100"/>
        </p:scale>
        <p:origin x="780" y="72"/>
      </p:cViewPr>
      <p:guideLst>
        <p:guide orient="horz" pos="2160"/>
        <p:guide pos="3840"/>
      </p:guideLst>
    </p:cSldViewPr>
  </p:slideViewPr>
  <p:notesTextViewPr>
    <p:cViewPr>
      <p:scale>
        <a:sx n="1" d="1"/>
        <a:sy n="1" d="1"/>
      </p:scale>
      <p:origin x="0" y="0"/>
    </p:cViewPr>
  </p:notesTextViewPr>
  <p:notesViewPr>
    <p:cSldViewPr snapToGrid="0">
      <p:cViewPr varScale="1">
        <p:scale>
          <a:sx n="54" d="100"/>
          <a:sy n="54" d="100"/>
        </p:scale>
        <p:origin x="-2916" y="-84"/>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54"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handoutMaster" Target="handoutMasters/handout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2.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9C7D4EB5-7A91-4453-9159-82F472709EE6}" type="datetimeFigureOut">
              <a:rPr lang="zh-CN" altLang="en-US" smtClean="0"/>
              <a:t>2023/3/29</a:t>
            </a:fld>
            <a:endParaRPr lang="zh-CN" altLang="en-US"/>
          </a:p>
        </p:txBody>
      </p:sp>
      <p:sp>
        <p:nvSpPr>
          <p:cNvPr id="4" name="页脚占位符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106447EE-71ED-4CDF-A1E2-57E93385EA12}" type="slidenum">
              <a:rPr lang="zh-CN" altLang="en-US" smtClean="0"/>
              <a:t>‹#›</a:t>
            </a:fld>
            <a:endParaRPr lang="zh-CN" altLang="en-US"/>
          </a:p>
        </p:txBody>
      </p:sp>
    </p:spTree>
    <p:extLst>
      <p:ext uri="{BB962C8B-B14F-4D97-AF65-F5344CB8AC3E}">
        <p14:creationId xmlns:p14="http://schemas.microsoft.com/office/powerpoint/2010/main" val="217029342"/>
      </p:ext>
    </p:extLst>
  </p:cSld>
  <p:clrMap bg1="lt1" tx1="dk1" bg2="lt2" tx2="dk2" accent1="accent1" accent2="accent2" accent3="accent3" accent4="accent4" accent5="accent5" accent6="accent6" hlink="hlink" folHlink="folHlink"/>
</p:handout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theme" Target="../theme/theme1.xml"/><Relationship Id="rId1" Type="http://schemas.openxmlformats.org/officeDocument/2006/relationships/slideLayout" Target="../slideLayouts/slideLayout1.xml"/><Relationship Id="rId4"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cxnSp>
        <p:nvCxnSpPr>
          <p:cNvPr id="22" name="直接连接符 21"/>
          <p:cNvCxnSpPr/>
          <p:nvPr userDrawn="1"/>
        </p:nvCxnSpPr>
        <p:spPr>
          <a:xfrm>
            <a:off x="518756" y="311468"/>
            <a:ext cx="4108450" cy="0"/>
          </a:xfrm>
          <a:prstGeom prst="line">
            <a:avLst/>
          </a:prstGeom>
          <a:ln w="12700">
            <a:solidFill>
              <a:srgbClr val="7030A0"/>
            </a:solidFill>
          </a:ln>
        </p:spPr>
        <p:style>
          <a:lnRef idx="1">
            <a:schemeClr val="accent1"/>
          </a:lnRef>
          <a:fillRef idx="0">
            <a:schemeClr val="accent1"/>
          </a:fillRef>
          <a:effectRef idx="0">
            <a:schemeClr val="accent1"/>
          </a:effectRef>
          <a:fontRef idx="minor">
            <a:schemeClr val="tx1"/>
          </a:fontRef>
        </p:style>
      </p:cxnSp>
      <p:cxnSp>
        <p:nvCxnSpPr>
          <p:cNvPr id="7" name="直接连接符 6"/>
          <p:cNvCxnSpPr/>
          <p:nvPr userDrawn="1"/>
        </p:nvCxnSpPr>
        <p:spPr>
          <a:xfrm>
            <a:off x="7488043" y="311468"/>
            <a:ext cx="4108450" cy="0"/>
          </a:xfrm>
          <a:prstGeom prst="line">
            <a:avLst/>
          </a:prstGeom>
          <a:ln w="12700">
            <a:solidFill>
              <a:srgbClr val="7030A0"/>
            </a:solidFill>
          </a:ln>
        </p:spPr>
        <p:style>
          <a:lnRef idx="1">
            <a:schemeClr val="accent1"/>
          </a:lnRef>
          <a:fillRef idx="0">
            <a:schemeClr val="accent1"/>
          </a:fillRef>
          <a:effectRef idx="0">
            <a:schemeClr val="accent1"/>
          </a:effectRef>
          <a:fontRef idx="minor">
            <a:schemeClr val="tx1"/>
          </a:fontRef>
        </p:style>
      </p:cxnSp>
      <p:pic>
        <p:nvPicPr>
          <p:cNvPr id="100" name="图片 99"/>
          <p:cNvPicPr>
            <a:picLocks/>
          </p:cNvPicPr>
          <p:nvPr userDrawn="1"/>
        </p:nvPicPr>
        <p:blipFill>
          <a:blip r:embed="rId3"/>
          <a:srcRect t="30838" b="33250"/>
          <a:stretch>
            <a:fillRect/>
          </a:stretch>
        </p:blipFill>
        <p:spPr>
          <a:xfrm>
            <a:off x="5155096" y="6473823"/>
            <a:ext cx="1881809" cy="360000"/>
          </a:xfrm>
          <a:prstGeom prst="rect">
            <a:avLst/>
          </a:prstGeom>
          <a:noFill/>
          <a:ln w="9525">
            <a:noFill/>
          </a:ln>
        </p:spPr>
      </p:pic>
      <p:sp>
        <p:nvSpPr>
          <p:cNvPr id="3" name="文本框 2"/>
          <p:cNvSpPr txBox="1"/>
          <p:nvPr userDrawn="1"/>
        </p:nvSpPr>
        <p:spPr>
          <a:xfrm>
            <a:off x="4652093" y="143510"/>
            <a:ext cx="2887815" cy="369332"/>
          </a:xfrm>
          <a:prstGeom prst="rect">
            <a:avLst/>
          </a:prstGeom>
          <a:noFill/>
        </p:spPr>
        <p:txBody>
          <a:bodyPr wrap="square" rtlCol="0">
            <a:spAutoFit/>
          </a:bodyPr>
          <a:lstStyle/>
          <a:p>
            <a:r>
              <a:rPr lang="en-US" altLang="zh-CN" sz="1800" b="1" dirty="0">
                <a:solidFill>
                  <a:schemeClr val="tx1"/>
                </a:solidFill>
                <a:latin typeface="黑体" panose="02010609060101010101" charset="-122"/>
                <a:ea typeface="黑体" panose="02010609060101010101" charset="-122"/>
                <a:cs typeface="黑体" panose="02010609060101010101" charset="-122"/>
              </a:rPr>
              <a:t>Creo8.0</a:t>
            </a:r>
            <a:r>
              <a:rPr lang="zh-CN" altLang="en-US" sz="1800" b="1" dirty="0">
                <a:solidFill>
                  <a:schemeClr val="tx1"/>
                </a:solidFill>
                <a:latin typeface="黑体" panose="02010609060101010101" charset="-122"/>
                <a:ea typeface="黑体" panose="02010609060101010101" charset="-122"/>
                <a:cs typeface="黑体" panose="02010609060101010101" charset="-122"/>
              </a:rPr>
              <a:t>机械设计实例教程</a:t>
            </a:r>
          </a:p>
        </p:txBody>
      </p:sp>
      <p:pic>
        <p:nvPicPr>
          <p:cNvPr id="2" name="图片 1">
            <a:extLst>
              <a:ext uri="{FF2B5EF4-FFF2-40B4-BE49-F238E27FC236}">
                <a16:creationId xmlns:a16="http://schemas.microsoft.com/office/drawing/2014/main" id="{4624C8E6-6261-70D2-D155-C40C93A9CC91}"/>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9079292" y="6221962"/>
            <a:ext cx="3084998" cy="590329"/>
          </a:xfrm>
          <a:prstGeom prst="rect">
            <a:avLst/>
          </a:prstGeom>
        </p:spPr>
      </p:pic>
    </p:spTree>
  </p:cSld>
  <p:clrMap bg1="lt1" tx1="dk1" bg2="lt2" tx2="dk2" accent1="accent1" accent2="accent2" accent3="accent3" accent4="accent4" accent5="accent5" accent6="accent6" hlink="hlink" folHlink="folHlink"/>
  <p:sldLayoutIdLst>
    <p:sldLayoutId id="2147483649"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1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1.xml"/><Relationship Id="rId5" Type="http://schemas.openxmlformats.org/officeDocument/2006/relationships/image" Target="../media/image16.PNG"/><Relationship Id="rId4" Type="http://schemas.openxmlformats.org/officeDocument/2006/relationships/image" Target="../media/image15.PNG"/></Relationships>
</file>

<file path=ppt/slides/_rels/slide13.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1.xml"/><Relationship Id="rId5" Type="http://schemas.openxmlformats.org/officeDocument/2006/relationships/image" Target="../media/image20.PNG"/><Relationship Id="rId4" Type="http://schemas.openxmlformats.org/officeDocument/2006/relationships/image" Target="../media/image19.PNG"/></Relationships>
</file>

<file path=ppt/slides/_rels/slide14.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slideLayout" Target="../slideLayouts/slideLayout1.xml"/><Relationship Id="rId5" Type="http://schemas.openxmlformats.org/officeDocument/2006/relationships/image" Target="../media/image36.PNG"/><Relationship Id="rId4" Type="http://schemas.openxmlformats.org/officeDocument/2006/relationships/image" Target="../media/image35.PNG"/></Relationships>
</file>

<file path=ppt/slides/_rels/slide21.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7.PNG"/><Relationship Id="rId1" Type="http://schemas.openxmlformats.org/officeDocument/2006/relationships/slideLayout" Target="../slideLayouts/slideLayout1.xml"/><Relationship Id="rId4" Type="http://schemas.openxmlformats.org/officeDocument/2006/relationships/image" Target="../media/image39.PNG"/></Relationships>
</file>

<file path=ppt/slides/_rels/slide22.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40.PNG"/><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42.PNG"/><Relationship Id="rId1" Type="http://schemas.openxmlformats.org/officeDocument/2006/relationships/slideLayout" Target="../slideLayouts/slideLayout1.xml"/><Relationship Id="rId4" Type="http://schemas.openxmlformats.org/officeDocument/2006/relationships/image" Target="../media/image44.png"/></Relationships>
</file>

<file path=ppt/slides/_rels/slide24.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image" Target="../media/image45.PNG"/><Relationship Id="rId1" Type="http://schemas.openxmlformats.org/officeDocument/2006/relationships/slideLayout" Target="../slideLayouts/slideLayout1.xml"/><Relationship Id="rId4" Type="http://schemas.openxmlformats.org/officeDocument/2006/relationships/image" Target="../media/image47.PNG"/></Relationships>
</file>

<file path=ppt/slides/_rels/slide25.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image" Target="../media/image49.PNG"/><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image" Target="../media/image52.PNG"/><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image" Target="../media/image54.PNG"/><Relationship Id="rId1" Type="http://schemas.openxmlformats.org/officeDocument/2006/relationships/slideLayout" Target="../slideLayouts/slideLayout1.xml"/><Relationship Id="rId4" Type="http://schemas.openxmlformats.org/officeDocument/2006/relationships/image" Target="../media/image56.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image" Target="../media/image57.PNG"/><Relationship Id="rId1" Type="http://schemas.openxmlformats.org/officeDocument/2006/relationships/slideLayout" Target="../slideLayouts/slideLayout1.xml"/><Relationship Id="rId4" Type="http://schemas.openxmlformats.org/officeDocument/2006/relationships/image" Target="../media/image59.PNG"/></Relationships>
</file>

<file path=ppt/slides/_rels/slide33.xml.rels><?xml version="1.0" encoding="UTF-8" standalone="yes"?>
<Relationships xmlns="http://schemas.openxmlformats.org/package/2006/relationships"><Relationship Id="rId2" Type="http://schemas.openxmlformats.org/officeDocument/2006/relationships/image" Target="../media/image60.PNG"/><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image" Target="../media/image61.PNG"/><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image" Target="../media/image63.PNG"/><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3" Type="http://schemas.openxmlformats.org/officeDocument/2006/relationships/image" Target="../media/image66.PNG"/><Relationship Id="rId2" Type="http://schemas.openxmlformats.org/officeDocument/2006/relationships/image" Target="../media/image65.PNG"/><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image" Target="../media/image67.PNG"/><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3" Type="http://schemas.openxmlformats.org/officeDocument/2006/relationships/image" Target="../media/image70.PNG"/><Relationship Id="rId2" Type="http://schemas.openxmlformats.org/officeDocument/2006/relationships/image" Target="../media/image69.PNG"/><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8" Type="http://schemas.openxmlformats.org/officeDocument/2006/relationships/image" Target="../media/image77.PNG"/><Relationship Id="rId3" Type="http://schemas.openxmlformats.org/officeDocument/2006/relationships/image" Target="../media/image72.PNG"/><Relationship Id="rId7" Type="http://schemas.openxmlformats.org/officeDocument/2006/relationships/image" Target="../media/image76.PNG"/><Relationship Id="rId2" Type="http://schemas.openxmlformats.org/officeDocument/2006/relationships/image" Target="../media/image71.PNG"/><Relationship Id="rId1" Type="http://schemas.openxmlformats.org/officeDocument/2006/relationships/slideLayout" Target="../slideLayouts/slideLayout1.xml"/><Relationship Id="rId6" Type="http://schemas.openxmlformats.org/officeDocument/2006/relationships/image" Target="../media/image75.PNG"/><Relationship Id="rId5" Type="http://schemas.openxmlformats.org/officeDocument/2006/relationships/image" Target="../media/image74.PNG"/><Relationship Id="rId10" Type="http://schemas.openxmlformats.org/officeDocument/2006/relationships/image" Target="../media/image79.PNG"/><Relationship Id="rId4" Type="http://schemas.openxmlformats.org/officeDocument/2006/relationships/image" Target="../media/image73.PNG"/><Relationship Id="rId9" Type="http://schemas.openxmlformats.org/officeDocument/2006/relationships/image" Target="../media/image78.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2" Type="http://schemas.openxmlformats.org/officeDocument/2006/relationships/image" Target="../media/image80.gif"/><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3" Type="http://schemas.openxmlformats.org/officeDocument/2006/relationships/image" Target="../media/image82.PNG"/><Relationship Id="rId2" Type="http://schemas.openxmlformats.org/officeDocument/2006/relationships/image" Target="../media/image81.PNG"/><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3" Type="http://schemas.openxmlformats.org/officeDocument/2006/relationships/image" Target="../media/image84.png"/><Relationship Id="rId2" Type="http://schemas.openxmlformats.org/officeDocument/2006/relationships/image" Target="../media/image83.PNG"/><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2" Type="http://schemas.openxmlformats.org/officeDocument/2006/relationships/image" Target="../media/image85.PNG"/><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2" Type="http://schemas.openxmlformats.org/officeDocument/2006/relationships/image" Target="../media/image86.PNG"/><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2" Type="http://schemas.openxmlformats.org/officeDocument/2006/relationships/image" Target="../media/image87.PNG"/><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2" Type="http://schemas.openxmlformats.org/officeDocument/2006/relationships/image" Target="../media/image88.PNG"/><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2" Type="http://schemas.openxmlformats.org/officeDocument/2006/relationships/image" Target="../media/image89.PNG"/><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2" Type="http://schemas.openxmlformats.org/officeDocument/2006/relationships/image" Target="../media/image90.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841812" y="632012"/>
            <a:ext cx="6508377" cy="646331"/>
          </a:xfrm>
          <a:prstGeom prst="rect">
            <a:avLst/>
          </a:prstGeom>
          <a:noFill/>
        </p:spPr>
        <p:txBody>
          <a:bodyPr wrap="square" rtlCol="0">
            <a:spAutoFit/>
          </a:bodyPr>
          <a:lstStyle/>
          <a:p>
            <a:pPr algn="ctr"/>
            <a:r>
              <a:rPr lang="zh-CN" altLang="en-US" sz="3600" dirty="0">
                <a:latin typeface="Times New Roman" pitchFamily="18" charset="0"/>
                <a:ea typeface="黑体" pitchFamily="49" charset="-122"/>
              </a:rPr>
              <a:t>第</a:t>
            </a:r>
            <a:r>
              <a:rPr lang="en-US" altLang="zh-CN" sz="3600" dirty="0">
                <a:latin typeface="Times New Roman" pitchFamily="18" charset="0"/>
                <a:ea typeface="黑体" pitchFamily="49" charset="-122"/>
              </a:rPr>
              <a:t>2</a:t>
            </a:r>
            <a:r>
              <a:rPr lang="zh-CN" altLang="en-US" sz="3600" dirty="0">
                <a:latin typeface="Times New Roman" pitchFamily="18" charset="0"/>
                <a:ea typeface="黑体" pitchFamily="49" charset="-122"/>
              </a:rPr>
              <a:t>章 二维草绘</a:t>
            </a:r>
          </a:p>
        </p:txBody>
      </p:sp>
      <p:sp>
        <p:nvSpPr>
          <p:cNvPr id="3" name="TextBox 2"/>
          <p:cNvSpPr txBox="1"/>
          <p:nvPr/>
        </p:nvSpPr>
        <p:spPr>
          <a:xfrm>
            <a:off x="2283759" y="1223684"/>
            <a:ext cx="7624482" cy="5262979"/>
          </a:xfrm>
          <a:prstGeom prst="rect">
            <a:avLst/>
          </a:prstGeom>
          <a:noFill/>
        </p:spPr>
        <p:txBody>
          <a:bodyPr wrap="square" rtlCol="0">
            <a:spAutoFit/>
          </a:bodyPr>
          <a:lstStyle/>
          <a:p>
            <a:pPr>
              <a:lnSpc>
                <a:spcPct val="150000"/>
              </a:lnSpc>
            </a:pPr>
            <a:r>
              <a:rPr lang="en-US" altLang="zh-CN" sz="3200" dirty="0">
                <a:latin typeface="Times New Roman" pitchFamily="18" charset="0"/>
                <a:ea typeface="黑体" pitchFamily="49" charset="-122"/>
              </a:rPr>
              <a:t>2.1</a:t>
            </a:r>
            <a:r>
              <a:rPr lang="zh-CN" altLang="en-US" sz="3200" dirty="0">
                <a:latin typeface="Times New Roman" pitchFamily="18" charset="0"/>
                <a:ea typeface="黑体" pitchFamily="49" charset="-122"/>
              </a:rPr>
              <a:t>草绘概述</a:t>
            </a:r>
            <a:endParaRPr lang="en-US" altLang="zh-CN" sz="3200" dirty="0">
              <a:latin typeface="Times New Roman" pitchFamily="18" charset="0"/>
              <a:ea typeface="黑体" pitchFamily="49" charset="-122"/>
            </a:endParaRPr>
          </a:p>
          <a:p>
            <a:pPr>
              <a:lnSpc>
                <a:spcPct val="150000"/>
              </a:lnSpc>
            </a:pPr>
            <a:r>
              <a:rPr lang="en-US" altLang="zh-CN" sz="3200" dirty="0">
                <a:latin typeface="Times New Roman" pitchFamily="18" charset="0"/>
                <a:ea typeface="黑体" pitchFamily="49" charset="-122"/>
              </a:rPr>
              <a:t>2.2 </a:t>
            </a:r>
            <a:r>
              <a:rPr lang="zh-CN" altLang="en-US" sz="3200" dirty="0">
                <a:latin typeface="Times New Roman" pitchFamily="18" charset="0"/>
                <a:ea typeface="黑体" pitchFamily="49" charset="-122"/>
              </a:rPr>
              <a:t>创建基本草绘图元</a:t>
            </a:r>
            <a:endParaRPr lang="en-US" altLang="zh-CN" sz="3200" dirty="0">
              <a:latin typeface="Times New Roman" pitchFamily="18" charset="0"/>
              <a:ea typeface="黑体" pitchFamily="49" charset="-122"/>
            </a:endParaRPr>
          </a:p>
          <a:p>
            <a:pPr>
              <a:lnSpc>
                <a:spcPct val="150000"/>
              </a:lnSpc>
            </a:pPr>
            <a:r>
              <a:rPr lang="en-US" altLang="zh-CN" sz="3200" dirty="0">
                <a:latin typeface="Times New Roman" pitchFamily="18" charset="0"/>
                <a:ea typeface="黑体" pitchFamily="49" charset="-122"/>
              </a:rPr>
              <a:t>2.3</a:t>
            </a:r>
            <a:r>
              <a:rPr lang="zh-CN" altLang="en-US" sz="3200" dirty="0">
                <a:latin typeface="Times New Roman" pitchFamily="18" charset="0"/>
                <a:ea typeface="黑体" pitchFamily="49" charset="-122"/>
              </a:rPr>
              <a:t>编辑二维图形</a:t>
            </a:r>
            <a:endParaRPr lang="en-US" altLang="zh-CN" sz="3200" dirty="0">
              <a:latin typeface="Times New Roman" pitchFamily="18" charset="0"/>
              <a:ea typeface="黑体" pitchFamily="49" charset="-122"/>
            </a:endParaRPr>
          </a:p>
          <a:p>
            <a:pPr>
              <a:lnSpc>
                <a:spcPct val="150000"/>
              </a:lnSpc>
            </a:pPr>
            <a:r>
              <a:rPr lang="en-US" altLang="zh-CN" sz="3200" dirty="0">
                <a:latin typeface="Times New Roman" pitchFamily="18" charset="0"/>
                <a:ea typeface="黑体" pitchFamily="49" charset="-122"/>
              </a:rPr>
              <a:t>2.4</a:t>
            </a:r>
            <a:r>
              <a:rPr lang="zh-CN" altLang="en-US" sz="3200" dirty="0">
                <a:latin typeface="Times New Roman" pitchFamily="18" charset="0"/>
                <a:ea typeface="黑体" pitchFamily="49" charset="-122"/>
              </a:rPr>
              <a:t>使用截面</a:t>
            </a:r>
            <a:endParaRPr lang="en-US" altLang="zh-CN" sz="3200" dirty="0">
              <a:latin typeface="Times New Roman" pitchFamily="18" charset="0"/>
              <a:ea typeface="黑体" pitchFamily="49" charset="-122"/>
            </a:endParaRPr>
          </a:p>
          <a:p>
            <a:pPr>
              <a:lnSpc>
                <a:spcPct val="150000"/>
              </a:lnSpc>
            </a:pPr>
            <a:r>
              <a:rPr lang="en-US" altLang="zh-CN" sz="3200" dirty="0">
                <a:latin typeface="Times New Roman" pitchFamily="18" charset="0"/>
                <a:ea typeface="黑体" pitchFamily="49" charset="-122"/>
              </a:rPr>
              <a:t>2.5</a:t>
            </a:r>
            <a:r>
              <a:rPr lang="zh-CN" altLang="en-US" sz="3200" dirty="0">
                <a:latin typeface="Times New Roman" pitchFamily="18" charset="0"/>
                <a:ea typeface="黑体" pitchFamily="49" charset="-122"/>
              </a:rPr>
              <a:t>尺寸标注</a:t>
            </a:r>
            <a:endParaRPr lang="en-US" altLang="zh-CN" sz="3200" dirty="0">
              <a:latin typeface="Times New Roman" pitchFamily="18" charset="0"/>
              <a:ea typeface="黑体" pitchFamily="49" charset="-122"/>
            </a:endParaRPr>
          </a:p>
          <a:p>
            <a:pPr>
              <a:lnSpc>
                <a:spcPct val="150000"/>
              </a:lnSpc>
            </a:pPr>
            <a:r>
              <a:rPr lang="en-US" altLang="zh-CN" sz="3200" dirty="0">
                <a:latin typeface="Times New Roman" pitchFamily="18" charset="0"/>
                <a:ea typeface="黑体" pitchFamily="49" charset="-122"/>
              </a:rPr>
              <a:t>2.6</a:t>
            </a:r>
            <a:r>
              <a:rPr lang="zh-CN" altLang="en-US" sz="3200" dirty="0">
                <a:latin typeface="Times New Roman" pitchFamily="18" charset="0"/>
                <a:ea typeface="黑体" pitchFamily="49" charset="-122"/>
              </a:rPr>
              <a:t>几何约束</a:t>
            </a:r>
            <a:endParaRPr lang="en-US" altLang="zh-CN" sz="3200" dirty="0">
              <a:latin typeface="Times New Roman" pitchFamily="18" charset="0"/>
              <a:ea typeface="黑体" pitchFamily="49" charset="-122"/>
            </a:endParaRPr>
          </a:p>
          <a:p>
            <a:pPr>
              <a:lnSpc>
                <a:spcPct val="150000"/>
              </a:lnSpc>
            </a:pPr>
            <a:r>
              <a:rPr lang="en-US" altLang="zh-CN" sz="3200" dirty="0">
                <a:latin typeface="Times New Roman" pitchFamily="18" charset="0"/>
                <a:ea typeface="黑体" pitchFamily="49" charset="-122"/>
              </a:rPr>
              <a:t>2.7</a:t>
            </a:r>
            <a:r>
              <a:rPr lang="zh-CN" altLang="en-US" sz="3200" dirty="0">
                <a:latin typeface="Times New Roman" pitchFamily="18" charset="0"/>
                <a:ea typeface="黑体" pitchFamily="49" charset="-122"/>
              </a:rPr>
              <a:t>二维草图综合范例</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60562" y="470647"/>
            <a:ext cx="3565712" cy="737510"/>
          </a:xfrm>
          <a:prstGeom prst="rect">
            <a:avLst/>
          </a:prstGeom>
          <a:solidFill>
            <a:srgbClr val="0000FF"/>
          </a:solidFill>
        </p:spPr>
        <p:txBody>
          <a:bodyPr wrap="square" rtlCol="0">
            <a:spAutoFit/>
          </a:bodyPr>
          <a:lstStyle/>
          <a:p>
            <a:pPr>
              <a:lnSpc>
                <a:spcPct val="150000"/>
              </a:lnSpc>
            </a:pPr>
            <a:r>
              <a:rPr lang="en-US" altLang="zh-CN" sz="3200" dirty="0">
                <a:solidFill>
                  <a:schemeClr val="bg1"/>
                </a:solidFill>
                <a:latin typeface="Times New Roman" pitchFamily="18" charset="0"/>
                <a:ea typeface="黑体" pitchFamily="49" charset="-122"/>
              </a:rPr>
              <a:t>2.1</a:t>
            </a:r>
            <a:r>
              <a:rPr lang="zh-CN" altLang="en-US" sz="3200" dirty="0">
                <a:solidFill>
                  <a:schemeClr val="bg1"/>
                </a:solidFill>
                <a:latin typeface="Times New Roman" pitchFamily="18" charset="0"/>
                <a:ea typeface="黑体" pitchFamily="49" charset="-122"/>
              </a:rPr>
              <a:t>草绘概述</a:t>
            </a:r>
            <a:endParaRPr lang="en-US" altLang="zh-CN" sz="3200" dirty="0">
              <a:solidFill>
                <a:schemeClr val="bg1"/>
              </a:solidFill>
              <a:latin typeface="Times New Roman" pitchFamily="18" charset="0"/>
              <a:ea typeface="黑体" pitchFamily="49" charset="-122"/>
            </a:endParaRPr>
          </a:p>
        </p:txBody>
      </p:sp>
      <p:sp>
        <p:nvSpPr>
          <p:cNvPr id="3" name="TextBox 2"/>
          <p:cNvSpPr txBox="1"/>
          <p:nvPr/>
        </p:nvSpPr>
        <p:spPr>
          <a:xfrm>
            <a:off x="457203" y="1465730"/>
            <a:ext cx="10932456" cy="2595839"/>
          </a:xfrm>
          <a:prstGeom prst="rect">
            <a:avLst/>
          </a:prstGeom>
          <a:noFill/>
        </p:spPr>
        <p:txBody>
          <a:bodyPr wrap="square" rtlCol="0">
            <a:spAutoFit/>
          </a:bodyPr>
          <a:lstStyle/>
          <a:p>
            <a:pPr indent="457200">
              <a:lnSpc>
                <a:spcPct val="150000"/>
              </a:lnSpc>
            </a:pPr>
            <a:r>
              <a:rPr lang="zh-CN" altLang="en-US" sz="2800" dirty="0">
                <a:latin typeface="Times New Roman" pitchFamily="18" charset="0"/>
                <a:ea typeface="宋体" pitchFamily="2" charset="-122"/>
              </a:rPr>
              <a:t>二维草绘（也称“</a:t>
            </a:r>
            <a:r>
              <a:rPr lang="en-US" altLang="zh-CN" sz="2800" dirty="0">
                <a:latin typeface="Times New Roman" pitchFamily="18" charset="0"/>
                <a:ea typeface="宋体" pitchFamily="2" charset="-122"/>
              </a:rPr>
              <a:t>2D</a:t>
            </a:r>
            <a:r>
              <a:rPr lang="zh-CN" altLang="en-US" sz="2800" dirty="0">
                <a:latin typeface="Times New Roman" pitchFamily="18" charset="0"/>
                <a:ea typeface="宋体" pitchFamily="2" charset="-122"/>
              </a:rPr>
              <a:t>草绘”）是三维建模的一个重要基础。在</a:t>
            </a:r>
            <a:r>
              <a:rPr lang="en-US" altLang="zh-CN" sz="2800" dirty="0" err="1">
                <a:latin typeface="Times New Roman" pitchFamily="18" charset="0"/>
                <a:ea typeface="宋体" pitchFamily="2" charset="-122"/>
              </a:rPr>
              <a:t>Creo</a:t>
            </a:r>
            <a:r>
              <a:rPr lang="en-US" altLang="zh-CN" sz="2800" dirty="0">
                <a:latin typeface="Times New Roman" pitchFamily="18" charset="0"/>
                <a:ea typeface="宋体" pitchFamily="2" charset="-122"/>
              </a:rPr>
              <a:t> Parametric 8.0</a:t>
            </a:r>
            <a:r>
              <a:rPr lang="zh-CN" altLang="en-US" sz="2800" dirty="0">
                <a:latin typeface="Times New Roman" pitchFamily="18" charset="0"/>
                <a:ea typeface="宋体" pitchFamily="2" charset="-122"/>
              </a:rPr>
              <a:t>中，二维草图基本是在草绘器（草绘模式）中绘制的。草绘常用的基本图元命令有点、直线、矩形、圆、圆弧、样条曲线等，利用这些命令可以绘制出各种各样的图形。</a:t>
            </a:r>
          </a:p>
        </p:txBody>
      </p:sp>
    </p:spTree>
    <p:extLst>
      <p:ext uri="{BB962C8B-B14F-4D97-AF65-F5344CB8AC3E}">
        <p14:creationId xmlns:p14="http://schemas.microsoft.com/office/powerpoint/2010/main" val="329827662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457203" y="766486"/>
            <a:ext cx="10932456" cy="6555641"/>
          </a:xfrm>
          <a:prstGeom prst="rect">
            <a:avLst/>
          </a:prstGeom>
          <a:noFill/>
        </p:spPr>
        <p:txBody>
          <a:bodyPr wrap="square" rtlCol="0">
            <a:spAutoFit/>
          </a:bodyPr>
          <a:lstStyle/>
          <a:p>
            <a:pPr indent="457200">
              <a:lnSpc>
                <a:spcPct val="150000"/>
              </a:lnSpc>
            </a:pPr>
            <a:r>
              <a:rPr lang="zh-CN" altLang="en-US" sz="2800" b="1" dirty="0">
                <a:latin typeface="Times New Roman" pitchFamily="18" charset="0"/>
                <a:ea typeface="宋体" pitchFamily="2" charset="-122"/>
              </a:rPr>
              <a:t>进入草绘模式</a:t>
            </a:r>
            <a:endParaRPr lang="en-US" altLang="zh-CN" sz="2800" b="1" dirty="0">
              <a:latin typeface="Times New Roman" pitchFamily="18" charset="0"/>
              <a:ea typeface="宋体" pitchFamily="2" charset="-122"/>
            </a:endParaRPr>
          </a:p>
          <a:p>
            <a:pPr indent="457200">
              <a:lnSpc>
                <a:spcPct val="150000"/>
              </a:lnSpc>
            </a:pPr>
            <a:r>
              <a:rPr lang="zh-CN" altLang="en-US" sz="2800" dirty="0">
                <a:latin typeface="Times New Roman" pitchFamily="18" charset="0"/>
                <a:ea typeface="宋体" pitchFamily="2" charset="-122"/>
              </a:rPr>
              <a:t>以创建一个新草绘文件的方式进入草绘模式为例，其具体的操作步骤如下：</a:t>
            </a:r>
            <a:endParaRPr lang="en-US" altLang="zh-CN" sz="2800" dirty="0">
              <a:latin typeface="Times New Roman" pitchFamily="18" charset="0"/>
              <a:ea typeface="宋体" pitchFamily="2" charset="-122"/>
            </a:endParaRPr>
          </a:p>
          <a:p>
            <a:pPr indent="457200">
              <a:lnSpc>
                <a:spcPct val="150000"/>
              </a:lnSpc>
            </a:pPr>
            <a:r>
              <a:rPr lang="en-US" altLang="zh-CN" sz="2800" dirty="0">
                <a:latin typeface="Times New Roman" pitchFamily="18" charset="0"/>
                <a:ea typeface="宋体" pitchFamily="2" charset="-122"/>
              </a:rPr>
              <a:t>1</a:t>
            </a:r>
            <a:r>
              <a:rPr lang="zh-CN" altLang="en-US" sz="2800" dirty="0">
                <a:latin typeface="Times New Roman" pitchFamily="18" charset="0"/>
                <a:ea typeface="宋体" pitchFamily="2" charset="-122"/>
              </a:rPr>
              <a:t>）在快速访问工具栏中单击“新建”按钮    ，或执行</a:t>
            </a:r>
            <a:r>
              <a:rPr lang="en-US" altLang="zh-CN" sz="2800" dirty="0">
                <a:latin typeface="Times New Roman" pitchFamily="18" charset="0"/>
                <a:ea typeface="宋体" pitchFamily="2" charset="-122"/>
              </a:rPr>
              <a:t>【</a:t>
            </a:r>
            <a:r>
              <a:rPr lang="zh-CN" altLang="en-US" sz="2800" dirty="0">
                <a:latin typeface="Times New Roman" pitchFamily="18" charset="0"/>
                <a:ea typeface="宋体" pitchFamily="2" charset="-122"/>
              </a:rPr>
              <a:t>文件</a:t>
            </a:r>
            <a:r>
              <a:rPr lang="en-US" altLang="zh-CN" sz="2800" dirty="0">
                <a:latin typeface="Times New Roman" pitchFamily="18" charset="0"/>
                <a:ea typeface="宋体" pitchFamily="2" charset="-122"/>
              </a:rPr>
              <a:t>】&gt;【</a:t>
            </a:r>
            <a:r>
              <a:rPr lang="zh-CN" altLang="en-US" sz="2800" dirty="0">
                <a:latin typeface="Times New Roman" pitchFamily="18" charset="0"/>
                <a:ea typeface="宋体" pitchFamily="2" charset="-122"/>
              </a:rPr>
              <a:t>新建</a:t>
            </a:r>
            <a:r>
              <a:rPr lang="en-US" altLang="zh-CN" sz="2800" dirty="0">
                <a:latin typeface="Times New Roman" pitchFamily="18" charset="0"/>
                <a:ea typeface="宋体" pitchFamily="2" charset="-122"/>
              </a:rPr>
              <a:t>】</a:t>
            </a:r>
            <a:r>
              <a:rPr lang="zh-CN" altLang="en-US" sz="2800" dirty="0">
                <a:latin typeface="Times New Roman" pitchFamily="18" charset="0"/>
                <a:ea typeface="宋体" pitchFamily="2" charset="-122"/>
              </a:rPr>
              <a:t>命令，系统弹出</a:t>
            </a:r>
            <a:r>
              <a:rPr lang="en-US" altLang="zh-CN" sz="2800" dirty="0">
                <a:latin typeface="Times New Roman" pitchFamily="18" charset="0"/>
                <a:ea typeface="宋体" pitchFamily="2" charset="-122"/>
              </a:rPr>
              <a:t>【</a:t>
            </a:r>
            <a:r>
              <a:rPr lang="zh-CN" altLang="en-US" sz="2800" dirty="0">
                <a:latin typeface="Times New Roman" pitchFamily="18" charset="0"/>
                <a:ea typeface="宋体" pitchFamily="2" charset="-122"/>
              </a:rPr>
              <a:t>新建</a:t>
            </a:r>
            <a:r>
              <a:rPr lang="en-US" altLang="zh-CN" sz="2800" dirty="0">
                <a:latin typeface="Times New Roman" pitchFamily="18" charset="0"/>
                <a:ea typeface="宋体" pitchFamily="2" charset="-122"/>
              </a:rPr>
              <a:t>】</a:t>
            </a:r>
            <a:r>
              <a:rPr lang="zh-CN" altLang="en-US" sz="2800" dirty="0">
                <a:latin typeface="Times New Roman" pitchFamily="18" charset="0"/>
                <a:ea typeface="宋体" pitchFamily="2" charset="-122"/>
              </a:rPr>
              <a:t>对话框。</a:t>
            </a:r>
          </a:p>
          <a:p>
            <a:pPr indent="457200">
              <a:lnSpc>
                <a:spcPct val="150000"/>
              </a:lnSpc>
            </a:pPr>
            <a:r>
              <a:rPr lang="en-US" altLang="zh-CN" sz="2800" dirty="0">
                <a:latin typeface="Times New Roman" pitchFamily="18" charset="0"/>
                <a:ea typeface="宋体" pitchFamily="2" charset="-122"/>
              </a:rPr>
              <a:t>2</a:t>
            </a:r>
            <a:r>
              <a:rPr lang="zh-CN" altLang="en-US" sz="2800" dirty="0">
                <a:latin typeface="Times New Roman" pitchFamily="18" charset="0"/>
                <a:ea typeface="宋体" pitchFamily="2" charset="-122"/>
              </a:rPr>
              <a:t>）在</a:t>
            </a:r>
            <a:r>
              <a:rPr lang="en-US" altLang="zh-CN" sz="2800" dirty="0">
                <a:latin typeface="Times New Roman" pitchFamily="18" charset="0"/>
                <a:ea typeface="宋体" pitchFamily="2" charset="-122"/>
              </a:rPr>
              <a:t>【</a:t>
            </a:r>
            <a:r>
              <a:rPr lang="zh-CN" altLang="en-US" sz="2800" dirty="0">
                <a:latin typeface="Times New Roman" pitchFamily="18" charset="0"/>
                <a:ea typeface="宋体" pitchFamily="2" charset="-122"/>
              </a:rPr>
              <a:t>类型</a:t>
            </a:r>
            <a:r>
              <a:rPr lang="en-US" altLang="zh-CN" sz="2800" dirty="0">
                <a:latin typeface="Times New Roman" pitchFamily="18" charset="0"/>
                <a:ea typeface="宋体" pitchFamily="2" charset="-122"/>
              </a:rPr>
              <a:t>】</a:t>
            </a:r>
            <a:r>
              <a:rPr lang="zh-CN" altLang="en-US" sz="2800" dirty="0">
                <a:latin typeface="Times New Roman" pitchFamily="18" charset="0"/>
                <a:ea typeface="宋体" pitchFamily="2" charset="-122"/>
              </a:rPr>
              <a:t>选项组中选择“草绘”单选按钮，在“文件名”文本框中输入新文件名，如图</a:t>
            </a:r>
            <a:r>
              <a:rPr lang="en-US" altLang="zh-CN" sz="2800" dirty="0">
                <a:latin typeface="Times New Roman" pitchFamily="18" charset="0"/>
                <a:ea typeface="宋体" pitchFamily="2" charset="-122"/>
              </a:rPr>
              <a:t>2-1</a:t>
            </a:r>
            <a:r>
              <a:rPr lang="zh-CN" altLang="en-US" sz="2800" dirty="0">
                <a:latin typeface="Times New Roman" pitchFamily="18" charset="0"/>
                <a:ea typeface="宋体" pitchFamily="2" charset="-122"/>
              </a:rPr>
              <a:t>所示。</a:t>
            </a:r>
          </a:p>
          <a:p>
            <a:pPr indent="457200">
              <a:lnSpc>
                <a:spcPct val="150000"/>
              </a:lnSpc>
            </a:pPr>
            <a:r>
              <a:rPr lang="en-US" altLang="zh-CN" sz="2800" dirty="0">
                <a:latin typeface="Times New Roman" pitchFamily="18" charset="0"/>
                <a:ea typeface="宋体" pitchFamily="2" charset="-122"/>
              </a:rPr>
              <a:t>3</a:t>
            </a:r>
            <a:r>
              <a:rPr lang="zh-CN" altLang="en-US" sz="2800" dirty="0">
                <a:latin typeface="Times New Roman" pitchFamily="18" charset="0"/>
                <a:ea typeface="宋体" pitchFamily="2" charset="-122"/>
              </a:rPr>
              <a:t>）在</a:t>
            </a:r>
            <a:r>
              <a:rPr lang="en-US" altLang="zh-CN" sz="2800" dirty="0">
                <a:latin typeface="Times New Roman" pitchFamily="18" charset="0"/>
                <a:ea typeface="宋体" pitchFamily="2" charset="-122"/>
              </a:rPr>
              <a:t>【</a:t>
            </a:r>
            <a:r>
              <a:rPr lang="zh-CN" altLang="en-US" sz="2800" dirty="0">
                <a:latin typeface="Times New Roman" pitchFamily="18" charset="0"/>
                <a:ea typeface="宋体" pitchFamily="2" charset="-122"/>
              </a:rPr>
              <a:t>新建</a:t>
            </a:r>
            <a:r>
              <a:rPr lang="en-US" altLang="zh-CN" sz="2800" dirty="0">
                <a:latin typeface="Times New Roman" pitchFamily="18" charset="0"/>
                <a:ea typeface="宋体" pitchFamily="2" charset="-122"/>
              </a:rPr>
              <a:t>】</a:t>
            </a:r>
            <a:r>
              <a:rPr lang="zh-CN" altLang="en-US" sz="2800" dirty="0">
                <a:latin typeface="Times New Roman" pitchFamily="18" charset="0"/>
                <a:ea typeface="宋体" pitchFamily="2" charset="-122"/>
              </a:rPr>
              <a:t>对话框中单击“确定”按钮，进入草绘文件的草绘器工作界面。</a:t>
            </a:r>
          </a:p>
          <a:p>
            <a:pPr indent="457200">
              <a:lnSpc>
                <a:spcPct val="150000"/>
              </a:lnSpc>
            </a:pPr>
            <a:endParaRPr lang="zh-CN" altLang="en-US" sz="2800" dirty="0">
              <a:latin typeface="Times New Roman" pitchFamily="18" charset="0"/>
              <a:ea typeface="宋体" pitchFamily="2" charset="-122"/>
            </a:endParaRPr>
          </a:p>
        </p:txBody>
      </p:sp>
      <p:pic>
        <p:nvPicPr>
          <p:cNvPr id="4" name="图片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560609" y="2950924"/>
            <a:ext cx="360000" cy="360000"/>
          </a:xfrm>
          <a:prstGeom prst="rect">
            <a:avLst/>
          </a:prstGeom>
        </p:spPr>
      </p:pic>
    </p:spTree>
    <p:extLst>
      <p:ext uri="{BB962C8B-B14F-4D97-AF65-F5344CB8AC3E}">
        <p14:creationId xmlns:p14="http://schemas.microsoft.com/office/powerpoint/2010/main" val="355042138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223782" y="797559"/>
            <a:ext cx="3744436" cy="5040000"/>
          </a:xfrm>
          <a:prstGeom prst="rect">
            <a:avLst/>
          </a:prstGeom>
        </p:spPr>
      </p:pic>
      <p:sp>
        <p:nvSpPr>
          <p:cNvPr id="2" name="TextBox 1"/>
          <p:cNvSpPr txBox="1"/>
          <p:nvPr/>
        </p:nvSpPr>
        <p:spPr>
          <a:xfrm>
            <a:off x="3516608" y="5958582"/>
            <a:ext cx="5158785" cy="369332"/>
          </a:xfrm>
          <a:prstGeom prst="rect">
            <a:avLst/>
          </a:prstGeom>
          <a:noFill/>
        </p:spPr>
        <p:txBody>
          <a:bodyPr wrap="none" rtlCol="0">
            <a:spAutoFit/>
          </a:bodyPr>
          <a:lstStyle/>
          <a:p>
            <a:pPr algn="ctr"/>
            <a:r>
              <a:rPr lang="zh-CN" altLang="zh-CN" dirty="0"/>
              <a:t>图</a:t>
            </a:r>
            <a:r>
              <a:rPr lang="en-US" altLang="zh-CN" dirty="0"/>
              <a:t>2-1 </a:t>
            </a:r>
            <a:r>
              <a:rPr lang="zh-CN" altLang="zh-CN" dirty="0"/>
              <a:t>在【新建】对话框中选择“草绘”单选按钮</a:t>
            </a:r>
            <a:endParaRPr lang="zh-CN" altLang="en-US" dirty="0"/>
          </a:p>
        </p:txBody>
      </p:sp>
    </p:spTree>
    <p:extLst>
      <p:ext uri="{BB962C8B-B14F-4D97-AF65-F5344CB8AC3E}">
        <p14:creationId xmlns:p14="http://schemas.microsoft.com/office/powerpoint/2010/main" val="74482644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457203" y="860615"/>
            <a:ext cx="10932456" cy="4616648"/>
          </a:xfrm>
          <a:prstGeom prst="rect">
            <a:avLst/>
          </a:prstGeom>
          <a:noFill/>
        </p:spPr>
        <p:txBody>
          <a:bodyPr wrap="square" rtlCol="0">
            <a:spAutoFit/>
          </a:bodyPr>
          <a:lstStyle/>
          <a:p>
            <a:pPr indent="457200">
              <a:lnSpc>
                <a:spcPct val="150000"/>
              </a:lnSpc>
            </a:pPr>
            <a:r>
              <a:rPr lang="zh-CN" altLang="en-US" sz="2800" dirty="0">
                <a:latin typeface="Times New Roman" pitchFamily="18" charset="0"/>
                <a:ea typeface="宋体" pitchFamily="2" charset="-122"/>
              </a:rPr>
              <a:t>巧用鼠标各按键，可以在一定程度上提高绘图速度。在草绘器中可以使用鼠标执行下列操作：</a:t>
            </a:r>
            <a:endParaRPr lang="en-US" altLang="zh-CN" sz="2800" dirty="0">
              <a:latin typeface="Times New Roman" pitchFamily="18" charset="0"/>
              <a:ea typeface="宋体" pitchFamily="2" charset="-122"/>
            </a:endParaRPr>
          </a:p>
          <a:p>
            <a:pPr marL="457200" indent="-457200">
              <a:lnSpc>
                <a:spcPct val="150000"/>
              </a:lnSpc>
              <a:buFont typeface="Wingdings" pitchFamily="2" charset="2"/>
              <a:buChar char="u"/>
            </a:pPr>
            <a:r>
              <a:rPr lang="zh-CN" altLang="en-US" sz="2800" dirty="0">
                <a:latin typeface="Times New Roman" pitchFamily="18" charset="0"/>
                <a:ea typeface="宋体" pitchFamily="2" charset="-122"/>
              </a:rPr>
              <a:t>在执行绘图命令的过程中，若单击鼠标中键则可以中止当前操作。</a:t>
            </a:r>
            <a:endParaRPr lang="en-US" altLang="zh-CN" sz="2800" dirty="0">
              <a:latin typeface="Times New Roman" pitchFamily="18" charset="0"/>
              <a:ea typeface="宋体" pitchFamily="2" charset="-122"/>
            </a:endParaRPr>
          </a:p>
          <a:p>
            <a:pPr marL="457200" indent="-457200">
              <a:lnSpc>
                <a:spcPct val="150000"/>
              </a:lnSpc>
              <a:buFont typeface="Wingdings" pitchFamily="2" charset="2"/>
              <a:buChar char="u"/>
            </a:pPr>
            <a:r>
              <a:rPr lang="zh-CN" altLang="en-US" sz="2800" dirty="0">
                <a:latin typeface="Times New Roman" pitchFamily="18" charset="0"/>
                <a:ea typeface="宋体" pitchFamily="2" charset="-122"/>
              </a:rPr>
              <a:t>右键单击草绘窗口可以访问快捷菜单，注意快捷菜单中的命令会因为当前选定图元的不同而有所不同。</a:t>
            </a:r>
            <a:endParaRPr lang="en-US" altLang="zh-CN" sz="2800" dirty="0">
              <a:latin typeface="Times New Roman" pitchFamily="18" charset="0"/>
              <a:ea typeface="宋体" pitchFamily="2" charset="-122"/>
            </a:endParaRPr>
          </a:p>
          <a:p>
            <a:pPr marL="457200" indent="-457200">
              <a:lnSpc>
                <a:spcPct val="150000"/>
              </a:lnSpc>
              <a:buFont typeface="Wingdings" pitchFamily="2" charset="2"/>
              <a:buChar char="u"/>
            </a:pPr>
            <a:r>
              <a:rPr lang="zh-CN" altLang="en-US" sz="2800" dirty="0">
                <a:latin typeface="Times New Roman" pitchFamily="18" charset="0"/>
                <a:ea typeface="宋体" pitchFamily="2" charset="-122"/>
              </a:rPr>
              <a:t>草绘时，单击鼠标右键可锁定所提供的约束，再次单击鼠标右键可以禁用该约束，第</a:t>
            </a:r>
            <a:r>
              <a:rPr lang="en-US" altLang="zh-CN" sz="2800" dirty="0">
                <a:latin typeface="Times New Roman" pitchFamily="18" charset="0"/>
                <a:ea typeface="宋体" pitchFamily="2" charset="-122"/>
              </a:rPr>
              <a:t>3</a:t>
            </a:r>
            <a:r>
              <a:rPr lang="zh-CN" altLang="en-US" sz="2800" dirty="0">
                <a:latin typeface="Times New Roman" pitchFamily="18" charset="0"/>
                <a:ea typeface="宋体" pitchFamily="2" charset="-122"/>
              </a:rPr>
              <a:t>次单击鼠标右键可以重新启用该约束。</a:t>
            </a:r>
          </a:p>
        </p:txBody>
      </p:sp>
    </p:spTree>
    <p:extLst>
      <p:ext uri="{BB962C8B-B14F-4D97-AF65-F5344CB8AC3E}">
        <p14:creationId xmlns:p14="http://schemas.microsoft.com/office/powerpoint/2010/main" val="400250088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457203" y="242053"/>
            <a:ext cx="2528044" cy="738664"/>
          </a:xfrm>
          <a:prstGeom prst="rect">
            <a:avLst/>
          </a:prstGeom>
          <a:noFill/>
        </p:spPr>
        <p:txBody>
          <a:bodyPr wrap="square" rtlCol="0">
            <a:spAutoFit/>
          </a:bodyPr>
          <a:lstStyle/>
          <a:p>
            <a:pPr>
              <a:lnSpc>
                <a:spcPct val="150000"/>
              </a:lnSpc>
            </a:pPr>
            <a:r>
              <a:rPr lang="zh-CN" altLang="en-US" sz="2800" b="1" dirty="0">
                <a:latin typeface="Times New Roman" pitchFamily="18" charset="0"/>
                <a:ea typeface="宋体" pitchFamily="2" charset="-122"/>
              </a:rPr>
              <a:t>设置草绘环境</a:t>
            </a:r>
          </a:p>
        </p:txBody>
      </p:sp>
      <p:pic>
        <p:nvPicPr>
          <p:cNvPr id="3" name="图片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230093" y="974466"/>
            <a:ext cx="5731815" cy="5040000"/>
          </a:xfrm>
          <a:prstGeom prst="rect">
            <a:avLst/>
          </a:prstGeom>
        </p:spPr>
      </p:pic>
      <p:sp>
        <p:nvSpPr>
          <p:cNvPr id="5" name="TextBox 4"/>
          <p:cNvSpPr txBox="1"/>
          <p:nvPr/>
        </p:nvSpPr>
        <p:spPr>
          <a:xfrm>
            <a:off x="4901603" y="6025817"/>
            <a:ext cx="2388794" cy="369332"/>
          </a:xfrm>
          <a:prstGeom prst="rect">
            <a:avLst/>
          </a:prstGeom>
          <a:noFill/>
        </p:spPr>
        <p:txBody>
          <a:bodyPr wrap="none" rtlCol="0">
            <a:spAutoFit/>
          </a:bodyPr>
          <a:lstStyle/>
          <a:p>
            <a:pPr algn="ctr"/>
            <a:r>
              <a:rPr lang="zh-CN" altLang="en-US" dirty="0"/>
              <a:t>图</a:t>
            </a:r>
            <a:r>
              <a:rPr lang="en-US" altLang="zh-CN" dirty="0"/>
              <a:t>2-2 </a:t>
            </a:r>
            <a:r>
              <a:rPr lang="zh-CN" altLang="en-US" dirty="0"/>
              <a:t>自定义草绘环境</a:t>
            </a:r>
          </a:p>
        </p:txBody>
      </p:sp>
    </p:spTree>
    <p:extLst>
      <p:ext uri="{BB962C8B-B14F-4D97-AF65-F5344CB8AC3E}">
        <p14:creationId xmlns:p14="http://schemas.microsoft.com/office/powerpoint/2010/main" val="161368949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457203" y="363076"/>
            <a:ext cx="2528044" cy="738664"/>
          </a:xfrm>
          <a:prstGeom prst="rect">
            <a:avLst/>
          </a:prstGeom>
          <a:noFill/>
        </p:spPr>
        <p:txBody>
          <a:bodyPr wrap="square" rtlCol="0">
            <a:spAutoFit/>
          </a:bodyPr>
          <a:lstStyle/>
          <a:p>
            <a:pPr>
              <a:lnSpc>
                <a:spcPct val="150000"/>
              </a:lnSpc>
            </a:pPr>
            <a:r>
              <a:rPr lang="zh-CN" altLang="en-US" sz="2800" b="1" dirty="0">
                <a:latin typeface="Times New Roman" pitchFamily="18" charset="0"/>
                <a:ea typeface="宋体" pitchFamily="2" charset="-122"/>
              </a:rPr>
              <a:t>设置草绘环境</a:t>
            </a:r>
          </a:p>
        </p:txBody>
      </p:sp>
      <p:sp>
        <p:nvSpPr>
          <p:cNvPr id="5" name="TextBox 4"/>
          <p:cNvSpPr txBox="1"/>
          <p:nvPr/>
        </p:nvSpPr>
        <p:spPr>
          <a:xfrm>
            <a:off x="4670770" y="4775239"/>
            <a:ext cx="2850460" cy="369332"/>
          </a:xfrm>
          <a:prstGeom prst="rect">
            <a:avLst/>
          </a:prstGeom>
          <a:noFill/>
        </p:spPr>
        <p:txBody>
          <a:bodyPr wrap="none" rtlCol="0">
            <a:spAutoFit/>
          </a:bodyPr>
          <a:lstStyle/>
          <a:p>
            <a:pPr algn="ctr"/>
            <a:r>
              <a:rPr lang="zh-CN" altLang="zh-CN" dirty="0"/>
              <a:t>图</a:t>
            </a:r>
            <a:r>
              <a:rPr lang="en-US" altLang="zh-CN" dirty="0"/>
              <a:t>2-3 </a:t>
            </a:r>
            <a:r>
              <a:rPr lang="zh-CN" altLang="zh-CN" dirty="0"/>
              <a:t>草绘器显示设置按钮</a:t>
            </a:r>
            <a:endParaRPr lang="zh-CN" altLang="en-US" dirty="0"/>
          </a:p>
        </p:txBody>
      </p:sp>
      <p:pic>
        <p:nvPicPr>
          <p:cNvPr id="6" name="图片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96000" y="1573644"/>
            <a:ext cx="10800000" cy="2972406"/>
          </a:xfrm>
          <a:prstGeom prst="rect">
            <a:avLst/>
          </a:prstGeom>
        </p:spPr>
      </p:pic>
    </p:spTree>
    <p:extLst>
      <p:ext uri="{BB962C8B-B14F-4D97-AF65-F5344CB8AC3E}">
        <p14:creationId xmlns:p14="http://schemas.microsoft.com/office/powerpoint/2010/main" val="87647598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457203" y="363076"/>
            <a:ext cx="2528044" cy="656846"/>
          </a:xfrm>
          <a:prstGeom prst="rect">
            <a:avLst/>
          </a:prstGeom>
          <a:noFill/>
        </p:spPr>
        <p:txBody>
          <a:bodyPr wrap="square" rtlCol="0">
            <a:spAutoFit/>
          </a:bodyPr>
          <a:lstStyle/>
          <a:p>
            <a:pPr>
              <a:lnSpc>
                <a:spcPct val="150000"/>
              </a:lnSpc>
            </a:pPr>
            <a:r>
              <a:rPr lang="zh-CN" altLang="en-US" sz="2800" b="1" dirty="0">
                <a:latin typeface="Times New Roman" pitchFamily="18" charset="0"/>
                <a:ea typeface="宋体" pitchFamily="2" charset="-122"/>
              </a:rPr>
              <a:t>草绘基本过程</a:t>
            </a:r>
          </a:p>
        </p:txBody>
      </p:sp>
      <p:sp>
        <p:nvSpPr>
          <p:cNvPr id="7" name="TextBox 6"/>
          <p:cNvSpPr txBox="1"/>
          <p:nvPr/>
        </p:nvSpPr>
        <p:spPr>
          <a:xfrm>
            <a:off x="457203" y="1075767"/>
            <a:ext cx="10932456" cy="5181162"/>
          </a:xfrm>
          <a:prstGeom prst="rect">
            <a:avLst/>
          </a:prstGeom>
          <a:noFill/>
        </p:spPr>
        <p:txBody>
          <a:bodyPr wrap="square" rtlCol="0">
            <a:spAutoFit/>
          </a:bodyPr>
          <a:lstStyle/>
          <a:p>
            <a:pPr indent="457200">
              <a:lnSpc>
                <a:spcPct val="150000"/>
              </a:lnSpc>
            </a:pPr>
            <a:r>
              <a:rPr lang="en-US" altLang="zh-CN" sz="2800" dirty="0">
                <a:latin typeface="Times New Roman" pitchFamily="18" charset="0"/>
                <a:ea typeface="宋体" pitchFamily="2" charset="-122"/>
              </a:rPr>
              <a:t>1</a:t>
            </a:r>
            <a:r>
              <a:rPr lang="zh-CN" altLang="en-US" sz="2800" dirty="0">
                <a:latin typeface="Times New Roman" pitchFamily="18" charset="0"/>
                <a:ea typeface="宋体" pitchFamily="2" charset="-122"/>
              </a:rPr>
              <a:t>）粗略地绘制几何图元，即勾勒出图形的大概形状。</a:t>
            </a:r>
          </a:p>
          <a:p>
            <a:pPr indent="457200">
              <a:lnSpc>
                <a:spcPct val="150000"/>
              </a:lnSpc>
            </a:pPr>
            <a:r>
              <a:rPr lang="en-US" altLang="zh-CN" sz="2800" dirty="0">
                <a:latin typeface="Times New Roman" pitchFamily="18" charset="0"/>
                <a:ea typeface="宋体" pitchFamily="2" charset="-122"/>
              </a:rPr>
              <a:t>2</a:t>
            </a:r>
            <a:r>
              <a:rPr lang="zh-CN" altLang="en-US" sz="2800" dirty="0">
                <a:latin typeface="Times New Roman" pitchFamily="18" charset="0"/>
                <a:ea typeface="宋体" pitchFamily="2" charset="-122"/>
              </a:rPr>
              <a:t>）编辑添加约束。</a:t>
            </a:r>
          </a:p>
          <a:p>
            <a:pPr indent="457200">
              <a:lnSpc>
                <a:spcPct val="150000"/>
              </a:lnSpc>
            </a:pPr>
            <a:r>
              <a:rPr lang="en-US" altLang="zh-CN" sz="2800" dirty="0">
                <a:latin typeface="Times New Roman" pitchFamily="18" charset="0"/>
                <a:ea typeface="宋体" pitchFamily="2" charset="-122"/>
              </a:rPr>
              <a:t>3</a:t>
            </a:r>
            <a:r>
              <a:rPr lang="zh-CN" altLang="en-US" sz="2800" dirty="0">
                <a:latin typeface="Times New Roman" pitchFamily="18" charset="0"/>
                <a:ea typeface="宋体" pitchFamily="2" charset="-122"/>
              </a:rPr>
              <a:t>）标注尺寸绘制图元时，系统自动生成的尺寸为弱尺寸，以较浅的颜色显示；用户创建的尺寸则以较深的颜色显示，称为强尺寸（弱尺寸在用户修改成功后将自动转变为强尺寸）。</a:t>
            </a:r>
          </a:p>
          <a:p>
            <a:pPr indent="457200">
              <a:lnSpc>
                <a:spcPct val="150000"/>
              </a:lnSpc>
            </a:pPr>
            <a:r>
              <a:rPr lang="en-US" altLang="zh-CN" sz="2800" dirty="0">
                <a:latin typeface="Times New Roman" pitchFamily="18" charset="0"/>
                <a:ea typeface="宋体" pitchFamily="2" charset="-122"/>
              </a:rPr>
              <a:t>4</a:t>
            </a:r>
            <a:r>
              <a:rPr lang="zh-CN" altLang="en-US" sz="2800" dirty="0">
                <a:latin typeface="Times New Roman" pitchFamily="18" charset="0"/>
                <a:ea typeface="宋体" pitchFamily="2" charset="-122"/>
              </a:rPr>
              <a:t>）修改尺寸。</a:t>
            </a:r>
          </a:p>
          <a:p>
            <a:pPr indent="457200">
              <a:lnSpc>
                <a:spcPct val="150000"/>
              </a:lnSpc>
            </a:pPr>
            <a:r>
              <a:rPr lang="en-US" altLang="zh-CN" sz="2800" dirty="0">
                <a:latin typeface="Times New Roman" pitchFamily="18" charset="0"/>
                <a:ea typeface="宋体" pitchFamily="2" charset="-122"/>
              </a:rPr>
              <a:t>5</a:t>
            </a:r>
            <a:r>
              <a:rPr lang="zh-CN" altLang="en-US" sz="2800" dirty="0">
                <a:latin typeface="Times New Roman" pitchFamily="18" charset="0"/>
                <a:ea typeface="宋体" pitchFamily="2" charset="-122"/>
              </a:rPr>
              <a:t>）重新生成。</a:t>
            </a:r>
          </a:p>
          <a:p>
            <a:pPr indent="457200">
              <a:lnSpc>
                <a:spcPct val="150000"/>
              </a:lnSpc>
            </a:pPr>
            <a:r>
              <a:rPr lang="en-US" altLang="zh-CN" sz="2800" dirty="0">
                <a:latin typeface="Times New Roman" pitchFamily="18" charset="0"/>
                <a:ea typeface="宋体" pitchFamily="2" charset="-122"/>
              </a:rPr>
              <a:t>6</a:t>
            </a:r>
            <a:r>
              <a:rPr lang="zh-CN" altLang="en-US" sz="2800" dirty="0">
                <a:latin typeface="Times New Roman" pitchFamily="18" charset="0"/>
                <a:ea typeface="宋体" pitchFamily="2" charset="-122"/>
              </a:rPr>
              <a:t>）草图诊断。检查草图中是否存在几何不封闭、几何重叠等问题。</a:t>
            </a:r>
          </a:p>
        </p:txBody>
      </p:sp>
    </p:spTree>
    <p:extLst>
      <p:ext uri="{BB962C8B-B14F-4D97-AF65-F5344CB8AC3E}">
        <p14:creationId xmlns:p14="http://schemas.microsoft.com/office/powerpoint/2010/main" val="370185224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460562" y="430306"/>
            <a:ext cx="3976968" cy="830997"/>
          </a:xfrm>
          <a:prstGeom prst="rect">
            <a:avLst/>
          </a:prstGeom>
          <a:solidFill>
            <a:srgbClr val="0000FF"/>
          </a:solidFill>
        </p:spPr>
        <p:txBody>
          <a:bodyPr wrap="square" rtlCol="0">
            <a:spAutoFit/>
          </a:bodyPr>
          <a:lstStyle/>
          <a:p>
            <a:pPr>
              <a:lnSpc>
                <a:spcPct val="150000"/>
              </a:lnSpc>
            </a:pPr>
            <a:r>
              <a:rPr lang="en-US" altLang="zh-CN" sz="3200" dirty="0">
                <a:solidFill>
                  <a:schemeClr val="bg1"/>
                </a:solidFill>
                <a:latin typeface="Times New Roman" pitchFamily="18" charset="0"/>
                <a:ea typeface="黑体" pitchFamily="49" charset="-122"/>
              </a:rPr>
              <a:t>2.2</a:t>
            </a:r>
            <a:r>
              <a:rPr lang="zh-CN" altLang="en-US" sz="3200" dirty="0">
                <a:solidFill>
                  <a:schemeClr val="bg1"/>
                </a:solidFill>
                <a:latin typeface="Times New Roman" pitchFamily="18" charset="0"/>
                <a:ea typeface="黑体" pitchFamily="49" charset="-122"/>
              </a:rPr>
              <a:t>创建基本草绘图元</a:t>
            </a:r>
            <a:endParaRPr lang="en-US" altLang="zh-CN" sz="3200" dirty="0">
              <a:solidFill>
                <a:schemeClr val="bg1"/>
              </a:solidFill>
              <a:latin typeface="Times New Roman" pitchFamily="18" charset="0"/>
              <a:ea typeface="黑体" pitchFamily="49" charset="-122"/>
            </a:endParaRPr>
          </a:p>
        </p:txBody>
      </p:sp>
      <p:pic>
        <p:nvPicPr>
          <p:cNvPr id="6" name="图片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96000" y="2069916"/>
            <a:ext cx="10800000" cy="1510908"/>
          </a:xfrm>
          <a:prstGeom prst="rect">
            <a:avLst/>
          </a:prstGeom>
        </p:spPr>
      </p:pic>
      <p:sp>
        <p:nvSpPr>
          <p:cNvPr id="8" name="TextBox 7"/>
          <p:cNvSpPr txBox="1"/>
          <p:nvPr/>
        </p:nvSpPr>
        <p:spPr>
          <a:xfrm>
            <a:off x="4439937" y="3901181"/>
            <a:ext cx="3312125" cy="369332"/>
          </a:xfrm>
          <a:prstGeom prst="rect">
            <a:avLst/>
          </a:prstGeom>
          <a:noFill/>
        </p:spPr>
        <p:txBody>
          <a:bodyPr wrap="none" rtlCol="0">
            <a:spAutoFit/>
          </a:bodyPr>
          <a:lstStyle/>
          <a:p>
            <a:pPr algn="ctr"/>
            <a:r>
              <a:rPr lang="zh-CN" altLang="zh-CN" dirty="0"/>
              <a:t>图</a:t>
            </a:r>
            <a:r>
              <a:rPr lang="en-US" altLang="zh-CN" dirty="0"/>
              <a:t>2-4 </a:t>
            </a:r>
            <a:r>
              <a:rPr lang="zh-CN" altLang="zh-CN" dirty="0"/>
              <a:t>草绘工具与基准图元工具</a:t>
            </a:r>
            <a:endParaRPr lang="zh-CN" altLang="en-US" dirty="0"/>
          </a:p>
        </p:txBody>
      </p:sp>
    </p:spTree>
    <p:extLst>
      <p:ext uri="{BB962C8B-B14F-4D97-AF65-F5344CB8AC3E}">
        <p14:creationId xmlns:p14="http://schemas.microsoft.com/office/powerpoint/2010/main" val="398966990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图片 8"/>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24883" y="1672779"/>
            <a:ext cx="5082097" cy="3240000"/>
          </a:xfrm>
          <a:prstGeom prst="rect">
            <a:avLst/>
          </a:prstGeom>
        </p:spPr>
      </p:pic>
      <p:sp>
        <p:nvSpPr>
          <p:cNvPr id="8" name="TextBox 7"/>
          <p:cNvSpPr txBox="1"/>
          <p:nvPr/>
        </p:nvSpPr>
        <p:spPr>
          <a:xfrm>
            <a:off x="961205" y="5299674"/>
            <a:ext cx="4182556" cy="369332"/>
          </a:xfrm>
          <a:prstGeom prst="rect">
            <a:avLst/>
          </a:prstGeom>
          <a:noFill/>
        </p:spPr>
        <p:txBody>
          <a:bodyPr wrap="none" rtlCol="0">
            <a:spAutoFit/>
          </a:bodyPr>
          <a:lstStyle/>
          <a:p>
            <a:pPr algn="ctr"/>
            <a:r>
              <a:rPr lang="zh-CN" altLang="en-US" dirty="0"/>
              <a:t>图</a:t>
            </a:r>
            <a:r>
              <a:rPr lang="en-US" altLang="zh-CN" dirty="0"/>
              <a:t>2-5</a:t>
            </a:r>
            <a:r>
              <a:rPr lang="zh-CN" altLang="en-US" dirty="0"/>
              <a:t>绘制与两个图元相切的构造中心线</a:t>
            </a:r>
          </a:p>
        </p:txBody>
      </p:sp>
      <p:sp>
        <p:nvSpPr>
          <p:cNvPr id="7" name="TextBox 6"/>
          <p:cNvSpPr txBox="1"/>
          <p:nvPr/>
        </p:nvSpPr>
        <p:spPr>
          <a:xfrm>
            <a:off x="457202" y="551334"/>
            <a:ext cx="4921622" cy="1384995"/>
          </a:xfrm>
          <a:prstGeom prst="rect">
            <a:avLst/>
          </a:prstGeom>
          <a:noFill/>
        </p:spPr>
        <p:txBody>
          <a:bodyPr wrap="square" rtlCol="0">
            <a:spAutoFit/>
          </a:bodyPr>
          <a:lstStyle/>
          <a:p>
            <a:pPr>
              <a:lnSpc>
                <a:spcPct val="150000"/>
              </a:lnSpc>
            </a:pPr>
            <a:r>
              <a:rPr lang="en-US" altLang="zh-CN" sz="2800" b="1" dirty="0">
                <a:latin typeface="Times New Roman" pitchFamily="18" charset="0"/>
                <a:ea typeface="宋体" pitchFamily="2" charset="-122"/>
              </a:rPr>
              <a:t>2.2.1</a:t>
            </a:r>
            <a:r>
              <a:rPr lang="zh-CN" altLang="en-US" sz="2800" b="1" dirty="0">
                <a:latin typeface="Times New Roman" pitchFamily="18" charset="0"/>
                <a:ea typeface="宋体" pitchFamily="2" charset="-122"/>
              </a:rPr>
              <a:t>创建构造中心线和基准中心线</a:t>
            </a:r>
          </a:p>
        </p:txBody>
      </p:sp>
      <p:cxnSp>
        <p:nvCxnSpPr>
          <p:cNvPr id="3" name="直接连接符 2"/>
          <p:cNvCxnSpPr/>
          <p:nvPr/>
        </p:nvCxnSpPr>
        <p:spPr>
          <a:xfrm>
            <a:off x="5903259" y="551334"/>
            <a:ext cx="40341" cy="5930148"/>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11" name="TextBox 10"/>
          <p:cNvSpPr txBox="1"/>
          <p:nvPr/>
        </p:nvSpPr>
        <p:spPr>
          <a:xfrm>
            <a:off x="6131416" y="551334"/>
            <a:ext cx="5607865" cy="738664"/>
          </a:xfrm>
          <a:prstGeom prst="rect">
            <a:avLst/>
          </a:prstGeom>
          <a:noFill/>
        </p:spPr>
        <p:txBody>
          <a:bodyPr wrap="square" rtlCol="0">
            <a:spAutoFit/>
          </a:bodyPr>
          <a:lstStyle/>
          <a:p>
            <a:pPr>
              <a:lnSpc>
                <a:spcPct val="150000"/>
              </a:lnSpc>
            </a:pPr>
            <a:r>
              <a:rPr lang="en-US" altLang="zh-CN" sz="2800" b="1" dirty="0">
                <a:latin typeface="Times New Roman" pitchFamily="18" charset="0"/>
                <a:ea typeface="宋体" pitchFamily="2" charset="-122"/>
              </a:rPr>
              <a:t>2.2.2</a:t>
            </a:r>
            <a:r>
              <a:rPr lang="zh-CN" altLang="en-US" sz="2800" b="1" dirty="0">
                <a:latin typeface="Times New Roman" pitchFamily="18" charset="0"/>
                <a:ea typeface="宋体" pitchFamily="2" charset="-122"/>
              </a:rPr>
              <a:t>创建构造坐标系和基准坐标系</a:t>
            </a:r>
          </a:p>
        </p:txBody>
      </p:sp>
      <p:sp>
        <p:nvSpPr>
          <p:cNvPr id="12" name="TextBox 11"/>
          <p:cNvSpPr txBox="1"/>
          <p:nvPr/>
        </p:nvSpPr>
        <p:spPr>
          <a:xfrm>
            <a:off x="6131418" y="1672779"/>
            <a:ext cx="5849911" cy="4401205"/>
          </a:xfrm>
          <a:prstGeom prst="rect">
            <a:avLst/>
          </a:prstGeom>
          <a:noFill/>
        </p:spPr>
        <p:txBody>
          <a:bodyPr wrap="square" rtlCol="0">
            <a:spAutoFit/>
          </a:bodyPr>
          <a:lstStyle/>
          <a:p>
            <a:r>
              <a:rPr lang="zh-CN" altLang="en-US" sz="2800" dirty="0">
                <a:latin typeface="宋体" pitchFamily="2" charset="-122"/>
                <a:ea typeface="宋体" pitchFamily="2" charset="-122"/>
              </a:rPr>
              <a:t>要创建构造坐标系，则在功能区的</a:t>
            </a:r>
            <a:r>
              <a:rPr lang="en-US" altLang="zh-CN" sz="2800" dirty="0">
                <a:latin typeface="宋体" pitchFamily="2" charset="-122"/>
                <a:ea typeface="宋体" pitchFamily="2" charset="-122"/>
              </a:rPr>
              <a:t>【</a:t>
            </a:r>
            <a:r>
              <a:rPr lang="zh-CN" altLang="en-US" sz="2800" dirty="0">
                <a:latin typeface="宋体" pitchFamily="2" charset="-122"/>
                <a:ea typeface="宋体" pitchFamily="2" charset="-122"/>
              </a:rPr>
              <a:t>草绘</a:t>
            </a:r>
            <a:r>
              <a:rPr lang="en-US" altLang="zh-CN" sz="2800" dirty="0">
                <a:latin typeface="宋体" pitchFamily="2" charset="-122"/>
                <a:ea typeface="宋体" pitchFamily="2" charset="-122"/>
              </a:rPr>
              <a:t>】</a:t>
            </a:r>
            <a:r>
              <a:rPr lang="zh-CN" altLang="en-US" sz="2800" dirty="0">
                <a:latin typeface="宋体" pitchFamily="2" charset="-122"/>
                <a:ea typeface="宋体" pitchFamily="2" charset="-122"/>
              </a:rPr>
              <a:t>选项卡的</a:t>
            </a:r>
            <a:r>
              <a:rPr lang="en-US" altLang="zh-CN" sz="2800" dirty="0">
                <a:latin typeface="宋体" pitchFamily="2" charset="-122"/>
                <a:ea typeface="宋体" pitchFamily="2" charset="-122"/>
              </a:rPr>
              <a:t>【</a:t>
            </a:r>
            <a:r>
              <a:rPr lang="zh-CN" altLang="en-US" sz="2800" dirty="0">
                <a:latin typeface="宋体" pitchFamily="2" charset="-122"/>
                <a:ea typeface="宋体" pitchFamily="2" charset="-122"/>
              </a:rPr>
              <a:t>草绘</a:t>
            </a:r>
            <a:r>
              <a:rPr lang="en-US" altLang="zh-CN" sz="2800" dirty="0">
                <a:latin typeface="宋体" pitchFamily="2" charset="-122"/>
                <a:ea typeface="宋体" pitchFamily="2" charset="-122"/>
              </a:rPr>
              <a:t>】</a:t>
            </a:r>
            <a:r>
              <a:rPr lang="zh-CN" altLang="en-US" sz="2800" dirty="0">
                <a:latin typeface="宋体" pitchFamily="2" charset="-122"/>
                <a:ea typeface="宋体" pitchFamily="2" charset="-122"/>
              </a:rPr>
              <a:t>组中单击“坐标系”按钮      ，接着在图形窗口中选择一点即可。</a:t>
            </a:r>
            <a:endParaRPr lang="en-US" altLang="zh-CN" sz="2800" dirty="0">
              <a:latin typeface="宋体" pitchFamily="2" charset="-122"/>
              <a:ea typeface="宋体" pitchFamily="2" charset="-122"/>
            </a:endParaRPr>
          </a:p>
          <a:p>
            <a:endParaRPr lang="en-US" altLang="zh-CN" sz="2800" dirty="0">
              <a:latin typeface="宋体" pitchFamily="2" charset="-122"/>
              <a:ea typeface="宋体" pitchFamily="2" charset="-122"/>
            </a:endParaRPr>
          </a:p>
          <a:p>
            <a:r>
              <a:rPr lang="zh-CN" altLang="en-US" sz="2800" dirty="0">
                <a:latin typeface="宋体" pitchFamily="2" charset="-122"/>
                <a:ea typeface="宋体" pitchFamily="2" charset="-122"/>
              </a:rPr>
              <a:t>要创建基准坐标系，则在功能区的</a:t>
            </a:r>
            <a:r>
              <a:rPr lang="en-US" altLang="zh-CN" sz="2800" dirty="0">
                <a:latin typeface="宋体" pitchFamily="2" charset="-122"/>
                <a:ea typeface="宋体" pitchFamily="2" charset="-122"/>
              </a:rPr>
              <a:t>【</a:t>
            </a:r>
            <a:r>
              <a:rPr lang="zh-CN" altLang="en-US" sz="2800" dirty="0">
                <a:latin typeface="宋体" pitchFamily="2" charset="-122"/>
                <a:ea typeface="宋体" pitchFamily="2" charset="-122"/>
              </a:rPr>
              <a:t>草绘</a:t>
            </a:r>
            <a:r>
              <a:rPr lang="en-US" altLang="zh-CN" sz="2800" dirty="0">
                <a:latin typeface="宋体" pitchFamily="2" charset="-122"/>
                <a:ea typeface="宋体" pitchFamily="2" charset="-122"/>
              </a:rPr>
              <a:t>】</a:t>
            </a:r>
            <a:r>
              <a:rPr lang="zh-CN" altLang="en-US" sz="2800" dirty="0">
                <a:latin typeface="宋体" pitchFamily="2" charset="-122"/>
                <a:ea typeface="宋体" pitchFamily="2" charset="-122"/>
              </a:rPr>
              <a:t>选项卡的</a:t>
            </a:r>
            <a:r>
              <a:rPr lang="en-US" altLang="zh-CN" sz="2800" dirty="0">
                <a:latin typeface="宋体" pitchFamily="2" charset="-122"/>
                <a:ea typeface="宋体" pitchFamily="2" charset="-122"/>
              </a:rPr>
              <a:t>【</a:t>
            </a:r>
            <a:r>
              <a:rPr lang="zh-CN" altLang="en-US" sz="2800" dirty="0">
                <a:latin typeface="宋体" pitchFamily="2" charset="-122"/>
                <a:ea typeface="宋体" pitchFamily="2" charset="-122"/>
              </a:rPr>
              <a:t>基准</a:t>
            </a:r>
            <a:r>
              <a:rPr lang="en-US" altLang="zh-CN" sz="2800" dirty="0">
                <a:latin typeface="宋体" pitchFamily="2" charset="-122"/>
                <a:ea typeface="宋体" pitchFamily="2" charset="-122"/>
              </a:rPr>
              <a:t>】</a:t>
            </a:r>
            <a:r>
              <a:rPr lang="zh-CN" altLang="en-US" sz="2800" dirty="0">
                <a:latin typeface="宋体" pitchFamily="2" charset="-122"/>
                <a:ea typeface="宋体" pitchFamily="2" charset="-122"/>
              </a:rPr>
              <a:t>组中单击“坐标系”按钮      ，接着为坐标系选择中心点，即可创建一个基准坐标系。</a:t>
            </a:r>
          </a:p>
        </p:txBody>
      </p:sp>
      <p:pic>
        <p:nvPicPr>
          <p:cNvPr id="13" name="图片 12"/>
          <p:cNvPicPr>
            <a:picLocks noChangeAspect="1"/>
          </p:cNvPicPr>
          <p:nvPr/>
        </p:nvPicPr>
        <p:blipFill>
          <a:blip r:embed="rId3"/>
          <a:stretch>
            <a:fillRect/>
          </a:stretch>
        </p:blipFill>
        <p:spPr>
          <a:xfrm>
            <a:off x="9056373" y="2692359"/>
            <a:ext cx="1062000" cy="360000"/>
          </a:xfrm>
          <a:prstGeom prst="rect">
            <a:avLst/>
          </a:prstGeom>
        </p:spPr>
      </p:pic>
      <p:pic>
        <p:nvPicPr>
          <p:cNvPr id="14" name="图片 13"/>
          <p:cNvPicPr>
            <a:picLocks noChangeAspect="1"/>
          </p:cNvPicPr>
          <p:nvPr/>
        </p:nvPicPr>
        <p:blipFill>
          <a:blip r:embed="rId4"/>
          <a:stretch>
            <a:fillRect/>
          </a:stretch>
        </p:blipFill>
        <p:spPr>
          <a:xfrm>
            <a:off x="9056373" y="4732779"/>
            <a:ext cx="958800" cy="360000"/>
          </a:xfrm>
          <a:prstGeom prst="rect">
            <a:avLst/>
          </a:prstGeom>
        </p:spPr>
      </p:pic>
    </p:spTree>
    <p:extLst>
      <p:ext uri="{BB962C8B-B14F-4D97-AF65-F5344CB8AC3E}">
        <p14:creationId xmlns:p14="http://schemas.microsoft.com/office/powerpoint/2010/main" val="9649706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p:cNvSpPr txBox="1"/>
          <p:nvPr/>
        </p:nvSpPr>
        <p:spPr>
          <a:xfrm>
            <a:off x="1854710" y="4929172"/>
            <a:ext cx="1696297" cy="369332"/>
          </a:xfrm>
          <a:prstGeom prst="rect">
            <a:avLst/>
          </a:prstGeom>
          <a:noFill/>
        </p:spPr>
        <p:txBody>
          <a:bodyPr wrap="none" rtlCol="0">
            <a:spAutoFit/>
          </a:bodyPr>
          <a:lstStyle/>
          <a:p>
            <a:pPr algn="ctr"/>
            <a:r>
              <a:rPr lang="zh-CN" altLang="en-US" dirty="0"/>
              <a:t>图</a:t>
            </a:r>
            <a:r>
              <a:rPr lang="en-US" altLang="zh-CN" dirty="0"/>
              <a:t>2-6 </a:t>
            </a:r>
            <a:r>
              <a:rPr lang="zh-CN" altLang="en-US" dirty="0"/>
              <a:t>绘制线链</a:t>
            </a:r>
          </a:p>
        </p:txBody>
      </p:sp>
      <p:sp>
        <p:nvSpPr>
          <p:cNvPr id="7" name="TextBox 6"/>
          <p:cNvSpPr txBox="1"/>
          <p:nvPr/>
        </p:nvSpPr>
        <p:spPr>
          <a:xfrm>
            <a:off x="457202" y="551334"/>
            <a:ext cx="4921622" cy="738664"/>
          </a:xfrm>
          <a:prstGeom prst="rect">
            <a:avLst/>
          </a:prstGeom>
          <a:noFill/>
        </p:spPr>
        <p:txBody>
          <a:bodyPr wrap="square" rtlCol="0">
            <a:spAutoFit/>
          </a:bodyPr>
          <a:lstStyle/>
          <a:p>
            <a:pPr>
              <a:lnSpc>
                <a:spcPct val="150000"/>
              </a:lnSpc>
            </a:pPr>
            <a:r>
              <a:rPr lang="en-US" altLang="zh-CN" sz="2800" b="1" dirty="0">
                <a:latin typeface="Times New Roman" pitchFamily="18" charset="0"/>
                <a:ea typeface="宋体" pitchFamily="2" charset="-122"/>
              </a:rPr>
              <a:t>2.2.3</a:t>
            </a:r>
            <a:r>
              <a:rPr lang="zh-CN" altLang="en-US" sz="2800" b="1" dirty="0">
                <a:latin typeface="Times New Roman" pitchFamily="18" charset="0"/>
                <a:ea typeface="宋体" pitchFamily="2" charset="-122"/>
              </a:rPr>
              <a:t>创建直线</a:t>
            </a:r>
          </a:p>
        </p:txBody>
      </p:sp>
      <p:pic>
        <p:nvPicPr>
          <p:cNvPr id="10" name="图片 9"/>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53189" y="2203450"/>
            <a:ext cx="4529647" cy="2160000"/>
          </a:xfrm>
          <a:prstGeom prst="rect">
            <a:avLst/>
          </a:prstGeom>
        </p:spPr>
      </p:pic>
      <p:pic>
        <p:nvPicPr>
          <p:cNvPr id="15" name="图片 1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676557" y="2203450"/>
            <a:ext cx="3703765" cy="2160000"/>
          </a:xfrm>
          <a:prstGeom prst="rect">
            <a:avLst/>
          </a:prstGeom>
        </p:spPr>
      </p:pic>
      <p:sp>
        <p:nvSpPr>
          <p:cNvPr id="16" name="TextBox 15"/>
          <p:cNvSpPr txBox="1"/>
          <p:nvPr/>
        </p:nvSpPr>
        <p:spPr>
          <a:xfrm>
            <a:off x="6808098" y="4929172"/>
            <a:ext cx="3542958" cy="369332"/>
          </a:xfrm>
          <a:prstGeom prst="rect">
            <a:avLst/>
          </a:prstGeom>
          <a:noFill/>
        </p:spPr>
        <p:txBody>
          <a:bodyPr wrap="none" rtlCol="0">
            <a:spAutoFit/>
          </a:bodyPr>
          <a:lstStyle/>
          <a:p>
            <a:pPr algn="ctr"/>
            <a:r>
              <a:rPr lang="zh-CN" altLang="zh-CN" dirty="0"/>
              <a:t>图</a:t>
            </a:r>
            <a:r>
              <a:rPr lang="en-US" altLang="zh-CN" dirty="0"/>
              <a:t>2-7 </a:t>
            </a:r>
            <a:r>
              <a:rPr lang="zh-CN" altLang="zh-CN" dirty="0"/>
              <a:t>绘制与两个图元相切的线段</a:t>
            </a:r>
            <a:endParaRPr lang="zh-CN" altLang="en-US" dirty="0"/>
          </a:p>
        </p:txBody>
      </p:sp>
    </p:spTree>
    <p:extLst>
      <p:ext uri="{BB962C8B-B14F-4D97-AF65-F5344CB8AC3E}">
        <p14:creationId xmlns:p14="http://schemas.microsoft.com/office/powerpoint/2010/main" val="269907025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p:cNvSpPr txBox="1"/>
          <p:nvPr/>
        </p:nvSpPr>
        <p:spPr>
          <a:xfrm>
            <a:off x="1623877" y="3409661"/>
            <a:ext cx="2157963" cy="369332"/>
          </a:xfrm>
          <a:prstGeom prst="rect">
            <a:avLst/>
          </a:prstGeom>
          <a:noFill/>
        </p:spPr>
        <p:txBody>
          <a:bodyPr wrap="none" rtlCol="0">
            <a:spAutoFit/>
          </a:bodyPr>
          <a:lstStyle/>
          <a:p>
            <a:pPr algn="ctr"/>
            <a:r>
              <a:rPr lang="zh-CN" altLang="zh-CN" dirty="0"/>
              <a:t>图</a:t>
            </a:r>
            <a:r>
              <a:rPr lang="en-US" altLang="zh-CN" dirty="0"/>
              <a:t>2-8 </a:t>
            </a:r>
            <a:r>
              <a:rPr lang="zh-CN" altLang="zh-CN" dirty="0"/>
              <a:t>创建拐角矩形</a:t>
            </a:r>
            <a:endParaRPr lang="zh-CN" altLang="en-US" dirty="0"/>
          </a:p>
        </p:txBody>
      </p:sp>
      <p:sp>
        <p:nvSpPr>
          <p:cNvPr id="7" name="TextBox 6"/>
          <p:cNvSpPr txBox="1"/>
          <p:nvPr/>
        </p:nvSpPr>
        <p:spPr>
          <a:xfrm>
            <a:off x="457202" y="551334"/>
            <a:ext cx="2971798" cy="738664"/>
          </a:xfrm>
          <a:prstGeom prst="rect">
            <a:avLst/>
          </a:prstGeom>
          <a:noFill/>
        </p:spPr>
        <p:txBody>
          <a:bodyPr wrap="square" rtlCol="0">
            <a:spAutoFit/>
          </a:bodyPr>
          <a:lstStyle/>
          <a:p>
            <a:pPr>
              <a:lnSpc>
                <a:spcPct val="150000"/>
              </a:lnSpc>
            </a:pPr>
            <a:r>
              <a:rPr lang="en-US" altLang="zh-CN" sz="2800" b="1" dirty="0">
                <a:latin typeface="Times New Roman" pitchFamily="18" charset="0"/>
                <a:ea typeface="宋体" pitchFamily="2" charset="-122"/>
              </a:rPr>
              <a:t>2.2.4</a:t>
            </a:r>
            <a:r>
              <a:rPr lang="zh-CN" altLang="en-US" sz="2800" b="1" dirty="0">
                <a:latin typeface="Times New Roman" pitchFamily="18" charset="0"/>
                <a:ea typeface="宋体" pitchFamily="2" charset="-122"/>
              </a:rPr>
              <a:t>创建矩形</a:t>
            </a:r>
          </a:p>
        </p:txBody>
      </p:sp>
      <p:sp>
        <p:nvSpPr>
          <p:cNvPr id="16" name="TextBox 15"/>
          <p:cNvSpPr txBox="1"/>
          <p:nvPr/>
        </p:nvSpPr>
        <p:spPr>
          <a:xfrm>
            <a:off x="7817716" y="3409661"/>
            <a:ext cx="1927131" cy="369332"/>
          </a:xfrm>
          <a:prstGeom prst="rect">
            <a:avLst/>
          </a:prstGeom>
          <a:noFill/>
        </p:spPr>
        <p:txBody>
          <a:bodyPr wrap="none" rtlCol="0">
            <a:spAutoFit/>
          </a:bodyPr>
          <a:lstStyle/>
          <a:p>
            <a:pPr algn="ctr"/>
            <a:r>
              <a:rPr lang="zh-CN" altLang="zh-CN" dirty="0"/>
              <a:t>图</a:t>
            </a:r>
            <a:r>
              <a:rPr lang="en-US" altLang="zh-CN" dirty="0"/>
              <a:t>2-9 </a:t>
            </a:r>
            <a:r>
              <a:rPr lang="zh-CN" altLang="zh-CN" dirty="0"/>
              <a:t>创建斜矩形</a:t>
            </a:r>
            <a:endParaRPr lang="zh-CN" altLang="en-US" dirty="0"/>
          </a:p>
        </p:txBody>
      </p:sp>
      <p:pic>
        <p:nvPicPr>
          <p:cNvPr id="9" name="图片 8"/>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17972" y="1097058"/>
            <a:ext cx="3341647" cy="2160000"/>
          </a:xfrm>
          <a:prstGeom prst="rect">
            <a:avLst/>
          </a:prstGeom>
        </p:spPr>
      </p:pic>
      <p:pic>
        <p:nvPicPr>
          <p:cNvPr id="11" name="图片 1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225765" y="1097058"/>
            <a:ext cx="2707624" cy="2160000"/>
          </a:xfrm>
          <a:prstGeom prst="rect">
            <a:avLst/>
          </a:prstGeom>
        </p:spPr>
      </p:pic>
      <p:pic>
        <p:nvPicPr>
          <p:cNvPr id="12" name="图片 11"/>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91070" y="3957396"/>
            <a:ext cx="3023576" cy="1980000"/>
          </a:xfrm>
          <a:prstGeom prst="rect">
            <a:avLst/>
          </a:prstGeom>
        </p:spPr>
      </p:pic>
      <p:pic>
        <p:nvPicPr>
          <p:cNvPr id="13" name="图片 12"/>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969032" y="3943949"/>
            <a:ext cx="3604765" cy="1980000"/>
          </a:xfrm>
          <a:prstGeom prst="rect">
            <a:avLst/>
          </a:prstGeom>
        </p:spPr>
      </p:pic>
      <p:sp>
        <p:nvSpPr>
          <p:cNvPr id="14" name="TextBox 13"/>
          <p:cNvSpPr txBox="1"/>
          <p:nvPr/>
        </p:nvSpPr>
        <p:spPr>
          <a:xfrm>
            <a:off x="1565366" y="5937396"/>
            <a:ext cx="2274983" cy="369332"/>
          </a:xfrm>
          <a:prstGeom prst="rect">
            <a:avLst/>
          </a:prstGeom>
          <a:noFill/>
        </p:spPr>
        <p:txBody>
          <a:bodyPr wrap="none" rtlCol="0">
            <a:spAutoFit/>
          </a:bodyPr>
          <a:lstStyle/>
          <a:p>
            <a:pPr algn="ctr"/>
            <a:r>
              <a:rPr lang="zh-CN" altLang="zh-CN" dirty="0"/>
              <a:t>图</a:t>
            </a:r>
            <a:r>
              <a:rPr lang="en-US" altLang="zh-CN" dirty="0"/>
              <a:t>2-10 </a:t>
            </a:r>
            <a:r>
              <a:rPr lang="zh-CN" altLang="zh-CN" dirty="0"/>
              <a:t>创建中心矩形</a:t>
            </a:r>
            <a:endParaRPr lang="zh-CN" altLang="en-US" dirty="0"/>
          </a:p>
        </p:txBody>
      </p:sp>
      <p:sp>
        <p:nvSpPr>
          <p:cNvPr id="17" name="TextBox 16"/>
          <p:cNvSpPr txBox="1"/>
          <p:nvPr/>
        </p:nvSpPr>
        <p:spPr>
          <a:xfrm>
            <a:off x="7652976" y="5937396"/>
            <a:ext cx="2505814" cy="369332"/>
          </a:xfrm>
          <a:prstGeom prst="rect">
            <a:avLst/>
          </a:prstGeom>
          <a:noFill/>
        </p:spPr>
        <p:txBody>
          <a:bodyPr wrap="none" rtlCol="0">
            <a:spAutoFit/>
          </a:bodyPr>
          <a:lstStyle/>
          <a:p>
            <a:pPr algn="ctr"/>
            <a:r>
              <a:rPr lang="zh-CN" altLang="zh-CN" dirty="0"/>
              <a:t>图</a:t>
            </a:r>
            <a:r>
              <a:rPr lang="en-US" altLang="zh-CN" dirty="0"/>
              <a:t>2-11 </a:t>
            </a:r>
            <a:r>
              <a:rPr lang="zh-CN" altLang="zh-CN" dirty="0"/>
              <a:t>创建平行四边形</a:t>
            </a:r>
            <a:endParaRPr lang="zh-CN" altLang="en-US" dirty="0"/>
          </a:p>
        </p:txBody>
      </p:sp>
    </p:spTree>
    <p:extLst>
      <p:ext uri="{BB962C8B-B14F-4D97-AF65-F5344CB8AC3E}">
        <p14:creationId xmlns:p14="http://schemas.microsoft.com/office/powerpoint/2010/main" val="310361611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p:cNvSpPr txBox="1"/>
          <p:nvPr/>
        </p:nvSpPr>
        <p:spPr>
          <a:xfrm>
            <a:off x="988286" y="3409661"/>
            <a:ext cx="3429145" cy="369332"/>
          </a:xfrm>
          <a:prstGeom prst="rect">
            <a:avLst/>
          </a:prstGeom>
          <a:noFill/>
        </p:spPr>
        <p:txBody>
          <a:bodyPr wrap="none" rtlCol="0">
            <a:spAutoFit/>
          </a:bodyPr>
          <a:lstStyle/>
          <a:p>
            <a:pPr algn="ctr"/>
            <a:r>
              <a:rPr lang="zh-CN" altLang="zh-CN" dirty="0"/>
              <a:t>图</a:t>
            </a:r>
            <a:r>
              <a:rPr lang="en-US" altLang="zh-CN" dirty="0"/>
              <a:t>2-12 </a:t>
            </a:r>
            <a:r>
              <a:rPr lang="zh-CN" altLang="zh-CN" dirty="0"/>
              <a:t>通过“圆心和点”创建圆</a:t>
            </a:r>
            <a:endParaRPr lang="zh-CN" altLang="en-US" dirty="0"/>
          </a:p>
        </p:txBody>
      </p:sp>
      <p:sp>
        <p:nvSpPr>
          <p:cNvPr id="7" name="TextBox 6"/>
          <p:cNvSpPr txBox="1"/>
          <p:nvPr/>
        </p:nvSpPr>
        <p:spPr>
          <a:xfrm>
            <a:off x="457202" y="551334"/>
            <a:ext cx="2689410" cy="738664"/>
          </a:xfrm>
          <a:prstGeom prst="rect">
            <a:avLst/>
          </a:prstGeom>
          <a:noFill/>
        </p:spPr>
        <p:txBody>
          <a:bodyPr wrap="square" rtlCol="0">
            <a:spAutoFit/>
          </a:bodyPr>
          <a:lstStyle/>
          <a:p>
            <a:pPr>
              <a:lnSpc>
                <a:spcPct val="150000"/>
              </a:lnSpc>
            </a:pPr>
            <a:r>
              <a:rPr lang="en-US" altLang="zh-CN" sz="2800" b="1" dirty="0">
                <a:latin typeface="Times New Roman" pitchFamily="18" charset="0"/>
                <a:ea typeface="宋体" pitchFamily="2" charset="-122"/>
              </a:rPr>
              <a:t>2.2.5</a:t>
            </a:r>
            <a:r>
              <a:rPr lang="zh-CN" altLang="en-US" sz="2800" b="1" dirty="0">
                <a:latin typeface="Times New Roman" pitchFamily="18" charset="0"/>
                <a:ea typeface="宋体" pitchFamily="2" charset="-122"/>
              </a:rPr>
              <a:t>创建圆</a:t>
            </a:r>
          </a:p>
        </p:txBody>
      </p:sp>
      <p:sp>
        <p:nvSpPr>
          <p:cNvPr id="16" name="TextBox 15"/>
          <p:cNvSpPr txBox="1"/>
          <p:nvPr/>
        </p:nvSpPr>
        <p:spPr>
          <a:xfrm>
            <a:off x="7826441" y="3409661"/>
            <a:ext cx="2044150" cy="369332"/>
          </a:xfrm>
          <a:prstGeom prst="rect">
            <a:avLst/>
          </a:prstGeom>
          <a:noFill/>
        </p:spPr>
        <p:txBody>
          <a:bodyPr wrap="none" rtlCol="0">
            <a:spAutoFit/>
          </a:bodyPr>
          <a:lstStyle/>
          <a:p>
            <a:pPr algn="ctr"/>
            <a:r>
              <a:rPr lang="zh-CN" altLang="zh-CN" dirty="0"/>
              <a:t>图</a:t>
            </a:r>
            <a:r>
              <a:rPr lang="en-US" altLang="zh-CN" dirty="0"/>
              <a:t>2-13 </a:t>
            </a:r>
            <a:r>
              <a:rPr lang="zh-CN" altLang="zh-CN" dirty="0"/>
              <a:t>绘制同心圆</a:t>
            </a:r>
            <a:endParaRPr lang="zh-CN" altLang="en-US" dirty="0"/>
          </a:p>
        </p:txBody>
      </p:sp>
      <p:sp>
        <p:nvSpPr>
          <p:cNvPr id="14" name="TextBox 13"/>
          <p:cNvSpPr txBox="1"/>
          <p:nvPr/>
        </p:nvSpPr>
        <p:spPr>
          <a:xfrm>
            <a:off x="1316901" y="5937396"/>
            <a:ext cx="2771913" cy="369332"/>
          </a:xfrm>
          <a:prstGeom prst="rect">
            <a:avLst/>
          </a:prstGeom>
          <a:noFill/>
        </p:spPr>
        <p:txBody>
          <a:bodyPr wrap="none" rtlCol="0">
            <a:spAutoFit/>
          </a:bodyPr>
          <a:lstStyle/>
          <a:p>
            <a:pPr algn="ctr"/>
            <a:r>
              <a:rPr lang="zh-CN" altLang="zh-CN" dirty="0"/>
              <a:t>图</a:t>
            </a:r>
            <a:r>
              <a:rPr lang="en-US" altLang="zh-CN" dirty="0"/>
              <a:t>2-14 </a:t>
            </a:r>
            <a:r>
              <a:rPr lang="zh-CN" altLang="zh-CN" dirty="0"/>
              <a:t>通过“</a:t>
            </a:r>
            <a:r>
              <a:rPr lang="en-US" altLang="zh-CN" dirty="0"/>
              <a:t>3 </a:t>
            </a:r>
            <a:r>
              <a:rPr lang="zh-CN" altLang="zh-CN" dirty="0"/>
              <a:t>点</a:t>
            </a:r>
            <a:r>
              <a:rPr lang="en-US" altLang="zh-CN" dirty="0"/>
              <a:t>”</a:t>
            </a:r>
            <a:r>
              <a:rPr lang="zh-CN" altLang="zh-CN" dirty="0"/>
              <a:t>创建圆</a:t>
            </a:r>
            <a:endParaRPr lang="zh-CN" altLang="en-US" dirty="0"/>
          </a:p>
        </p:txBody>
      </p:sp>
      <p:sp>
        <p:nvSpPr>
          <p:cNvPr id="17" name="TextBox 16"/>
          <p:cNvSpPr txBox="1"/>
          <p:nvPr/>
        </p:nvSpPr>
        <p:spPr>
          <a:xfrm>
            <a:off x="7221767" y="5937396"/>
            <a:ext cx="3368231" cy="369332"/>
          </a:xfrm>
          <a:prstGeom prst="rect">
            <a:avLst/>
          </a:prstGeom>
          <a:noFill/>
        </p:spPr>
        <p:txBody>
          <a:bodyPr wrap="none" rtlCol="0">
            <a:spAutoFit/>
          </a:bodyPr>
          <a:lstStyle/>
          <a:p>
            <a:pPr algn="ctr"/>
            <a:r>
              <a:rPr lang="zh-CN" altLang="zh-CN" dirty="0"/>
              <a:t>图</a:t>
            </a:r>
            <a:r>
              <a:rPr lang="en-US" altLang="zh-CN" dirty="0"/>
              <a:t>2-15 </a:t>
            </a:r>
            <a:r>
              <a:rPr lang="zh-CN" altLang="zh-CN" dirty="0"/>
              <a:t>绘制与</a:t>
            </a:r>
            <a:r>
              <a:rPr lang="en-US" altLang="zh-CN" dirty="0"/>
              <a:t>3 </a:t>
            </a:r>
            <a:r>
              <a:rPr lang="zh-CN" altLang="zh-CN" dirty="0"/>
              <a:t>个图元相切的圆</a:t>
            </a:r>
            <a:endParaRPr lang="zh-CN" altLang="en-US" dirty="0"/>
          </a:p>
        </p:txBody>
      </p:sp>
      <p:pic>
        <p:nvPicPr>
          <p:cNvPr id="15" name="图片 1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686702" y="1208180"/>
            <a:ext cx="2153647" cy="2160000"/>
          </a:xfrm>
          <a:prstGeom prst="rect">
            <a:avLst/>
          </a:prstGeom>
        </p:spPr>
      </p:pic>
      <p:pic>
        <p:nvPicPr>
          <p:cNvPr id="18" name="图片 17"/>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808199" y="1249661"/>
            <a:ext cx="2102824" cy="2160000"/>
          </a:xfrm>
          <a:prstGeom prst="rect">
            <a:avLst/>
          </a:prstGeom>
        </p:spPr>
      </p:pic>
      <p:pic>
        <p:nvPicPr>
          <p:cNvPr id="19" name="图片 18"/>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686702" y="3853949"/>
            <a:ext cx="2106930" cy="2160000"/>
          </a:xfrm>
          <a:prstGeom prst="rect">
            <a:avLst/>
          </a:prstGeom>
        </p:spPr>
      </p:pic>
      <p:pic>
        <p:nvPicPr>
          <p:cNvPr id="20" name="图片 19"/>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7429459" y="3777396"/>
            <a:ext cx="2952847" cy="2160000"/>
          </a:xfrm>
          <a:prstGeom prst="rect">
            <a:avLst/>
          </a:prstGeom>
        </p:spPr>
      </p:pic>
    </p:spTree>
    <p:extLst>
      <p:ext uri="{BB962C8B-B14F-4D97-AF65-F5344CB8AC3E}">
        <p14:creationId xmlns:p14="http://schemas.microsoft.com/office/powerpoint/2010/main" val="409279713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p:cNvSpPr txBox="1"/>
          <p:nvPr/>
        </p:nvSpPr>
        <p:spPr>
          <a:xfrm>
            <a:off x="1364993" y="4203034"/>
            <a:ext cx="2675732" cy="369332"/>
          </a:xfrm>
          <a:prstGeom prst="rect">
            <a:avLst/>
          </a:prstGeom>
          <a:noFill/>
        </p:spPr>
        <p:txBody>
          <a:bodyPr wrap="none" rtlCol="0">
            <a:spAutoFit/>
          </a:bodyPr>
          <a:lstStyle/>
          <a:p>
            <a:pPr algn="ctr"/>
            <a:r>
              <a:rPr lang="zh-CN" altLang="zh-CN" dirty="0"/>
              <a:t>图</a:t>
            </a:r>
            <a:r>
              <a:rPr lang="en-US" altLang="zh-CN" dirty="0"/>
              <a:t>2-16 </a:t>
            </a:r>
            <a:r>
              <a:rPr lang="zh-CN" altLang="zh-CN" dirty="0"/>
              <a:t>使用</a:t>
            </a:r>
            <a:r>
              <a:rPr lang="en-US" altLang="zh-CN" dirty="0"/>
              <a:t>3 </a:t>
            </a:r>
            <a:r>
              <a:rPr lang="zh-CN" altLang="zh-CN" dirty="0"/>
              <a:t>点创建圆弧</a:t>
            </a:r>
            <a:endParaRPr lang="zh-CN" altLang="en-US" dirty="0"/>
          </a:p>
        </p:txBody>
      </p:sp>
      <p:sp>
        <p:nvSpPr>
          <p:cNvPr id="7" name="TextBox 6"/>
          <p:cNvSpPr txBox="1"/>
          <p:nvPr/>
        </p:nvSpPr>
        <p:spPr>
          <a:xfrm>
            <a:off x="457202" y="551334"/>
            <a:ext cx="2608727" cy="738664"/>
          </a:xfrm>
          <a:prstGeom prst="rect">
            <a:avLst/>
          </a:prstGeom>
          <a:noFill/>
        </p:spPr>
        <p:txBody>
          <a:bodyPr wrap="square" rtlCol="0">
            <a:spAutoFit/>
          </a:bodyPr>
          <a:lstStyle/>
          <a:p>
            <a:pPr>
              <a:lnSpc>
                <a:spcPct val="150000"/>
              </a:lnSpc>
            </a:pPr>
            <a:r>
              <a:rPr lang="en-US" altLang="zh-CN" sz="2800" b="1" dirty="0">
                <a:latin typeface="Times New Roman" pitchFamily="18" charset="0"/>
                <a:ea typeface="宋体" pitchFamily="2" charset="-122"/>
              </a:rPr>
              <a:t>2.2.6</a:t>
            </a:r>
            <a:r>
              <a:rPr lang="zh-CN" altLang="en-US" sz="2800" b="1" dirty="0">
                <a:latin typeface="Times New Roman" pitchFamily="18" charset="0"/>
                <a:ea typeface="宋体" pitchFamily="2" charset="-122"/>
              </a:rPr>
              <a:t>创建圆弧</a:t>
            </a:r>
          </a:p>
        </p:txBody>
      </p:sp>
      <p:sp>
        <p:nvSpPr>
          <p:cNvPr id="16" name="TextBox 15"/>
          <p:cNvSpPr txBox="1"/>
          <p:nvPr/>
        </p:nvSpPr>
        <p:spPr>
          <a:xfrm>
            <a:off x="6927772" y="4203034"/>
            <a:ext cx="4352475" cy="369332"/>
          </a:xfrm>
          <a:prstGeom prst="rect">
            <a:avLst/>
          </a:prstGeom>
          <a:noFill/>
        </p:spPr>
        <p:txBody>
          <a:bodyPr wrap="none" rtlCol="0">
            <a:spAutoFit/>
          </a:bodyPr>
          <a:lstStyle/>
          <a:p>
            <a:pPr algn="ctr"/>
            <a:r>
              <a:rPr lang="zh-CN" altLang="zh-CN" dirty="0"/>
              <a:t>图</a:t>
            </a:r>
            <a:r>
              <a:rPr lang="en-US" altLang="zh-CN" dirty="0"/>
              <a:t>2-17 </a:t>
            </a:r>
            <a:r>
              <a:rPr lang="zh-CN" altLang="zh-CN" dirty="0"/>
              <a:t>创建一条在端点与图元相切的圆弧</a:t>
            </a:r>
            <a:endParaRPr lang="zh-CN" altLang="en-US" dirty="0"/>
          </a:p>
        </p:txBody>
      </p:sp>
      <p:pic>
        <p:nvPicPr>
          <p:cNvPr id="11" name="图片 10"/>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37983" y="1907424"/>
            <a:ext cx="2830871" cy="2160000"/>
          </a:xfrm>
          <a:prstGeom prst="rect">
            <a:avLst/>
          </a:prstGeom>
        </p:spPr>
      </p:pic>
      <p:pic>
        <p:nvPicPr>
          <p:cNvPr id="12" name="图片 11"/>
          <p:cNvPicPr>
            <a:picLocks noChangeAspect="1"/>
          </p:cNvPicPr>
          <p:nvPr/>
        </p:nvPicPr>
        <p:blipFill rotWithShape="1">
          <a:blip r:embed="rId3" cstate="print">
            <a:extLst>
              <a:ext uri="{28A0092B-C50C-407E-A947-70E740481C1C}">
                <a14:useLocalDpi xmlns:a14="http://schemas.microsoft.com/office/drawing/2010/main" val="0"/>
              </a:ext>
            </a:extLst>
          </a:blip>
          <a:srcRect t="4724" b="3937"/>
          <a:stretch/>
        </p:blipFill>
        <p:spPr bwMode="auto">
          <a:xfrm>
            <a:off x="7478327" y="1934318"/>
            <a:ext cx="3111671" cy="2160000"/>
          </a:xfrm>
          <a:prstGeom prst="rect">
            <a:avLst/>
          </a:prstGeom>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63308915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p:cNvSpPr txBox="1"/>
          <p:nvPr/>
        </p:nvSpPr>
        <p:spPr>
          <a:xfrm>
            <a:off x="4381428" y="3403198"/>
            <a:ext cx="3429145" cy="369332"/>
          </a:xfrm>
          <a:prstGeom prst="rect">
            <a:avLst/>
          </a:prstGeom>
          <a:noFill/>
        </p:spPr>
        <p:txBody>
          <a:bodyPr wrap="none" rtlCol="0">
            <a:spAutoFit/>
          </a:bodyPr>
          <a:lstStyle/>
          <a:p>
            <a:pPr algn="ctr"/>
            <a:r>
              <a:rPr lang="zh-CN" altLang="zh-CN" dirty="0"/>
              <a:t>图</a:t>
            </a:r>
            <a:r>
              <a:rPr lang="en-US" altLang="zh-CN" dirty="0"/>
              <a:t>2-18 </a:t>
            </a:r>
            <a:r>
              <a:rPr lang="zh-CN" altLang="zh-CN" dirty="0"/>
              <a:t>使用圆心和端点创建圆弧</a:t>
            </a:r>
            <a:endParaRPr lang="zh-CN" altLang="en-US" dirty="0"/>
          </a:p>
        </p:txBody>
      </p:sp>
      <p:sp>
        <p:nvSpPr>
          <p:cNvPr id="7" name="TextBox 6"/>
          <p:cNvSpPr txBox="1"/>
          <p:nvPr/>
        </p:nvSpPr>
        <p:spPr>
          <a:xfrm>
            <a:off x="457202" y="484099"/>
            <a:ext cx="1761563" cy="656846"/>
          </a:xfrm>
          <a:prstGeom prst="rect">
            <a:avLst/>
          </a:prstGeom>
          <a:noFill/>
        </p:spPr>
        <p:txBody>
          <a:bodyPr wrap="square" rtlCol="0">
            <a:spAutoFit/>
          </a:bodyPr>
          <a:lstStyle/>
          <a:p>
            <a:pPr>
              <a:lnSpc>
                <a:spcPct val="150000"/>
              </a:lnSpc>
            </a:pPr>
            <a:r>
              <a:rPr lang="zh-CN" altLang="en-US" sz="2800" b="1" dirty="0">
                <a:latin typeface="Times New Roman" pitchFamily="18" charset="0"/>
                <a:ea typeface="宋体" pitchFamily="2" charset="-122"/>
              </a:rPr>
              <a:t>创建圆弧</a:t>
            </a:r>
          </a:p>
        </p:txBody>
      </p:sp>
      <p:sp>
        <p:nvSpPr>
          <p:cNvPr id="16" name="TextBox 15"/>
          <p:cNvSpPr txBox="1"/>
          <p:nvPr/>
        </p:nvSpPr>
        <p:spPr>
          <a:xfrm>
            <a:off x="4181053" y="6081296"/>
            <a:ext cx="3829895" cy="369332"/>
          </a:xfrm>
          <a:prstGeom prst="rect">
            <a:avLst/>
          </a:prstGeom>
          <a:noFill/>
        </p:spPr>
        <p:txBody>
          <a:bodyPr wrap="none" rtlCol="0">
            <a:spAutoFit/>
          </a:bodyPr>
          <a:lstStyle/>
          <a:p>
            <a:pPr algn="ctr"/>
            <a:r>
              <a:rPr lang="zh-CN" altLang="zh-CN" dirty="0"/>
              <a:t>图</a:t>
            </a:r>
            <a:r>
              <a:rPr lang="en-US" altLang="zh-CN" dirty="0"/>
              <a:t>2-19 </a:t>
            </a:r>
            <a:r>
              <a:rPr lang="zh-CN" altLang="zh-CN" dirty="0"/>
              <a:t>创建与</a:t>
            </a:r>
            <a:r>
              <a:rPr lang="en-US" altLang="zh-CN" dirty="0"/>
              <a:t>3 </a:t>
            </a:r>
            <a:r>
              <a:rPr lang="zh-CN" altLang="zh-CN" dirty="0"/>
              <a:t>个图元均相切的圆弧</a:t>
            </a:r>
            <a:endParaRPr lang="zh-CN" altLang="en-US" dirty="0"/>
          </a:p>
        </p:txBody>
      </p:sp>
      <p:pic>
        <p:nvPicPr>
          <p:cNvPr id="9" name="图片 8"/>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696765" y="1188622"/>
            <a:ext cx="6798470" cy="2160000"/>
          </a:xfrm>
          <a:prstGeom prst="rect">
            <a:avLst/>
          </a:prstGeom>
        </p:spPr>
      </p:pic>
      <p:pic>
        <p:nvPicPr>
          <p:cNvPr id="10" name="图片 9"/>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087207" y="4101296"/>
            <a:ext cx="8017586" cy="1980000"/>
          </a:xfrm>
          <a:prstGeom prst="rect">
            <a:avLst/>
          </a:prstGeom>
        </p:spPr>
      </p:pic>
    </p:spTree>
    <p:extLst>
      <p:ext uri="{BB962C8B-B14F-4D97-AF65-F5344CB8AC3E}">
        <p14:creationId xmlns:p14="http://schemas.microsoft.com/office/powerpoint/2010/main" val="411251062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p:cNvSpPr txBox="1"/>
          <p:nvPr/>
        </p:nvSpPr>
        <p:spPr>
          <a:xfrm>
            <a:off x="1815255" y="4391292"/>
            <a:ext cx="2044150" cy="369332"/>
          </a:xfrm>
          <a:prstGeom prst="rect">
            <a:avLst/>
          </a:prstGeom>
          <a:noFill/>
        </p:spPr>
        <p:txBody>
          <a:bodyPr wrap="none" rtlCol="0">
            <a:spAutoFit/>
          </a:bodyPr>
          <a:lstStyle/>
          <a:p>
            <a:pPr algn="ctr"/>
            <a:r>
              <a:rPr lang="zh-CN" altLang="zh-CN" dirty="0"/>
              <a:t>图</a:t>
            </a:r>
            <a:r>
              <a:rPr lang="en-US" altLang="zh-CN" dirty="0"/>
              <a:t>2-20 </a:t>
            </a:r>
            <a:r>
              <a:rPr lang="zh-CN" altLang="zh-CN" dirty="0"/>
              <a:t>创建同心弧</a:t>
            </a:r>
            <a:endParaRPr lang="zh-CN" altLang="en-US" dirty="0"/>
          </a:p>
        </p:txBody>
      </p:sp>
      <p:sp>
        <p:nvSpPr>
          <p:cNvPr id="7" name="TextBox 6"/>
          <p:cNvSpPr txBox="1"/>
          <p:nvPr/>
        </p:nvSpPr>
        <p:spPr>
          <a:xfrm>
            <a:off x="457202" y="551334"/>
            <a:ext cx="1761563" cy="656846"/>
          </a:xfrm>
          <a:prstGeom prst="rect">
            <a:avLst/>
          </a:prstGeom>
          <a:noFill/>
        </p:spPr>
        <p:txBody>
          <a:bodyPr wrap="square" rtlCol="0">
            <a:spAutoFit/>
          </a:bodyPr>
          <a:lstStyle/>
          <a:p>
            <a:pPr>
              <a:lnSpc>
                <a:spcPct val="150000"/>
              </a:lnSpc>
            </a:pPr>
            <a:r>
              <a:rPr lang="zh-CN" altLang="en-US" sz="2800" b="1" dirty="0">
                <a:latin typeface="Times New Roman" pitchFamily="18" charset="0"/>
                <a:ea typeface="宋体" pitchFamily="2" charset="-122"/>
              </a:rPr>
              <a:t>创建圆弧</a:t>
            </a:r>
          </a:p>
        </p:txBody>
      </p:sp>
      <p:sp>
        <p:nvSpPr>
          <p:cNvPr id="16" name="TextBox 15"/>
          <p:cNvSpPr txBox="1"/>
          <p:nvPr/>
        </p:nvSpPr>
        <p:spPr>
          <a:xfrm>
            <a:off x="7920570" y="4391292"/>
            <a:ext cx="2044150" cy="369332"/>
          </a:xfrm>
          <a:prstGeom prst="rect">
            <a:avLst/>
          </a:prstGeom>
          <a:noFill/>
        </p:spPr>
        <p:txBody>
          <a:bodyPr wrap="none" rtlCol="0">
            <a:spAutoFit/>
          </a:bodyPr>
          <a:lstStyle/>
          <a:p>
            <a:pPr algn="ctr"/>
            <a:r>
              <a:rPr lang="zh-CN" altLang="zh-CN" dirty="0"/>
              <a:t>图</a:t>
            </a:r>
            <a:r>
              <a:rPr lang="en-US" altLang="zh-CN" dirty="0"/>
              <a:t>2-21 </a:t>
            </a:r>
            <a:r>
              <a:rPr lang="zh-CN" altLang="zh-CN" dirty="0"/>
              <a:t>创建锥形弧</a:t>
            </a:r>
            <a:endParaRPr lang="zh-CN" altLang="en-US" dirty="0"/>
          </a:p>
        </p:txBody>
      </p:sp>
      <p:pic>
        <p:nvPicPr>
          <p:cNvPr id="9" name="图片 8"/>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49768" y="1934318"/>
            <a:ext cx="4899252" cy="2160000"/>
          </a:xfrm>
          <a:prstGeom prst="rect">
            <a:avLst/>
          </a:prstGeom>
        </p:spPr>
      </p:pic>
      <p:pic>
        <p:nvPicPr>
          <p:cNvPr id="10" name="图片 9"/>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095546" y="1948905"/>
            <a:ext cx="3464841" cy="2160000"/>
          </a:xfrm>
          <a:prstGeom prst="rect">
            <a:avLst/>
          </a:prstGeom>
        </p:spPr>
      </p:pic>
    </p:spTree>
    <p:extLst>
      <p:ext uri="{BB962C8B-B14F-4D97-AF65-F5344CB8AC3E}">
        <p14:creationId xmlns:p14="http://schemas.microsoft.com/office/powerpoint/2010/main" val="360592136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p:cNvSpPr txBox="1"/>
          <p:nvPr/>
        </p:nvSpPr>
        <p:spPr>
          <a:xfrm>
            <a:off x="1353590" y="5453605"/>
            <a:ext cx="2967480" cy="369332"/>
          </a:xfrm>
          <a:prstGeom prst="rect">
            <a:avLst/>
          </a:prstGeom>
          <a:noFill/>
        </p:spPr>
        <p:txBody>
          <a:bodyPr wrap="none" rtlCol="0">
            <a:spAutoFit/>
          </a:bodyPr>
          <a:lstStyle/>
          <a:p>
            <a:pPr algn="ctr"/>
            <a:r>
              <a:rPr lang="zh-CN" altLang="zh-CN" dirty="0"/>
              <a:t>图</a:t>
            </a:r>
            <a:r>
              <a:rPr lang="en-US" altLang="zh-CN" dirty="0"/>
              <a:t>2-22 </a:t>
            </a:r>
            <a:r>
              <a:rPr lang="zh-CN" altLang="zh-CN" dirty="0"/>
              <a:t>通过轴端点创建椭圆</a:t>
            </a:r>
            <a:endParaRPr lang="zh-CN" altLang="en-US" dirty="0"/>
          </a:p>
        </p:txBody>
      </p:sp>
      <p:sp>
        <p:nvSpPr>
          <p:cNvPr id="7" name="TextBox 6"/>
          <p:cNvSpPr txBox="1"/>
          <p:nvPr/>
        </p:nvSpPr>
        <p:spPr>
          <a:xfrm>
            <a:off x="457202" y="551334"/>
            <a:ext cx="2380128" cy="738664"/>
          </a:xfrm>
          <a:prstGeom prst="rect">
            <a:avLst/>
          </a:prstGeom>
          <a:noFill/>
        </p:spPr>
        <p:txBody>
          <a:bodyPr wrap="square" rtlCol="0">
            <a:spAutoFit/>
          </a:bodyPr>
          <a:lstStyle/>
          <a:p>
            <a:pPr>
              <a:lnSpc>
                <a:spcPct val="150000"/>
              </a:lnSpc>
            </a:pPr>
            <a:r>
              <a:rPr lang="en-US" altLang="zh-CN" sz="2800" b="1" dirty="0">
                <a:latin typeface="Times New Roman" pitchFamily="18" charset="0"/>
                <a:ea typeface="宋体" pitchFamily="2" charset="-122"/>
              </a:rPr>
              <a:t>2.2.7</a:t>
            </a:r>
            <a:r>
              <a:rPr lang="zh-CN" altLang="en-US" sz="2800" b="1" dirty="0">
                <a:latin typeface="Times New Roman" pitchFamily="18" charset="0"/>
                <a:ea typeface="宋体" pitchFamily="2" charset="-122"/>
              </a:rPr>
              <a:t>创建椭圆</a:t>
            </a:r>
          </a:p>
        </p:txBody>
      </p:sp>
      <p:sp>
        <p:nvSpPr>
          <p:cNvPr id="16" name="TextBox 15"/>
          <p:cNvSpPr txBox="1"/>
          <p:nvPr/>
        </p:nvSpPr>
        <p:spPr>
          <a:xfrm>
            <a:off x="6677442" y="5453605"/>
            <a:ext cx="4530407" cy="369332"/>
          </a:xfrm>
          <a:prstGeom prst="rect">
            <a:avLst/>
          </a:prstGeom>
          <a:noFill/>
        </p:spPr>
        <p:txBody>
          <a:bodyPr wrap="none" rtlCol="0">
            <a:spAutoFit/>
          </a:bodyPr>
          <a:lstStyle/>
          <a:p>
            <a:pPr algn="ctr"/>
            <a:r>
              <a:rPr lang="zh-CN" altLang="zh-CN" dirty="0"/>
              <a:t>图</a:t>
            </a:r>
            <a:r>
              <a:rPr lang="en-US" altLang="zh-CN" dirty="0"/>
              <a:t>2-23</a:t>
            </a:r>
            <a:r>
              <a:rPr lang="zh-CN" altLang="zh-CN" dirty="0"/>
              <a:t>通过椭圆中心和主轴的端点创建椭圆</a:t>
            </a:r>
            <a:endParaRPr lang="zh-CN" altLang="en-US" dirty="0"/>
          </a:p>
        </p:txBody>
      </p:sp>
      <p:pic>
        <p:nvPicPr>
          <p:cNvPr id="11" name="图片 10"/>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71357" y="1544324"/>
            <a:ext cx="3694001" cy="3600000"/>
          </a:xfrm>
          <a:prstGeom prst="rect">
            <a:avLst/>
          </a:prstGeom>
        </p:spPr>
      </p:pic>
      <p:pic>
        <p:nvPicPr>
          <p:cNvPr id="12" name="图片 1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391677" y="1571218"/>
            <a:ext cx="2720960" cy="3600000"/>
          </a:xfrm>
          <a:prstGeom prst="rect">
            <a:avLst/>
          </a:prstGeom>
        </p:spPr>
      </p:pic>
    </p:spTree>
    <p:extLst>
      <p:ext uri="{BB962C8B-B14F-4D97-AF65-F5344CB8AC3E}">
        <p14:creationId xmlns:p14="http://schemas.microsoft.com/office/powerpoint/2010/main" val="108809506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p:cNvSpPr txBox="1"/>
          <p:nvPr/>
        </p:nvSpPr>
        <p:spPr>
          <a:xfrm>
            <a:off x="4958509" y="4727462"/>
            <a:ext cx="2274983" cy="369332"/>
          </a:xfrm>
          <a:prstGeom prst="rect">
            <a:avLst/>
          </a:prstGeom>
          <a:noFill/>
        </p:spPr>
        <p:txBody>
          <a:bodyPr wrap="none" rtlCol="0">
            <a:spAutoFit/>
          </a:bodyPr>
          <a:lstStyle/>
          <a:p>
            <a:pPr algn="ctr"/>
            <a:r>
              <a:rPr lang="zh-CN" altLang="zh-CN" dirty="0"/>
              <a:t>图</a:t>
            </a:r>
            <a:r>
              <a:rPr lang="en-US" altLang="zh-CN" dirty="0"/>
              <a:t>2-24 </a:t>
            </a:r>
            <a:r>
              <a:rPr lang="zh-CN" altLang="zh-CN" dirty="0"/>
              <a:t>创建样条曲线</a:t>
            </a:r>
            <a:endParaRPr lang="zh-CN" altLang="en-US" dirty="0"/>
          </a:p>
        </p:txBody>
      </p:sp>
      <p:sp>
        <p:nvSpPr>
          <p:cNvPr id="7" name="TextBox 6"/>
          <p:cNvSpPr txBox="1"/>
          <p:nvPr/>
        </p:nvSpPr>
        <p:spPr>
          <a:xfrm>
            <a:off x="457202" y="551334"/>
            <a:ext cx="3281080" cy="738664"/>
          </a:xfrm>
          <a:prstGeom prst="rect">
            <a:avLst/>
          </a:prstGeom>
          <a:noFill/>
        </p:spPr>
        <p:txBody>
          <a:bodyPr wrap="square" rtlCol="0">
            <a:spAutoFit/>
          </a:bodyPr>
          <a:lstStyle/>
          <a:p>
            <a:pPr>
              <a:lnSpc>
                <a:spcPct val="150000"/>
              </a:lnSpc>
            </a:pPr>
            <a:r>
              <a:rPr lang="en-US" altLang="zh-CN" sz="2800" b="1" dirty="0">
                <a:latin typeface="Times New Roman" pitchFamily="18" charset="0"/>
                <a:ea typeface="宋体" pitchFamily="2" charset="-122"/>
              </a:rPr>
              <a:t>2.2.8</a:t>
            </a:r>
            <a:r>
              <a:rPr lang="zh-CN" altLang="en-US" sz="2800" b="1" dirty="0">
                <a:latin typeface="Times New Roman" pitchFamily="18" charset="0"/>
                <a:ea typeface="宋体" pitchFamily="2" charset="-122"/>
              </a:rPr>
              <a:t>创建样条曲线</a:t>
            </a:r>
          </a:p>
        </p:txBody>
      </p:sp>
      <p:pic>
        <p:nvPicPr>
          <p:cNvPr id="9" name="图片 8"/>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126665" y="3288702"/>
            <a:ext cx="7938671" cy="1440000"/>
          </a:xfrm>
          <a:prstGeom prst="rect">
            <a:avLst/>
          </a:prstGeom>
        </p:spPr>
      </p:pic>
      <p:sp>
        <p:nvSpPr>
          <p:cNvPr id="5" name="TextBox 4"/>
          <p:cNvSpPr txBox="1"/>
          <p:nvPr/>
        </p:nvSpPr>
        <p:spPr>
          <a:xfrm>
            <a:off x="430307" y="1297910"/>
            <a:ext cx="10986246" cy="1384995"/>
          </a:xfrm>
          <a:prstGeom prst="rect">
            <a:avLst/>
          </a:prstGeom>
          <a:noFill/>
        </p:spPr>
        <p:txBody>
          <a:bodyPr wrap="square" rtlCol="0">
            <a:spAutoFit/>
          </a:bodyPr>
          <a:lstStyle/>
          <a:p>
            <a:r>
              <a:rPr lang="zh-CN" altLang="en-US" sz="2800" dirty="0">
                <a:latin typeface="宋体" pitchFamily="2" charset="-122"/>
                <a:ea typeface="宋体" pitchFamily="2" charset="-122"/>
              </a:rPr>
              <a:t>在</a:t>
            </a:r>
            <a:r>
              <a:rPr lang="en-US" altLang="zh-CN" sz="2800" dirty="0">
                <a:latin typeface="宋体" pitchFamily="2" charset="-122"/>
                <a:ea typeface="宋体" pitchFamily="2" charset="-122"/>
              </a:rPr>
              <a:t>【</a:t>
            </a:r>
            <a:r>
              <a:rPr lang="zh-CN" altLang="en-US" sz="2800" dirty="0">
                <a:latin typeface="宋体" pitchFamily="2" charset="-122"/>
                <a:ea typeface="宋体" pitchFamily="2" charset="-122"/>
              </a:rPr>
              <a:t>草绘</a:t>
            </a:r>
            <a:r>
              <a:rPr lang="en-US" altLang="zh-CN" sz="2800" dirty="0">
                <a:latin typeface="宋体" pitchFamily="2" charset="-122"/>
                <a:ea typeface="宋体" pitchFamily="2" charset="-122"/>
              </a:rPr>
              <a:t>】</a:t>
            </a:r>
            <a:r>
              <a:rPr lang="zh-CN" altLang="en-US" sz="2800" dirty="0">
                <a:latin typeface="宋体" pitchFamily="2" charset="-122"/>
                <a:ea typeface="宋体" pitchFamily="2" charset="-122"/>
              </a:rPr>
              <a:t>组中单击“样条”按钮   ，接着选择一点作为样条端点，再选择其他样条点来绘制样条，单击鼠标中键退出“样条”命令。绘制样条的典型示例如图</a:t>
            </a:r>
            <a:r>
              <a:rPr lang="en-US" altLang="zh-CN" sz="2800" dirty="0">
                <a:latin typeface="宋体" pitchFamily="2" charset="-122"/>
                <a:ea typeface="宋体" pitchFamily="2" charset="-122"/>
              </a:rPr>
              <a:t>2-24</a:t>
            </a:r>
            <a:r>
              <a:rPr lang="zh-CN" altLang="en-US" sz="2800" dirty="0">
                <a:latin typeface="宋体" pitchFamily="2" charset="-122"/>
                <a:ea typeface="宋体" pitchFamily="2" charset="-122"/>
              </a:rPr>
              <a:t>所示，该样条由</a:t>
            </a:r>
            <a:r>
              <a:rPr lang="en-US" altLang="zh-CN" sz="2800" dirty="0">
                <a:latin typeface="宋体" pitchFamily="2" charset="-122"/>
                <a:ea typeface="宋体" pitchFamily="2" charset="-122"/>
              </a:rPr>
              <a:t>8</a:t>
            </a:r>
            <a:r>
              <a:rPr lang="zh-CN" altLang="en-US" sz="2800" dirty="0">
                <a:latin typeface="宋体" pitchFamily="2" charset="-122"/>
                <a:ea typeface="宋体" pitchFamily="2" charset="-122"/>
              </a:rPr>
              <a:t>个样条点定义。</a:t>
            </a:r>
          </a:p>
        </p:txBody>
      </p:sp>
      <p:pic>
        <p:nvPicPr>
          <p:cNvPr id="6" name="图片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897118" y="1291478"/>
            <a:ext cx="440400" cy="360000"/>
          </a:xfrm>
          <a:prstGeom prst="rect">
            <a:avLst/>
          </a:prstGeom>
        </p:spPr>
      </p:pic>
    </p:spTree>
    <p:extLst>
      <p:ext uri="{BB962C8B-B14F-4D97-AF65-F5344CB8AC3E}">
        <p14:creationId xmlns:p14="http://schemas.microsoft.com/office/powerpoint/2010/main" val="361897888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p:cNvSpPr txBox="1"/>
          <p:nvPr/>
        </p:nvSpPr>
        <p:spPr>
          <a:xfrm>
            <a:off x="1878099" y="4350946"/>
            <a:ext cx="1813317" cy="369332"/>
          </a:xfrm>
          <a:prstGeom prst="rect">
            <a:avLst/>
          </a:prstGeom>
          <a:noFill/>
        </p:spPr>
        <p:txBody>
          <a:bodyPr wrap="none" rtlCol="0">
            <a:spAutoFit/>
          </a:bodyPr>
          <a:lstStyle/>
          <a:p>
            <a:pPr algn="ctr"/>
            <a:r>
              <a:rPr lang="zh-CN" altLang="zh-CN" dirty="0"/>
              <a:t>图</a:t>
            </a:r>
            <a:r>
              <a:rPr lang="en-US" altLang="zh-CN" dirty="0"/>
              <a:t>2-25 </a:t>
            </a:r>
            <a:r>
              <a:rPr lang="zh-CN" altLang="zh-CN" dirty="0"/>
              <a:t>创建倒角</a:t>
            </a:r>
            <a:endParaRPr lang="zh-CN" altLang="en-US" dirty="0"/>
          </a:p>
        </p:txBody>
      </p:sp>
      <p:sp>
        <p:nvSpPr>
          <p:cNvPr id="7" name="TextBox 6"/>
          <p:cNvSpPr txBox="1"/>
          <p:nvPr/>
        </p:nvSpPr>
        <p:spPr>
          <a:xfrm>
            <a:off x="457202" y="551334"/>
            <a:ext cx="2380128" cy="738664"/>
          </a:xfrm>
          <a:prstGeom prst="rect">
            <a:avLst/>
          </a:prstGeom>
          <a:noFill/>
        </p:spPr>
        <p:txBody>
          <a:bodyPr wrap="square" rtlCol="0">
            <a:spAutoFit/>
          </a:bodyPr>
          <a:lstStyle/>
          <a:p>
            <a:pPr>
              <a:lnSpc>
                <a:spcPct val="150000"/>
              </a:lnSpc>
            </a:pPr>
            <a:r>
              <a:rPr lang="en-US" altLang="zh-CN" sz="2800" b="1" dirty="0">
                <a:latin typeface="Times New Roman" pitchFamily="18" charset="0"/>
                <a:ea typeface="宋体" pitchFamily="2" charset="-122"/>
              </a:rPr>
              <a:t>2.2.9</a:t>
            </a:r>
            <a:r>
              <a:rPr lang="zh-CN" altLang="en-US" sz="2800" b="1" dirty="0">
                <a:latin typeface="Times New Roman" pitchFamily="18" charset="0"/>
                <a:ea typeface="宋体" pitchFamily="2" charset="-122"/>
              </a:rPr>
              <a:t>创建倒角</a:t>
            </a:r>
          </a:p>
        </p:txBody>
      </p:sp>
      <p:pic>
        <p:nvPicPr>
          <p:cNvPr id="5" name="图片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14046" y="1666069"/>
            <a:ext cx="3644047" cy="2160000"/>
          </a:xfrm>
          <a:prstGeom prst="rect">
            <a:avLst/>
          </a:prstGeom>
        </p:spPr>
      </p:pic>
      <p:pic>
        <p:nvPicPr>
          <p:cNvPr id="6" name="图片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068521" y="1666069"/>
            <a:ext cx="3730447" cy="2160000"/>
          </a:xfrm>
          <a:prstGeom prst="rect">
            <a:avLst/>
          </a:prstGeom>
        </p:spPr>
      </p:pic>
      <p:sp>
        <p:nvSpPr>
          <p:cNvPr id="10" name="TextBox 9"/>
          <p:cNvSpPr txBox="1"/>
          <p:nvPr/>
        </p:nvSpPr>
        <p:spPr>
          <a:xfrm>
            <a:off x="7854112" y="4350946"/>
            <a:ext cx="2274983" cy="369332"/>
          </a:xfrm>
          <a:prstGeom prst="rect">
            <a:avLst/>
          </a:prstGeom>
          <a:noFill/>
        </p:spPr>
        <p:txBody>
          <a:bodyPr wrap="none" rtlCol="0">
            <a:spAutoFit/>
          </a:bodyPr>
          <a:lstStyle/>
          <a:p>
            <a:pPr algn="ctr"/>
            <a:r>
              <a:rPr lang="zh-CN" altLang="zh-CN" dirty="0"/>
              <a:t>图</a:t>
            </a:r>
            <a:r>
              <a:rPr lang="en-US" altLang="zh-CN" dirty="0"/>
              <a:t>2-26 </a:t>
            </a:r>
            <a:r>
              <a:rPr lang="zh-CN" altLang="zh-CN" dirty="0"/>
              <a:t>创建倒角修剪</a:t>
            </a:r>
            <a:endParaRPr lang="zh-CN" altLang="en-US" dirty="0"/>
          </a:p>
        </p:txBody>
      </p:sp>
    </p:spTree>
    <p:extLst>
      <p:ext uri="{BB962C8B-B14F-4D97-AF65-F5344CB8AC3E}">
        <p14:creationId xmlns:p14="http://schemas.microsoft.com/office/powerpoint/2010/main" val="327131959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p:cNvSpPr txBox="1"/>
          <p:nvPr/>
        </p:nvSpPr>
        <p:spPr>
          <a:xfrm>
            <a:off x="457202" y="551334"/>
            <a:ext cx="3097214" cy="738664"/>
          </a:xfrm>
          <a:prstGeom prst="rect">
            <a:avLst/>
          </a:prstGeom>
          <a:noFill/>
        </p:spPr>
        <p:txBody>
          <a:bodyPr wrap="square" rtlCol="0">
            <a:spAutoFit/>
          </a:bodyPr>
          <a:lstStyle/>
          <a:p>
            <a:pPr>
              <a:lnSpc>
                <a:spcPct val="150000"/>
              </a:lnSpc>
            </a:pPr>
            <a:r>
              <a:rPr lang="en-US" altLang="zh-CN" sz="2800" b="1" dirty="0">
                <a:latin typeface="Times New Roman" pitchFamily="18" charset="0"/>
                <a:ea typeface="宋体" pitchFamily="2" charset="-122"/>
              </a:rPr>
              <a:t>2.2.10</a:t>
            </a:r>
            <a:r>
              <a:rPr lang="zh-CN" altLang="en-US" sz="2800" b="1" dirty="0">
                <a:latin typeface="Times New Roman" pitchFamily="18" charset="0"/>
                <a:ea typeface="宋体" pitchFamily="2" charset="-122"/>
              </a:rPr>
              <a:t>创建圆角</a:t>
            </a:r>
          </a:p>
        </p:txBody>
      </p:sp>
      <p:sp>
        <p:nvSpPr>
          <p:cNvPr id="10" name="TextBox 9"/>
          <p:cNvSpPr txBox="1"/>
          <p:nvPr/>
        </p:nvSpPr>
        <p:spPr>
          <a:xfrm>
            <a:off x="4642718" y="5780288"/>
            <a:ext cx="2906565" cy="369332"/>
          </a:xfrm>
          <a:prstGeom prst="rect">
            <a:avLst/>
          </a:prstGeom>
          <a:noFill/>
        </p:spPr>
        <p:txBody>
          <a:bodyPr wrap="none" rtlCol="0">
            <a:spAutoFit/>
          </a:bodyPr>
          <a:lstStyle/>
          <a:p>
            <a:pPr algn="ctr"/>
            <a:r>
              <a:rPr lang="zh-CN" altLang="zh-CN" dirty="0"/>
              <a:t>图</a:t>
            </a:r>
            <a:r>
              <a:rPr lang="en-US" altLang="zh-CN" dirty="0"/>
              <a:t>2-27 </a:t>
            </a:r>
            <a:r>
              <a:rPr lang="zh-CN" altLang="zh-CN" dirty="0"/>
              <a:t>创建</a:t>
            </a:r>
            <a:r>
              <a:rPr lang="en-US" altLang="zh-CN" dirty="0"/>
              <a:t>4 </a:t>
            </a:r>
            <a:r>
              <a:rPr lang="zh-CN" altLang="zh-CN" dirty="0"/>
              <a:t>类圆角的示例</a:t>
            </a:r>
            <a:endParaRPr lang="zh-CN" altLang="en-US" dirty="0"/>
          </a:p>
        </p:txBody>
      </p:sp>
      <p:pic>
        <p:nvPicPr>
          <p:cNvPr id="17" name="图片 16"/>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975710" y="1369735"/>
            <a:ext cx="3157412" cy="1800000"/>
          </a:xfrm>
          <a:prstGeom prst="rect">
            <a:avLst/>
          </a:prstGeom>
        </p:spPr>
      </p:pic>
      <p:pic>
        <p:nvPicPr>
          <p:cNvPr id="18" name="图片 17"/>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866069" y="1369735"/>
            <a:ext cx="3151059" cy="1800000"/>
          </a:xfrm>
          <a:prstGeom prst="rect">
            <a:avLst/>
          </a:prstGeom>
        </p:spPr>
      </p:pic>
      <p:pic>
        <p:nvPicPr>
          <p:cNvPr id="19" name="图片 18"/>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868134" y="3567282"/>
            <a:ext cx="3216706" cy="1800000"/>
          </a:xfrm>
          <a:prstGeom prst="rect">
            <a:avLst/>
          </a:prstGeom>
        </p:spPr>
      </p:pic>
      <p:pic>
        <p:nvPicPr>
          <p:cNvPr id="20" name="图片 19"/>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808283" y="3567282"/>
            <a:ext cx="3247412" cy="1800000"/>
          </a:xfrm>
          <a:prstGeom prst="rect">
            <a:avLst/>
          </a:prstGeom>
        </p:spPr>
      </p:pic>
    </p:spTree>
    <p:extLst>
      <p:ext uri="{BB962C8B-B14F-4D97-AF65-F5344CB8AC3E}">
        <p14:creationId xmlns:p14="http://schemas.microsoft.com/office/powerpoint/2010/main" val="198639399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p:cNvSpPr txBox="1"/>
          <p:nvPr/>
        </p:nvSpPr>
        <p:spPr>
          <a:xfrm>
            <a:off x="457201" y="376523"/>
            <a:ext cx="4410634" cy="738664"/>
          </a:xfrm>
          <a:prstGeom prst="rect">
            <a:avLst/>
          </a:prstGeom>
          <a:noFill/>
        </p:spPr>
        <p:txBody>
          <a:bodyPr wrap="square" rtlCol="0">
            <a:spAutoFit/>
          </a:bodyPr>
          <a:lstStyle/>
          <a:p>
            <a:pPr>
              <a:lnSpc>
                <a:spcPct val="150000"/>
              </a:lnSpc>
            </a:pPr>
            <a:r>
              <a:rPr lang="en-US" altLang="zh-CN" sz="2800" b="1" dirty="0">
                <a:latin typeface="Times New Roman" pitchFamily="18" charset="0"/>
                <a:ea typeface="宋体" pitchFamily="2" charset="-122"/>
              </a:rPr>
              <a:t>2.2.11</a:t>
            </a:r>
            <a:r>
              <a:rPr lang="zh-CN" altLang="en-US" sz="2800" b="1" dirty="0">
                <a:latin typeface="Times New Roman" pitchFamily="18" charset="0"/>
                <a:ea typeface="宋体" pitchFamily="2" charset="-122"/>
              </a:rPr>
              <a:t>在草绘器中创建文本</a:t>
            </a:r>
          </a:p>
        </p:txBody>
      </p:sp>
      <p:sp>
        <p:nvSpPr>
          <p:cNvPr id="10" name="TextBox 9"/>
          <p:cNvSpPr txBox="1"/>
          <p:nvPr/>
        </p:nvSpPr>
        <p:spPr>
          <a:xfrm>
            <a:off x="1622432" y="6373604"/>
            <a:ext cx="2505814" cy="369332"/>
          </a:xfrm>
          <a:prstGeom prst="rect">
            <a:avLst/>
          </a:prstGeom>
          <a:noFill/>
        </p:spPr>
        <p:txBody>
          <a:bodyPr wrap="none" rtlCol="0">
            <a:spAutoFit/>
          </a:bodyPr>
          <a:lstStyle/>
          <a:p>
            <a:pPr algn="ctr"/>
            <a:r>
              <a:rPr lang="zh-CN" altLang="zh-CN" dirty="0"/>
              <a:t>图</a:t>
            </a:r>
            <a:r>
              <a:rPr lang="en-US" altLang="zh-CN" dirty="0"/>
              <a:t>2-28 【</a:t>
            </a:r>
            <a:r>
              <a:rPr lang="zh-CN" altLang="en-US" dirty="0"/>
              <a:t>文本</a:t>
            </a:r>
            <a:r>
              <a:rPr lang="en-US" altLang="zh-CN" dirty="0"/>
              <a:t>】</a:t>
            </a:r>
            <a:r>
              <a:rPr lang="zh-CN" altLang="en-US" dirty="0"/>
              <a:t>对话框</a:t>
            </a:r>
          </a:p>
        </p:txBody>
      </p:sp>
      <p:pic>
        <p:nvPicPr>
          <p:cNvPr id="8" name="图片 7"/>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976718" y="2841211"/>
            <a:ext cx="1874426" cy="3472325"/>
          </a:xfrm>
          <a:prstGeom prst="rect">
            <a:avLst/>
          </a:prstGeom>
        </p:spPr>
      </p:pic>
      <p:sp>
        <p:nvSpPr>
          <p:cNvPr id="5" name="TextBox 4"/>
          <p:cNvSpPr txBox="1"/>
          <p:nvPr/>
        </p:nvSpPr>
        <p:spPr>
          <a:xfrm>
            <a:off x="457201" y="1015523"/>
            <a:ext cx="10986246" cy="1815882"/>
          </a:xfrm>
          <a:prstGeom prst="rect">
            <a:avLst/>
          </a:prstGeom>
          <a:noFill/>
        </p:spPr>
        <p:txBody>
          <a:bodyPr wrap="square" rtlCol="0">
            <a:spAutoFit/>
          </a:bodyPr>
          <a:lstStyle/>
          <a:p>
            <a:r>
              <a:rPr lang="zh-CN" altLang="en-US" sz="2800" dirty="0">
                <a:latin typeface="宋体" pitchFamily="2" charset="-122"/>
                <a:ea typeface="宋体" pitchFamily="2" charset="-122"/>
              </a:rPr>
              <a:t>在</a:t>
            </a:r>
            <a:r>
              <a:rPr lang="en-US" altLang="zh-CN" sz="2800" dirty="0">
                <a:latin typeface="宋体" pitchFamily="2" charset="-122"/>
                <a:ea typeface="宋体" pitchFamily="2" charset="-122"/>
              </a:rPr>
              <a:t>【</a:t>
            </a:r>
            <a:r>
              <a:rPr lang="zh-CN" altLang="en-US" sz="2800" dirty="0">
                <a:latin typeface="宋体" pitchFamily="2" charset="-122"/>
                <a:ea typeface="宋体" pitchFamily="2" charset="-122"/>
              </a:rPr>
              <a:t>草绘</a:t>
            </a:r>
            <a:r>
              <a:rPr lang="en-US" altLang="zh-CN" sz="2800" dirty="0">
                <a:latin typeface="宋体" pitchFamily="2" charset="-122"/>
                <a:ea typeface="宋体" pitchFamily="2" charset="-122"/>
              </a:rPr>
              <a:t>】</a:t>
            </a:r>
            <a:r>
              <a:rPr lang="zh-CN" altLang="en-US" sz="2800" dirty="0">
                <a:latin typeface="宋体" pitchFamily="2" charset="-122"/>
                <a:ea typeface="宋体" pitchFamily="2" charset="-122"/>
              </a:rPr>
              <a:t>组中单击“文本”按钮   ，接着在草绘区域中分别选择一个起始点和一个终止点，起始点和终止点之间生成一条构造线，构造线的长度决定文本的高度，构造线的角度决定文本的方向。同时系统弹出如图</a:t>
            </a:r>
            <a:r>
              <a:rPr lang="en-US" altLang="zh-CN" sz="2800" dirty="0">
                <a:latin typeface="宋体" pitchFamily="2" charset="-122"/>
                <a:ea typeface="宋体" pitchFamily="2" charset="-122"/>
              </a:rPr>
              <a:t>2-28</a:t>
            </a:r>
            <a:r>
              <a:rPr lang="zh-CN" altLang="en-US" sz="2800" dirty="0">
                <a:latin typeface="宋体" pitchFamily="2" charset="-122"/>
                <a:ea typeface="宋体" pitchFamily="2" charset="-122"/>
              </a:rPr>
              <a:t>所示的</a:t>
            </a:r>
            <a:r>
              <a:rPr lang="en-US" altLang="zh-CN" sz="2800" dirty="0">
                <a:latin typeface="宋体" pitchFamily="2" charset="-122"/>
                <a:ea typeface="宋体" pitchFamily="2" charset="-122"/>
              </a:rPr>
              <a:t>【</a:t>
            </a:r>
            <a:r>
              <a:rPr lang="zh-CN" altLang="en-US" sz="2800" dirty="0">
                <a:latin typeface="宋体" pitchFamily="2" charset="-122"/>
                <a:ea typeface="宋体" pitchFamily="2" charset="-122"/>
              </a:rPr>
              <a:t>文本</a:t>
            </a:r>
            <a:r>
              <a:rPr lang="en-US" altLang="zh-CN" sz="2800" dirty="0">
                <a:latin typeface="宋体" pitchFamily="2" charset="-122"/>
                <a:ea typeface="宋体" pitchFamily="2" charset="-122"/>
              </a:rPr>
              <a:t>】</a:t>
            </a:r>
            <a:r>
              <a:rPr lang="zh-CN" altLang="en-US" sz="2800" dirty="0">
                <a:latin typeface="宋体" pitchFamily="2" charset="-122"/>
                <a:ea typeface="宋体" pitchFamily="2" charset="-122"/>
              </a:rPr>
              <a:t>对话框。</a:t>
            </a:r>
          </a:p>
        </p:txBody>
      </p:sp>
      <p:pic>
        <p:nvPicPr>
          <p:cNvPr id="6" name="图片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931980" y="1115187"/>
            <a:ext cx="360000" cy="360000"/>
          </a:xfrm>
          <a:prstGeom prst="rect">
            <a:avLst/>
          </a:prstGeom>
        </p:spPr>
      </p:pic>
      <p:pic>
        <p:nvPicPr>
          <p:cNvPr id="9" name="图片 8"/>
          <p:cNvPicPr/>
          <p:nvPr/>
        </p:nvPicPr>
        <p:blipFill>
          <a:blip r:embed="rId4">
            <a:extLst>
              <a:ext uri="{28A0092B-C50C-407E-A947-70E740481C1C}">
                <a14:useLocalDpi xmlns:a14="http://schemas.microsoft.com/office/drawing/2010/main" val="0"/>
              </a:ext>
            </a:extLst>
          </a:blip>
          <a:stretch>
            <a:fillRect/>
          </a:stretch>
        </p:blipFill>
        <p:spPr>
          <a:xfrm>
            <a:off x="6388159" y="3219299"/>
            <a:ext cx="2607927" cy="2589829"/>
          </a:xfrm>
          <a:prstGeom prst="rect">
            <a:avLst/>
          </a:prstGeom>
        </p:spPr>
      </p:pic>
      <p:sp>
        <p:nvSpPr>
          <p:cNvPr id="11" name="TextBox 10"/>
          <p:cNvSpPr txBox="1"/>
          <p:nvPr/>
        </p:nvSpPr>
        <p:spPr>
          <a:xfrm>
            <a:off x="6238009" y="5968111"/>
            <a:ext cx="2967479" cy="369332"/>
          </a:xfrm>
          <a:prstGeom prst="rect">
            <a:avLst/>
          </a:prstGeom>
          <a:noFill/>
        </p:spPr>
        <p:txBody>
          <a:bodyPr wrap="none" rtlCol="0">
            <a:spAutoFit/>
          </a:bodyPr>
          <a:lstStyle/>
          <a:p>
            <a:pPr algn="ctr"/>
            <a:r>
              <a:rPr lang="zh-CN" altLang="zh-CN" dirty="0"/>
              <a:t>图</a:t>
            </a:r>
            <a:r>
              <a:rPr lang="en-US" altLang="zh-CN" dirty="0"/>
              <a:t>2-29 【</a:t>
            </a:r>
            <a:r>
              <a:rPr lang="zh-CN" altLang="en-US" dirty="0"/>
              <a:t>文本符号</a:t>
            </a:r>
            <a:r>
              <a:rPr lang="en-US" altLang="zh-CN" dirty="0"/>
              <a:t>】</a:t>
            </a:r>
            <a:r>
              <a:rPr lang="zh-CN" altLang="en-US" dirty="0"/>
              <a:t>对话框</a:t>
            </a:r>
          </a:p>
        </p:txBody>
      </p:sp>
      <p:sp>
        <p:nvSpPr>
          <p:cNvPr id="2" name="爆炸形 2 1"/>
          <p:cNvSpPr/>
          <p:nvPr/>
        </p:nvSpPr>
        <p:spPr>
          <a:xfrm>
            <a:off x="9053087" y="2627149"/>
            <a:ext cx="3138913" cy="2904564"/>
          </a:xfrm>
          <a:prstGeom prst="irregularSeal2">
            <a:avLst/>
          </a:prstGeom>
          <a:solidFill>
            <a:srgbClr val="FF33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TextBox 2"/>
          <p:cNvSpPr txBox="1"/>
          <p:nvPr/>
        </p:nvSpPr>
        <p:spPr>
          <a:xfrm>
            <a:off x="9551895" y="3663933"/>
            <a:ext cx="2200834" cy="1077218"/>
          </a:xfrm>
          <a:prstGeom prst="rect">
            <a:avLst/>
          </a:prstGeom>
          <a:noFill/>
        </p:spPr>
        <p:txBody>
          <a:bodyPr wrap="square" rtlCol="0">
            <a:spAutoFit/>
          </a:bodyPr>
          <a:lstStyle/>
          <a:p>
            <a:r>
              <a:rPr lang="zh-CN" altLang="en-US" sz="1600" b="1" dirty="0">
                <a:solidFill>
                  <a:schemeClr val="bg1"/>
                </a:solidFill>
              </a:rPr>
              <a:t>单击“文件符号”按钮 ，打开如图 </a:t>
            </a:r>
            <a:r>
              <a:rPr lang="en-US" altLang="zh-CN" sz="1600" b="1" dirty="0">
                <a:solidFill>
                  <a:schemeClr val="bg1"/>
                </a:solidFill>
              </a:rPr>
              <a:t>2-29 </a:t>
            </a:r>
            <a:r>
              <a:rPr lang="zh-CN" altLang="en-US" sz="1600" b="1" dirty="0">
                <a:solidFill>
                  <a:schemeClr val="bg1"/>
                </a:solidFill>
              </a:rPr>
              <a:t>所示的</a:t>
            </a:r>
            <a:r>
              <a:rPr lang="en-US" altLang="zh-CN" sz="1600" b="1" dirty="0">
                <a:solidFill>
                  <a:schemeClr val="bg1"/>
                </a:solidFill>
              </a:rPr>
              <a:t>【</a:t>
            </a:r>
            <a:r>
              <a:rPr lang="zh-CN" altLang="en-US" sz="1600" b="1" dirty="0">
                <a:solidFill>
                  <a:schemeClr val="bg1"/>
                </a:solidFill>
              </a:rPr>
              <a:t>文本符号</a:t>
            </a:r>
            <a:r>
              <a:rPr lang="en-US" altLang="zh-CN" sz="1600" b="1" dirty="0">
                <a:solidFill>
                  <a:schemeClr val="bg1"/>
                </a:solidFill>
              </a:rPr>
              <a:t>】</a:t>
            </a:r>
            <a:r>
              <a:rPr lang="zh-CN" altLang="en-US" sz="1600" b="1" dirty="0">
                <a:solidFill>
                  <a:schemeClr val="bg1"/>
                </a:solidFill>
              </a:rPr>
              <a:t>对话框</a:t>
            </a:r>
          </a:p>
        </p:txBody>
      </p:sp>
    </p:spTree>
    <p:extLst>
      <p:ext uri="{BB962C8B-B14F-4D97-AF65-F5344CB8AC3E}">
        <p14:creationId xmlns:p14="http://schemas.microsoft.com/office/powerpoint/2010/main" val="277326600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457201" y="773477"/>
            <a:ext cx="10986246" cy="2677656"/>
          </a:xfrm>
          <a:prstGeom prst="rect">
            <a:avLst/>
          </a:prstGeom>
          <a:noFill/>
        </p:spPr>
        <p:txBody>
          <a:bodyPr wrap="square" rtlCol="0">
            <a:spAutoFit/>
          </a:bodyPr>
          <a:lstStyle/>
          <a:p>
            <a:pPr indent="457200"/>
            <a:r>
              <a:rPr lang="zh-CN" altLang="en-US" sz="2800" dirty="0">
                <a:latin typeface="宋体" pitchFamily="2" charset="-122"/>
                <a:ea typeface="宋体" pitchFamily="2" charset="-122"/>
              </a:rPr>
              <a:t>如果要沿着一条曲线放置文本，那么选中“沿曲线放置”复选框，接着在图形窗口中选择要在其上放置文本的曲线，注意选择水平和竖直位置的组合以沿着选定曲线放置文本字符串的起始点。如果需要，单击“反向”按钮   ，可更改希望文本随动的反向，即构造线和文本字符串被置于选定曲线对面一侧的另一端，基于文本的起始点执行此放置，如图</a:t>
            </a:r>
            <a:r>
              <a:rPr lang="en-US" altLang="zh-CN" sz="2800" dirty="0">
                <a:latin typeface="宋体" pitchFamily="2" charset="-122"/>
                <a:ea typeface="宋体" pitchFamily="2" charset="-122"/>
              </a:rPr>
              <a:t>2-30</a:t>
            </a:r>
            <a:r>
              <a:rPr lang="zh-CN" altLang="en-US" sz="2800" dirty="0">
                <a:latin typeface="宋体" pitchFamily="2" charset="-122"/>
                <a:ea typeface="宋体" pitchFamily="2" charset="-122"/>
              </a:rPr>
              <a:t>所示。</a:t>
            </a:r>
          </a:p>
        </p:txBody>
      </p:sp>
      <p:sp>
        <p:nvSpPr>
          <p:cNvPr id="11" name="TextBox 10"/>
          <p:cNvSpPr txBox="1"/>
          <p:nvPr/>
        </p:nvSpPr>
        <p:spPr>
          <a:xfrm>
            <a:off x="4434470" y="5443676"/>
            <a:ext cx="3607078" cy="369332"/>
          </a:xfrm>
          <a:prstGeom prst="rect">
            <a:avLst/>
          </a:prstGeom>
          <a:noFill/>
        </p:spPr>
        <p:txBody>
          <a:bodyPr wrap="none" rtlCol="0">
            <a:spAutoFit/>
          </a:bodyPr>
          <a:lstStyle/>
          <a:p>
            <a:pPr algn="ctr"/>
            <a:r>
              <a:rPr lang="zh-CN" altLang="zh-CN" dirty="0"/>
              <a:t>图</a:t>
            </a:r>
            <a:r>
              <a:rPr lang="en-US" altLang="zh-CN" dirty="0"/>
              <a:t>2-30</a:t>
            </a:r>
            <a:r>
              <a:rPr lang="zh-CN" altLang="en-US" dirty="0"/>
              <a:t>将文本反向到曲线的另一侧</a:t>
            </a:r>
          </a:p>
        </p:txBody>
      </p:sp>
      <p:pic>
        <p:nvPicPr>
          <p:cNvPr id="12" name="图片 1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453328" y="2129820"/>
            <a:ext cx="374400" cy="360000"/>
          </a:xfrm>
          <a:prstGeom prst="rect">
            <a:avLst/>
          </a:prstGeom>
        </p:spPr>
      </p:pic>
      <p:pic>
        <p:nvPicPr>
          <p:cNvPr id="13" name="图片 12"/>
          <p:cNvPicPr/>
          <p:nvPr/>
        </p:nvPicPr>
        <p:blipFill>
          <a:blip r:embed="rId3">
            <a:extLst>
              <a:ext uri="{28A0092B-C50C-407E-A947-70E740481C1C}">
                <a14:useLocalDpi xmlns:a14="http://schemas.microsoft.com/office/drawing/2010/main" val="0"/>
              </a:ext>
            </a:extLst>
          </a:blip>
          <a:stretch>
            <a:fillRect/>
          </a:stretch>
        </p:blipFill>
        <p:spPr>
          <a:xfrm>
            <a:off x="3206358" y="3873817"/>
            <a:ext cx="5779284" cy="1289854"/>
          </a:xfrm>
          <a:prstGeom prst="rect">
            <a:avLst/>
          </a:prstGeom>
        </p:spPr>
      </p:pic>
    </p:spTree>
    <p:extLst>
      <p:ext uri="{BB962C8B-B14F-4D97-AF65-F5344CB8AC3E}">
        <p14:creationId xmlns:p14="http://schemas.microsoft.com/office/powerpoint/2010/main" val="316051838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p:cNvSpPr txBox="1"/>
          <p:nvPr/>
        </p:nvSpPr>
        <p:spPr>
          <a:xfrm>
            <a:off x="457201" y="376523"/>
            <a:ext cx="4410634" cy="738664"/>
          </a:xfrm>
          <a:prstGeom prst="rect">
            <a:avLst/>
          </a:prstGeom>
          <a:noFill/>
        </p:spPr>
        <p:txBody>
          <a:bodyPr wrap="square" rtlCol="0">
            <a:spAutoFit/>
          </a:bodyPr>
          <a:lstStyle/>
          <a:p>
            <a:pPr>
              <a:lnSpc>
                <a:spcPct val="150000"/>
              </a:lnSpc>
            </a:pPr>
            <a:r>
              <a:rPr lang="en-US" altLang="zh-CN" sz="2800" b="1" dirty="0">
                <a:latin typeface="Times New Roman" pitchFamily="18" charset="0"/>
                <a:ea typeface="宋体" pitchFamily="2" charset="-122"/>
              </a:rPr>
              <a:t>2.2.12 </a:t>
            </a:r>
            <a:r>
              <a:rPr lang="zh-CN" altLang="en-US" sz="2800" b="1" dirty="0">
                <a:latin typeface="Times New Roman" pitchFamily="18" charset="0"/>
                <a:ea typeface="宋体" pitchFamily="2" charset="-122"/>
              </a:rPr>
              <a:t>从模型边创建几何</a:t>
            </a:r>
          </a:p>
        </p:txBody>
      </p:sp>
      <p:sp>
        <p:nvSpPr>
          <p:cNvPr id="10" name="TextBox 9"/>
          <p:cNvSpPr txBox="1"/>
          <p:nvPr/>
        </p:nvSpPr>
        <p:spPr>
          <a:xfrm>
            <a:off x="1722423" y="5459204"/>
            <a:ext cx="2505815" cy="369332"/>
          </a:xfrm>
          <a:prstGeom prst="rect">
            <a:avLst/>
          </a:prstGeom>
          <a:noFill/>
        </p:spPr>
        <p:txBody>
          <a:bodyPr wrap="none" rtlCol="0">
            <a:spAutoFit/>
          </a:bodyPr>
          <a:lstStyle/>
          <a:p>
            <a:pPr algn="ctr"/>
            <a:r>
              <a:rPr lang="zh-CN" altLang="zh-CN" dirty="0"/>
              <a:t>图</a:t>
            </a:r>
            <a:r>
              <a:rPr lang="en-US" altLang="zh-CN" dirty="0"/>
              <a:t>2-31 【</a:t>
            </a:r>
            <a:r>
              <a:rPr lang="zh-CN" altLang="en-US" dirty="0"/>
              <a:t>类型</a:t>
            </a:r>
            <a:r>
              <a:rPr lang="en-US" altLang="zh-CN" dirty="0"/>
              <a:t>】</a:t>
            </a:r>
            <a:r>
              <a:rPr lang="zh-CN" altLang="en-US" dirty="0"/>
              <a:t>对话框</a:t>
            </a:r>
          </a:p>
        </p:txBody>
      </p:sp>
      <p:sp>
        <p:nvSpPr>
          <p:cNvPr id="12" name="TextBox 11"/>
          <p:cNvSpPr txBox="1"/>
          <p:nvPr/>
        </p:nvSpPr>
        <p:spPr>
          <a:xfrm>
            <a:off x="457201" y="1115187"/>
            <a:ext cx="10986246" cy="954107"/>
          </a:xfrm>
          <a:prstGeom prst="rect">
            <a:avLst/>
          </a:prstGeom>
          <a:noFill/>
        </p:spPr>
        <p:txBody>
          <a:bodyPr wrap="square" rtlCol="0">
            <a:spAutoFit/>
          </a:bodyPr>
          <a:lstStyle/>
          <a:p>
            <a:pPr indent="457200"/>
            <a:r>
              <a:rPr lang="zh-CN" altLang="en-US" sz="2800" dirty="0">
                <a:latin typeface="宋体" pitchFamily="2" charset="-122"/>
                <a:ea typeface="宋体" pitchFamily="2" charset="-122"/>
              </a:rPr>
              <a:t>在三维建模时可以在草绘器中单击</a:t>
            </a:r>
            <a:r>
              <a:rPr lang="en-US" altLang="zh-CN" sz="2800" dirty="0">
                <a:latin typeface="宋体" pitchFamily="2" charset="-122"/>
                <a:ea typeface="宋体" pitchFamily="2" charset="-122"/>
              </a:rPr>
              <a:t>【</a:t>
            </a:r>
            <a:r>
              <a:rPr lang="zh-CN" altLang="en-US" sz="2800" dirty="0">
                <a:latin typeface="宋体" pitchFamily="2" charset="-122"/>
                <a:ea typeface="宋体" pitchFamily="2" charset="-122"/>
              </a:rPr>
              <a:t>草绘</a:t>
            </a:r>
            <a:r>
              <a:rPr lang="en-US" altLang="zh-CN" sz="2800" dirty="0">
                <a:latin typeface="宋体" pitchFamily="2" charset="-122"/>
                <a:ea typeface="宋体" pitchFamily="2" charset="-122"/>
              </a:rPr>
              <a:t>】</a:t>
            </a:r>
            <a:r>
              <a:rPr lang="zh-CN" altLang="en-US" sz="2800" dirty="0">
                <a:latin typeface="宋体" pitchFamily="2" charset="-122"/>
                <a:ea typeface="宋体" pitchFamily="2" charset="-122"/>
              </a:rPr>
              <a:t>组中的“投影”按钮  ，系统弹出如图 </a:t>
            </a:r>
            <a:r>
              <a:rPr lang="en-US" altLang="zh-CN" sz="2800" dirty="0">
                <a:latin typeface="宋体" pitchFamily="2" charset="-122"/>
                <a:ea typeface="宋体" pitchFamily="2" charset="-122"/>
              </a:rPr>
              <a:t>2-31 </a:t>
            </a:r>
            <a:r>
              <a:rPr lang="zh-CN" altLang="en-US" sz="2800" dirty="0">
                <a:latin typeface="宋体" pitchFamily="2" charset="-122"/>
                <a:ea typeface="宋体" pitchFamily="2" charset="-122"/>
              </a:rPr>
              <a:t>所示的</a:t>
            </a:r>
            <a:r>
              <a:rPr lang="en-US" altLang="zh-CN" sz="2800" dirty="0">
                <a:latin typeface="宋体" pitchFamily="2" charset="-122"/>
                <a:ea typeface="宋体" pitchFamily="2" charset="-122"/>
              </a:rPr>
              <a:t>【</a:t>
            </a:r>
            <a:r>
              <a:rPr lang="zh-CN" altLang="en-US" sz="2800" dirty="0">
                <a:latin typeface="宋体" pitchFamily="2" charset="-122"/>
                <a:ea typeface="宋体" pitchFamily="2" charset="-122"/>
              </a:rPr>
              <a:t>类型</a:t>
            </a:r>
            <a:r>
              <a:rPr lang="en-US" altLang="zh-CN" sz="2800" dirty="0">
                <a:latin typeface="宋体" pitchFamily="2" charset="-122"/>
                <a:ea typeface="宋体" pitchFamily="2" charset="-122"/>
              </a:rPr>
              <a:t>】</a:t>
            </a:r>
            <a:r>
              <a:rPr lang="zh-CN" altLang="en-US" sz="2800" dirty="0">
                <a:latin typeface="宋体" pitchFamily="2" charset="-122"/>
                <a:ea typeface="宋体" pitchFamily="2" charset="-122"/>
              </a:rPr>
              <a:t>对话框</a:t>
            </a:r>
          </a:p>
        </p:txBody>
      </p:sp>
      <p:pic>
        <p:nvPicPr>
          <p:cNvPr id="13" name="图片 1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940266" y="1176899"/>
            <a:ext cx="343200" cy="360000"/>
          </a:xfrm>
          <a:prstGeom prst="rect">
            <a:avLst/>
          </a:prstGeom>
        </p:spPr>
      </p:pic>
      <p:pic>
        <p:nvPicPr>
          <p:cNvPr id="14" name="图片 13"/>
          <p:cNvPicPr/>
          <p:nvPr/>
        </p:nvPicPr>
        <p:blipFill>
          <a:blip r:embed="rId3">
            <a:extLst>
              <a:ext uri="{28A0092B-C50C-407E-A947-70E740481C1C}">
                <a14:useLocalDpi xmlns:a14="http://schemas.microsoft.com/office/drawing/2010/main" val="0"/>
              </a:ext>
            </a:extLst>
          </a:blip>
          <a:stretch>
            <a:fillRect/>
          </a:stretch>
        </p:blipFill>
        <p:spPr>
          <a:xfrm>
            <a:off x="2111188" y="2633755"/>
            <a:ext cx="1728287" cy="2637492"/>
          </a:xfrm>
          <a:prstGeom prst="rect">
            <a:avLst/>
          </a:prstGeom>
        </p:spPr>
      </p:pic>
      <p:pic>
        <p:nvPicPr>
          <p:cNvPr id="15" name="图片 14"/>
          <p:cNvPicPr/>
          <p:nvPr/>
        </p:nvPicPr>
        <p:blipFill>
          <a:blip r:embed="rId4">
            <a:extLst>
              <a:ext uri="{28A0092B-C50C-407E-A947-70E740481C1C}">
                <a14:useLocalDpi xmlns:a14="http://schemas.microsoft.com/office/drawing/2010/main" val="0"/>
              </a:ext>
            </a:extLst>
          </a:blip>
          <a:stretch>
            <a:fillRect/>
          </a:stretch>
        </p:blipFill>
        <p:spPr>
          <a:xfrm>
            <a:off x="5950324" y="2959415"/>
            <a:ext cx="5071297" cy="1894971"/>
          </a:xfrm>
          <a:prstGeom prst="rect">
            <a:avLst/>
          </a:prstGeom>
        </p:spPr>
      </p:pic>
      <p:sp>
        <p:nvSpPr>
          <p:cNvPr id="16" name="TextBox 15"/>
          <p:cNvSpPr txBox="1"/>
          <p:nvPr/>
        </p:nvSpPr>
        <p:spPr>
          <a:xfrm>
            <a:off x="7393724" y="5453194"/>
            <a:ext cx="2736647" cy="369332"/>
          </a:xfrm>
          <a:prstGeom prst="rect">
            <a:avLst/>
          </a:prstGeom>
          <a:noFill/>
        </p:spPr>
        <p:txBody>
          <a:bodyPr wrap="none" rtlCol="0">
            <a:spAutoFit/>
          </a:bodyPr>
          <a:lstStyle/>
          <a:p>
            <a:pPr algn="ctr"/>
            <a:r>
              <a:rPr lang="zh-CN" altLang="zh-CN" dirty="0"/>
              <a:t>图</a:t>
            </a:r>
            <a:r>
              <a:rPr lang="en-US" altLang="zh-CN" dirty="0"/>
              <a:t>2-32 </a:t>
            </a:r>
            <a:r>
              <a:rPr lang="zh-CN" altLang="en-US" dirty="0"/>
              <a:t>从模型边创建几何</a:t>
            </a:r>
          </a:p>
        </p:txBody>
      </p:sp>
    </p:spTree>
    <p:extLst>
      <p:ext uri="{BB962C8B-B14F-4D97-AF65-F5344CB8AC3E}">
        <p14:creationId xmlns:p14="http://schemas.microsoft.com/office/powerpoint/2010/main" val="237707308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p:cNvSpPr txBox="1"/>
          <p:nvPr/>
        </p:nvSpPr>
        <p:spPr>
          <a:xfrm>
            <a:off x="457200" y="376523"/>
            <a:ext cx="4719917" cy="738664"/>
          </a:xfrm>
          <a:prstGeom prst="rect">
            <a:avLst/>
          </a:prstGeom>
          <a:noFill/>
        </p:spPr>
        <p:txBody>
          <a:bodyPr wrap="square" rtlCol="0">
            <a:spAutoFit/>
          </a:bodyPr>
          <a:lstStyle/>
          <a:p>
            <a:pPr>
              <a:lnSpc>
                <a:spcPct val="150000"/>
              </a:lnSpc>
            </a:pPr>
            <a:r>
              <a:rPr lang="en-US" altLang="zh-CN" sz="2800" b="1" dirty="0">
                <a:latin typeface="Times New Roman" pitchFamily="18" charset="0"/>
                <a:ea typeface="宋体" pitchFamily="2" charset="-122"/>
              </a:rPr>
              <a:t>2.2.13</a:t>
            </a:r>
            <a:r>
              <a:rPr lang="zh-CN" altLang="en-US" sz="2800" b="1" dirty="0">
                <a:latin typeface="Times New Roman" pitchFamily="18" charset="0"/>
                <a:ea typeface="宋体" pitchFamily="2" charset="-122"/>
              </a:rPr>
              <a:t>用偏移边选项创建几何</a:t>
            </a:r>
          </a:p>
        </p:txBody>
      </p:sp>
      <p:sp>
        <p:nvSpPr>
          <p:cNvPr id="10" name="TextBox 9"/>
          <p:cNvSpPr txBox="1"/>
          <p:nvPr/>
        </p:nvSpPr>
        <p:spPr>
          <a:xfrm>
            <a:off x="4887275" y="5996785"/>
            <a:ext cx="2736647" cy="369332"/>
          </a:xfrm>
          <a:prstGeom prst="rect">
            <a:avLst/>
          </a:prstGeom>
          <a:noFill/>
        </p:spPr>
        <p:txBody>
          <a:bodyPr wrap="none" rtlCol="0">
            <a:spAutoFit/>
          </a:bodyPr>
          <a:lstStyle/>
          <a:p>
            <a:pPr algn="ctr"/>
            <a:r>
              <a:rPr lang="zh-CN" altLang="en-US" dirty="0"/>
              <a:t>图</a:t>
            </a:r>
            <a:r>
              <a:rPr lang="en-US" altLang="zh-CN" dirty="0"/>
              <a:t>2-33 </a:t>
            </a:r>
            <a:r>
              <a:rPr lang="zh-CN" altLang="en-US" dirty="0"/>
              <a:t>草绘偏移边的操作</a:t>
            </a:r>
          </a:p>
        </p:txBody>
      </p:sp>
      <p:sp>
        <p:nvSpPr>
          <p:cNvPr id="12" name="TextBox 11"/>
          <p:cNvSpPr txBox="1"/>
          <p:nvPr/>
        </p:nvSpPr>
        <p:spPr>
          <a:xfrm>
            <a:off x="457201" y="1115187"/>
            <a:ext cx="10986246" cy="1384995"/>
          </a:xfrm>
          <a:prstGeom prst="rect">
            <a:avLst/>
          </a:prstGeom>
          <a:noFill/>
        </p:spPr>
        <p:txBody>
          <a:bodyPr wrap="square" rtlCol="0">
            <a:spAutoFit/>
          </a:bodyPr>
          <a:lstStyle/>
          <a:p>
            <a:pPr indent="457200"/>
            <a:r>
              <a:rPr lang="zh-CN" altLang="en-US" sz="2800" dirty="0">
                <a:latin typeface="宋体" pitchFamily="2" charset="-122"/>
                <a:ea typeface="宋体" pitchFamily="2" charset="-122"/>
              </a:rPr>
              <a:t>在零件模式下打开草绘器时，可以使用零件的边作为草绘新图元的参考，这涉及到</a:t>
            </a:r>
            <a:r>
              <a:rPr lang="en-US" altLang="zh-CN" sz="2800" dirty="0">
                <a:latin typeface="宋体" pitchFamily="2" charset="-122"/>
                <a:ea typeface="宋体" pitchFamily="2" charset="-122"/>
              </a:rPr>
              <a:t>【</a:t>
            </a:r>
            <a:r>
              <a:rPr lang="zh-CN" altLang="en-US" sz="2800" dirty="0">
                <a:latin typeface="宋体" pitchFamily="2" charset="-122"/>
                <a:ea typeface="宋体" pitchFamily="2" charset="-122"/>
              </a:rPr>
              <a:t>草绘</a:t>
            </a:r>
            <a:r>
              <a:rPr lang="en-US" altLang="zh-CN" sz="2800" dirty="0">
                <a:latin typeface="宋体" pitchFamily="2" charset="-122"/>
                <a:ea typeface="宋体" pitchFamily="2" charset="-122"/>
              </a:rPr>
              <a:t>】</a:t>
            </a:r>
            <a:r>
              <a:rPr lang="zh-CN" altLang="en-US" sz="2800" dirty="0">
                <a:latin typeface="宋体" pitchFamily="2" charset="-122"/>
                <a:ea typeface="宋体" pitchFamily="2" charset="-122"/>
              </a:rPr>
              <a:t>组中的“偏移”按钮  和“加厚”按钮  。在草绘文件中，这两个按钮也可用。</a:t>
            </a:r>
          </a:p>
        </p:txBody>
      </p:sp>
      <p:pic>
        <p:nvPicPr>
          <p:cNvPr id="9" name="图片 8"/>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623922" y="1627684"/>
            <a:ext cx="324000" cy="360000"/>
          </a:xfrm>
          <a:prstGeom prst="rect">
            <a:avLst/>
          </a:prstGeom>
        </p:spPr>
      </p:pic>
      <p:pic>
        <p:nvPicPr>
          <p:cNvPr id="11" name="图片 1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478620" y="1627684"/>
            <a:ext cx="360000" cy="360000"/>
          </a:xfrm>
          <a:prstGeom prst="rect">
            <a:avLst/>
          </a:prstGeom>
        </p:spPr>
      </p:pic>
      <p:pic>
        <p:nvPicPr>
          <p:cNvPr id="17" name="图片 16"/>
          <p:cNvPicPr/>
          <p:nvPr/>
        </p:nvPicPr>
        <p:blipFill>
          <a:blip r:embed="rId4">
            <a:extLst>
              <a:ext uri="{28A0092B-C50C-407E-A947-70E740481C1C}">
                <a14:useLocalDpi xmlns:a14="http://schemas.microsoft.com/office/drawing/2010/main" val="0"/>
              </a:ext>
            </a:extLst>
          </a:blip>
          <a:stretch>
            <a:fillRect/>
          </a:stretch>
        </p:blipFill>
        <p:spPr>
          <a:xfrm>
            <a:off x="2477238" y="2595103"/>
            <a:ext cx="7237525" cy="3254368"/>
          </a:xfrm>
          <a:prstGeom prst="rect">
            <a:avLst/>
          </a:prstGeom>
        </p:spPr>
      </p:pic>
    </p:spTree>
    <p:extLst>
      <p:ext uri="{BB962C8B-B14F-4D97-AF65-F5344CB8AC3E}">
        <p14:creationId xmlns:p14="http://schemas.microsoft.com/office/powerpoint/2010/main" val="275484162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Box 9"/>
          <p:cNvSpPr txBox="1"/>
          <p:nvPr/>
        </p:nvSpPr>
        <p:spPr>
          <a:xfrm>
            <a:off x="4843093" y="5539587"/>
            <a:ext cx="2505814" cy="369332"/>
          </a:xfrm>
          <a:prstGeom prst="rect">
            <a:avLst/>
          </a:prstGeom>
          <a:noFill/>
        </p:spPr>
        <p:txBody>
          <a:bodyPr wrap="none" rtlCol="0">
            <a:spAutoFit/>
          </a:bodyPr>
          <a:lstStyle/>
          <a:p>
            <a:pPr algn="ctr"/>
            <a:r>
              <a:rPr lang="zh-CN" altLang="en-US" dirty="0"/>
              <a:t>图</a:t>
            </a:r>
            <a:r>
              <a:rPr lang="en-US" altLang="zh-CN" dirty="0"/>
              <a:t>2-34 </a:t>
            </a:r>
            <a:r>
              <a:rPr lang="zh-CN" altLang="en-US" dirty="0"/>
              <a:t>加厚图元的操作</a:t>
            </a:r>
          </a:p>
        </p:txBody>
      </p:sp>
      <p:sp>
        <p:nvSpPr>
          <p:cNvPr id="12" name="TextBox 11"/>
          <p:cNvSpPr txBox="1"/>
          <p:nvPr/>
        </p:nvSpPr>
        <p:spPr>
          <a:xfrm>
            <a:off x="457201" y="657989"/>
            <a:ext cx="10986246" cy="523220"/>
          </a:xfrm>
          <a:prstGeom prst="rect">
            <a:avLst/>
          </a:prstGeom>
          <a:noFill/>
        </p:spPr>
        <p:txBody>
          <a:bodyPr wrap="square" rtlCol="0">
            <a:spAutoFit/>
          </a:bodyPr>
          <a:lstStyle/>
          <a:p>
            <a:pPr indent="457200"/>
            <a:r>
              <a:rPr lang="zh-CN" altLang="en-US" sz="2800" dirty="0">
                <a:latin typeface="宋体" pitchFamily="2" charset="-122"/>
                <a:ea typeface="宋体" pitchFamily="2" charset="-122"/>
              </a:rPr>
              <a:t>加厚图元的操作如图</a:t>
            </a:r>
            <a:r>
              <a:rPr lang="en-US" altLang="zh-CN" sz="2800" dirty="0">
                <a:latin typeface="宋体" pitchFamily="2" charset="-122"/>
                <a:ea typeface="宋体" pitchFamily="2" charset="-122"/>
              </a:rPr>
              <a:t>2-34</a:t>
            </a:r>
            <a:r>
              <a:rPr lang="zh-CN" altLang="en-US" sz="2800" dirty="0">
                <a:latin typeface="宋体" pitchFamily="2" charset="-122"/>
                <a:ea typeface="宋体" pitchFamily="2" charset="-122"/>
              </a:rPr>
              <a:t>所示。</a:t>
            </a:r>
          </a:p>
        </p:txBody>
      </p:sp>
      <p:pic>
        <p:nvPicPr>
          <p:cNvPr id="8" name="图片 7"/>
          <p:cNvPicPr/>
          <p:nvPr/>
        </p:nvPicPr>
        <p:blipFill>
          <a:blip r:embed="rId2">
            <a:extLst>
              <a:ext uri="{28A0092B-C50C-407E-A947-70E740481C1C}">
                <a14:useLocalDpi xmlns:a14="http://schemas.microsoft.com/office/drawing/2010/main" val="0"/>
              </a:ext>
            </a:extLst>
          </a:blip>
          <a:stretch>
            <a:fillRect/>
          </a:stretch>
        </p:blipFill>
        <p:spPr>
          <a:xfrm>
            <a:off x="2866950" y="1552779"/>
            <a:ext cx="6458100" cy="3570550"/>
          </a:xfrm>
          <a:prstGeom prst="rect">
            <a:avLst/>
          </a:prstGeom>
        </p:spPr>
      </p:pic>
    </p:spTree>
    <p:extLst>
      <p:ext uri="{BB962C8B-B14F-4D97-AF65-F5344CB8AC3E}">
        <p14:creationId xmlns:p14="http://schemas.microsoft.com/office/powerpoint/2010/main" val="360798817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460562" y="430306"/>
            <a:ext cx="3223932" cy="830997"/>
          </a:xfrm>
          <a:prstGeom prst="rect">
            <a:avLst/>
          </a:prstGeom>
          <a:solidFill>
            <a:srgbClr val="0000FF"/>
          </a:solidFill>
        </p:spPr>
        <p:txBody>
          <a:bodyPr wrap="square" rtlCol="0">
            <a:spAutoFit/>
          </a:bodyPr>
          <a:lstStyle/>
          <a:p>
            <a:pPr>
              <a:lnSpc>
                <a:spcPct val="150000"/>
              </a:lnSpc>
            </a:pPr>
            <a:r>
              <a:rPr lang="en-US" altLang="zh-CN" sz="3200" dirty="0">
                <a:solidFill>
                  <a:schemeClr val="bg1"/>
                </a:solidFill>
                <a:latin typeface="Times New Roman" pitchFamily="18" charset="0"/>
                <a:ea typeface="黑体" pitchFamily="49" charset="-122"/>
              </a:rPr>
              <a:t>2.3</a:t>
            </a:r>
            <a:r>
              <a:rPr lang="zh-CN" altLang="en-US" sz="3200" dirty="0">
                <a:solidFill>
                  <a:schemeClr val="bg1"/>
                </a:solidFill>
                <a:latin typeface="Times New Roman" pitchFamily="18" charset="0"/>
                <a:ea typeface="黑体" pitchFamily="49" charset="-122"/>
              </a:rPr>
              <a:t>编辑二维图形</a:t>
            </a:r>
            <a:endParaRPr lang="en-US" altLang="zh-CN" sz="3200" dirty="0">
              <a:solidFill>
                <a:schemeClr val="bg1"/>
              </a:solidFill>
              <a:latin typeface="Times New Roman" pitchFamily="18" charset="0"/>
              <a:ea typeface="黑体" pitchFamily="49" charset="-122"/>
            </a:endParaRPr>
          </a:p>
        </p:txBody>
      </p:sp>
      <p:sp>
        <p:nvSpPr>
          <p:cNvPr id="9" name="TextBox 8"/>
          <p:cNvSpPr txBox="1"/>
          <p:nvPr/>
        </p:nvSpPr>
        <p:spPr>
          <a:xfrm>
            <a:off x="403411" y="1277477"/>
            <a:ext cx="3536577" cy="738664"/>
          </a:xfrm>
          <a:prstGeom prst="rect">
            <a:avLst/>
          </a:prstGeom>
          <a:noFill/>
        </p:spPr>
        <p:txBody>
          <a:bodyPr wrap="square" rtlCol="0">
            <a:spAutoFit/>
          </a:bodyPr>
          <a:lstStyle/>
          <a:p>
            <a:pPr>
              <a:lnSpc>
                <a:spcPct val="150000"/>
              </a:lnSpc>
            </a:pPr>
            <a:r>
              <a:rPr lang="en-US" altLang="zh-CN" sz="2800" b="1" dirty="0">
                <a:latin typeface="Times New Roman" pitchFamily="18" charset="0"/>
                <a:ea typeface="宋体" pitchFamily="2" charset="-122"/>
              </a:rPr>
              <a:t>2.3.1</a:t>
            </a:r>
            <a:r>
              <a:rPr lang="zh-CN" altLang="en-US" sz="2800" b="1" dirty="0">
                <a:latin typeface="Times New Roman" pitchFamily="18" charset="0"/>
                <a:ea typeface="宋体" pitchFamily="2" charset="-122"/>
              </a:rPr>
              <a:t>修剪与分割图元</a:t>
            </a:r>
          </a:p>
        </p:txBody>
      </p:sp>
      <p:sp>
        <p:nvSpPr>
          <p:cNvPr id="10" name="TextBox 9"/>
          <p:cNvSpPr txBox="1"/>
          <p:nvPr/>
        </p:nvSpPr>
        <p:spPr>
          <a:xfrm>
            <a:off x="403411" y="2016141"/>
            <a:ext cx="10986246" cy="1384995"/>
          </a:xfrm>
          <a:prstGeom prst="rect">
            <a:avLst/>
          </a:prstGeom>
          <a:noFill/>
        </p:spPr>
        <p:txBody>
          <a:bodyPr wrap="square" rtlCol="0">
            <a:spAutoFit/>
          </a:bodyPr>
          <a:lstStyle/>
          <a:p>
            <a:pPr indent="457200"/>
            <a:r>
              <a:rPr lang="en-US" altLang="zh-CN" sz="2800" dirty="0">
                <a:latin typeface="宋体" pitchFamily="2" charset="-122"/>
                <a:ea typeface="宋体" pitchFamily="2" charset="-122"/>
              </a:rPr>
              <a:t>1</a:t>
            </a:r>
            <a:r>
              <a:rPr lang="zh-CN" altLang="en-US" sz="2800" dirty="0">
                <a:latin typeface="宋体" pitchFamily="2" charset="-122"/>
                <a:ea typeface="宋体" pitchFamily="2" charset="-122"/>
              </a:rPr>
              <a:t>）删除段</a:t>
            </a:r>
          </a:p>
          <a:p>
            <a:pPr indent="457200"/>
            <a:r>
              <a:rPr lang="zh-CN" altLang="en-US" sz="2800" dirty="0">
                <a:latin typeface="宋体" pitchFamily="2" charset="-122"/>
                <a:ea typeface="宋体" pitchFamily="2" charset="-122"/>
              </a:rPr>
              <a:t>在功能区的</a:t>
            </a:r>
            <a:r>
              <a:rPr lang="en-US" altLang="zh-CN" sz="2800" dirty="0">
                <a:latin typeface="宋体" pitchFamily="2" charset="-122"/>
                <a:ea typeface="宋体" pitchFamily="2" charset="-122"/>
              </a:rPr>
              <a:t>【</a:t>
            </a:r>
            <a:r>
              <a:rPr lang="zh-CN" altLang="en-US" sz="2800" dirty="0">
                <a:latin typeface="宋体" pitchFamily="2" charset="-122"/>
                <a:ea typeface="宋体" pitchFamily="2" charset="-122"/>
              </a:rPr>
              <a:t>草绘</a:t>
            </a:r>
            <a:r>
              <a:rPr lang="en-US" altLang="zh-CN" sz="2800" dirty="0">
                <a:latin typeface="宋体" pitchFamily="2" charset="-122"/>
                <a:ea typeface="宋体" pitchFamily="2" charset="-122"/>
              </a:rPr>
              <a:t>】</a:t>
            </a:r>
            <a:r>
              <a:rPr lang="zh-CN" altLang="en-US" sz="2800" dirty="0">
                <a:latin typeface="宋体" pitchFamily="2" charset="-122"/>
                <a:ea typeface="宋体" pitchFamily="2" charset="-122"/>
              </a:rPr>
              <a:t>选项卡的</a:t>
            </a:r>
            <a:r>
              <a:rPr lang="en-US" altLang="zh-CN" sz="2800" dirty="0">
                <a:latin typeface="宋体" pitchFamily="2" charset="-122"/>
                <a:ea typeface="宋体" pitchFamily="2" charset="-122"/>
              </a:rPr>
              <a:t>【</a:t>
            </a:r>
            <a:r>
              <a:rPr lang="zh-CN" altLang="en-US" sz="2800" dirty="0">
                <a:latin typeface="宋体" pitchFamily="2" charset="-122"/>
                <a:ea typeface="宋体" pitchFamily="2" charset="-122"/>
              </a:rPr>
              <a:t>编辑</a:t>
            </a:r>
            <a:r>
              <a:rPr lang="en-US" altLang="zh-CN" sz="2800" dirty="0">
                <a:latin typeface="宋体" pitchFamily="2" charset="-122"/>
                <a:ea typeface="宋体" pitchFamily="2" charset="-122"/>
              </a:rPr>
              <a:t>】</a:t>
            </a:r>
            <a:r>
              <a:rPr lang="zh-CN" altLang="en-US" sz="2800" dirty="0">
                <a:latin typeface="宋体" pitchFamily="2" charset="-122"/>
                <a:ea typeface="宋体" pitchFamily="2" charset="-122"/>
              </a:rPr>
              <a:t>组中单击“删除段”按钮  ，接着在图形窗口中单击要删除的段，则该段即被删除。</a:t>
            </a:r>
          </a:p>
        </p:txBody>
      </p:sp>
      <p:pic>
        <p:nvPicPr>
          <p:cNvPr id="11" name="图片 10"/>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908179" y="2528638"/>
            <a:ext cx="312000" cy="360000"/>
          </a:xfrm>
          <a:prstGeom prst="rect">
            <a:avLst/>
          </a:prstGeom>
        </p:spPr>
      </p:pic>
      <p:sp>
        <p:nvSpPr>
          <p:cNvPr id="12" name="TextBox 11"/>
          <p:cNvSpPr txBox="1"/>
          <p:nvPr/>
        </p:nvSpPr>
        <p:spPr>
          <a:xfrm>
            <a:off x="393326" y="3849421"/>
            <a:ext cx="11372849" cy="2246769"/>
          </a:xfrm>
          <a:prstGeom prst="rect">
            <a:avLst/>
          </a:prstGeom>
          <a:noFill/>
        </p:spPr>
        <p:txBody>
          <a:bodyPr wrap="square" rtlCol="0">
            <a:spAutoFit/>
          </a:bodyPr>
          <a:lstStyle/>
          <a:p>
            <a:pPr indent="457200"/>
            <a:r>
              <a:rPr lang="en-US" altLang="zh-CN" sz="2800" dirty="0">
                <a:latin typeface="宋体" pitchFamily="2" charset="-122"/>
                <a:ea typeface="宋体" pitchFamily="2" charset="-122"/>
              </a:rPr>
              <a:t>2</a:t>
            </a:r>
            <a:r>
              <a:rPr lang="zh-CN" altLang="en-US" sz="2800" dirty="0">
                <a:latin typeface="宋体" pitchFamily="2" charset="-122"/>
                <a:ea typeface="宋体" pitchFamily="2" charset="-122"/>
              </a:rPr>
              <a:t>）拐角</a:t>
            </a:r>
          </a:p>
          <a:p>
            <a:pPr indent="457200"/>
            <a:r>
              <a:rPr lang="zh-CN" altLang="en-US" sz="2800" dirty="0">
                <a:latin typeface="宋体" pitchFamily="2" charset="-122"/>
                <a:ea typeface="宋体" pitchFamily="2" charset="-122"/>
              </a:rPr>
              <a:t>“拐角”命令用于将图元修剪（剪切或延伸）到其他图元或几何，该操作属于相互修剪图元。在功能区的</a:t>
            </a:r>
            <a:r>
              <a:rPr lang="en-US" altLang="zh-CN" sz="2800" dirty="0">
                <a:latin typeface="宋体" pitchFamily="2" charset="-122"/>
                <a:ea typeface="宋体" pitchFamily="2" charset="-122"/>
              </a:rPr>
              <a:t>【</a:t>
            </a:r>
            <a:r>
              <a:rPr lang="zh-CN" altLang="en-US" sz="2800" dirty="0">
                <a:latin typeface="宋体" pitchFamily="2" charset="-122"/>
                <a:ea typeface="宋体" pitchFamily="2" charset="-122"/>
              </a:rPr>
              <a:t>草绘</a:t>
            </a:r>
            <a:r>
              <a:rPr lang="en-US" altLang="zh-CN" sz="2800" dirty="0">
                <a:latin typeface="宋体" pitchFamily="2" charset="-122"/>
                <a:ea typeface="宋体" pitchFamily="2" charset="-122"/>
              </a:rPr>
              <a:t>】</a:t>
            </a:r>
            <a:r>
              <a:rPr lang="zh-CN" altLang="en-US" sz="2800" dirty="0">
                <a:latin typeface="宋体" pitchFamily="2" charset="-122"/>
                <a:ea typeface="宋体" pitchFamily="2" charset="-122"/>
              </a:rPr>
              <a:t>选项卡的</a:t>
            </a:r>
            <a:r>
              <a:rPr lang="en-US" altLang="zh-CN" sz="2800" dirty="0">
                <a:latin typeface="宋体" pitchFamily="2" charset="-122"/>
                <a:ea typeface="宋体" pitchFamily="2" charset="-122"/>
              </a:rPr>
              <a:t>【</a:t>
            </a:r>
            <a:r>
              <a:rPr lang="zh-CN" altLang="en-US" sz="2800" dirty="0">
                <a:latin typeface="宋体" pitchFamily="2" charset="-122"/>
                <a:ea typeface="宋体" pitchFamily="2" charset="-122"/>
              </a:rPr>
              <a:t>编辑</a:t>
            </a:r>
            <a:r>
              <a:rPr lang="en-US" altLang="zh-CN" sz="2800" dirty="0">
                <a:latin typeface="宋体" pitchFamily="2" charset="-122"/>
                <a:ea typeface="宋体" pitchFamily="2" charset="-122"/>
              </a:rPr>
              <a:t>】</a:t>
            </a:r>
            <a:r>
              <a:rPr lang="zh-CN" altLang="en-US" sz="2800" dirty="0">
                <a:latin typeface="宋体" pitchFamily="2" charset="-122"/>
                <a:ea typeface="宋体" pitchFamily="2" charset="-122"/>
              </a:rPr>
              <a:t>组中单击“拐角”按钮  ，接着在要保留的图元部分上单击任意两个图元（二者不必相交），则 </a:t>
            </a:r>
            <a:r>
              <a:rPr lang="en-US" altLang="zh-CN" sz="2800" dirty="0" err="1">
                <a:latin typeface="宋体" pitchFamily="2" charset="-122"/>
                <a:ea typeface="宋体" pitchFamily="2" charset="-122"/>
              </a:rPr>
              <a:t>Creo</a:t>
            </a:r>
            <a:r>
              <a:rPr lang="en-US" altLang="zh-CN" sz="2800" dirty="0">
                <a:latin typeface="宋体" pitchFamily="2" charset="-122"/>
                <a:ea typeface="宋体" pitchFamily="2" charset="-122"/>
              </a:rPr>
              <a:t> Parametric</a:t>
            </a:r>
            <a:r>
              <a:rPr lang="zh-CN" altLang="en-US" sz="2800" dirty="0">
                <a:latin typeface="宋体" pitchFamily="2" charset="-122"/>
                <a:ea typeface="宋体" pitchFamily="2" charset="-122"/>
              </a:rPr>
              <a:t>将这两个图元对象一起修剪。</a:t>
            </a:r>
          </a:p>
        </p:txBody>
      </p:sp>
      <p:pic>
        <p:nvPicPr>
          <p:cNvPr id="13" name="图片 1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984052" y="5216339"/>
            <a:ext cx="326400" cy="360000"/>
          </a:xfrm>
          <a:prstGeom prst="rect">
            <a:avLst/>
          </a:prstGeom>
        </p:spPr>
      </p:pic>
    </p:spTree>
    <p:extLst>
      <p:ext uri="{BB962C8B-B14F-4D97-AF65-F5344CB8AC3E}">
        <p14:creationId xmlns:p14="http://schemas.microsoft.com/office/powerpoint/2010/main" val="76598052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Box 9"/>
          <p:cNvSpPr txBox="1"/>
          <p:nvPr/>
        </p:nvSpPr>
        <p:spPr>
          <a:xfrm>
            <a:off x="403411" y="1276556"/>
            <a:ext cx="11214848" cy="2246769"/>
          </a:xfrm>
          <a:prstGeom prst="rect">
            <a:avLst/>
          </a:prstGeom>
          <a:noFill/>
        </p:spPr>
        <p:txBody>
          <a:bodyPr wrap="square" rtlCol="0">
            <a:spAutoFit/>
          </a:bodyPr>
          <a:lstStyle/>
          <a:p>
            <a:pPr indent="457200"/>
            <a:r>
              <a:rPr lang="en-US" altLang="zh-CN" sz="2800" dirty="0">
                <a:latin typeface="宋体" pitchFamily="2" charset="-122"/>
                <a:ea typeface="宋体" pitchFamily="2" charset="-122"/>
              </a:rPr>
              <a:t>3</a:t>
            </a:r>
            <a:r>
              <a:rPr lang="zh-CN" altLang="en-US" sz="2800" dirty="0">
                <a:latin typeface="宋体" pitchFamily="2" charset="-122"/>
                <a:ea typeface="宋体" pitchFamily="2" charset="-122"/>
              </a:rPr>
              <a:t>）分割</a:t>
            </a:r>
          </a:p>
          <a:p>
            <a:pPr indent="457200"/>
            <a:r>
              <a:rPr lang="zh-CN" altLang="en-US" sz="2800" dirty="0">
                <a:latin typeface="宋体" pitchFamily="2" charset="-122"/>
                <a:ea typeface="宋体" pitchFamily="2" charset="-122"/>
              </a:rPr>
              <a:t>“分割”命令用于在选择点的位置处分割图元，可将一个截面图元分割成两个或多个新图元。要分割图元，则在功能区的</a:t>
            </a:r>
            <a:r>
              <a:rPr lang="en-US" altLang="zh-CN" sz="2800" dirty="0">
                <a:latin typeface="宋体" pitchFamily="2" charset="-122"/>
                <a:ea typeface="宋体" pitchFamily="2" charset="-122"/>
              </a:rPr>
              <a:t>【</a:t>
            </a:r>
            <a:r>
              <a:rPr lang="zh-CN" altLang="en-US" sz="2800" dirty="0">
                <a:latin typeface="宋体" pitchFamily="2" charset="-122"/>
                <a:ea typeface="宋体" pitchFamily="2" charset="-122"/>
              </a:rPr>
              <a:t>草绘</a:t>
            </a:r>
            <a:r>
              <a:rPr lang="en-US" altLang="zh-CN" sz="2800" dirty="0">
                <a:latin typeface="宋体" pitchFamily="2" charset="-122"/>
                <a:ea typeface="宋体" pitchFamily="2" charset="-122"/>
              </a:rPr>
              <a:t>】</a:t>
            </a:r>
            <a:r>
              <a:rPr lang="zh-CN" altLang="en-US" sz="2800" dirty="0">
                <a:latin typeface="宋体" pitchFamily="2" charset="-122"/>
                <a:ea typeface="宋体" pitchFamily="2" charset="-122"/>
              </a:rPr>
              <a:t>选项卡的</a:t>
            </a:r>
            <a:r>
              <a:rPr lang="en-US" altLang="zh-CN" sz="2800" dirty="0">
                <a:latin typeface="宋体" pitchFamily="2" charset="-122"/>
                <a:ea typeface="宋体" pitchFamily="2" charset="-122"/>
              </a:rPr>
              <a:t>【</a:t>
            </a:r>
            <a:r>
              <a:rPr lang="zh-CN" altLang="en-US" sz="2800" dirty="0">
                <a:latin typeface="宋体" pitchFamily="2" charset="-122"/>
                <a:ea typeface="宋体" pitchFamily="2" charset="-122"/>
              </a:rPr>
              <a:t>编辑</a:t>
            </a:r>
            <a:r>
              <a:rPr lang="en-US" altLang="zh-CN" sz="2800" dirty="0">
                <a:latin typeface="宋体" pitchFamily="2" charset="-122"/>
                <a:ea typeface="宋体" pitchFamily="2" charset="-122"/>
              </a:rPr>
              <a:t>】</a:t>
            </a:r>
            <a:r>
              <a:rPr lang="zh-CN" altLang="en-US" sz="2800" dirty="0">
                <a:latin typeface="宋体" pitchFamily="2" charset="-122"/>
                <a:ea typeface="宋体" pitchFamily="2" charset="-122"/>
              </a:rPr>
              <a:t>组中单击“分割”按钮  ，接着在要分割的位置单击图元，图元便在指定位置处分割。</a:t>
            </a:r>
          </a:p>
        </p:txBody>
      </p:sp>
      <p:pic>
        <p:nvPicPr>
          <p:cNvPr id="8" name="图片 7"/>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790493" y="2617184"/>
            <a:ext cx="360000" cy="360000"/>
          </a:xfrm>
          <a:prstGeom prst="rect">
            <a:avLst/>
          </a:prstGeom>
        </p:spPr>
      </p:pic>
    </p:spTree>
    <p:extLst>
      <p:ext uri="{BB962C8B-B14F-4D97-AF65-F5344CB8AC3E}">
        <p14:creationId xmlns:p14="http://schemas.microsoft.com/office/powerpoint/2010/main" val="111974487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p:cNvSpPr txBox="1"/>
          <p:nvPr/>
        </p:nvSpPr>
        <p:spPr>
          <a:xfrm>
            <a:off x="403411" y="497551"/>
            <a:ext cx="3536577" cy="656846"/>
          </a:xfrm>
          <a:prstGeom prst="rect">
            <a:avLst/>
          </a:prstGeom>
          <a:noFill/>
        </p:spPr>
        <p:txBody>
          <a:bodyPr wrap="square" rtlCol="0">
            <a:spAutoFit/>
          </a:bodyPr>
          <a:lstStyle/>
          <a:p>
            <a:pPr>
              <a:lnSpc>
                <a:spcPct val="150000"/>
              </a:lnSpc>
            </a:pPr>
            <a:r>
              <a:rPr lang="en-US" altLang="zh-CN" sz="2800" b="1" dirty="0">
                <a:latin typeface="Times New Roman" pitchFamily="18" charset="0"/>
                <a:ea typeface="宋体" pitchFamily="2" charset="-122"/>
              </a:rPr>
              <a:t>2.3.2</a:t>
            </a:r>
            <a:r>
              <a:rPr lang="zh-CN" altLang="en-US" sz="2800" b="1" dirty="0">
                <a:latin typeface="Times New Roman" pitchFamily="18" charset="0"/>
                <a:ea typeface="宋体" pitchFamily="2" charset="-122"/>
              </a:rPr>
              <a:t>镜像几何图元</a:t>
            </a:r>
          </a:p>
        </p:txBody>
      </p:sp>
      <p:sp>
        <p:nvSpPr>
          <p:cNvPr id="10" name="TextBox 9"/>
          <p:cNvSpPr txBox="1"/>
          <p:nvPr/>
        </p:nvSpPr>
        <p:spPr>
          <a:xfrm>
            <a:off x="403411" y="1209321"/>
            <a:ext cx="10986246" cy="2246769"/>
          </a:xfrm>
          <a:prstGeom prst="rect">
            <a:avLst/>
          </a:prstGeom>
          <a:noFill/>
        </p:spPr>
        <p:txBody>
          <a:bodyPr wrap="square" rtlCol="0">
            <a:spAutoFit/>
          </a:bodyPr>
          <a:lstStyle/>
          <a:p>
            <a:pPr indent="457200"/>
            <a:r>
              <a:rPr lang="zh-CN" altLang="en-US" sz="2800" dirty="0">
                <a:latin typeface="宋体" pitchFamily="2" charset="-122"/>
                <a:ea typeface="宋体" pitchFamily="2" charset="-122"/>
              </a:rPr>
              <a:t>镜像几何图元，应先确保草绘中包括一条中心线，并选择要镜像的一个或多个几何图元，接着在功能区的</a:t>
            </a:r>
            <a:r>
              <a:rPr lang="en-US" altLang="zh-CN" sz="2800" dirty="0">
                <a:latin typeface="宋体" pitchFamily="2" charset="-122"/>
                <a:ea typeface="宋体" pitchFamily="2" charset="-122"/>
              </a:rPr>
              <a:t>【</a:t>
            </a:r>
            <a:r>
              <a:rPr lang="zh-CN" altLang="en-US" sz="2800" dirty="0">
                <a:latin typeface="宋体" pitchFamily="2" charset="-122"/>
                <a:ea typeface="宋体" pitchFamily="2" charset="-122"/>
              </a:rPr>
              <a:t>草绘</a:t>
            </a:r>
            <a:r>
              <a:rPr lang="en-US" altLang="zh-CN" sz="2800" dirty="0">
                <a:latin typeface="宋体" pitchFamily="2" charset="-122"/>
                <a:ea typeface="宋体" pitchFamily="2" charset="-122"/>
              </a:rPr>
              <a:t>】</a:t>
            </a:r>
            <a:r>
              <a:rPr lang="zh-CN" altLang="en-US" sz="2800" dirty="0">
                <a:latin typeface="宋体" pitchFamily="2" charset="-122"/>
                <a:ea typeface="宋体" pitchFamily="2" charset="-122"/>
              </a:rPr>
              <a:t>选项卡的</a:t>
            </a:r>
            <a:r>
              <a:rPr lang="en-US" altLang="zh-CN" sz="2800" dirty="0">
                <a:latin typeface="宋体" pitchFamily="2" charset="-122"/>
                <a:ea typeface="宋体" pitchFamily="2" charset="-122"/>
              </a:rPr>
              <a:t>【</a:t>
            </a:r>
            <a:r>
              <a:rPr lang="zh-CN" altLang="en-US" sz="2800" dirty="0">
                <a:latin typeface="宋体" pitchFamily="2" charset="-122"/>
                <a:ea typeface="宋体" pitchFamily="2" charset="-122"/>
              </a:rPr>
              <a:t>编辑</a:t>
            </a:r>
            <a:r>
              <a:rPr lang="en-US" altLang="zh-CN" sz="2800" dirty="0">
                <a:latin typeface="宋体" pitchFamily="2" charset="-122"/>
                <a:ea typeface="宋体" pitchFamily="2" charset="-122"/>
              </a:rPr>
              <a:t>】</a:t>
            </a:r>
            <a:r>
              <a:rPr lang="zh-CN" altLang="en-US" sz="2800" dirty="0">
                <a:latin typeface="宋体" pitchFamily="2" charset="-122"/>
                <a:ea typeface="宋体" pitchFamily="2" charset="-122"/>
              </a:rPr>
              <a:t>组中单击“镜像”按钮  ，然后在图形窗口中选择一条中心线，系统针对所选定的中心线镜像所有选定的几何形状。创建镜像图元如图</a:t>
            </a:r>
            <a:r>
              <a:rPr lang="en-US" altLang="zh-CN" sz="2800" dirty="0">
                <a:latin typeface="宋体" pitchFamily="2" charset="-122"/>
                <a:ea typeface="宋体" pitchFamily="2" charset="-122"/>
              </a:rPr>
              <a:t>2-35</a:t>
            </a:r>
            <a:r>
              <a:rPr lang="zh-CN" altLang="en-US" sz="2800" dirty="0">
                <a:latin typeface="宋体" pitchFamily="2" charset="-122"/>
                <a:ea typeface="宋体" pitchFamily="2" charset="-122"/>
              </a:rPr>
              <a:t>所示。</a:t>
            </a:r>
          </a:p>
        </p:txBody>
      </p:sp>
      <p:pic>
        <p:nvPicPr>
          <p:cNvPr id="8" name="图片 7"/>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655171" y="2166152"/>
            <a:ext cx="343200" cy="360000"/>
          </a:xfrm>
          <a:prstGeom prst="rect">
            <a:avLst/>
          </a:prstGeom>
        </p:spPr>
      </p:pic>
      <p:pic>
        <p:nvPicPr>
          <p:cNvPr id="14" name="图片 13"/>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894095" y="3306102"/>
            <a:ext cx="4403810" cy="2290952"/>
          </a:xfrm>
          <a:prstGeom prst="rect">
            <a:avLst/>
          </a:prstGeom>
        </p:spPr>
      </p:pic>
      <p:sp>
        <p:nvSpPr>
          <p:cNvPr id="15" name="TextBox 14"/>
          <p:cNvSpPr txBox="1"/>
          <p:nvPr/>
        </p:nvSpPr>
        <p:spPr>
          <a:xfrm>
            <a:off x="4958509" y="5700951"/>
            <a:ext cx="2274982" cy="369332"/>
          </a:xfrm>
          <a:prstGeom prst="rect">
            <a:avLst/>
          </a:prstGeom>
          <a:noFill/>
        </p:spPr>
        <p:txBody>
          <a:bodyPr wrap="none" rtlCol="0">
            <a:spAutoFit/>
          </a:bodyPr>
          <a:lstStyle/>
          <a:p>
            <a:pPr algn="ctr"/>
            <a:r>
              <a:rPr lang="zh-CN" altLang="en-US" dirty="0"/>
              <a:t>图</a:t>
            </a:r>
            <a:r>
              <a:rPr lang="en-US" altLang="zh-CN" dirty="0"/>
              <a:t>2-35 </a:t>
            </a:r>
            <a:r>
              <a:rPr lang="zh-CN" altLang="en-US" dirty="0"/>
              <a:t>创建镜像图元</a:t>
            </a:r>
          </a:p>
        </p:txBody>
      </p:sp>
    </p:spTree>
    <p:extLst>
      <p:ext uri="{BB962C8B-B14F-4D97-AF65-F5344CB8AC3E}">
        <p14:creationId xmlns:p14="http://schemas.microsoft.com/office/powerpoint/2010/main" val="36993675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p:cNvSpPr txBox="1"/>
          <p:nvPr/>
        </p:nvSpPr>
        <p:spPr>
          <a:xfrm>
            <a:off x="403411" y="497551"/>
            <a:ext cx="4555098" cy="738664"/>
          </a:xfrm>
          <a:prstGeom prst="rect">
            <a:avLst/>
          </a:prstGeom>
          <a:noFill/>
        </p:spPr>
        <p:txBody>
          <a:bodyPr wrap="square" rtlCol="0">
            <a:spAutoFit/>
          </a:bodyPr>
          <a:lstStyle/>
          <a:p>
            <a:pPr>
              <a:lnSpc>
                <a:spcPct val="150000"/>
              </a:lnSpc>
            </a:pPr>
            <a:r>
              <a:rPr lang="en-US" altLang="zh-CN" sz="2800" b="1" dirty="0">
                <a:latin typeface="Times New Roman" pitchFamily="18" charset="0"/>
                <a:ea typeface="宋体" pitchFamily="2" charset="-122"/>
              </a:rPr>
              <a:t>2.3.3</a:t>
            </a:r>
            <a:r>
              <a:rPr lang="zh-CN" altLang="en-US" sz="2800" b="1" dirty="0">
                <a:latin typeface="Times New Roman" pitchFamily="18" charset="0"/>
                <a:ea typeface="宋体" pitchFamily="2" charset="-122"/>
              </a:rPr>
              <a:t>平移、缩放、旋转图形</a:t>
            </a:r>
          </a:p>
        </p:txBody>
      </p:sp>
      <p:sp>
        <p:nvSpPr>
          <p:cNvPr id="10" name="TextBox 9"/>
          <p:cNvSpPr txBox="1"/>
          <p:nvPr/>
        </p:nvSpPr>
        <p:spPr>
          <a:xfrm>
            <a:off x="5392272" y="1249662"/>
            <a:ext cx="6669740" cy="954107"/>
          </a:xfrm>
          <a:prstGeom prst="rect">
            <a:avLst/>
          </a:prstGeom>
          <a:noFill/>
        </p:spPr>
        <p:txBody>
          <a:bodyPr wrap="square" rtlCol="0">
            <a:spAutoFit/>
          </a:bodyPr>
          <a:lstStyle/>
          <a:p>
            <a:pPr indent="457200"/>
            <a:r>
              <a:rPr lang="en-US" altLang="zh-CN" sz="2800" dirty="0">
                <a:latin typeface="宋体" pitchFamily="2" charset="-122"/>
                <a:ea typeface="宋体" pitchFamily="2" charset="-122"/>
              </a:rPr>
              <a:t>2</a:t>
            </a:r>
            <a:r>
              <a:rPr lang="zh-CN" altLang="en-US" sz="2800" dirty="0">
                <a:latin typeface="宋体" pitchFamily="2" charset="-122"/>
                <a:ea typeface="宋体" pitchFamily="2" charset="-122"/>
              </a:rPr>
              <a:t>）在功能区的</a:t>
            </a:r>
            <a:r>
              <a:rPr lang="en-US" altLang="zh-CN" sz="2800" dirty="0">
                <a:latin typeface="宋体" pitchFamily="2" charset="-122"/>
                <a:ea typeface="宋体" pitchFamily="2" charset="-122"/>
              </a:rPr>
              <a:t>【</a:t>
            </a:r>
            <a:r>
              <a:rPr lang="zh-CN" altLang="en-US" sz="2800" dirty="0">
                <a:latin typeface="宋体" pitchFamily="2" charset="-122"/>
                <a:ea typeface="宋体" pitchFamily="2" charset="-122"/>
              </a:rPr>
              <a:t>草绘</a:t>
            </a:r>
            <a:r>
              <a:rPr lang="en-US" altLang="zh-CN" sz="2800" dirty="0">
                <a:latin typeface="宋体" pitchFamily="2" charset="-122"/>
                <a:ea typeface="宋体" pitchFamily="2" charset="-122"/>
              </a:rPr>
              <a:t>】</a:t>
            </a:r>
            <a:r>
              <a:rPr lang="zh-CN" altLang="en-US" sz="2800" dirty="0">
                <a:latin typeface="宋体" pitchFamily="2" charset="-122"/>
                <a:ea typeface="宋体" pitchFamily="2" charset="-122"/>
              </a:rPr>
              <a:t>选项卡的</a:t>
            </a:r>
            <a:r>
              <a:rPr lang="en-US" altLang="zh-CN" sz="2800" dirty="0">
                <a:latin typeface="宋体" pitchFamily="2" charset="-122"/>
                <a:ea typeface="宋体" pitchFamily="2" charset="-122"/>
              </a:rPr>
              <a:t>【</a:t>
            </a:r>
            <a:r>
              <a:rPr lang="zh-CN" altLang="en-US" sz="2800" dirty="0">
                <a:latin typeface="宋体" pitchFamily="2" charset="-122"/>
                <a:ea typeface="宋体" pitchFamily="2" charset="-122"/>
              </a:rPr>
              <a:t>编辑</a:t>
            </a:r>
            <a:r>
              <a:rPr lang="en-US" altLang="zh-CN" sz="2800" dirty="0">
                <a:latin typeface="宋体" pitchFamily="2" charset="-122"/>
                <a:ea typeface="宋体" pitchFamily="2" charset="-122"/>
              </a:rPr>
              <a:t>】</a:t>
            </a:r>
            <a:r>
              <a:rPr lang="zh-CN" altLang="en-US" sz="2800" dirty="0">
                <a:latin typeface="宋体" pitchFamily="2" charset="-122"/>
                <a:ea typeface="宋体" pitchFamily="2" charset="-122"/>
              </a:rPr>
              <a:t>面板中单击“旋转调整大小”  按钮</a:t>
            </a:r>
          </a:p>
        </p:txBody>
      </p:sp>
      <p:sp>
        <p:nvSpPr>
          <p:cNvPr id="15" name="TextBox 14"/>
          <p:cNvSpPr txBox="1"/>
          <p:nvPr/>
        </p:nvSpPr>
        <p:spPr>
          <a:xfrm>
            <a:off x="1312634" y="5385407"/>
            <a:ext cx="2736648" cy="369332"/>
          </a:xfrm>
          <a:prstGeom prst="rect">
            <a:avLst/>
          </a:prstGeom>
          <a:noFill/>
        </p:spPr>
        <p:txBody>
          <a:bodyPr wrap="none" rtlCol="0">
            <a:spAutoFit/>
          </a:bodyPr>
          <a:lstStyle/>
          <a:p>
            <a:pPr algn="ctr"/>
            <a:r>
              <a:rPr lang="zh-CN" altLang="en-US" dirty="0"/>
              <a:t>图</a:t>
            </a:r>
            <a:r>
              <a:rPr lang="en-US" altLang="zh-CN" dirty="0"/>
              <a:t>2-36 </a:t>
            </a:r>
            <a:r>
              <a:rPr lang="zh-CN" altLang="en-US" dirty="0"/>
              <a:t>打开选择命令列表</a:t>
            </a:r>
          </a:p>
        </p:txBody>
      </p:sp>
      <p:pic>
        <p:nvPicPr>
          <p:cNvPr id="7" name="图片 6"/>
          <p:cNvPicPr/>
          <p:nvPr/>
        </p:nvPicPr>
        <p:blipFill>
          <a:blip r:embed="rId2">
            <a:extLst>
              <a:ext uri="{28A0092B-C50C-407E-A947-70E740481C1C}">
                <a14:useLocalDpi xmlns:a14="http://schemas.microsoft.com/office/drawing/2010/main" val="0"/>
              </a:ext>
            </a:extLst>
          </a:blip>
          <a:stretch>
            <a:fillRect/>
          </a:stretch>
        </p:blipFill>
        <p:spPr>
          <a:xfrm>
            <a:off x="733592" y="2206240"/>
            <a:ext cx="3894735" cy="2836405"/>
          </a:xfrm>
          <a:prstGeom prst="rect">
            <a:avLst/>
          </a:prstGeom>
        </p:spPr>
      </p:pic>
      <p:sp>
        <p:nvSpPr>
          <p:cNvPr id="11" name="TextBox 10"/>
          <p:cNvSpPr txBox="1"/>
          <p:nvPr/>
        </p:nvSpPr>
        <p:spPr>
          <a:xfrm>
            <a:off x="-65603" y="1267086"/>
            <a:ext cx="5493123" cy="523220"/>
          </a:xfrm>
          <a:prstGeom prst="rect">
            <a:avLst/>
          </a:prstGeom>
          <a:noFill/>
        </p:spPr>
        <p:txBody>
          <a:bodyPr wrap="square" rtlCol="0">
            <a:spAutoFit/>
          </a:bodyPr>
          <a:lstStyle/>
          <a:p>
            <a:pPr indent="457200"/>
            <a:r>
              <a:rPr lang="en-US" altLang="zh-CN" sz="2800" dirty="0">
                <a:latin typeface="宋体" pitchFamily="2" charset="-122"/>
                <a:ea typeface="宋体" pitchFamily="2" charset="-122"/>
              </a:rPr>
              <a:t>1</a:t>
            </a:r>
            <a:r>
              <a:rPr lang="zh-CN" altLang="en-US" sz="2800" dirty="0">
                <a:latin typeface="宋体" pitchFamily="2" charset="-122"/>
                <a:ea typeface="宋体" pitchFamily="2" charset="-122"/>
              </a:rPr>
              <a:t>）选择要操作的图形</a:t>
            </a:r>
          </a:p>
        </p:txBody>
      </p:sp>
      <p:pic>
        <p:nvPicPr>
          <p:cNvPr id="12" name="图片 1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720668" y="1780927"/>
            <a:ext cx="360000" cy="360000"/>
          </a:xfrm>
          <a:prstGeom prst="rect">
            <a:avLst/>
          </a:prstGeom>
        </p:spPr>
      </p:pic>
      <p:pic>
        <p:nvPicPr>
          <p:cNvPr id="13" name="图片 12"/>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602500" y="2176873"/>
            <a:ext cx="4874433" cy="3484351"/>
          </a:xfrm>
          <a:prstGeom prst="rect">
            <a:avLst/>
          </a:prstGeom>
        </p:spPr>
      </p:pic>
      <p:sp>
        <p:nvSpPr>
          <p:cNvPr id="16" name="TextBox 15"/>
          <p:cNvSpPr txBox="1"/>
          <p:nvPr/>
        </p:nvSpPr>
        <p:spPr>
          <a:xfrm>
            <a:off x="6566077" y="5745775"/>
            <a:ext cx="4448654" cy="369332"/>
          </a:xfrm>
          <a:prstGeom prst="rect">
            <a:avLst/>
          </a:prstGeom>
          <a:noFill/>
        </p:spPr>
        <p:txBody>
          <a:bodyPr wrap="none" rtlCol="0">
            <a:spAutoFit/>
          </a:bodyPr>
          <a:lstStyle/>
          <a:p>
            <a:pPr algn="ctr"/>
            <a:r>
              <a:rPr lang="zh-CN" altLang="en-US" dirty="0"/>
              <a:t>图</a:t>
            </a:r>
            <a:r>
              <a:rPr lang="en-US" altLang="zh-CN" dirty="0"/>
              <a:t>2-37 “</a:t>
            </a:r>
            <a:r>
              <a:rPr lang="zh-CN" altLang="en-US" dirty="0"/>
              <a:t>拖动”“平移”“旋转”控制滑块</a:t>
            </a:r>
          </a:p>
        </p:txBody>
      </p:sp>
    </p:spTree>
    <p:extLst>
      <p:ext uri="{BB962C8B-B14F-4D97-AF65-F5344CB8AC3E}">
        <p14:creationId xmlns:p14="http://schemas.microsoft.com/office/powerpoint/2010/main" val="170056404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extBox 13"/>
          <p:cNvSpPr txBox="1"/>
          <p:nvPr/>
        </p:nvSpPr>
        <p:spPr>
          <a:xfrm>
            <a:off x="658907" y="913484"/>
            <a:ext cx="10033094" cy="954107"/>
          </a:xfrm>
          <a:prstGeom prst="rect">
            <a:avLst/>
          </a:prstGeom>
          <a:noFill/>
        </p:spPr>
        <p:txBody>
          <a:bodyPr wrap="square" rtlCol="0">
            <a:spAutoFit/>
          </a:bodyPr>
          <a:lstStyle/>
          <a:p>
            <a:pPr indent="457200"/>
            <a:r>
              <a:rPr lang="en-US" altLang="zh-CN" sz="2800" dirty="0">
                <a:latin typeface="宋体" pitchFamily="2" charset="-122"/>
                <a:ea typeface="宋体" pitchFamily="2" charset="-122"/>
              </a:rPr>
              <a:t>3</a:t>
            </a:r>
            <a:r>
              <a:rPr lang="zh-CN" altLang="en-US" sz="2800" dirty="0">
                <a:latin typeface="宋体" pitchFamily="2" charset="-122"/>
                <a:ea typeface="宋体" pitchFamily="2" charset="-122"/>
              </a:rPr>
              <a:t>）在</a:t>
            </a:r>
            <a:r>
              <a:rPr lang="en-US" altLang="zh-CN" sz="2800" dirty="0">
                <a:latin typeface="宋体" pitchFamily="2" charset="-122"/>
                <a:ea typeface="宋体" pitchFamily="2" charset="-122"/>
              </a:rPr>
              <a:t>【</a:t>
            </a:r>
            <a:r>
              <a:rPr lang="zh-CN" altLang="en-US" sz="2800" dirty="0">
                <a:latin typeface="宋体" pitchFamily="2" charset="-122"/>
                <a:ea typeface="宋体" pitchFamily="2" charset="-122"/>
              </a:rPr>
              <a:t>旋转调整大小</a:t>
            </a:r>
            <a:r>
              <a:rPr lang="en-US" altLang="zh-CN" sz="2800" dirty="0">
                <a:latin typeface="宋体" pitchFamily="2" charset="-122"/>
                <a:ea typeface="宋体" pitchFamily="2" charset="-122"/>
              </a:rPr>
              <a:t>】</a:t>
            </a:r>
            <a:r>
              <a:rPr lang="zh-CN" altLang="en-US" sz="2800" dirty="0">
                <a:latin typeface="宋体" pitchFamily="2" charset="-122"/>
                <a:ea typeface="宋体" pitchFamily="2" charset="-122"/>
              </a:rPr>
              <a:t>选项卡中输入平移、旋转或比例值，然后单击“完成”按钮，完成操作。</a:t>
            </a:r>
          </a:p>
        </p:txBody>
      </p:sp>
      <p:sp>
        <p:nvSpPr>
          <p:cNvPr id="17" name="TextBox 16"/>
          <p:cNvSpPr txBox="1"/>
          <p:nvPr/>
        </p:nvSpPr>
        <p:spPr>
          <a:xfrm>
            <a:off x="403411" y="2030515"/>
            <a:ext cx="4555098" cy="656846"/>
          </a:xfrm>
          <a:prstGeom prst="rect">
            <a:avLst/>
          </a:prstGeom>
          <a:noFill/>
        </p:spPr>
        <p:txBody>
          <a:bodyPr wrap="square" rtlCol="0">
            <a:spAutoFit/>
          </a:bodyPr>
          <a:lstStyle/>
          <a:p>
            <a:pPr>
              <a:lnSpc>
                <a:spcPct val="150000"/>
              </a:lnSpc>
            </a:pPr>
            <a:r>
              <a:rPr lang="en-US" altLang="zh-CN" sz="2800" b="1" dirty="0">
                <a:latin typeface="Times New Roman" pitchFamily="18" charset="0"/>
                <a:ea typeface="宋体" pitchFamily="2" charset="-122"/>
              </a:rPr>
              <a:t>2.3.4</a:t>
            </a:r>
            <a:r>
              <a:rPr lang="zh-CN" altLang="en-US" sz="2800" b="1" dirty="0">
                <a:latin typeface="Times New Roman" pitchFamily="18" charset="0"/>
                <a:ea typeface="宋体" pitchFamily="2" charset="-122"/>
              </a:rPr>
              <a:t>剪切、复制和粘贴图形</a:t>
            </a:r>
          </a:p>
        </p:txBody>
      </p:sp>
      <p:sp>
        <p:nvSpPr>
          <p:cNvPr id="18" name="TextBox 17"/>
          <p:cNvSpPr txBox="1"/>
          <p:nvPr/>
        </p:nvSpPr>
        <p:spPr>
          <a:xfrm>
            <a:off x="658907" y="2935025"/>
            <a:ext cx="10033094" cy="2677656"/>
          </a:xfrm>
          <a:prstGeom prst="rect">
            <a:avLst/>
          </a:prstGeom>
          <a:noFill/>
        </p:spPr>
        <p:txBody>
          <a:bodyPr wrap="square" rtlCol="0">
            <a:spAutoFit/>
          </a:bodyPr>
          <a:lstStyle/>
          <a:p>
            <a:pPr indent="457200"/>
            <a:r>
              <a:rPr lang="zh-CN" altLang="en-US" sz="2800" dirty="0">
                <a:latin typeface="宋体" pitchFamily="2" charset="-122"/>
                <a:ea typeface="宋体" pitchFamily="2" charset="-122"/>
              </a:rPr>
              <a:t>剪切和粘贴图形，可从活动草绘中选择一个或多个目标图形，接着按“</a:t>
            </a:r>
            <a:r>
              <a:rPr lang="en-US" altLang="zh-CN" sz="2800" dirty="0" err="1">
                <a:latin typeface="宋体" pitchFamily="2" charset="-122"/>
                <a:ea typeface="宋体" pitchFamily="2" charset="-122"/>
              </a:rPr>
              <a:t>Ctrl+X</a:t>
            </a:r>
            <a:r>
              <a:rPr lang="en-US" altLang="zh-CN" sz="2800" dirty="0">
                <a:latin typeface="宋体" pitchFamily="2" charset="-122"/>
                <a:ea typeface="宋体" pitchFamily="2" charset="-122"/>
              </a:rPr>
              <a:t>”</a:t>
            </a:r>
            <a:r>
              <a:rPr lang="zh-CN" altLang="en-US" sz="2800" dirty="0">
                <a:latin typeface="宋体" pitchFamily="2" charset="-122"/>
                <a:ea typeface="宋体" pitchFamily="2" charset="-122"/>
              </a:rPr>
              <a:t>快捷键剪切选定的一个或多个目标图形，此时选定图形被移到剪贴板上，然后按“</a:t>
            </a:r>
            <a:r>
              <a:rPr lang="en-US" altLang="zh-CN" sz="2800" dirty="0" err="1">
                <a:latin typeface="宋体" pitchFamily="2" charset="-122"/>
                <a:ea typeface="宋体" pitchFamily="2" charset="-122"/>
              </a:rPr>
              <a:t>Ctrl+V</a:t>
            </a:r>
            <a:r>
              <a:rPr lang="en-US" altLang="zh-CN" sz="2800" dirty="0">
                <a:latin typeface="宋体" pitchFamily="2" charset="-122"/>
                <a:ea typeface="宋体" pitchFamily="2" charset="-122"/>
              </a:rPr>
              <a:t>”</a:t>
            </a:r>
            <a:r>
              <a:rPr lang="zh-CN" altLang="en-US" sz="2800" dirty="0">
                <a:latin typeface="宋体" pitchFamily="2" charset="-122"/>
                <a:ea typeface="宋体" pitchFamily="2" charset="-122"/>
              </a:rPr>
              <a:t>快捷键，在图形窗口中选择一个位置来放置剪切的图元，并可以利用出现的“旋转调整大小”选项卡来根据设计要求平移、缩放或旋转图元。</a:t>
            </a:r>
          </a:p>
        </p:txBody>
      </p:sp>
    </p:spTree>
    <p:extLst>
      <p:ext uri="{BB962C8B-B14F-4D97-AF65-F5344CB8AC3E}">
        <p14:creationId xmlns:p14="http://schemas.microsoft.com/office/powerpoint/2010/main" val="90904180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extBox 16"/>
          <p:cNvSpPr txBox="1"/>
          <p:nvPr/>
        </p:nvSpPr>
        <p:spPr>
          <a:xfrm>
            <a:off x="383240" y="1264033"/>
            <a:ext cx="4908177" cy="738664"/>
          </a:xfrm>
          <a:prstGeom prst="rect">
            <a:avLst/>
          </a:prstGeom>
          <a:noFill/>
        </p:spPr>
        <p:txBody>
          <a:bodyPr wrap="square" rtlCol="0">
            <a:spAutoFit/>
          </a:bodyPr>
          <a:lstStyle/>
          <a:p>
            <a:pPr>
              <a:lnSpc>
                <a:spcPct val="150000"/>
              </a:lnSpc>
            </a:pPr>
            <a:r>
              <a:rPr lang="en-US" altLang="zh-CN" sz="2800" b="1" dirty="0">
                <a:latin typeface="Times New Roman" pitchFamily="18" charset="0"/>
                <a:ea typeface="宋体" pitchFamily="2" charset="-122"/>
              </a:rPr>
              <a:t>2.4.1</a:t>
            </a:r>
            <a:r>
              <a:rPr lang="zh-CN" altLang="en-US" sz="2800" b="1" dirty="0">
                <a:latin typeface="Times New Roman" pitchFamily="18" charset="0"/>
                <a:ea typeface="宋体" pitchFamily="2" charset="-122"/>
              </a:rPr>
              <a:t>将截面文件导入到草绘器</a:t>
            </a:r>
          </a:p>
        </p:txBody>
      </p:sp>
      <p:sp>
        <p:nvSpPr>
          <p:cNvPr id="18" name="TextBox 17"/>
          <p:cNvSpPr txBox="1"/>
          <p:nvPr/>
        </p:nvSpPr>
        <p:spPr>
          <a:xfrm>
            <a:off x="460561" y="2027084"/>
            <a:ext cx="11507321" cy="3970318"/>
          </a:xfrm>
          <a:prstGeom prst="rect">
            <a:avLst/>
          </a:prstGeom>
          <a:noFill/>
        </p:spPr>
        <p:txBody>
          <a:bodyPr wrap="square" rtlCol="0">
            <a:spAutoFit/>
          </a:bodyPr>
          <a:lstStyle/>
          <a:p>
            <a:pPr indent="457200"/>
            <a:r>
              <a:rPr lang="zh-CN" altLang="en-US" sz="2800" dirty="0">
                <a:latin typeface="宋体" pitchFamily="2" charset="-122"/>
                <a:ea typeface="宋体" pitchFamily="2" charset="-122"/>
              </a:rPr>
              <a:t>可以将 </a:t>
            </a:r>
            <a:r>
              <a:rPr lang="en-US" altLang="zh-CN" sz="2800" dirty="0" err="1">
                <a:latin typeface="宋体" pitchFamily="2" charset="-122"/>
                <a:ea typeface="宋体" pitchFamily="2" charset="-122"/>
              </a:rPr>
              <a:t>Creo</a:t>
            </a:r>
            <a:r>
              <a:rPr lang="en-US" altLang="zh-CN" sz="2800" dirty="0">
                <a:latin typeface="宋体" pitchFamily="2" charset="-122"/>
                <a:ea typeface="宋体" pitchFamily="2" charset="-122"/>
              </a:rPr>
              <a:t> Parametric </a:t>
            </a:r>
            <a:r>
              <a:rPr lang="zh-CN" altLang="en-US" sz="2800" dirty="0">
                <a:latin typeface="宋体" pitchFamily="2" charset="-122"/>
                <a:ea typeface="宋体" pitchFamily="2" charset="-122"/>
              </a:rPr>
              <a:t>的草绘文件（*</a:t>
            </a:r>
            <a:r>
              <a:rPr lang="en-US" altLang="zh-CN" sz="2800" dirty="0">
                <a:latin typeface="宋体" pitchFamily="2" charset="-122"/>
                <a:ea typeface="宋体" pitchFamily="2" charset="-122"/>
              </a:rPr>
              <a:t>.sec</a:t>
            </a:r>
            <a:r>
              <a:rPr lang="zh-CN" altLang="en-US" sz="2800" dirty="0">
                <a:latin typeface="宋体" pitchFamily="2" charset="-122"/>
                <a:ea typeface="宋体" pitchFamily="2" charset="-122"/>
              </a:rPr>
              <a:t>）和绘图文件（*</a:t>
            </a:r>
            <a:r>
              <a:rPr lang="en-US" altLang="zh-CN" sz="2800" dirty="0">
                <a:latin typeface="宋体" pitchFamily="2" charset="-122"/>
                <a:ea typeface="宋体" pitchFamily="2" charset="-122"/>
              </a:rPr>
              <a:t>.</a:t>
            </a:r>
            <a:r>
              <a:rPr lang="en-US" altLang="zh-CN" sz="2800" dirty="0" err="1">
                <a:latin typeface="宋体" pitchFamily="2" charset="-122"/>
                <a:ea typeface="宋体" pitchFamily="2" charset="-122"/>
              </a:rPr>
              <a:t>drw</a:t>
            </a:r>
            <a:r>
              <a:rPr lang="zh-CN" altLang="en-US" sz="2800" dirty="0">
                <a:latin typeface="宋体" pitchFamily="2" charset="-122"/>
                <a:ea typeface="宋体" pitchFamily="2" charset="-122"/>
              </a:rPr>
              <a:t>）导入到草绘器中，还可以将 </a:t>
            </a:r>
            <a:r>
              <a:rPr lang="en-US" altLang="zh-CN" sz="2800" dirty="0">
                <a:latin typeface="宋体" pitchFamily="2" charset="-122"/>
                <a:ea typeface="宋体" pitchFamily="2" charset="-122"/>
              </a:rPr>
              <a:t>DWG</a:t>
            </a:r>
            <a:r>
              <a:rPr lang="zh-CN" altLang="en-US" sz="2800" dirty="0">
                <a:latin typeface="宋体" pitchFamily="2" charset="-122"/>
                <a:ea typeface="宋体" pitchFamily="2" charset="-122"/>
              </a:rPr>
              <a:t>（*</a:t>
            </a:r>
            <a:r>
              <a:rPr lang="en-US" altLang="zh-CN" sz="2800" dirty="0">
                <a:latin typeface="宋体" pitchFamily="2" charset="-122"/>
                <a:ea typeface="宋体" pitchFamily="2" charset="-122"/>
              </a:rPr>
              <a:t>.</a:t>
            </a:r>
            <a:r>
              <a:rPr lang="en-US" altLang="zh-CN" sz="2800" dirty="0" err="1">
                <a:latin typeface="宋体" pitchFamily="2" charset="-122"/>
                <a:ea typeface="宋体" pitchFamily="2" charset="-122"/>
              </a:rPr>
              <a:t>dwg</a:t>
            </a:r>
            <a:r>
              <a:rPr lang="zh-CN" altLang="en-US" sz="2800" dirty="0">
                <a:latin typeface="宋体" pitchFamily="2" charset="-122"/>
                <a:ea typeface="宋体" pitchFamily="2" charset="-122"/>
              </a:rPr>
              <a:t>）、</a:t>
            </a:r>
            <a:r>
              <a:rPr lang="en-US" altLang="zh-CN" sz="2800" dirty="0">
                <a:latin typeface="宋体" pitchFamily="2" charset="-122"/>
                <a:ea typeface="宋体" pitchFamily="2" charset="-122"/>
              </a:rPr>
              <a:t>DXF</a:t>
            </a:r>
            <a:r>
              <a:rPr lang="zh-CN" altLang="en-US" sz="2800" dirty="0">
                <a:latin typeface="宋体" pitchFamily="2" charset="-122"/>
                <a:ea typeface="宋体" pitchFamily="2" charset="-122"/>
              </a:rPr>
              <a:t>（*</a:t>
            </a:r>
            <a:r>
              <a:rPr lang="en-US" altLang="zh-CN" sz="2800" dirty="0">
                <a:latin typeface="宋体" pitchFamily="2" charset="-122"/>
                <a:ea typeface="宋体" pitchFamily="2" charset="-122"/>
              </a:rPr>
              <a:t>.</a:t>
            </a:r>
            <a:r>
              <a:rPr lang="en-US" altLang="zh-CN" sz="2800" dirty="0" err="1">
                <a:latin typeface="宋体" pitchFamily="2" charset="-122"/>
                <a:ea typeface="宋体" pitchFamily="2" charset="-122"/>
              </a:rPr>
              <a:t>dxf</a:t>
            </a:r>
            <a:r>
              <a:rPr lang="zh-CN" altLang="en-US" sz="2800" dirty="0">
                <a:latin typeface="宋体" pitchFamily="2" charset="-122"/>
                <a:ea typeface="宋体" pitchFamily="2" charset="-122"/>
              </a:rPr>
              <a:t>）、</a:t>
            </a:r>
            <a:r>
              <a:rPr lang="en-US" altLang="zh-CN" sz="2800" dirty="0">
                <a:latin typeface="宋体" pitchFamily="2" charset="-122"/>
                <a:ea typeface="宋体" pitchFamily="2" charset="-122"/>
              </a:rPr>
              <a:t>IGES</a:t>
            </a:r>
            <a:r>
              <a:rPr lang="zh-CN" altLang="en-US" sz="2800" dirty="0">
                <a:latin typeface="宋体" pitchFamily="2" charset="-122"/>
                <a:ea typeface="宋体" pitchFamily="2" charset="-122"/>
              </a:rPr>
              <a:t>（*</a:t>
            </a:r>
            <a:r>
              <a:rPr lang="en-US" altLang="zh-CN" sz="2800" dirty="0">
                <a:latin typeface="宋体" pitchFamily="2" charset="-122"/>
                <a:ea typeface="宋体" pitchFamily="2" charset="-122"/>
              </a:rPr>
              <a:t>.</a:t>
            </a:r>
            <a:r>
              <a:rPr lang="en-US" altLang="zh-CN" sz="2800" dirty="0" err="1">
                <a:latin typeface="宋体" pitchFamily="2" charset="-122"/>
                <a:ea typeface="宋体" pitchFamily="2" charset="-122"/>
              </a:rPr>
              <a:t>igs</a:t>
            </a:r>
            <a:r>
              <a:rPr lang="en-US" altLang="zh-CN" sz="2800" dirty="0">
                <a:latin typeface="宋体" pitchFamily="2" charset="-122"/>
                <a:ea typeface="宋体" pitchFamily="2" charset="-122"/>
              </a:rPr>
              <a:t> </a:t>
            </a:r>
            <a:r>
              <a:rPr lang="zh-CN" altLang="en-US" sz="2800" dirty="0">
                <a:latin typeface="宋体" pitchFamily="2" charset="-122"/>
                <a:ea typeface="宋体" pitchFamily="2" charset="-122"/>
              </a:rPr>
              <a:t>或*</a:t>
            </a:r>
            <a:r>
              <a:rPr lang="en-US" altLang="zh-CN" sz="2800" dirty="0">
                <a:latin typeface="宋体" pitchFamily="2" charset="-122"/>
                <a:ea typeface="宋体" pitchFamily="2" charset="-122"/>
              </a:rPr>
              <a:t>.</a:t>
            </a:r>
            <a:r>
              <a:rPr lang="en-US" altLang="zh-CN" sz="2800" dirty="0" err="1">
                <a:latin typeface="宋体" pitchFamily="2" charset="-122"/>
                <a:ea typeface="宋体" pitchFamily="2" charset="-122"/>
              </a:rPr>
              <a:t>iges</a:t>
            </a:r>
            <a:r>
              <a:rPr lang="zh-CN" altLang="en-US" sz="2800" dirty="0">
                <a:latin typeface="宋体" pitchFamily="2" charset="-122"/>
                <a:ea typeface="宋体" pitchFamily="2" charset="-122"/>
              </a:rPr>
              <a:t>）、</a:t>
            </a:r>
            <a:r>
              <a:rPr lang="en-US" altLang="zh-CN" sz="2800" dirty="0">
                <a:latin typeface="宋体" pitchFamily="2" charset="-122"/>
                <a:ea typeface="宋体" pitchFamily="2" charset="-122"/>
              </a:rPr>
              <a:t>Adobe Illustrator</a:t>
            </a:r>
            <a:r>
              <a:rPr lang="zh-CN" altLang="en-US" sz="2800" dirty="0">
                <a:latin typeface="宋体" pitchFamily="2" charset="-122"/>
                <a:ea typeface="宋体" pitchFamily="2" charset="-122"/>
              </a:rPr>
              <a:t>（*</a:t>
            </a:r>
            <a:r>
              <a:rPr lang="en-US" altLang="zh-CN" sz="2800" dirty="0">
                <a:latin typeface="宋体" pitchFamily="2" charset="-122"/>
                <a:ea typeface="宋体" pitchFamily="2" charset="-122"/>
              </a:rPr>
              <a:t>.</a:t>
            </a:r>
            <a:r>
              <a:rPr lang="en-US" altLang="zh-CN" sz="2800" dirty="0" err="1">
                <a:latin typeface="宋体" pitchFamily="2" charset="-122"/>
                <a:ea typeface="宋体" pitchFamily="2" charset="-122"/>
              </a:rPr>
              <a:t>ai</a:t>
            </a:r>
            <a:r>
              <a:rPr lang="zh-CN" altLang="en-US" sz="2800" dirty="0">
                <a:latin typeface="宋体" pitchFamily="2" charset="-122"/>
                <a:ea typeface="宋体" pitchFamily="2" charset="-122"/>
              </a:rPr>
              <a:t>）这些类型的外部文件导入。</a:t>
            </a:r>
            <a:endParaRPr lang="en-US" altLang="zh-CN" sz="2800" dirty="0">
              <a:latin typeface="宋体" pitchFamily="2" charset="-122"/>
              <a:ea typeface="宋体" pitchFamily="2" charset="-122"/>
            </a:endParaRPr>
          </a:p>
          <a:p>
            <a:pPr indent="457200"/>
            <a:endParaRPr lang="en-US" altLang="zh-CN" sz="2800" dirty="0">
              <a:latin typeface="宋体" pitchFamily="2" charset="-122"/>
              <a:ea typeface="宋体" pitchFamily="2" charset="-122"/>
            </a:endParaRPr>
          </a:p>
          <a:p>
            <a:pPr indent="457200"/>
            <a:r>
              <a:rPr lang="zh-CN" altLang="en-US" sz="2800" dirty="0">
                <a:latin typeface="宋体" pitchFamily="2" charset="-122"/>
                <a:ea typeface="宋体" pitchFamily="2" charset="-122"/>
              </a:rPr>
              <a:t>在功能区的</a:t>
            </a:r>
            <a:r>
              <a:rPr lang="en-US" altLang="zh-CN" sz="2800" dirty="0">
                <a:latin typeface="宋体" pitchFamily="2" charset="-122"/>
                <a:ea typeface="宋体" pitchFamily="2" charset="-122"/>
              </a:rPr>
              <a:t>【</a:t>
            </a:r>
            <a:r>
              <a:rPr lang="zh-CN" altLang="en-US" sz="2800" dirty="0">
                <a:latin typeface="宋体" pitchFamily="2" charset="-122"/>
                <a:ea typeface="宋体" pitchFamily="2" charset="-122"/>
              </a:rPr>
              <a:t>草绘</a:t>
            </a:r>
            <a:r>
              <a:rPr lang="en-US" altLang="zh-CN" sz="2800" dirty="0">
                <a:latin typeface="宋体" pitchFamily="2" charset="-122"/>
                <a:ea typeface="宋体" pitchFamily="2" charset="-122"/>
              </a:rPr>
              <a:t>】</a:t>
            </a:r>
            <a:r>
              <a:rPr lang="zh-CN" altLang="en-US" sz="2800" dirty="0">
                <a:latin typeface="宋体" pitchFamily="2" charset="-122"/>
                <a:ea typeface="宋体" pitchFamily="2" charset="-122"/>
              </a:rPr>
              <a:t>选项卡的</a:t>
            </a:r>
            <a:r>
              <a:rPr lang="en-US" altLang="zh-CN" sz="2800" dirty="0">
                <a:latin typeface="宋体" pitchFamily="2" charset="-122"/>
                <a:ea typeface="宋体" pitchFamily="2" charset="-122"/>
              </a:rPr>
              <a:t>【</a:t>
            </a:r>
            <a:r>
              <a:rPr lang="zh-CN" altLang="en-US" sz="2800" dirty="0">
                <a:latin typeface="宋体" pitchFamily="2" charset="-122"/>
                <a:ea typeface="宋体" pitchFamily="2" charset="-122"/>
              </a:rPr>
              <a:t>获取数据</a:t>
            </a:r>
            <a:r>
              <a:rPr lang="en-US" altLang="zh-CN" sz="2800" dirty="0">
                <a:latin typeface="宋体" pitchFamily="2" charset="-122"/>
                <a:ea typeface="宋体" pitchFamily="2" charset="-122"/>
              </a:rPr>
              <a:t>】</a:t>
            </a:r>
            <a:r>
              <a:rPr lang="zh-CN" altLang="en-US" sz="2800" dirty="0">
                <a:latin typeface="宋体" pitchFamily="2" charset="-122"/>
                <a:ea typeface="宋体" pitchFamily="2" charset="-122"/>
              </a:rPr>
              <a:t>组中单击“文件系统”按钮，系统弹出</a:t>
            </a:r>
            <a:r>
              <a:rPr lang="en-US" altLang="zh-CN" sz="2800" dirty="0">
                <a:latin typeface="宋体" pitchFamily="2" charset="-122"/>
                <a:ea typeface="宋体" pitchFamily="2" charset="-122"/>
              </a:rPr>
              <a:t>【</a:t>
            </a:r>
            <a:r>
              <a:rPr lang="zh-CN" altLang="en-US" sz="2800" dirty="0">
                <a:latin typeface="宋体" pitchFamily="2" charset="-122"/>
                <a:ea typeface="宋体" pitchFamily="2" charset="-122"/>
              </a:rPr>
              <a:t>打开</a:t>
            </a:r>
            <a:r>
              <a:rPr lang="en-US" altLang="zh-CN" sz="2800" dirty="0">
                <a:latin typeface="宋体" pitchFamily="2" charset="-122"/>
                <a:ea typeface="宋体" pitchFamily="2" charset="-122"/>
              </a:rPr>
              <a:t>】</a:t>
            </a:r>
            <a:r>
              <a:rPr lang="zh-CN" altLang="en-US" sz="2800" dirty="0">
                <a:latin typeface="宋体" pitchFamily="2" charset="-122"/>
                <a:ea typeface="宋体" pitchFamily="2" charset="-122"/>
              </a:rPr>
              <a:t>对话框，从可用文件列表中选择所需的文件，单击“打开”按钮，接着在图形窗口中的合适位置处单击以放置导入的图元，并可以调整导入图形的位置、旋转角度和缩放比例。</a:t>
            </a:r>
          </a:p>
        </p:txBody>
      </p:sp>
      <p:sp>
        <p:nvSpPr>
          <p:cNvPr id="5" name="TextBox 4"/>
          <p:cNvSpPr txBox="1"/>
          <p:nvPr/>
        </p:nvSpPr>
        <p:spPr>
          <a:xfrm>
            <a:off x="460562" y="430306"/>
            <a:ext cx="2376767" cy="830997"/>
          </a:xfrm>
          <a:prstGeom prst="rect">
            <a:avLst/>
          </a:prstGeom>
          <a:solidFill>
            <a:srgbClr val="0000FF"/>
          </a:solidFill>
        </p:spPr>
        <p:txBody>
          <a:bodyPr wrap="square" rtlCol="0">
            <a:spAutoFit/>
          </a:bodyPr>
          <a:lstStyle/>
          <a:p>
            <a:pPr>
              <a:lnSpc>
                <a:spcPct val="150000"/>
              </a:lnSpc>
            </a:pPr>
            <a:r>
              <a:rPr lang="en-US" altLang="zh-CN" sz="3200" dirty="0">
                <a:solidFill>
                  <a:schemeClr val="bg1"/>
                </a:solidFill>
                <a:latin typeface="Times New Roman" pitchFamily="18" charset="0"/>
                <a:ea typeface="黑体" pitchFamily="49" charset="-122"/>
              </a:rPr>
              <a:t>2.4</a:t>
            </a:r>
            <a:r>
              <a:rPr lang="zh-CN" altLang="en-US" sz="3200" dirty="0">
                <a:solidFill>
                  <a:schemeClr val="bg1"/>
                </a:solidFill>
                <a:latin typeface="Times New Roman" pitchFamily="18" charset="0"/>
                <a:ea typeface="黑体" pitchFamily="49" charset="-122"/>
              </a:rPr>
              <a:t>使用截面</a:t>
            </a:r>
            <a:endParaRPr lang="en-US" altLang="zh-CN" sz="3200" dirty="0">
              <a:solidFill>
                <a:schemeClr val="bg1"/>
              </a:solidFill>
              <a:latin typeface="Times New Roman" pitchFamily="18" charset="0"/>
              <a:ea typeface="黑体" pitchFamily="49" charset="-122"/>
            </a:endParaRPr>
          </a:p>
        </p:txBody>
      </p:sp>
    </p:spTree>
    <p:extLst>
      <p:ext uri="{BB962C8B-B14F-4D97-AF65-F5344CB8AC3E}">
        <p14:creationId xmlns:p14="http://schemas.microsoft.com/office/powerpoint/2010/main" val="32375172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extBox 16"/>
          <p:cNvSpPr txBox="1"/>
          <p:nvPr/>
        </p:nvSpPr>
        <p:spPr>
          <a:xfrm>
            <a:off x="383239" y="511001"/>
            <a:ext cx="5830981" cy="738664"/>
          </a:xfrm>
          <a:prstGeom prst="rect">
            <a:avLst/>
          </a:prstGeom>
          <a:noFill/>
        </p:spPr>
        <p:txBody>
          <a:bodyPr wrap="square" rtlCol="0">
            <a:spAutoFit/>
          </a:bodyPr>
          <a:lstStyle/>
          <a:p>
            <a:pPr>
              <a:lnSpc>
                <a:spcPct val="150000"/>
              </a:lnSpc>
            </a:pPr>
            <a:r>
              <a:rPr lang="en-US" altLang="zh-CN" sz="2800" b="1" dirty="0">
                <a:latin typeface="Times New Roman" pitchFamily="18" charset="0"/>
                <a:ea typeface="宋体" pitchFamily="2" charset="-122"/>
              </a:rPr>
              <a:t>2.4.2</a:t>
            </a:r>
            <a:r>
              <a:rPr lang="zh-CN" altLang="en-US" sz="2800" b="1" dirty="0">
                <a:latin typeface="Times New Roman" pitchFamily="18" charset="0"/>
                <a:ea typeface="宋体" pitchFamily="2" charset="-122"/>
              </a:rPr>
              <a:t>从草绘器调色板导入形状图形</a:t>
            </a:r>
          </a:p>
        </p:txBody>
      </p:sp>
      <p:sp>
        <p:nvSpPr>
          <p:cNvPr id="18" name="TextBox 17"/>
          <p:cNvSpPr txBox="1"/>
          <p:nvPr/>
        </p:nvSpPr>
        <p:spPr>
          <a:xfrm>
            <a:off x="245409" y="1220264"/>
            <a:ext cx="6020921" cy="1815882"/>
          </a:xfrm>
          <a:prstGeom prst="rect">
            <a:avLst/>
          </a:prstGeom>
          <a:noFill/>
        </p:spPr>
        <p:txBody>
          <a:bodyPr wrap="square" rtlCol="0">
            <a:spAutoFit/>
          </a:bodyPr>
          <a:lstStyle/>
          <a:p>
            <a:pPr indent="457200"/>
            <a:r>
              <a:rPr lang="zh-CN" altLang="en-US" sz="2800" dirty="0">
                <a:latin typeface="宋体" pitchFamily="2" charset="-122"/>
                <a:ea typeface="宋体" pitchFamily="2" charset="-122"/>
              </a:rPr>
              <a:t>在草绘器的功能区</a:t>
            </a:r>
            <a:r>
              <a:rPr lang="en-US" altLang="zh-CN" sz="2800" dirty="0">
                <a:latin typeface="宋体" pitchFamily="2" charset="-122"/>
                <a:ea typeface="宋体" pitchFamily="2" charset="-122"/>
              </a:rPr>
              <a:t>【</a:t>
            </a:r>
            <a:r>
              <a:rPr lang="zh-CN" altLang="en-US" sz="2800" dirty="0">
                <a:latin typeface="宋体" pitchFamily="2" charset="-122"/>
                <a:ea typeface="宋体" pitchFamily="2" charset="-122"/>
              </a:rPr>
              <a:t>草绘</a:t>
            </a:r>
            <a:r>
              <a:rPr lang="en-US" altLang="zh-CN" sz="2800" dirty="0">
                <a:latin typeface="宋体" pitchFamily="2" charset="-122"/>
                <a:ea typeface="宋体" pitchFamily="2" charset="-122"/>
              </a:rPr>
              <a:t>】</a:t>
            </a:r>
            <a:r>
              <a:rPr lang="zh-CN" altLang="en-US" sz="2800" dirty="0">
                <a:latin typeface="宋体" pitchFamily="2" charset="-122"/>
                <a:ea typeface="宋体" pitchFamily="2" charset="-122"/>
              </a:rPr>
              <a:t>组中单击“选项板”按钮  ，系统弹出如图 </a:t>
            </a:r>
            <a:r>
              <a:rPr lang="en-US" altLang="zh-CN" sz="2800" dirty="0">
                <a:latin typeface="宋体" pitchFamily="2" charset="-122"/>
                <a:ea typeface="宋体" pitchFamily="2" charset="-122"/>
              </a:rPr>
              <a:t>2-38 </a:t>
            </a:r>
            <a:r>
              <a:rPr lang="zh-CN" altLang="en-US" sz="2800" dirty="0">
                <a:latin typeface="宋体" pitchFamily="2" charset="-122"/>
                <a:ea typeface="宋体" pitchFamily="2" charset="-122"/>
              </a:rPr>
              <a:t>所示的</a:t>
            </a:r>
            <a:r>
              <a:rPr lang="en-US" altLang="zh-CN" sz="2800" dirty="0">
                <a:latin typeface="宋体" pitchFamily="2" charset="-122"/>
                <a:ea typeface="宋体" pitchFamily="2" charset="-122"/>
              </a:rPr>
              <a:t>【</a:t>
            </a:r>
            <a:r>
              <a:rPr lang="zh-CN" altLang="en-US" sz="2800" dirty="0">
                <a:latin typeface="宋体" pitchFamily="2" charset="-122"/>
                <a:ea typeface="宋体" pitchFamily="2" charset="-122"/>
              </a:rPr>
              <a:t>草绘器选项板</a:t>
            </a:r>
            <a:r>
              <a:rPr lang="en-US" altLang="zh-CN" sz="2800" dirty="0">
                <a:latin typeface="宋体" pitchFamily="2" charset="-122"/>
                <a:ea typeface="宋体" pitchFamily="2" charset="-122"/>
              </a:rPr>
              <a:t>】</a:t>
            </a:r>
            <a:r>
              <a:rPr lang="zh-CN" altLang="en-US" sz="2800" dirty="0">
                <a:latin typeface="宋体" pitchFamily="2" charset="-122"/>
                <a:ea typeface="宋体" pitchFamily="2" charset="-122"/>
              </a:rPr>
              <a:t>对话框</a:t>
            </a:r>
          </a:p>
        </p:txBody>
      </p:sp>
      <p:pic>
        <p:nvPicPr>
          <p:cNvPr id="6" name="图片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471021" y="1768205"/>
            <a:ext cx="326400" cy="360000"/>
          </a:xfrm>
          <a:prstGeom prst="rect">
            <a:avLst/>
          </a:prstGeom>
        </p:spPr>
      </p:pic>
      <p:pic>
        <p:nvPicPr>
          <p:cNvPr id="7" name="图片 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517751" y="2685355"/>
            <a:ext cx="2301371" cy="3519217"/>
          </a:xfrm>
          <a:prstGeom prst="rect">
            <a:avLst/>
          </a:prstGeom>
        </p:spPr>
      </p:pic>
      <p:sp>
        <p:nvSpPr>
          <p:cNvPr id="8" name="TextBox 7"/>
          <p:cNvSpPr txBox="1"/>
          <p:nvPr/>
        </p:nvSpPr>
        <p:spPr>
          <a:xfrm>
            <a:off x="1530945" y="6299807"/>
            <a:ext cx="2274982" cy="369332"/>
          </a:xfrm>
          <a:prstGeom prst="rect">
            <a:avLst/>
          </a:prstGeom>
          <a:noFill/>
        </p:spPr>
        <p:txBody>
          <a:bodyPr wrap="none" rtlCol="0">
            <a:spAutoFit/>
          </a:bodyPr>
          <a:lstStyle/>
          <a:p>
            <a:pPr algn="ctr"/>
            <a:r>
              <a:rPr lang="zh-CN" altLang="en-US" dirty="0"/>
              <a:t>图</a:t>
            </a:r>
            <a:r>
              <a:rPr lang="en-US" altLang="zh-CN" dirty="0"/>
              <a:t>2-38 </a:t>
            </a:r>
            <a:r>
              <a:rPr lang="zh-CN" altLang="en-US" dirty="0"/>
              <a:t>草绘器选项板</a:t>
            </a:r>
          </a:p>
        </p:txBody>
      </p:sp>
      <p:sp>
        <p:nvSpPr>
          <p:cNvPr id="9" name="TextBox 8"/>
          <p:cNvSpPr txBox="1"/>
          <p:nvPr/>
        </p:nvSpPr>
        <p:spPr>
          <a:xfrm>
            <a:off x="6368303" y="932979"/>
            <a:ext cx="5626474" cy="2677656"/>
          </a:xfrm>
          <a:prstGeom prst="rect">
            <a:avLst/>
          </a:prstGeom>
          <a:noFill/>
        </p:spPr>
        <p:txBody>
          <a:bodyPr wrap="square" rtlCol="0">
            <a:spAutoFit/>
          </a:bodyPr>
          <a:lstStyle/>
          <a:p>
            <a:pPr indent="457200"/>
            <a:r>
              <a:rPr lang="zh-CN" altLang="en-US" sz="2800" dirty="0">
                <a:latin typeface="宋体" pitchFamily="2" charset="-122"/>
                <a:ea typeface="宋体" pitchFamily="2" charset="-122"/>
              </a:rPr>
              <a:t>双击“</a:t>
            </a:r>
            <a:r>
              <a:rPr lang="en-US" altLang="zh-CN" sz="2800" dirty="0">
                <a:latin typeface="宋体" pitchFamily="2" charset="-122"/>
                <a:ea typeface="宋体" pitchFamily="2" charset="-122"/>
              </a:rPr>
              <a:t>I </a:t>
            </a:r>
            <a:r>
              <a:rPr lang="zh-CN" altLang="en-US" sz="2800" dirty="0">
                <a:latin typeface="宋体" pitchFamily="2" charset="-122"/>
                <a:ea typeface="宋体" pitchFamily="2" charset="-122"/>
              </a:rPr>
              <a:t>形轮廓”图形的缩略图或标签</a:t>
            </a:r>
            <a:r>
              <a:rPr lang="en-US" altLang="zh-CN" sz="2800" dirty="0">
                <a:latin typeface="宋体" pitchFamily="2" charset="-122"/>
                <a:ea typeface="宋体" pitchFamily="2" charset="-122"/>
              </a:rPr>
              <a:t>,</a:t>
            </a:r>
            <a:r>
              <a:rPr lang="zh-CN" altLang="en-US" sz="2800" dirty="0">
                <a:latin typeface="宋体" pitchFamily="2" charset="-122"/>
                <a:ea typeface="宋体" pitchFamily="2" charset="-122"/>
              </a:rPr>
              <a:t>在图形窗口中任一位置单击以放置“</a:t>
            </a:r>
            <a:r>
              <a:rPr lang="en-US" altLang="zh-CN" sz="2800" dirty="0">
                <a:latin typeface="宋体" pitchFamily="2" charset="-122"/>
                <a:ea typeface="宋体" pitchFamily="2" charset="-122"/>
              </a:rPr>
              <a:t>I</a:t>
            </a:r>
            <a:r>
              <a:rPr lang="zh-CN" altLang="en-US" sz="2800" dirty="0">
                <a:latin typeface="宋体" pitchFamily="2" charset="-122"/>
                <a:ea typeface="宋体" pitchFamily="2" charset="-122"/>
              </a:rPr>
              <a:t>形轮廓。在</a:t>
            </a:r>
            <a:r>
              <a:rPr lang="en-US" altLang="zh-CN" sz="2800" dirty="0">
                <a:latin typeface="宋体" pitchFamily="2" charset="-122"/>
                <a:ea typeface="宋体" pitchFamily="2" charset="-122"/>
              </a:rPr>
              <a:t>【</a:t>
            </a:r>
            <a:r>
              <a:rPr lang="zh-CN" altLang="en-US" sz="2800" dirty="0">
                <a:latin typeface="宋体" pitchFamily="2" charset="-122"/>
                <a:ea typeface="宋体" pitchFamily="2" charset="-122"/>
              </a:rPr>
              <a:t>旋转调整大小</a:t>
            </a:r>
            <a:r>
              <a:rPr lang="en-US" altLang="zh-CN" sz="2800" dirty="0">
                <a:latin typeface="宋体" pitchFamily="2" charset="-122"/>
                <a:ea typeface="宋体" pitchFamily="2" charset="-122"/>
              </a:rPr>
              <a:t>】</a:t>
            </a:r>
            <a:r>
              <a:rPr lang="zh-CN" altLang="en-US" sz="2800" dirty="0">
                <a:latin typeface="宋体" pitchFamily="2" charset="-122"/>
                <a:ea typeface="宋体" pitchFamily="2" charset="-122"/>
              </a:rPr>
              <a:t>选项卡中输入平移、旋转或比例值，然后单击“完成”按钮，完成操作，如图</a:t>
            </a:r>
            <a:r>
              <a:rPr lang="en-US" altLang="zh-CN" sz="2800" dirty="0">
                <a:latin typeface="宋体" pitchFamily="2" charset="-122"/>
                <a:ea typeface="宋体" pitchFamily="2" charset="-122"/>
              </a:rPr>
              <a:t>2-39</a:t>
            </a:r>
            <a:r>
              <a:rPr lang="zh-CN" altLang="en-US" sz="2800" dirty="0">
                <a:latin typeface="宋体" pitchFamily="2" charset="-122"/>
                <a:ea typeface="宋体" pitchFamily="2" charset="-122"/>
              </a:rPr>
              <a:t>所示。</a:t>
            </a:r>
          </a:p>
        </p:txBody>
      </p:sp>
      <p:pic>
        <p:nvPicPr>
          <p:cNvPr id="10" name="图片 9"/>
          <p:cNvPicPr/>
          <p:nvPr/>
        </p:nvPicPr>
        <p:blipFill>
          <a:blip r:embed="rId4">
            <a:extLst>
              <a:ext uri="{28A0092B-C50C-407E-A947-70E740481C1C}">
                <a14:useLocalDpi xmlns:a14="http://schemas.microsoft.com/office/drawing/2010/main" val="0"/>
              </a:ext>
            </a:extLst>
          </a:blip>
          <a:stretch>
            <a:fillRect/>
          </a:stretch>
        </p:blipFill>
        <p:spPr>
          <a:xfrm>
            <a:off x="7570694" y="3610635"/>
            <a:ext cx="3133165" cy="2873838"/>
          </a:xfrm>
          <a:prstGeom prst="rect">
            <a:avLst/>
          </a:prstGeom>
        </p:spPr>
      </p:pic>
      <p:sp>
        <p:nvSpPr>
          <p:cNvPr id="11" name="TextBox 10"/>
          <p:cNvSpPr txBox="1"/>
          <p:nvPr/>
        </p:nvSpPr>
        <p:spPr>
          <a:xfrm>
            <a:off x="7909303" y="6425313"/>
            <a:ext cx="2563523" cy="369332"/>
          </a:xfrm>
          <a:prstGeom prst="rect">
            <a:avLst/>
          </a:prstGeom>
          <a:noFill/>
        </p:spPr>
        <p:txBody>
          <a:bodyPr wrap="none" rtlCol="0">
            <a:spAutoFit/>
          </a:bodyPr>
          <a:lstStyle/>
          <a:p>
            <a:pPr algn="ctr"/>
            <a:r>
              <a:rPr lang="zh-CN" altLang="en-US" dirty="0"/>
              <a:t>图</a:t>
            </a:r>
            <a:r>
              <a:rPr lang="en-US" altLang="zh-CN" dirty="0"/>
              <a:t>2-39 </a:t>
            </a:r>
            <a:r>
              <a:rPr lang="zh-CN" altLang="en-US" dirty="0"/>
              <a:t>导入“</a:t>
            </a:r>
            <a:r>
              <a:rPr lang="en-US" altLang="zh-CN" dirty="0"/>
              <a:t>I</a:t>
            </a:r>
            <a:r>
              <a:rPr lang="zh-CN" altLang="en-US" dirty="0"/>
              <a:t>形轮廓”</a:t>
            </a:r>
          </a:p>
        </p:txBody>
      </p:sp>
    </p:spTree>
    <p:extLst>
      <p:ext uri="{BB962C8B-B14F-4D97-AF65-F5344CB8AC3E}">
        <p14:creationId xmlns:p14="http://schemas.microsoft.com/office/powerpoint/2010/main" val="362308780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TextBox 17"/>
          <p:cNvSpPr txBox="1"/>
          <p:nvPr/>
        </p:nvSpPr>
        <p:spPr>
          <a:xfrm>
            <a:off x="231962" y="1637121"/>
            <a:ext cx="11507321" cy="3323987"/>
          </a:xfrm>
          <a:prstGeom prst="rect">
            <a:avLst/>
          </a:prstGeom>
          <a:noFill/>
        </p:spPr>
        <p:txBody>
          <a:bodyPr wrap="square" rtlCol="0">
            <a:spAutoFit/>
          </a:bodyPr>
          <a:lstStyle/>
          <a:p>
            <a:pPr indent="457200">
              <a:lnSpc>
                <a:spcPct val="150000"/>
              </a:lnSpc>
            </a:pPr>
            <a:r>
              <a:rPr lang="zh-CN" altLang="en-US" sz="2800" dirty="0">
                <a:latin typeface="宋体" pitchFamily="2" charset="-122"/>
                <a:ea typeface="宋体" pitchFamily="2" charset="-122"/>
              </a:rPr>
              <a:t>创建常规尺寸的基本方法和步骤如下：</a:t>
            </a:r>
          </a:p>
          <a:p>
            <a:pPr indent="457200">
              <a:lnSpc>
                <a:spcPct val="150000"/>
              </a:lnSpc>
            </a:pPr>
            <a:r>
              <a:rPr lang="en-US" altLang="zh-CN" sz="2800" dirty="0">
                <a:latin typeface="宋体" pitchFamily="2" charset="-122"/>
                <a:ea typeface="宋体" pitchFamily="2" charset="-122"/>
              </a:rPr>
              <a:t>1</a:t>
            </a:r>
            <a:r>
              <a:rPr lang="zh-CN" altLang="en-US" sz="2800" dirty="0">
                <a:latin typeface="宋体" pitchFamily="2" charset="-122"/>
                <a:ea typeface="宋体" pitchFamily="2" charset="-122"/>
              </a:rPr>
              <a:t>） 在功能区</a:t>
            </a:r>
            <a:r>
              <a:rPr lang="en-US" altLang="zh-CN" sz="2800" dirty="0">
                <a:latin typeface="宋体" pitchFamily="2" charset="-122"/>
                <a:ea typeface="宋体" pitchFamily="2" charset="-122"/>
              </a:rPr>
              <a:t>【</a:t>
            </a:r>
            <a:r>
              <a:rPr lang="zh-CN" altLang="en-US" sz="2800" dirty="0">
                <a:latin typeface="宋体" pitchFamily="2" charset="-122"/>
                <a:ea typeface="宋体" pitchFamily="2" charset="-122"/>
              </a:rPr>
              <a:t>草绘</a:t>
            </a:r>
            <a:r>
              <a:rPr lang="en-US" altLang="zh-CN" sz="2800" dirty="0">
                <a:latin typeface="宋体" pitchFamily="2" charset="-122"/>
                <a:ea typeface="宋体" pitchFamily="2" charset="-122"/>
              </a:rPr>
              <a:t>】</a:t>
            </a:r>
            <a:r>
              <a:rPr lang="zh-CN" altLang="en-US" sz="2800" dirty="0">
                <a:latin typeface="宋体" pitchFamily="2" charset="-122"/>
                <a:ea typeface="宋体" pitchFamily="2" charset="-122"/>
              </a:rPr>
              <a:t>选项卡的</a:t>
            </a:r>
            <a:r>
              <a:rPr lang="en-US" altLang="zh-CN" sz="2800" dirty="0">
                <a:latin typeface="宋体" pitchFamily="2" charset="-122"/>
                <a:ea typeface="宋体" pitchFamily="2" charset="-122"/>
              </a:rPr>
              <a:t>【</a:t>
            </a:r>
            <a:r>
              <a:rPr lang="zh-CN" altLang="en-US" sz="2800" dirty="0">
                <a:latin typeface="宋体" pitchFamily="2" charset="-122"/>
                <a:ea typeface="宋体" pitchFamily="2" charset="-122"/>
              </a:rPr>
              <a:t>尺寸</a:t>
            </a:r>
            <a:r>
              <a:rPr lang="en-US" altLang="zh-CN" sz="2800" dirty="0">
                <a:latin typeface="宋体" pitchFamily="2" charset="-122"/>
                <a:ea typeface="宋体" pitchFamily="2" charset="-122"/>
              </a:rPr>
              <a:t>】</a:t>
            </a:r>
            <a:r>
              <a:rPr lang="zh-CN" altLang="en-US" sz="2800" dirty="0">
                <a:latin typeface="宋体" pitchFamily="2" charset="-122"/>
                <a:ea typeface="宋体" pitchFamily="2" charset="-122"/>
              </a:rPr>
              <a:t>面板中单击“尺寸”按钮   。</a:t>
            </a:r>
          </a:p>
          <a:p>
            <a:pPr indent="457200">
              <a:lnSpc>
                <a:spcPct val="150000"/>
              </a:lnSpc>
            </a:pPr>
            <a:r>
              <a:rPr lang="en-US" altLang="zh-CN" sz="2800" dirty="0">
                <a:latin typeface="宋体" pitchFamily="2" charset="-122"/>
                <a:ea typeface="宋体" pitchFamily="2" charset="-122"/>
              </a:rPr>
              <a:t>2</a:t>
            </a:r>
            <a:r>
              <a:rPr lang="zh-CN" altLang="en-US" sz="2800" dirty="0">
                <a:latin typeface="宋体" pitchFamily="2" charset="-122"/>
                <a:ea typeface="宋体" pitchFamily="2" charset="-122"/>
              </a:rPr>
              <a:t>） 选择要标注的一个或多个图元。</a:t>
            </a:r>
          </a:p>
          <a:p>
            <a:pPr indent="457200">
              <a:lnSpc>
                <a:spcPct val="150000"/>
              </a:lnSpc>
            </a:pPr>
            <a:r>
              <a:rPr lang="en-US" altLang="zh-CN" sz="2800" dirty="0">
                <a:latin typeface="宋体" pitchFamily="2" charset="-122"/>
                <a:ea typeface="宋体" pitchFamily="2" charset="-122"/>
              </a:rPr>
              <a:t>3</a:t>
            </a:r>
            <a:r>
              <a:rPr lang="zh-CN" altLang="en-US" sz="2800" dirty="0">
                <a:latin typeface="宋体" pitchFamily="2" charset="-122"/>
                <a:ea typeface="宋体" pitchFamily="2" charset="-122"/>
              </a:rPr>
              <a:t>） 在合适的位置处单击鼠标中键以放置尺寸，并可以在出现的文本框中修改尺寸值。</a:t>
            </a:r>
          </a:p>
        </p:txBody>
      </p:sp>
      <p:sp>
        <p:nvSpPr>
          <p:cNvPr id="5" name="TextBox 4"/>
          <p:cNvSpPr txBox="1"/>
          <p:nvPr/>
        </p:nvSpPr>
        <p:spPr>
          <a:xfrm>
            <a:off x="460562" y="430306"/>
            <a:ext cx="2376767" cy="830997"/>
          </a:xfrm>
          <a:prstGeom prst="rect">
            <a:avLst/>
          </a:prstGeom>
          <a:solidFill>
            <a:srgbClr val="0000FF"/>
          </a:solidFill>
        </p:spPr>
        <p:txBody>
          <a:bodyPr wrap="square" rtlCol="0">
            <a:spAutoFit/>
          </a:bodyPr>
          <a:lstStyle/>
          <a:p>
            <a:pPr>
              <a:lnSpc>
                <a:spcPct val="150000"/>
              </a:lnSpc>
            </a:pPr>
            <a:r>
              <a:rPr lang="en-US" altLang="zh-CN" sz="3200" dirty="0">
                <a:solidFill>
                  <a:schemeClr val="bg1"/>
                </a:solidFill>
                <a:latin typeface="Times New Roman" pitchFamily="18" charset="0"/>
                <a:ea typeface="黑体" pitchFamily="49" charset="-122"/>
              </a:rPr>
              <a:t>2.5</a:t>
            </a:r>
            <a:r>
              <a:rPr lang="zh-CN" altLang="en-US" sz="3200" dirty="0">
                <a:solidFill>
                  <a:schemeClr val="bg1"/>
                </a:solidFill>
                <a:latin typeface="Times New Roman" pitchFamily="18" charset="0"/>
                <a:ea typeface="黑体" pitchFamily="49" charset="-122"/>
              </a:rPr>
              <a:t>尺寸标注</a:t>
            </a:r>
            <a:endParaRPr lang="en-US" altLang="zh-CN" sz="3200" dirty="0">
              <a:solidFill>
                <a:schemeClr val="bg1"/>
              </a:solidFill>
              <a:latin typeface="Times New Roman" pitchFamily="18" charset="0"/>
              <a:ea typeface="黑体" pitchFamily="49" charset="-122"/>
            </a:endParaRPr>
          </a:p>
        </p:txBody>
      </p:sp>
      <p:pic>
        <p:nvPicPr>
          <p:cNvPr id="6" name="图片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136726" y="2459691"/>
            <a:ext cx="448800" cy="360000"/>
          </a:xfrm>
          <a:prstGeom prst="rect">
            <a:avLst/>
          </a:prstGeom>
        </p:spPr>
      </p:pic>
    </p:spTree>
    <p:extLst>
      <p:ext uri="{BB962C8B-B14F-4D97-AF65-F5344CB8AC3E}">
        <p14:creationId xmlns:p14="http://schemas.microsoft.com/office/powerpoint/2010/main" val="194568373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图片 6"/>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17918" y="1612314"/>
            <a:ext cx="5384282" cy="2594972"/>
          </a:xfrm>
          <a:prstGeom prst="rect">
            <a:avLst/>
          </a:prstGeom>
        </p:spPr>
      </p:pic>
      <p:sp>
        <p:nvSpPr>
          <p:cNvPr id="8" name="TextBox 7"/>
          <p:cNvSpPr txBox="1"/>
          <p:nvPr/>
        </p:nvSpPr>
        <p:spPr>
          <a:xfrm>
            <a:off x="1949592" y="4834077"/>
            <a:ext cx="1760417" cy="369332"/>
          </a:xfrm>
          <a:prstGeom prst="rect">
            <a:avLst/>
          </a:prstGeom>
          <a:noFill/>
        </p:spPr>
        <p:txBody>
          <a:bodyPr wrap="none" rtlCol="0">
            <a:spAutoFit/>
          </a:bodyPr>
          <a:lstStyle/>
          <a:p>
            <a:pPr algn="ctr"/>
            <a:r>
              <a:rPr lang="zh-CN" altLang="en-US" dirty="0"/>
              <a:t>图</a:t>
            </a:r>
            <a:r>
              <a:rPr lang="en-US" altLang="zh-CN" dirty="0"/>
              <a:t>2-40</a:t>
            </a:r>
            <a:r>
              <a:rPr lang="zh-CN" altLang="en-US" dirty="0"/>
              <a:t>标注线长</a:t>
            </a:r>
          </a:p>
        </p:txBody>
      </p:sp>
      <p:pic>
        <p:nvPicPr>
          <p:cNvPr id="9" name="图片 8"/>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843039" y="1250158"/>
            <a:ext cx="5761524" cy="3509500"/>
          </a:xfrm>
          <a:prstGeom prst="rect">
            <a:avLst/>
          </a:prstGeom>
        </p:spPr>
      </p:pic>
      <p:sp>
        <p:nvSpPr>
          <p:cNvPr id="10" name="TextBox 9"/>
          <p:cNvSpPr txBox="1"/>
          <p:nvPr/>
        </p:nvSpPr>
        <p:spPr>
          <a:xfrm>
            <a:off x="6869445" y="4857668"/>
            <a:ext cx="3198312" cy="369332"/>
          </a:xfrm>
          <a:prstGeom prst="rect">
            <a:avLst/>
          </a:prstGeom>
          <a:noFill/>
        </p:spPr>
        <p:txBody>
          <a:bodyPr wrap="none" rtlCol="0">
            <a:spAutoFit/>
          </a:bodyPr>
          <a:lstStyle/>
          <a:p>
            <a:pPr algn="ctr"/>
            <a:r>
              <a:rPr lang="zh-CN" altLang="en-US" dirty="0"/>
              <a:t>图</a:t>
            </a:r>
            <a:r>
              <a:rPr lang="en-US" altLang="zh-CN" dirty="0"/>
              <a:t>2-41 </a:t>
            </a:r>
            <a:r>
              <a:rPr lang="zh-CN" altLang="en-US" dirty="0"/>
              <a:t>标注两平行线间的距离</a:t>
            </a:r>
          </a:p>
        </p:txBody>
      </p:sp>
    </p:spTree>
    <p:extLst>
      <p:ext uri="{BB962C8B-B14F-4D97-AF65-F5344CB8AC3E}">
        <p14:creationId xmlns:p14="http://schemas.microsoft.com/office/powerpoint/2010/main" val="111723431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p:cNvSpPr txBox="1"/>
          <p:nvPr/>
        </p:nvSpPr>
        <p:spPr>
          <a:xfrm>
            <a:off x="1115228" y="5345063"/>
            <a:ext cx="3429145" cy="369332"/>
          </a:xfrm>
          <a:prstGeom prst="rect">
            <a:avLst/>
          </a:prstGeom>
          <a:noFill/>
        </p:spPr>
        <p:txBody>
          <a:bodyPr wrap="none" rtlCol="0">
            <a:spAutoFit/>
          </a:bodyPr>
          <a:lstStyle/>
          <a:p>
            <a:pPr algn="ctr"/>
            <a:r>
              <a:rPr lang="zh-CN" altLang="en-US" dirty="0"/>
              <a:t>图</a:t>
            </a:r>
            <a:r>
              <a:rPr lang="en-US" altLang="zh-CN" dirty="0"/>
              <a:t>2-42 </a:t>
            </a:r>
            <a:r>
              <a:rPr lang="zh-CN" altLang="en-US" dirty="0"/>
              <a:t>标注直线与点之间的距离</a:t>
            </a:r>
          </a:p>
        </p:txBody>
      </p:sp>
      <p:sp>
        <p:nvSpPr>
          <p:cNvPr id="10" name="TextBox 9"/>
          <p:cNvSpPr txBox="1"/>
          <p:nvPr/>
        </p:nvSpPr>
        <p:spPr>
          <a:xfrm>
            <a:off x="7326643" y="5314866"/>
            <a:ext cx="3198312" cy="369332"/>
          </a:xfrm>
          <a:prstGeom prst="rect">
            <a:avLst/>
          </a:prstGeom>
          <a:noFill/>
        </p:spPr>
        <p:txBody>
          <a:bodyPr wrap="none" rtlCol="0">
            <a:spAutoFit/>
          </a:bodyPr>
          <a:lstStyle/>
          <a:p>
            <a:pPr algn="ctr"/>
            <a:r>
              <a:rPr lang="zh-CN" altLang="en-US" dirty="0"/>
              <a:t>图</a:t>
            </a:r>
            <a:r>
              <a:rPr lang="en-US" altLang="zh-CN" dirty="0"/>
              <a:t>2-43 </a:t>
            </a:r>
            <a:r>
              <a:rPr lang="zh-CN" altLang="en-US" dirty="0"/>
              <a:t>标注两点之间相应距离</a:t>
            </a:r>
          </a:p>
        </p:txBody>
      </p:sp>
      <p:pic>
        <p:nvPicPr>
          <p:cNvPr id="6" name="图片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92148" y="1032080"/>
            <a:ext cx="3555227" cy="3680974"/>
          </a:xfrm>
          <a:prstGeom prst="rect">
            <a:avLst/>
          </a:prstGeom>
        </p:spPr>
      </p:pic>
      <p:pic>
        <p:nvPicPr>
          <p:cNvPr id="11" name="图片 1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067965" y="872444"/>
            <a:ext cx="4801271" cy="4092511"/>
          </a:xfrm>
          <a:prstGeom prst="rect">
            <a:avLst/>
          </a:prstGeom>
        </p:spPr>
      </p:pic>
    </p:spTree>
    <p:extLst>
      <p:ext uri="{BB962C8B-B14F-4D97-AF65-F5344CB8AC3E}">
        <p14:creationId xmlns:p14="http://schemas.microsoft.com/office/powerpoint/2010/main" val="401701007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p:cNvSpPr txBox="1"/>
          <p:nvPr/>
        </p:nvSpPr>
        <p:spPr>
          <a:xfrm>
            <a:off x="1346061" y="5345063"/>
            <a:ext cx="2967479" cy="369332"/>
          </a:xfrm>
          <a:prstGeom prst="rect">
            <a:avLst/>
          </a:prstGeom>
          <a:noFill/>
        </p:spPr>
        <p:txBody>
          <a:bodyPr wrap="none" rtlCol="0">
            <a:spAutoFit/>
          </a:bodyPr>
          <a:lstStyle/>
          <a:p>
            <a:pPr algn="ctr"/>
            <a:r>
              <a:rPr lang="zh-CN" altLang="en-US" dirty="0"/>
              <a:t>图</a:t>
            </a:r>
            <a:r>
              <a:rPr lang="en-US" altLang="zh-CN" dirty="0"/>
              <a:t>2-44 </a:t>
            </a:r>
            <a:r>
              <a:rPr lang="zh-CN" altLang="en-US" dirty="0"/>
              <a:t>标注两交线间的角度</a:t>
            </a:r>
          </a:p>
        </p:txBody>
      </p:sp>
      <p:sp>
        <p:nvSpPr>
          <p:cNvPr id="10" name="TextBox 9"/>
          <p:cNvSpPr txBox="1"/>
          <p:nvPr/>
        </p:nvSpPr>
        <p:spPr>
          <a:xfrm>
            <a:off x="7557475" y="5314866"/>
            <a:ext cx="2736647" cy="369332"/>
          </a:xfrm>
          <a:prstGeom prst="rect">
            <a:avLst/>
          </a:prstGeom>
          <a:noFill/>
        </p:spPr>
        <p:txBody>
          <a:bodyPr wrap="none" rtlCol="0">
            <a:spAutoFit/>
          </a:bodyPr>
          <a:lstStyle/>
          <a:p>
            <a:pPr algn="ctr"/>
            <a:r>
              <a:rPr lang="zh-CN" altLang="en-US" dirty="0"/>
              <a:t>图</a:t>
            </a:r>
            <a:r>
              <a:rPr lang="en-US" altLang="zh-CN" dirty="0"/>
              <a:t>2-45 </a:t>
            </a:r>
            <a:r>
              <a:rPr lang="zh-CN" altLang="en-US" dirty="0"/>
              <a:t>标注圆弧弧度尺寸</a:t>
            </a:r>
          </a:p>
        </p:txBody>
      </p:sp>
      <p:pic>
        <p:nvPicPr>
          <p:cNvPr id="7" name="图片 6"/>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10647" y="1929808"/>
            <a:ext cx="5761524" cy="2594972"/>
          </a:xfrm>
          <a:prstGeom prst="rect">
            <a:avLst/>
          </a:prstGeom>
        </p:spPr>
      </p:pic>
      <p:pic>
        <p:nvPicPr>
          <p:cNvPr id="9" name="图片 8"/>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577795" y="1462384"/>
            <a:ext cx="5224240" cy="3680974"/>
          </a:xfrm>
          <a:prstGeom prst="rect">
            <a:avLst/>
          </a:prstGeom>
        </p:spPr>
      </p:pic>
    </p:spTree>
    <p:extLst>
      <p:ext uri="{BB962C8B-B14F-4D97-AF65-F5344CB8AC3E}">
        <p14:creationId xmlns:p14="http://schemas.microsoft.com/office/powerpoint/2010/main" val="83019520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p:cNvSpPr txBox="1"/>
          <p:nvPr/>
        </p:nvSpPr>
        <p:spPr>
          <a:xfrm>
            <a:off x="1461477" y="5345063"/>
            <a:ext cx="2736647" cy="369332"/>
          </a:xfrm>
          <a:prstGeom prst="rect">
            <a:avLst/>
          </a:prstGeom>
          <a:noFill/>
        </p:spPr>
        <p:txBody>
          <a:bodyPr wrap="none" rtlCol="0">
            <a:spAutoFit/>
          </a:bodyPr>
          <a:lstStyle/>
          <a:p>
            <a:pPr algn="ctr"/>
            <a:r>
              <a:rPr lang="zh-CN" altLang="en-US" dirty="0"/>
              <a:t>图</a:t>
            </a:r>
            <a:r>
              <a:rPr lang="en-US" altLang="zh-CN" dirty="0"/>
              <a:t>2-46 </a:t>
            </a:r>
            <a:r>
              <a:rPr lang="zh-CN" altLang="en-US" dirty="0"/>
              <a:t>标注圆弧角度尺寸</a:t>
            </a:r>
          </a:p>
        </p:txBody>
      </p:sp>
      <p:sp>
        <p:nvSpPr>
          <p:cNvPr id="10" name="TextBox 9"/>
          <p:cNvSpPr txBox="1"/>
          <p:nvPr/>
        </p:nvSpPr>
        <p:spPr>
          <a:xfrm>
            <a:off x="7788307" y="5314866"/>
            <a:ext cx="2274982" cy="369332"/>
          </a:xfrm>
          <a:prstGeom prst="rect">
            <a:avLst/>
          </a:prstGeom>
          <a:noFill/>
        </p:spPr>
        <p:txBody>
          <a:bodyPr wrap="none" rtlCol="0">
            <a:spAutoFit/>
          </a:bodyPr>
          <a:lstStyle/>
          <a:p>
            <a:pPr algn="ctr"/>
            <a:r>
              <a:rPr lang="zh-CN" altLang="en-US" dirty="0"/>
              <a:t>图</a:t>
            </a:r>
            <a:r>
              <a:rPr lang="en-US" altLang="zh-CN" dirty="0"/>
              <a:t>2-47 </a:t>
            </a:r>
            <a:r>
              <a:rPr lang="zh-CN" altLang="en-US" dirty="0"/>
              <a:t>弧度转化角度</a:t>
            </a:r>
          </a:p>
        </p:txBody>
      </p:sp>
      <p:pic>
        <p:nvPicPr>
          <p:cNvPr id="6" name="图片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55431" y="1246755"/>
            <a:ext cx="5052766" cy="3909606"/>
          </a:xfrm>
          <a:prstGeom prst="rect">
            <a:avLst/>
          </a:prstGeom>
        </p:spPr>
      </p:pic>
      <p:pic>
        <p:nvPicPr>
          <p:cNvPr id="11" name="图片 1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581483" y="1609890"/>
            <a:ext cx="4183964" cy="3452342"/>
          </a:xfrm>
          <a:prstGeom prst="rect">
            <a:avLst/>
          </a:prstGeom>
        </p:spPr>
      </p:pic>
    </p:spTree>
    <p:extLst>
      <p:ext uri="{BB962C8B-B14F-4D97-AF65-F5344CB8AC3E}">
        <p14:creationId xmlns:p14="http://schemas.microsoft.com/office/powerpoint/2010/main" val="279157112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p:cNvSpPr txBox="1"/>
          <p:nvPr/>
        </p:nvSpPr>
        <p:spPr>
          <a:xfrm>
            <a:off x="1346061" y="5345063"/>
            <a:ext cx="2967479" cy="369332"/>
          </a:xfrm>
          <a:prstGeom prst="rect">
            <a:avLst/>
          </a:prstGeom>
          <a:noFill/>
        </p:spPr>
        <p:txBody>
          <a:bodyPr wrap="none" rtlCol="0">
            <a:spAutoFit/>
          </a:bodyPr>
          <a:lstStyle/>
          <a:p>
            <a:pPr algn="ctr"/>
            <a:r>
              <a:rPr lang="zh-CN" altLang="en-US" dirty="0"/>
              <a:t>图</a:t>
            </a:r>
            <a:r>
              <a:rPr lang="en-US" altLang="zh-CN" dirty="0"/>
              <a:t>2-48 </a:t>
            </a:r>
            <a:r>
              <a:rPr lang="zh-CN" altLang="en-US" dirty="0"/>
              <a:t>标注圆弧或圆的半径</a:t>
            </a:r>
          </a:p>
        </p:txBody>
      </p:sp>
      <p:sp>
        <p:nvSpPr>
          <p:cNvPr id="10" name="TextBox 9"/>
          <p:cNvSpPr txBox="1"/>
          <p:nvPr/>
        </p:nvSpPr>
        <p:spPr>
          <a:xfrm>
            <a:off x="7468508" y="5314866"/>
            <a:ext cx="2914580" cy="369332"/>
          </a:xfrm>
          <a:prstGeom prst="rect">
            <a:avLst/>
          </a:prstGeom>
          <a:noFill/>
        </p:spPr>
        <p:txBody>
          <a:bodyPr wrap="none" rtlCol="0">
            <a:spAutoFit/>
          </a:bodyPr>
          <a:lstStyle/>
          <a:p>
            <a:pPr algn="ctr"/>
            <a:r>
              <a:rPr lang="zh-CN" altLang="en-US" dirty="0"/>
              <a:t>图</a:t>
            </a:r>
            <a:r>
              <a:rPr lang="en-US" altLang="zh-CN" dirty="0"/>
              <a:t>2-49</a:t>
            </a:r>
            <a:r>
              <a:rPr lang="zh-CN" altLang="en-US" dirty="0"/>
              <a:t>标注圆弧或圆的直径</a:t>
            </a:r>
          </a:p>
        </p:txBody>
      </p:sp>
      <p:pic>
        <p:nvPicPr>
          <p:cNvPr id="7" name="图片 6"/>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22554" y="1929292"/>
            <a:ext cx="5167081" cy="3132257"/>
          </a:xfrm>
          <a:prstGeom prst="rect">
            <a:avLst/>
          </a:prstGeom>
        </p:spPr>
      </p:pic>
      <p:pic>
        <p:nvPicPr>
          <p:cNvPr id="9" name="图片 8"/>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119341" y="1710736"/>
            <a:ext cx="5612914" cy="3418048"/>
          </a:xfrm>
          <a:prstGeom prst="rect">
            <a:avLst/>
          </a:prstGeom>
        </p:spPr>
      </p:pic>
    </p:spTree>
    <p:extLst>
      <p:ext uri="{BB962C8B-B14F-4D97-AF65-F5344CB8AC3E}">
        <p14:creationId xmlns:p14="http://schemas.microsoft.com/office/powerpoint/2010/main" val="48221493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p:cNvSpPr txBox="1"/>
          <p:nvPr/>
        </p:nvSpPr>
        <p:spPr>
          <a:xfrm>
            <a:off x="5047476" y="1458863"/>
            <a:ext cx="2097049" cy="369332"/>
          </a:xfrm>
          <a:prstGeom prst="rect">
            <a:avLst/>
          </a:prstGeom>
          <a:noFill/>
        </p:spPr>
        <p:txBody>
          <a:bodyPr wrap="none" rtlCol="0">
            <a:spAutoFit/>
          </a:bodyPr>
          <a:lstStyle/>
          <a:p>
            <a:pPr algn="ctr"/>
            <a:r>
              <a:rPr lang="zh-CN" altLang="en-US" dirty="0"/>
              <a:t>表</a:t>
            </a:r>
            <a:r>
              <a:rPr lang="en-US" altLang="zh-CN" dirty="0"/>
              <a:t>2-1  9</a:t>
            </a:r>
            <a:r>
              <a:rPr lang="zh-CN" altLang="en-US" dirty="0"/>
              <a:t>种约束命令</a:t>
            </a:r>
          </a:p>
        </p:txBody>
      </p:sp>
      <p:sp>
        <p:nvSpPr>
          <p:cNvPr id="6" name="TextBox 5"/>
          <p:cNvSpPr txBox="1"/>
          <p:nvPr/>
        </p:nvSpPr>
        <p:spPr>
          <a:xfrm>
            <a:off x="460562" y="430306"/>
            <a:ext cx="2376767" cy="830997"/>
          </a:xfrm>
          <a:prstGeom prst="rect">
            <a:avLst/>
          </a:prstGeom>
          <a:solidFill>
            <a:srgbClr val="0000FF"/>
          </a:solidFill>
        </p:spPr>
        <p:txBody>
          <a:bodyPr wrap="square" rtlCol="0">
            <a:spAutoFit/>
          </a:bodyPr>
          <a:lstStyle/>
          <a:p>
            <a:pPr>
              <a:lnSpc>
                <a:spcPct val="150000"/>
              </a:lnSpc>
            </a:pPr>
            <a:r>
              <a:rPr lang="en-US" altLang="zh-CN" sz="3200" dirty="0">
                <a:solidFill>
                  <a:schemeClr val="bg1"/>
                </a:solidFill>
                <a:latin typeface="Times New Roman" pitchFamily="18" charset="0"/>
                <a:ea typeface="黑体" pitchFamily="49" charset="-122"/>
              </a:rPr>
              <a:t>2.6</a:t>
            </a:r>
            <a:r>
              <a:rPr lang="zh-CN" altLang="en-US" sz="3200" dirty="0">
                <a:solidFill>
                  <a:schemeClr val="bg1"/>
                </a:solidFill>
                <a:latin typeface="Times New Roman" pitchFamily="18" charset="0"/>
                <a:ea typeface="黑体" pitchFamily="49" charset="-122"/>
              </a:rPr>
              <a:t>几何约束</a:t>
            </a:r>
            <a:endParaRPr lang="en-US" altLang="zh-CN" sz="3200" dirty="0">
              <a:solidFill>
                <a:schemeClr val="bg1"/>
              </a:solidFill>
              <a:latin typeface="Times New Roman" pitchFamily="18" charset="0"/>
              <a:ea typeface="黑体" pitchFamily="49" charset="-122"/>
            </a:endParaRPr>
          </a:p>
        </p:txBody>
      </p:sp>
      <p:graphicFrame>
        <p:nvGraphicFramePr>
          <p:cNvPr id="3" name="表格 2"/>
          <p:cNvGraphicFramePr>
            <a:graphicFrameLocks noGrp="1"/>
          </p:cNvGraphicFramePr>
          <p:nvPr>
            <p:extLst>
              <p:ext uri="{D42A27DB-BD31-4B8C-83A1-F6EECF244321}">
                <p14:modId xmlns:p14="http://schemas.microsoft.com/office/powerpoint/2010/main" val="3197739295"/>
              </p:ext>
            </p:extLst>
          </p:nvPr>
        </p:nvGraphicFramePr>
        <p:xfrm>
          <a:off x="1596000" y="2067999"/>
          <a:ext cx="9000000" cy="4346250"/>
        </p:xfrm>
        <a:graphic>
          <a:graphicData uri="http://schemas.openxmlformats.org/drawingml/2006/table">
            <a:tbl>
              <a:tblPr firstRow="1" firstCol="1" bandRow="1"/>
              <a:tblGrid>
                <a:gridCol w="862231">
                  <a:extLst>
                    <a:ext uri="{9D8B030D-6E8A-4147-A177-3AD203B41FA5}">
                      <a16:colId xmlns:a16="http://schemas.microsoft.com/office/drawing/2014/main" val="20000"/>
                    </a:ext>
                  </a:extLst>
                </a:gridCol>
                <a:gridCol w="748245">
                  <a:extLst>
                    <a:ext uri="{9D8B030D-6E8A-4147-A177-3AD203B41FA5}">
                      <a16:colId xmlns:a16="http://schemas.microsoft.com/office/drawing/2014/main" val="20001"/>
                    </a:ext>
                  </a:extLst>
                </a:gridCol>
                <a:gridCol w="1203058">
                  <a:extLst>
                    <a:ext uri="{9D8B030D-6E8A-4147-A177-3AD203B41FA5}">
                      <a16:colId xmlns:a16="http://schemas.microsoft.com/office/drawing/2014/main" val="20002"/>
                    </a:ext>
                  </a:extLst>
                </a:gridCol>
                <a:gridCol w="6186466">
                  <a:extLst>
                    <a:ext uri="{9D8B030D-6E8A-4147-A177-3AD203B41FA5}">
                      <a16:colId xmlns:a16="http://schemas.microsoft.com/office/drawing/2014/main" val="20003"/>
                    </a:ext>
                  </a:extLst>
                </a:gridCol>
              </a:tblGrid>
              <a:tr h="434625">
                <a:tc>
                  <a:txBody>
                    <a:bodyPr/>
                    <a:lstStyle/>
                    <a:p>
                      <a:pPr algn="ctr" fontAlgn="ctr">
                        <a:spcAft>
                          <a:spcPts val="0"/>
                        </a:spcAft>
                      </a:pPr>
                      <a:r>
                        <a:rPr lang="zh-CN" sz="1800" b="1" kern="100" dirty="0">
                          <a:effectLst/>
                          <a:latin typeface="Times New Roman"/>
                          <a:ea typeface="宋体"/>
                          <a:cs typeface="Times New Roman"/>
                        </a:rPr>
                        <a:t>序号</a:t>
                      </a:r>
                      <a:endParaRPr lang="zh-CN" sz="1800" b="1" kern="100" dirty="0">
                        <a:effectLst/>
                        <a:latin typeface="等线"/>
                        <a:ea typeface="等线"/>
                        <a:cs typeface="Times New Roman"/>
                      </a:endParaRPr>
                    </a:p>
                  </a:txBody>
                  <a:tcPr marL="113986" marR="113986"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spcAft>
                          <a:spcPts val="0"/>
                        </a:spcAft>
                      </a:pPr>
                      <a:r>
                        <a:rPr lang="zh-CN" sz="1800" b="1" kern="100" dirty="0">
                          <a:effectLst/>
                          <a:latin typeface="Times New Roman"/>
                          <a:ea typeface="宋体"/>
                          <a:cs typeface="Times New Roman"/>
                        </a:rPr>
                        <a:t>按钮</a:t>
                      </a:r>
                      <a:endParaRPr lang="zh-CN" sz="1800" b="1" kern="100" dirty="0">
                        <a:effectLst/>
                        <a:latin typeface="等线"/>
                        <a:ea typeface="等线"/>
                        <a:cs typeface="Times New Roman"/>
                      </a:endParaRPr>
                    </a:p>
                  </a:txBody>
                  <a:tcPr marL="113986" marR="11398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spcAft>
                          <a:spcPts val="0"/>
                        </a:spcAft>
                      </a:pPr>
                      <a:r>
                        <a:rPr lang="zh-CN" sz="1800" b="1" kern="100" dirty="0">
                          <a:effectLst/>
                          <a:latin typeface="Times New Roman"/>
                          <a:ea typeface="宋体"/>
                          <a:cs typeface="Times New Roman"/>
                        </a:rPr>
                        <a:t>按钮名称</a:t>
                      </a:r>
                      <a:endParaRPr lang="zh-CN" sz="1800" b="1" kern="100" dirty="0">
                        <a:effectLst/>
                        <a:latin typeface="等线"/>
                        <a:ea typeface="等线"/>
                        <a:cs typeface="Times New Roman"/>
                      </a:endParaRPr>
                    </a:p>
                  </a:txBody>
                  <a:tcPr marL="113986" marR="11398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spcAft>
                          <a:spcPts val="0"/>
                        </a:spcAft>
                      </a:pPr>
                      <a:r>
                        <a:rPr lang="zh-CN" sz="1800" b="1" kern="100" dirty="0">
                          <a:effectLst/>
                          <a:latin typeface="Times New Roman"/>
                          <a:ea typeface="宋体"/>
                          <a:cs typeface="Times New Roman"/>
                        </a:rPr>
                        <a:t>约束功能说明</a:t>
                      </a:r>
                      <a:endParaRPr lang="zh-CN" sz="1800" b="1" kern="100" dirty="0">
                        <a:effectLst/>
                        <a:latin typeface="等线"/>
                        <a:ea typeface="等线"/>
                        <a:cs typeface="Times New Roman"/>
                      </a:endParaRPr>
                    </a:p>
                  </a:txBody>
                  <a:tcPr marL="113986" marR="113986"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434625">
                <a:tc>
                  <a:txBody>
                    <a:bodyPr/>
                    <a:lstStyle/>
                    <a:p>
                      <a:pPr algn="ctr" fontAlgn="ctr">
                        <a:spcAft>
                          <a:spcPts val="0"/>
                        </a:spcAft>
                      </a:pPr>
                      <a:r>
                        <a:rPr lang="en-US" sz="1800" kern="100" dirty="0">
                          <a:effectLst/>
                          <a:latin typeface="Times New Roman"/>
                          <a:ea typeface="宋体"/>
                          <a:cs typeface="Times New Roman"/>
                        </a:rPr>
                        <a:t>1</a:t>
                      </a:r>
                      <a:endParaRPr lang="zh-CN" sz="1800" kern="100" dirty="0">
                        <a:effectLst/>
                        <a:latin typeface="等线"/>
                        <a:ea typeface="等线"/>
                        <a:cs typeface="Times New Roman"/>
                      </a:endParaRPr>
                    </a:p>
                  </a:txBody>
                  <a:tcPr marL="113986" marR="113986"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spcAft>
                          <a:spcPts val="0"/>
                        </a:spcAft>
                      </a:pPr>
                      <a:endParaRPr lang="en-US" sz="1800" kern="100" dirty="0">
                        <a:effectLst/>
                        <a:latin typeface="Times New Roman"/>
                        <a:ea typeface="宋体"/>
                        <a:cs typeface="Times New Roman"/>
                      </a:endParaRPr>
                    </a:p>
                  </a:txBody>
                  <a:tcPr marL="113986" marR="11398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spcAft>
                          <a:spcPts val="0"/>
                        </a:spcAft>
                      </a:pPr>
                      <a:r>
                        <a:rPr lang="zh-CN" sz="1800" kern="100" dirty="0">
                          <a:effectLst/>
                          <a:latin typeface="Times New Roman"/>
                          <a:ea typeface="宋体"/>
                          <a:cs typeface="Times New Roman"/>
                        </a:rPr>
                        <a:t>竖直</a:t>
                      </a:r>
                      <a:endParaRPr lang="zh-CN" sz="1800" kern="100" dirty="0">
                        <a:effectLst/>
                        <a:latin typeface="等线"/>
                        <a:ea typeface="等线"/>
                        <a:cs typeface="Times New Roman"/>
                      </a:endParaRPr>
                    </a:p>
                  </a:txBody>
                  <a:tcPr marL="113986" marR="11398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fontAlgn="ctr">
                        <a:spcAft>
                          <a:spcPts val="0"/>
                        </a:spcAft>
                      </a:pPr>
                      <a:r>
                        <a:rPr lang="zh-CN" sz="1800" kern="100">
                          <a:effectLst/>
                          <a:latin typeface="Times New Roman"/>
                          <a:ea typeface="宋体"/>
                          <a:cs typeface="Times New Roman"/>
                        </a:rPr>
                        <a:t>使直线或两顶点竖直</a:t>
                      </a:r>
                      <a:endParaRPr lang="zh-CN" sz="1800" kern="100">
                        <a:effectLst/>
                        <a:latin typeface="等线"/>
                        <a:ea typeface="等线"/>
                        <a:cs typeface="Times New Roman"/>
                      </a:endParaRPr>
                    </a:p>
                  </a:txBody>
                  <a:tcPr marL="113986" marR="113986"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434625">
                <a:tc>
                  <a:txBody>
                    <a:bodyPr/>
                    <a:lstStyle/>
                    <a:p>
                      <a:pPr algn="ctr" fontAlgn="ctr">
                        <a:spcAft>
                          <a:spcPts val="0"/>
                        </a:spcAft>
                      </a:pPr>
                      <a:r>
                        <a:rPr lang="en-US" sz="1800" kern="100">
                          <a:effectLst/>
                          <a:latin typeface="Times New Roman"/>
                          <a:ea typeface="宋体"/>
                          <a:cs typeface="Times New Roman"/>
                        </a:rPr>
                        <a:t>2</a:t>
                      </a:r>
                      <a:endParaRPr lang="zh-CN" sz="1800" kern="100">
                        <a:effectLst/>
                        <a:latin typeface="等线"/>
                        <a:ea typeface="等线"/>
                        <a:cs typeface="Times New Roman"/>
                      </a:endParaRPr>
                    </a:p>
                  </a:txBody>
                  <a:tcPr marL="113986" marR="113986"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spcAft>
                          <a:spcPts val="0"/>
                        </a:spcAft>
                      </a:pPr>
                      <a:endParaRPr lang="en-US" sz="1800" kern="100" dirty="0">
                        <a:effectLst/>
                        <a:latin typeface="Times New Roman"/>
                        <a:ea typeface="宋体"/>
                        <a:cs typeface="Times New Roman"/>
                      </a:endParaRPr>
                    </a:p>
                  </a:txBody>
                  <a:tcPr marL="113986" marR="11398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spcAft>
                          <a:spcPts val="0"/>
                        </a:spcAft>
                      </a:pPr>
                      <a:r>
                        <a:rPr lang="zh-CN" sz="1800" kern="100" dirty="0">
                          <a:effectLst/>
                          <a:latin typeface="Times New Roman"/>
                          <a:ea typeface="宋体"/>
                          <a:cs typeface="Times New Roman"/>
                        </a:rPr>
                        <a:t>水平</a:t>
                      </a:r>
                      <a:endParaRPr lang="zh-CN" sz="1800" kern="100" dirty="0">
                        <a:effectLst/>
                        <a:latin typeface="等线"/>
                        <a:ea typeface="等线"/>
                        <a:cs typeface="Times New Roman"/>
                      </a:endParaRPr>
                    </a:p>
                  </a:txBody>
                  <a:tcPr marL="113986" marR="11398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fontAlgn="ctr">
                        <a:spcAft>
                          <a:spcPts val="0"/>
                        </a:spcAft>
                      </a:pPr>
                      <a:r>
                        <a:rPr lang="zh-CN" sz="1800" kern="100" dirty="0">
                          <a:effectLst/>
                          <a:latin typeface="Times New Roman"/>
                          <a:ea typeface="宋体"/>
                          <a:cs typeface="Times New Roman"/>
                        </a:rPr>
                        <a:t>使直线或两顶点水平</a:t>
                      </a:r>
                      <a:endParaRPr lang="zh-CN" sz="1800" kern="100" dirty="0">
                        <a:effectLst/>
                        <a:latin typeface="等线"/>
                        <a:ea typeface="等线"/>
                        <a:cs typeface="Times New Roman"/>
                      </a:endParaRPr>
                    </a:p>
                  </a:txBody>
                  <a:tcPr marL="113986" marR="113986"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434625">
                <a:tc>
                  <a:txBody>
                    <a:bodyPr/>
                    <a:lstStyle/>
                    <a:p>
                      <a:pPr algn="ctr" fontAlgn="ctr">
                        <a:spcAft>
                          <a:spcPts val="0"/>
                        </a:spcAft>
                      </a:pPr>
                      <a:r>
                        <a:rPr lang="en-US" sz="1800" kern="100">
                          <a:effectLst/>
                          <a:latin typeface="Times New Roman"/>
                          <a:ea typeface="宋体"/>
                          <a:cs typeface="Times New Roman"/>
                        </a:rPr>
                        <a:t>3</a:t>
                      </a:r>
                      <a:endParaRPr lang="zh-CN" sz="1800" kern="100">
                        <a:effectLst/>
                        <a:latin typeface="等线"/>
                        <a:ea typeface="等线"/>
                        <a:cs typeface="Times New Roman"/>
                      </a:endParaRPr>
                    </a:p>
                  </a:txBody>
                  <a:tcPr marL="113986" marR="113986"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spcAft>
                          <a:spcPts val="0"/>
                        </a:spcAft>
                      </a:pPr>
                      <a:endParaRPr lang="en-US" sz="1800" kern="100">
                        <a:effectLst/>
                        <a:latin typeface="Times New Roman"/>
                        <a:ea typeface="宋体"/>
                        <a:cs typeface="Times New Roman"/>
                      </a:endParaRPr>
                    </a:p>
                  </a:txBody>
                  <a:tcPr marL="113986" marR="11398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spcAft>
                          <a:spcPts val="0"/>
                        </a:spcAft>
                      </a:pPr>
                      <a:r>
                        <a:rPr lang="zh-CN" sz="1800" kern="100" dirty="0">
                          <a:effectLst/>
                          <a:latin typeface="Times New Roman"/>
                          <a:ea typeface="宋体"/>
                          <a:cs typeface="Times New Roman"/>
                        </a:rPr>
                        <a:t>垂直</a:t>
                      </a:r>
                      <a:endParaRPr lang="zh-CN" sz="1800" kern="100" dirty="0">
                        <a:effectLst/>
                        <a:latin typeface="等线"/>
                        <a:ea typeface="等线"/>
                        <a:cs typeface="Times New Roman"/>
                      </a:endParaRPr>
                    </a:p>
                  </a:txBody>
                  <a:tcPr marL="113986" marR="11398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fontAlgn="ctr">
                        <a:spcAft>
                          <a:spcPts val="0"/>
                        </a:spcAft>
                      </a:pPr>
                      <a:r>
                        <a:rPr lang="zh-CN" sz="1800" kern="100" dirty="0">
                          <a:effectLst/>
                          <a:latin typeface="Times New Roman"/>
                          <a:ea typeface="宋体"/>
                          <a:cs typeface="Times New Roman"/>
                        </a:rPr>
                        <a:t>使两图元垂直</a:t>
                      </a:r>
                      <a:endParaRPr lang="zh-CN" sz="1800" kern="100" dirty="0">
                        <a:effectLst/>
                        <a:latin typeface="等线"/>
                        <a:ea typeface="等线"/>
                        <a:cs typeface="Times New Roman"/>
                      </a:endParaRPr>
                    </a:p>
                  </a:txBody>
                  <a:tcPr marL="113986" marR="113986"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434625">
                <a:tc>
                  <a:txBody>
                    <a:bodyPr/>
                    <a:lstStyle/>
                    <a:p>
                      <a:pPr algn="ctr" fontAlgn="ctr">
                        <a:spcAft>
                          <a:spcPts val="0"/>
                        </a:spcAft>
                      </a:pPr>
                      <a:r>
                        <a:rPr lang="en-US" sz="1800" kern="100">
                          <a:effectLst/>
                          <a:latin typeface="Times New Roman"/>
                          <a:ea typeface="宋体"/>
                          <a:cs typeface="Times New Roman"/>
                        </a:rPr>
                        <a:t>4</a:t>
                      </a:r>
                      <a:endParaRPr lang="zh-CN" sz="1800" kern="100">
                        <a:effectLst/>
                        <a:latin typeface="等线"/>
                        <a:ea typeface="等线"/>
                        <a:cs typeface="Times New Roman"/>
                      </a:endParaRPr>
                    </a:p>
                  </a:txBody>
                  <a:tcPr marL="113986" marR="113986"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spcAft>
                          <a:spcPts val="0"/>
                        </a:spcAft>
                      </a:pPr>
                      <a:endParaRPr lang="en-US" sz="1800" kern="100">
                        <a:effectLst/>
                        <a:latin typeface="Times New Roman"/>
                        <a:ea typeface="宋体"/>
                        <a:cs typeface="Times New Roman"/>
                      </a:endParaRPr>
                    </a:p>
                  </a:txBody>
                  <a:tcPr marL="113986" marR="11398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spcAft>
                          <a:spcPts val="0"/>
                        </a:spcAft>
                      </a:pPr>
                      <a:r>
                        <a:rPr lang="zh-CN" sz="1800" kern="100" dirty="0">
                          <a:effectLst/>
                          <a:latin typeface="Times New Roman"/>
                          <a:ea typeface="宋体"/>
                          <a:cs typeface="Times New Roman"/>
                        </a:rPr>
                        <a:t>相切</a:t>
                      </a:r>
                      <a:endParaRPr lang="zh-CN" sz="1800" kern="100" dirty="0">
                        <a:effectLst/>
                        <a:latin typeface="等线"/>
                        <a:ea typeface="等线"/>
                        <a:cs typeface="Times New Roman"/>
                      </a:endParaRPr>
                    </a:p>
                  </a:txBody>
                  <a:tcPr marL="113986" marR="11398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fontAlgn="ctr">
                        <a:spcAft>
                          <a:spcPts val="0"/>
                        </a:spcAft>
                      </a:pPr>
                      <a:r>
                        <a:rPr lang="zh-CN" sz="1800" kern="100" dirty="0">
                          <a:effectLst/>
                          <a:latin typeface="Times New Roman"/>
                          <a:ea typeface="宋体"/>
                          <a:cs typeface="Times New Roman"/>
                        </a:rPr>
                        <a:t>使两图元相切</a:t>
                      </a:r>
                      <a:endParaRPr lang="zh-CN" sz="1800" kern="100" dirty="0">
                        <a:effectLst/>
                        <a:latin typeface="等线"/>
                        <a:ea typeface="等线"/>
                        <a:cs typeface="Times New Roman"/>
                      </a:endParaRPr>
                    </a:p>
                  </a:txBody>
                  <a:tcPr marL="113986" marR="113986"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r h="434625">
                <a:tc>
                  <a:txBody>
                    <a:bodyPr/>
                    <a:lstStyle/>
                    <a:p>
                      <a:pPr algn="ctr" fontAlgn="ctr">
                        <a:spcAft>
                          <a:spcPts val="0"/>
                        </a:spcAft>
                      </a:pPr>
                      <a:r>
                        <a:rPr lang="en-US" sz="1800" kern="100">
                          <a:effectLst/>
                          <a:latin typeface="Times New Roman"/>
                          <a:ea typeface="宋体"/>
                          <a:cs typeface="Times New Roman"/>
                        </a:rPr>
                        <a:t>5</a:t>
                      </a:r>
                      <a:endParaRPr lang="zh-CN" sz="1800" kern="100">
                        <a:effectLst/>
                        <a:latin typeface="等线"/>
                        <a:ea typeface="等线"/>
                        <a:cs typeface="Times New Roman"/>
                      </a:endParaRPr>
                    </a:p>
                  </a:txBody>
                  <a:tcPr marL="113986" marR="113986"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spcAft>
                          <a:spcPts val="0"/>
                        </a:spcAft>
                      </a:pPr>
                      <a:endParaRPr lang="en-US" sz="1800" kern="100">
                        <a:effectLst/>
                        <a:latin typeface="Times New Roman"/>
                        <a:ea typeface="宋体"/>
                        <a:cs typeface="Times New Roman"/>
                      </a:endParaRPr>
                    </a:p>
                  </a:txBody>
                  <a:tcPr marL="113986" marR="11398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spcAft>
                          <a:spcPts val="0"/>
                        </a:spcAft>
                      </a:pPr>
                      <a:r>
                        <a:rPr lang="zh-CN" sz="1800" kern="100">
                          <a:effectLst/>
                          <a:latin typeface="Times New Roman"/>
                          <a:ea typeface="宋体"/>
                          <a:cs typeface="Times New Roman"/>
                        </a:rPr>
                        <a:t>中点</a:t>
                      </a:r>
                      <a:endParaRPr lang="zh-CN" sz="1800" kern="100">
                        <a:effectLst/>
                        <a:latin typeface="等线"/>
                        <a:ea typeface="等线"/>
                        <a:cs typeface="Times New Roman"/>
                      </a:endParaRPr>
                    </a:p>
                  </a:txBody>
                  <a:tcPr marL="113986" marR="11398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fontAlgn="ctr">
                        <a:spcAft>
                          <a:spcPts val="0"/>
                        </a:spcAft>
                      </a:pPr>
                      <a:r>
                        <a:rPr lang="zh-CN" sz="1800" kern="100" dirty="0">
                          <a:effectLst/>
                          <a:latin typeface="Times New Roman"/>
                          <a:ea typeface="宋体"/>
                          <a:cs typeface="Times New Roman"/>
                        </a:rPr>
                        <a:t>在直线或弧的中间放置一点</a:t>
                      </a:r>
                      <a:endParaRPr lang="zh-CN" sz="1800" kern="100" dirty="0">
                        <a:effectLst/>
                        <a:latin typeface="等线"/>
                        <a:ea typeface="等线"/>
                        <a:cs typeface="Times New Roman"/>
                      </a:endParaRPr>
                    </a:p>
                  </a:txBody>
                  <a:tcPr marL="113986" marR="113986"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5"/>
                  </a:ext>
                </a:extLst>
              </a:tr>
              <a:tr h="434625">
                <a:tc>
                  <a:txBody>
                    <a:bodyPr/>
                    <a:lstStyle/>
                    <a:p>
                      <a:pPr algn="ctr" fontAlgn="ctr">
                        <a:spcAft>
                          <a:spcPts val="0"/>
                        </a:spcAft>
                      </a:pPr>
                      <a:r>
                        <a:rPr lang="en-US" sz="1800" kern="100">
                          <a:effectLst/>
                          <a:latin typeface="Times New Roman"/>
                          <a:ea typeface="宋体"/>
                          <a:cs typeface="Times New Roman"/>
                        </a:rPr>
                        <a:t>6</a:t>
                      </a:r>
                      <a:endParaRPr lang="zh-CN" sz="1800" kern="100">
                        <a:effectLst/>
                        <a:latin typeface="等线"/>
                        <a:ea typeface="等线"/>
                        <a:cs typeface="Times New Roman"/>
                      </a:endParaRPr>
                    </a:p>
                  </a:txBody>
                  <a:tcPr marL="113986" marR="113986"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spcAft>
                          <a:spcPts val="0"/>
                        </a:spcAft>
                      </a:pPr>
                      <a:endParaRPr lang="en-US" sz="1800" kern="100">
                        <a:effectLst/>
                        <a:latin typeface="Times New Roman"/>
                        <a:ea typeface="宋体"/>
                        <a:cs typeface="Times New Roman"/>
                      </a:endParaRPr>
                    </a:p>
                  </a:txBody>
                  <a:tcPr marL="113986" marR="11398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spcAft>
                          <a:spcPts val="0"/>
                        </a:spcAft>
                      </a:pPr>
                      <a:r>
                        <a:rPr lang="zh-CN" sz="1800" kern="100">
                          <a:effectLst/>
                          <a:latin typeface="Times New Roman"/>
                          <a:ea typeface="宋体"/>
                          <a:cs typeface="Times New Roman"/>
                        </a:rPr>
                        <a:t>重合</a:t>
                      </a:r>
                      <a:endParaRPr lang="zh-CN" sz="1800" kern="100">
                        <a:effectLst/>
                        <a:latin typeface="等线"/>
                        <a:ea typeface="等线"/>
                        <a:cs typeface="Times New Roman"/>
                      </a:endParaRPr>
                    </a:p>
                  </a:txBody>
                  <a:tcPr marL="113986" marR="11398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fontAlgn="ctr">
                        <a:spcAft>
                          <a:spcPts val="0"/>
                        </a:spcAft>
                      </a:pPr>
                      <a:r>
                        <a:rPr lang="zh-CN" sz="1800" kern="100" dirty="0">
                          <a:effectLst/>
                          <a:latin typeface="Times New Roman"/>
                          <a:ea typeface="宋体"/>
                          <a:cs typeface="Times New Roman"/>
                        </a:rPr>
                        <a:t>使点或其他对象重合</a:t>
                      </a:r>
                      <a:endParaRPr lang="zh-CN" sz="1800" kern="100" dirty="0">
                        <a:effectLst/>
                        <a:latin typeface="等线"/>
                        <a:ea typeface="等线"/>
                        <a:cs typeface="Times New Roman"/>
                      </a:endParaRPr>
                    </a:p>
                  </a:txBody>
                  <a:tcPr marL="113986" marR="113986"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6"/>
                  </a:ext>
                </a:extLst>
              </a:tr>
              <a:tr h="434625">
                <a:tc>
                  <a:txBody>
                    <a:bodyPr/>
                    <a:lstStyle/>
                    <a:p>
                      <a:pPr algn="ctr" fontAlgn="ctr">
                        <a:spcAft>
                          <a:spcPts val="0"/>
                        </a:spcAft>
                      </a:pPr>
                      <a:r>
                        <a:rPr lang="en-US" sz="1800" kern="100">
                          <a:effectLst/>
                          <a:latin typeface="Times New Roman"/>
                          <a:ea typeface="宋体"/>
                          <a:cs typeface="Times New Roman"/>
                        </a:rPr>
                        <a:t>7</a:t>
                      </a:r>
                      <a:endParaRPr lang="zh-CN" sz="1800" kern="100">
                        <a:effectLst/>
                        <a:latin typeface="等线"/>
                        <a:ea typeface="等线"/>
                        <a:cs typeface="Times New Roman"/>
                      </a:endParaRPr>
                    </a:p>
                  </a:txBody>
                  <a:tcPr marL="113986" marR="113986"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spcAft>
                          <a:spcPts val="0"/>
                        </a:spcAft>
                      </a:pPr>
                      <a:endParaRPr lang="en-US" sz="1800" kern="100">
                        <a:effectLst/>
                        <a:latin typeface="Times New Roman"/>
                        <a:ea typeface="宋体"/>
                        <a:cs typeface="Times New Roman"/>
                      </a:endParaRPr>
                    </a:p>
                  </a:txBody>
                  <a:tcPr marL="113986" marR="11398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spcAft>
                          <a:spcPts val="0"/>
                        </a:spcAft>
                      </a:pPr>
                      <a:r>
                        <a:rPr lang="zh-CN" sz="1800" kern="100">
                          <a:effectLst/>
                          <a:latin typeface="Times New Roman"/>
                          <a:ea typeface="宋体"/>
                          <a:cs typeface="Times New Roman"/>
                        </a:rPr>
                        <a:t>对称</a:t>
                      </a:r>
                      <a:endParaRPr lang="zh-CN" sz="1800" kern="100">
                        <a:effectLst/>
                        <a:latin typeface="等线"/>
                        <a:ea typeface="等线"/>
                        <a:cs typeface="Times New Roman"/>
                      </a:endParaRPr>
                    </a:p>
                  </a:txBody>
                  <a:tcPr marL="113986" marR="11398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fontAlgn="ctr">
                        <a:spcAft>
                          <a:spcPts val="0"/>
                        </a:spcAft>
                      </a:pPr>
                      <a:r>
                        <a:rPr lang="zh-CN" sz="1800" kern="100" dirty="0">
                          <a:effectLst/>
                          <a:latin typeface="Times New Roman"/>
                          <a:ea typeface="宋体"/>
                          <a:cs typeface="Times New Roman"/>
                        </a:rPr>
                        <a:t>使两点或顶点关于中心线对称</a:t>
                      </a:r>
                      <a:endParaRPr lang="zh-CN" sz="1800" kern="100" dirty="0">
                        <a:effectLst/>
                        <a:latin typeface="等线"/>
                        <a:ea typeface="等线"/>
                        <a:cs typeface="Times New Roman"/>
                      </a:endParaRPr>
                    </a:p>
                  </a:txBody>
                  <a:tcPr marL="113986" marR="113986"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7"/>
                  </a:ext>
                </a:extLst>
              </a:tr>
              <a:tr h="434625">
                <a:tc>
                  <a:txBody>
                    <a:bodyPr/>
                    <a:lstStyle/>
                    <a:p>
                      <a:pPr algn="ctr" fontAlgn="ctr">
                        <a:spcAft>
                          <a:spcPts val="0"/>
                        </a:spcAft>
                      </a:pPr>
                      <a:r>
                        <a:rPr lang="en-US" sz="1800" kern="100">
                          <a:effectLst/>
                          <a:latin typeface="Times New Roman"/>
                          <a:ea typeface="宋体"/>
                          <a:cs typeface="Times New Roman"/>
                        </a:rPr>
                        <a:t>8</a:t>
                      </a:r>
                      <a:endParaRPr lang="zh-CN" sz="1800" kern="100">
                        <a:effectLst/>
                        <a:latin typeface="等线"/>
                        <a:ea typeface="等线"/>
                        <a:cs typeface="Times New Roman"/>
                      </a:endParaRPr>
                    </a:p>
                  </a:txBody>
                  <a:tcPr marL="113986" marR="113986"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spcAft>
                          <a:spcPts val="0"/>
                        </a:spcAft>
                      </a:pPr>
                      <a:endParaRPr lang="en-US" sz="1800" kern="100">
                        <a:effectLst/>
                        <a:latin typeface="Times New Roman"/>
                        <a:ea typeface="宋体"/>
                        <a:cs typeface="Times New Roman"/>
                      </a:endParaRPr>
                    </a:p>
                  </a:txBody>
                  <a:tcPr marL="113986" marR="11398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spcAft>
                          <a:spcPts val="0"/>
                        </a:spcAft>
                      </a:pPr>
                      <a:r>
                        <a:rPr lang="zh-CN" sz="1800" kern="100">
                          <a:effectLst/>
                          <a:latin typeface="Times New Roman"/>
                          <a:ea typeface="宋体"/>
                          <a:cs typeface="Times New Roman"/>
                        </a:rPr>
                        <a:t>相等</a:t>
                      </a:r>
                      <a:endParaRPr lang="zh-CN" sz="1800" kern="100">
                        <a:effectLst/>
                        <a:latin typeface="等线"/>
                        <a:ea typeface="等线"/>
                        <a:cs typeface="Times New Roman"/>
                      </a:endParaRPr>
                    </a:p>
                  </a:txBody>
                  <a:tcPr marL="113986" marR="11398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fontAlgn="ctr">
                        <a:spcAft>
                          <a:spcPts val="0"/>
                        </a:spcAft>
                      </a:pPr>
                      <a:r>
                        <a:rPr lang="zh-CN" sz="1800" kern="100" dirty="0">
                          <a:effectLst/>
                          <a:latin typeface="Times New Roman"/>
                          <a:ea typeface="宋体"/>
                          <a:cs typeface="Times New Roman"/>
                        </a:rPr>
                        <a:t>创建相等的线型尺寸或角度尺寸、相等曲率或相等半径</a:t>
                      </a:r>
                      <a:endParaRPr lang="zh-CN" sz="1800" kern="100" dirty="0">
                        <a:effectLst/>
                        <a:latin typeface="等线"/>
                        <a:ea typeface="等线"/>
                        <a:cs typeface="Times New Roman"/>
                      </a:endParaRPr>
                    </a:p>
                  </a:txBody>
                  <a:tcPr marL="113986" marR="113986"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8"/>
                  </a:ext>
                </a:extLst>
              </a:tr>
              <a:tr h="434625">
                <a:tc>
                  <a:txBody>
                    <a:bodyPr/>
                    <a:lstStyle/>
                    <a:p>
                      <a:pPr algn="ctr" fontAlgn="ctr">
                        <a:spcAft>
                          <a:spcPts val="0"/>
                        </a:spcAft>
                      </a:pPr>
                      <a:r>
                        <a:rPr lang="en-US" sz="1800" kern="100">
                          <a:effectLst/>
                          <a:latin typeface="Times New Roman"/>
                          <a:ea typeface="宋体"/>
                          <a:cs typeface="Times New Roman"/>
                        </a:rPr>
                        <a:t>9</a:t>
                      </a:r>
                      <a:endParaRPr lang="zh-CN" sz="1800" kern="100">
                        <a:effectLst/>
                        <a:latin typeface="等线"/>
                        <a:ea typeface="等线"/>
                        <a:cs typeface="Times New Roman"/>
                      </a:endParaRPr>
                    </a:p>
                  </a:txBody>
                  <a:tcPr marL="113986" marR="113986"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spcAft>
                          <a:spcPts val="0"/>
                        </a:spcAft>
                      </a:pPr>
                      <a:endParaRPr lang="en-US" sz="1800" kern="100">
                        <a:effectLst/>
                        <a:latin typeface="Times New Roman"/>
                        <a:ea typeface="宋体"/>
                        <a:cs typeface="Times New Roman"/>
                      </a:endParaRPr>
                    </a:p>
                  </a:txBody>
                  <a:tcPr marL="113986" marR="11398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spcAft>
                          <a:spcPts val="0"/>
                        </a:spcAft>
                      </a:pPr>
                      <a:r>
                        <a:rPr lang="zh-CN" sz="1800" kern="100">
                          <a:effectLst/>
                          <a:latin typeface="Times New Roman"/>
                          <a:ea typeface="宋体"/>
                          <a:cs typeface="Times New Roman"/>
                        </a:rPr>
                        <a:t>平行</a:t>
                      </a:r>
                      <a:endParaRPr lang="zh-CN" sz="1800" kern="100">
                        <a:effectLst/>
                        <a:latin typeface="等线"/>
                        <a:ea typeface="等线"/>
                        <a:cs typeface="Times New Roman"/>
                      </a:endParaRPr>
                    </a:p>
                  </a:txBody>
                  <a:tcPr marL="113986" marR="11398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fontAlgn="ctr">
                        <a:spcAft>
                          <a:spcPts val="0"/>
                        </a:spcAft>
                      </a:pPr>
                      <a:r>
                        <a:rPr lang="zh-CN" sz="1800" kern="100" dirty="0">
                          <a:effectLst/>
                          <a:latin typeface="Times New Roman"/>
                          <a:ea typeface="宋体"/>
                          <a:cs typeface="Times New Roman"/>
                        </a:rPr>
                        <a:t>使两条或多条线平行</a:t>
                      </a:r>
                      <a:endParaRPr lang="zh-CN" sz="1800" kern="100" dirty="0">
                        <a:effectLst/>
                        <a:latin typeface="等线"/>
                        <a:ea typeface="等线"/>
                        <a:cs typeface="Times New Roman"/>
                      </a:endParaRPr>
                    </a:p>
                  </a:txBody>
                  <a:tcPr marL="113986" marR="113986"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9"/>
                  </a:ext>
                </a:extLst>
              </a:tr>
            </a:tbl>
          </a:graphicData>
        </a:graphic>
      </p:graphicFrame>
      <p:pic>
        <p:nvPicPr>
          <p:cNvPr id="27" name="图片 26"/>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734775" y="2379756"/>
            <a:ext cx="273600" cy="288000"/>
          </a:xfrm>
          <a:prstGeom prst="rect">
            <a:avLst/>
          </a:prstGeom>
        </p:spPr>
      </p:pic>
      <p:pic>
        <p:nvPicPr>
          <p:cNvPr id="28" name="图片 27"/>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723284" y="2823509"/>
            <a:ext cx="288000" cy="288000"/>
          </a:xfrm>
          <a:prstGeom prst="rect">
            <a:avLst/>
          </a:prstGeom>
        </p:spPr>
      </p:pic>
      <p:pic>
        <p:nvPicPr>
          <p:cNvPr id="29" name="图片 28"/>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722202" y="3267262"/>
            <a:ext cx="277835" cy="288000"/>
          </a:xfrm>
          <a:prstGeom prst="rect">
            <a:avLst/>
          </a:prstGeom>
        </p:spPr>
      </p:pic>
      <p:pic>
        <p:nvPicPr>
          <p:cNvPr id="30" name="图片 29"/>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709837" y="3697568"/>
            <a:ext cx="316800" cy="288000"/>
          </a:xfrm>
          <a:prstGeom prst="rect">
            <a:avLst/>
          </a:prstGeom>
        </p:spPr>
      </p:pic>
      <p:pic>
        <p:nvPicPr>
          <p:cNvPr id="31" name="图片 30"/>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2713023" y="4100980"/>
            <a:ext cx="302400" cy="288000"/>
          </a:xfrm>
          <a:prstGeom prst="rect">
            <a:avLst/>
          </a:prstGeom>
        </p:spPr>
      </p:pic>
      <p:pic>
        <p:nvPicPr>
          <p:cNvPr id="32" name="图片 31"/>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2715272" y="4544732"/>
            <a:ext cx="302400" cy="288000"/>
          </a:xfrm>
          <a:prstGeom prst="rect">
            <a:avLst/>
          </a:prstGeom>
        </p:spPr>
      </p:pic>
      <p:pic>
        <p:nvPicPr>
          <p:cNvPr id="33" name="图片 32"/>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2708072" y="4975038"/>
            <a:ext cx="288000" cy="288000"/>
          </a:xfrm>
          <a:prstGeom prst="rect">
            <a:avLst/>
          </a:prstGeom>
        </p:spPr>
      </p:pic>
      <p:pic>
        <p:nvPicPr>
          <p:cNvPr id="34" name="图片 33"/>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2744122" y="5432238"/>
            <a:ext cx="288000" cy="288000"/>
          </a:xfrm>
          <a:prstGeom prst="rect">
            <a:avLst/>
          </a:prstGeom>
        </p:spPr>
      </p:pic>
      <p:pic>
        <p:nvPicPr>
          <p:cNvPr id="35" name="图片 34"/>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2748222" y="5849097"/>
            <a:ext cx="249035" cy="288000"/>
          </a:xfrm>
          <a:prstGeom prst="rect">
            <a:avLst/>
          </a:prstGeom>
        </p:spPr>
      </p:pic>
      <p:sp>
        <p:nvSpPr>
          <p:cNvPr id="36" name="TextBox 35"/>
          <p:cNvSpPr txBox="1"/>
          <p:nvPr/>
        </p:nvSpPr>
        <p:spPr>
          <a:xfrm>
            <a:off x="383240" y="1250586"/>
            <a:ext cx="4908177" cy="656846"/>
          </a:xfrm>
          <a:prstGeom prst="rect">
            <a:avLst/>
          </a:prstGeom>
          <a:noFill/>
        </p:spPr>
        <p:txBody>
          <a:bodyPr wrap="square" rtlCol="0">
            <a:spAutoFit/>
          </a:bodyPr>
          <a:lstStyle/>
          <a:p>
            <a:pPr>
              <a:lnSpc>
                <a:spcPct val="150000"/>
              </a:lnSpc>
            </a:pPr>
            <a:r>
              <a:rPr lang="en-US" altLang="zh-CN" sz="2800" b="1" dirty="0">
                <a:latin typeface="Times New Roman" pitchFamily="18" charset="0"/>
                <a:ea typeface="宋体" pitchFamily="2" charset="-122"/>
              </a:rPr>
              <a:t>2.6.1</a:t>
            </a:r>
            <a:r>
              <a:rPr lang="zh-CN" altLang="en-US" sz="2800" b="1" dirty="0">
                <a:latin typeface="Times New Roman" pitchFamily="18" charset="0"/>
                <a:ea typeface="宋体" pitchFamily="2" charset="-122"/>
              </a:rPr>
              <a:t>使用约束概述</a:t>
            </a:r>
          </a:p>
        </p:txBody>
      </p:sp>
    </p:spTree>
    <p:extLst>
      <p:ext uri="{BB962C8B-B14F-4D97-AF65-F5344CB8AC3E}">
        <p14:creationId xmlns:p14="http://schemas.microsoft.com/office/powerpoint/2010/main" val="108267895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p:cNvSpPr txBox="1"/>
          <p:nvPr/>
        </p:nvSpPr>
        <p:spPr>
          <a:xfrm>
            <a:off x="4439938" y="1243711"/>
            <a:ext cx="3312125" cy="369332"/>
          </a:xfrm>
          <a:prstGeom prst="rect">
            <a:avLst/>
          </a:prstGeom>
          <a:noFill/>
        </p:spPr>
        <p:txBody>
          <a:bodyPr wrap="none" rtlCol="0">
            <a:spAutoFit/>
          </a:bodyPr>
          <a:lstStyle/>
          <a:p>
            <a:pPr algn="ctr"/>
            <a:r>
              <a:rPr lang="zh-CN" altLang="en-US" dirty="0"/>
              <a:t>表</a:t>
            </a:r>
            <a:r>
              <a:rPr lang="en-US" altLang="zh-CN" dirty="0"/>
              <a:t>2-2 </a:t>
            </a:r>
            <a:r>
              <a:rPr lang="zh-CN" altLang="en-US" dirty="0"/>
              <a:t>动态控制约束的操作技巧</a:t>
            </a:r>
          </a:p>
        </p:txBody>
      </p:sp>
      <p:graphicFrame>
        <p:nvGraphicFramePr>
          <p:cNvPr id="4" name="表格 3"/>
          <p:cNvGraphicFramePr>
            <a:graphicFrameLocks noGrp="1"/>
          </p:cNvGraphicFramePr>
          <p:nvPr>
            <p:extLst>
              <p:ext uri="{D42A27DB-BD31-4B8C-83A1-F6EECF244321}">
                <p14:modId xmlns:p14="http://schemas.microsoft.com/office/powerpoint/2010/main" val="3922319337"/>
              </p:ext>
            </p:extLst>
          </p:nvPr>
        </p:nvGraphicFramePr>
        <p:xfrm>
          <a:off x="1596000" y="2507718"/>
          <a:ext cx="9000000" cy="2736636"/>
        </p:xfrm>
        <a:graphic>
          <a:graphicData uri="http://schemas.openxmlformats.org/drawingml/2006/table">
            <a:tbl>
              <a:tblPr firstRow="1" firstCol="1" bandRow="1"/>
              <a:tblGrid>
                <a:gridCol w="1311664">
                  <a:extLst>
                    <a:ext uri="{9D8B030D-6E8A-4147-A177-3AD203B41FA5}">
                      <a16:colId xmlns:a16="http://schemas.microsoft.com/office/drawing/2014/main" val="20000"/>
                    </a:ext>
                  </a:extLst>
                </a:gridCol>
                <a:gridCol w="2096339">
                  <a:extLst>
                    <a:ext uri="{9D8B030D-6E8A-4147-A177-3AD203B41FA5}">
                      <a16:colId xmlns:a16="http://schemas.microsoft.com/office/drawing/2014/main" val="20001"/>
                    </a:ext>
                  </a:extLst>
                </a:gridCol>
                <a:gridCol w="5591997">
                  <a:extLst>
                    <a:ext uri="{9D8B030D-6E8A-4147-A177-3AD203B41FA5}">
                      <a16:colId xmlns:a16="http://schemas.microsoft.com/office/drawing/2014/main" val="20002"/>
                    </a:ext>
                  </a:extLst>
                </a:gridCol>
              </a:tblGrid>
              <a:tr h="390948">
                <a:tc>
                  <a:txBody>
                    <a:bodyPr/>
                    <a:lstStyle/>
                    <a:p>
                      <a:pPr algn="ctr" fontAlgn="ctr">
                        <a:spcAft>
                          <a:spcPts val="0"/>
                        </a:spcAft>
                      </a:pPr>
                      <a:r>
                        <a:rPr lang="zh-CN" sz="1800" b="1" kern="100" dirty="0">
                          <a:effectLst/>
                          <a:latin typeface="Times New Roman"/>
                          <a:ea typeface="宋体"/>
                          <a:cs typeface="Times New Roman"/>
                        </a:rPr>
                        <a:t>序号</a:t>
                      </a:r>
                      <a:endParaRPr lang="zh-CN" sz="1800" b="1" kern="100" dirty="0">
                        <a:effectLst/>
                        <a:latin typeface="等线"/>
                        <a:ea typeface="等线"/>
                        <a:cs typeface="Times New Roman"/>
                      </a:endParaRPr>
                    </a:p>
                  </a:txBody>
                  <a:tcPr marL="114058" marR="114058" marT="0" marB="0">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spcAft>
                          <a:spcPts val="0"/>
                        </a:spcAft>
                      </a:pPr>
                      <a:r>
                        <a:rPr lang="zh-CN" sz="1800" b="1" kern="100" dirty="0">
                          <a:effectLst/>
                          <a:latin typeface="Times New Roman"/>
                          <a:ea typeface="宋体"/>
                          <a:cs typeface="Times New Roman"/>
                        </a:rPr>
                        <a:t>鼠标操作</a:t>
                      </a:r>
                      <a:endParaRPr lang="zh-CN" sz="1800" b="1" kern="100" dirty="0">
                        <a:effectLst/>
                        <a:latin typeface="等线"/>
                        <a:ea typeface="等线"/>
                        <a:cs typeface="Times New Roman"/>
                      </a:endParaRPr>
                    </a:p>
                  </a:txBody>
                  <a:tcPr marL="114058" marR="11405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spcAft>
                          <a:spcPts val="0"/>
                        </a:spcAft>
                      </a:pPr>
                      <a:r>
                        <a:rPr lang="zh-CN" sz="1800" b="1" kern="100" dirty="0">
                          <a:effectLst/>
                          <a:latin typeface="Times New Roman"/>
                          <a:ea typeface="宋体"/>
                          <a:cs typeface="Times New Roman"/>
                        </a:rPr>
                        <a:t>操作用途及结果</a:t>
                      </a:r>
                      <a:endParaRPr lang="zh-CN" sz="1800" b="1" kern="100" dirty="0">
                        <a:effectLst/>
                        <a:latin typeface="等线"/>
                        <a:ea typeface="等线"/>
                        <a:cs typeface="Times New Roman"/>
                      </a:endParaRPr>
                    </a:p>
                  </a:txBody>
                  <a:tcPr marL="114058" marR="114058" marT="0" marB="0">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390948">
                <a:tc>
                  <a:txBody>
                    <a:bodyPr/>
                    <a:lstStyle/>
                    <a:p>
                      <a:pPr algn="ctr" fontAlgn="ctr">
                        <a:spcAft>
                          <a:spcPts val="0"/>
                        </a:spcAft>
                      </a:pPr>
                      <a:r>
                        <a:rPr lang="en-US" sz="1800" kern="100" dirty="0">
                          <a:effectLst/>
                          <a:latin typeface="Times New Roman"/>
                          <a:ea typeface="宋体"/>
                          <a:cs typeface="Times New Roman"/>
                        </a:rPr>
                        <a:t>1</a:t>
                      </a:r>
                      <a:endParaRPr lang="zh-CN" sz="1800" kern="100" dirty="0">
                        <a:effectLst/>
                        <a:latin typeface="等线"/>
                        <a:ea typeface="等线"/>
                        <a:cs typeface="Times New Roman"/>
                      </a:endParaRPr>
                    </a:p>
                  </a:txBody>
                  <a:tcPr marL="114058" marR="114058" marT="0" marB="0">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spcAft>
                          <a:spcPts val="0"/>
                        </a:spcAft>
                      </a:pPr>
                      <a:r>
                        <a:rPr lang="zh-CN" sz="1800" kern="100" dirty="0">
                          <a:effectLst/>
                          <a:latin typeface="Times New Roman"/>
                          <a:ea typeface="宋体"/>
                          <a:cs typeface="Times New Roman"/>
                        </a:rPr>
                        <a:t>单击</a:t>
                      </a:r>
                      <a:endParaRPr lang="zh-CN" sz="1800" kern="100" dirty="0">
                        <a:effectLst/>
                        <a:latin typeface="等线"/>
                        <a:ea typeface="等线"/>
                        <a:cs typeface="Times New Roman"/>
                      </a:endParaRPr>
                    </a:p>
                  </a:txBody>
                  <a:tcPr marL="114058" marR="11405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fontAlgn="ctr">
                        <a:spcAft>
                          <a:spcPts val="0"/>
                        </a:spcAft>
                      </a:pPr>
                      <a:r>
                        <a:rPr lang="zh-CN" sz="1800" kern="100" dirty="0">
                          <a:effectLst/>
                          <a:latin typeface="Times New Roman"/>
                          <a:ea typeface="宋体"/>
                          <a:cs typeface="Times New Roman"/>
                        </a:rPr>
                        <a:t>接受约束以完成对图元的草绘</a:t>
                      </a:r>
                      <a:endParaRPr lang="zh-CN" sz="1800" kern="100" dirty="0">
                        <a:effectLst/>
                        <a:latin typeface="等线"/>
                        <a:ea typeface="等线"/>
                        <a:cs typeface="Times New Roman"/>
                      </a:endParaRPr>
                    </a:p>
                  </a:txBody>
                  <a:tcPr marL="114058" marR="114058" marT="0" marB="0">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390948">
                <a:tc>
                  <a:txBody>
                    <a:bodyPr/>
                    <a:lstStyle/>
                    <a:p>
                      <a:pPr algn="ctr" fontAlgn="ctr">
                        <a:spcAft>
                          <a:spcPts val="0"/>
                        </a:spcAft>
                      </a:pPr>
                      <a:r>
                        <a:rPr lang="en-US" sz="1800" kern="100" dirty="0">
                          <a:effectLst/>
                          <a:latin typeface="Times New Roman"/>
                          <a:ea typeface="宋体"/>
                          <a:cs typeface="Times New Roman"/>
                        </a:rPr>
                        <a:t>2</a:t>
                      </a:r>
                      <a:endParaRPr lang="zh-CN" sz="1800" kern="100" dirty="0">
                        <a:effectLst/>
                        <a:latin typeface="等线"/>
                        <a:ea typeface="等线"/>
                        <a:cs typeface="Times New Roman"/>
                      </a:endParaRPr>
                    </a:p>
                  </a:txBody>
                  <a:tcPr marL="114058" marR="114058" marT="0" marB="0">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spcAft>
                          <a:spcPts val="0"/>
                        </a:spcAft>
                      </a:pPr>
                      <a:r>
                        <a:rPr lang="zh-CN" sz="1800" kern="100" dirty="0">
                          <a:effectLst/>
                          <a:latin typeface="Times New Roman"/>
                          <a:ea typeface="宋体"/>
                          <a:cs typeface="Times New Roman"/>
                        </a:rPr>
                        <a:t>右键单击</a:t>
                      </a:r>
                      <a:endParaRPr lang="zh-CN" sz="1800" kern="100" dirty="0">
                        <a:effectLst/>
                        <a:latin typeface="等线"/>
                        <a:ea typeface="等线"/>
                        <a:cs typeface="Times New Roman"/>
                      </a:endParaRPr>
                    </a:p>
                  </a:txBody>
                  <a:tcPr marL="114058" marR="11405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fontAlgn="ctr">
                        <a:spcAft>
                          <a:spcPts val="0"/>
                        </a:spcAft>
                      </a:pPr>
                      <a:r>
                        <a:rPr lang="zh-CN" sz="1800" kern="100" dirty="0">
                          <a:effectLst/>
                          <a:latin typeface="Times New Roman"/>
                          <a:ea typeface="宋体"/>
                          <a:cs typeface="Times New Roman"/>
                        </a:rPr>
                        <a:t>锁定约束并继续进行草绘</a:t>
                      </a:r>
                      <a:endParaRPr lang="zh-CN" sz="1800" kern="100" dirty="0">
                        <a:effectLst/>
                        <a:latin typeface="等线"/>
                        <a:ea typeface="等线"/>
                        <a:cs typeface="Times New Roman"/>
                      </a:endParaRPr>
                    </a:p>
                  </a:txBody>
                  <a:tcPr marL="114058" marR="114058" marT="0" marB="0">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390948">
                <a:tc>
                  <a:txBody>
                    <a:bodyPr/>
                    <a:lstStyle/>
                    <a:p>
                      <a:pPr algn="ctr" fontAlgn="ctr">
                        <a:spcAft>
                          <a:spcPts val="0"/>
                        </a:spcAft>
                      </a:pPr>
                      <a:r>
                        <a:rPr lang="en-US" sz="1800" kern="100" dirty="0">
                          <a:effectLst/>
                          <a:latin typeface="Times New Roman"/>
                          <a:ea typeface="宋体"/>
                          <a:cs typeface="Times New Roman"/>
                        </a:rPr>
                        <a:t>3</a:t>
                      </a:r>
                      <a:endParaRPr lang="zh-CN" sz="1800" kern="100" dirty="0">
                        <a:effectLst/>
                        <a:latin typeface="等线"/>
                        <a:ea typeface="等线"/>
                        <a:cs typeface="Times New Roman"/>
                      </a:endParaRPr>
                    </a:p>
                  </a:txBody>
                  <a:tcPr marL="114058" marR="114058" marT="0" marB="0">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spcAft>
                          <a:spcPts val="0"/>
                        </a:spcAft>
                      </a:pPr>
                      <a:r>
                        <a:rPr lang="zh-CN" sz="1800" kern="100" dirty="0">
                          <a:effectLst/>
                          <a:latin typeface="Times New Roman"/>
                          <a:ea typeface="宋体"/>
                          <a:cs typeface="Times New Roman"/>
                        </a:rPr>
                        <a:t>右键单击两次</a:t>
                      </a:r>
                      <a:endParaRPr lang="zh-CN" sz="1800" kern="100" dirty="0">
                        <a:effectLst/>
                        <a:latin typeface="等线"/>
                        <a:ea typeface="等线"/>
                        <a:cs typeface="Times New Roman"/>
                      </a:endParaRPr>
                    </a:p>
                  </a:txBody>
                  <a:tcPr marL="114058" marR="11405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fontAlgn="ctr">
                        <a:spcAft>
                          <a:spcPts val="0"/>
                        </a:spcAft>
                      </a:pPr>
                      <a:r>
                        <a:rPr lang="zh-CN" sz="1800" kern="100" dirty="0">
                          <a:effectLst/>
                          <a:latin typeface="Times New Roman"/>
                          <a:ea typeface="宋体"/>
                          <a:cs typeface="Times New Roman"/>
                        </a:rPr>
                        <a:t>禁止所提供的约束并继续进行草绘</a:t>
                      </a:r>
                      <a:endParaRPr lang="zh-CN" sz="1800" kern="100" dirty="0">
                        <a:effectLst/>
                        <a:latin typeface="等线"/>
                        <a:ea typeface="等线"/>
                        <a:cs typeface="Times New Roman"/>
                      </a:endParaRPr>
                    </a:p>
                  </a:txBody>
                  <a:tcPr marL="114058" marR="114058" marT="0" marB="0">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390948">
                <a:tc>
                  <a:txBody>
                    <a:bodyPr/>
                    <a:lstStyle/>
                    <a:p>
                      <a:pPr algn="ctr" fontAlgn="ctr">
                        <a:spcAft>
                          <a:spcPts val="0"/>
                        </a:spcAft>
                      </a:pPr>
                      <a:r>
                        <a:rPr lang="en-US" altLang="zh-CN" sz="1800" kern="100" dirty="0">
                          <a:effectLst/>
                          <a:latin typeface="等线"/>
                          <a:ea typeface="等线"/>
                          <a:cs typeface="Times New Roman"/>
                        </a:rPr>
                        <a:t>4</a:t>
                      </a:r>
                      <a:endParaRPr lang="zh-CN" sz="1800" kern="100" dirty="0">
                        <a:effectLst/>
                        <a:latin typeface="等线"/>
                        <a:ea typeface="等线"/>
                        <a:cs typeface="Times New Roman"/>
                      </a:endParaRPr>
                    </a:p>
                  </a:txBody>
                  <a:tcPr marL="114058" marR="114058" marT="0" marB="0">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spcAft>
                          <a:spcPts val="0"/>
                        </a:spcAft>
                      </a:pPr>
                      <a:r>
                        <a:rPr lang="zh-CN" altLang="en-US" sz="1800" kern="100" dirty="0">
                          <a:solidFill>
                            <a:schemeClr val="tx1"/>
                          </a:solidFill>
                          <a:effectLst/>
                          <a:latin typeface="Times New Roman"/>
                          <a:ea typeface="宋体"/>
                          <a:cs typeface="Times New Roman"/>
                        </a:rPr>
                        <a:t>右键单击三次</a:t>
                      </a:r>
                      <a:endParaRPr lang="zh-CN" sz="1800" kern="100" dirty="0">
                        <a:solidFill>
                          <a:schemeClr val="tx1"/>
                        </a:solidFill>
                        <a:effectLst/>
                        <a:latin typeface="Times New Roman"/>
                        <a:ea typeface="宋体"/>
                        <a:cs typeface="Times New Roman"/>
                      </a:endParaRPr>
                    </a:p>
                  </a:txBody>
                  <a:tcPr marL="114058" marR="11405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algn="l" defTabSz="914400" rtl="0" eaLnBrk="1" fontAlgn="ctr" latinLnBrk="0" hangingPunct="1">
                        <a:spcAft>
                          <a:spcPts val="0"/>
                        </a:spcAft>
                      </a:pPr>
                      <a:r>
                        <a:rPr lang="zh-CN" sz="1800" kern="100" dirty="0">
                          <a:solidFill>
                            <a:schemeClr val="tx1"/>
                          </a:solidFill>
                          <a:effectLst/>
                          <a:latin typeface="Times New Roman"/>
                          <a:ea typeface="宋体"/>
                          <a:cs typeface="Times New Roman"/>
                        </a:rPr>
                        <a:t>启动所提供的约束并继续进行草绘</a:t>
                      </a:r>
                    </a:p>
                  </a:txBody>
                  <a:tcPr marL="68580" marR="68580" marT="0" marB="0">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r h="390948">
                <a:tc>
                  <a:txBody>
                    <a:bodyPr/>
                    <a:lstStyle/>
                    <a:p>
                      <a:pPr algn="ctr" fontAlgn="ctr">
                        <a:spcAft>
                          <a:spcPts val="0"/>
                        </a:spcAft>
                      </a:pPr>
                      <a:r>
                        <a:rPr lang="en-US" altLang="zh-CN" sz="1800" kern="100" dirty="0">
                          <a:effectLst/>
                          <a:latin typeface="等线"/>
                          <a:ea typeface="等线"/>
                          <a:cs typeface="Times New Roman"/>
                        </a:rPr>
                        <a:t>5</a:t>
                      </a:r>
                      <a:endParaRPr lang="zh-CN" sz="1800" kern="100" dirty="0">
                        <a:effectLst/>
                        <a:latin typeface="等线"/>
                        <a:ea typeface="等线"/>
                        <a:cs typeface="Times New Roman"/>
                      </a:endParaRPr>
                    </a:p>
                  </a:txBody>
                  <a:tcPr marL="114058" marR="114058" marT="0" marB="0">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spcAft>
                          <a:spcPts val="0"/>
                        </a:spcAft>
                      </a:pPr>
                      <a:r>
                        <a:rPr lang="zh-CN" altLang="en-US" sz="1800" kern="100" dirty="0">
                          <a:solidFill>
                            <a:schemeClr val="tx1"/>
                          </a:solidFill>
                          <a:effectLst/>
                          <a:latin typeface="Times New Roman"/>
                          <a:ea typeface="宋体"/>
                          <a:cs typeface="Times New Roman"/>
                        </a:rPr>
                        <a:t>按住“</a:t>
                      </a:r>
                      <a:r>
                        <a:rPr lang="en-US" altLang="zh-CN" sz="1800" kern="100" dirty="0">
                          <a:solidFill>
                            <a:schemeClr val="tx1"/>
                          </a:solidFill>
                          <a:effectLst/>
                          <a:latin typeface="Times New Roman"/>
                          <a:ea typeface="宋体"/>
                          <a:cs typeface="Times New Roman"/>
                        </a:rPr>
                        <a:t>Shift</a:t>
                      </a:r>
                      <a:r>
                        <a:rPr lang="en-US" altLang="zh-CN" sz="1800" kern="100" dirty="0">
                          <a:solidFill>
                            <a:schemeClr val="tx1"/>
                          </a:solidFill>
                          <a:effectLst/>
                          <a:latin typeface="宋体" pitchFamily="2" charset="-122"/>
                          <a:ea typeface="宋体" pitchFamily="2" charset="-122"/>
                          <a:cs typeface="Times New Roman"/>
                        </a:rPr>
                        <a:t>”</a:t>
                      </a:r>
                      <a:r>
                        <a:rPr lang="zh-CN" altLang="en-US" sz="1800" kern="100" dirty="0">
                          <a:solidFill>
                            <a:schemeClr val="tx1"/>
                          </a:solidFill>
                          <a:effectLst/>
                          <a:latin typeface="Times New Roman"/>
                          <a:ea typeface="宋体"/>
                          <a:cs typeface="Times New Roman"/>
                        </a:rPr>
                        <a:t>键</a:t>
                      </a:r>
                      <a:endParaRPr lang="zh-CN" sz="1800" kern="100" dirty="0">
                        <a:solidFill>
                          <a:schemeClr val="tx1"/>
                        </a:solidFill>
                        <a:effectLst/>
                        <a:latin typeface="Times New Roman"/>
                        <a:ea typeface="宋体"/>
                        <a:cs typeface="Times New Roman"/>
                      </a:endParaRPr>
                    </a:p>
                  </a:txBody>
                  <a:tcPr marL="114058" marR="11405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algn="l" defTabSz="914400" rtl="0" eaLnBrk="1" fontAlgn="ctr" latinLnBrk="0" hangingPunct="1">
                        <a:spcAft>
                          <a:spcPts val="0"/>
                        </a:spcAft>
                      </a:pPr>
                      <a:r>
                        <a:rPr lang="zh-CN" sz="1800" kern="100" dirty="0">
                          <a:solidFill>
                            <a:schemeClr val="tx1"/>
                          </a:solidFill>
                          <a:effectLst/>
                          <a:latin typeface="Times New Roman"/>
                          <a:ea typeface="宋体"/>
                          <a:cs typeface="Times New Roman"/>
                        </a:rPr>
                        <a:t>禁止提供约束</a:t>
                      </a:r>
                    </a:p>
                  </a:txBody>
                  <a:tcPr marL="68580" marR="68580" marT="0" marB="0">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5"/>
                  </a:ext>
                </a:extLst>
              </a:tr>
              <a:tr h="390948">
                <a:tc>
                  <a:txBody>
                    <a:bodyPr/>
                    <a:lstStyle/>
                    <a:p>
                      <a:pPr algn="ctr" fontAlgn="ctr">
                        <a:spcAft>
                          <a:spcPts val="0"/>
                        </a:spcAft>
                      </a:pPr>
                      <a:r>
                        <a:rPr lang="en-US" altLang="zh-CN" sz="1800" kern="100" dirty="0">
                          <a:effectLst/>
                          <a:latin typeface="等线"/>
                          <a:ea typeface="等线"/>
                          <a:cs typeface="Times New Roman"/>
                        </a:rPr>
                        <a:t>6</a:t>
                      </a:r>
                      <a:endParaRPr lang="zh-CN" sz="1800" kern="100" dirty="0">
                        <a:effectLst/>
                        <a:latin typeface="等线"/>
                        <a:ea typeface="等线"/>
                        <a:cs typeface="Times New Roman"/>
                      </a:endParaRPr>
                    </a:p>
                  </a:txBody>
                  <a:tcPr marL="114058" marR="114058" marT="0" marB="0">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spcAft>
                          <a:spcPts val="0"/>
                        </a:spcAft>
                      </a:pPr>
                      <a:r>
                        <a:rPr lang="zh-CN" altLang="en-US" sz="1800" kern="100" dirty="0">
                          <a:solidFill>
                            <a:schemeClr val="tx1"/>
                          </a:solidFill>
                          <a:effectLst/>
                          <a:latin typeface="Times New Roman"/>
                          <a:ea typeface="宋体"/>
                          <a:cs typeface="Times New Roman"/>
                        </a:rPr>
                        <a:t>按住“</a:t>
                      </a:r>
                      <a:r>
                        <a:rPr lang="en-US" altLang="zh-CN" sz="1800" kern="100" dirty="0">
                          <a:solidFill>
                            <a:schemeClr val="tx1"/>
                          </a:solidFill>
                          <a:effectLst/>
                          <a:latin typeface="Times New Roman"/>
                          <a:ea typeface="宋体"/>
                          <a:cs typeface="Times New Roman"/>
                        </a:rPr>
                        <a:t>Tab</a:t>
                      </a:r>
                      <a:r>
                        <a:rPr lang="en-US" altLang="zh-CN" sz="1800" kern="100" dirty="0">
                          <a:solidFill>
                            <a:schemeClr val="tx1"/>
                          </a:solidFill>
                          <a:effectLst/>
                          <a:latin typeface="宋体" pitchFamily="2" charset="-122"/>
                          <a:ea typeface="宋体" pitchFamily="2" charset="-122"/>
                          <a:cs typeface="Times New Roman"/>
                        </a:rPr>
                        <a:t>”</a:t>
                      </a:r>
                      <a:r>
                        <a:rPr lang="zh-CN" altLang="en-US" sz="1800" kern="100" dirty="0">
                          <a:solidFill>
                            <a:schemeClr val="tx1"/>
                          </a:solidFill>
                          <a:effectLst/>
                          <a:latin typeface="Times New Roman"/>
                          <a:ea typeface="宋体"/>
                          <a:cs typeface="Times New Roman"/>
                        </a:rPr>
                        <a:t>键</a:t>
                      </a:r>
                      <a:endParaRPr lang="zh-CN" sz="1800" kern="100" dirty="0">
                        <a:solidFill>
                          <a:schemeClr val="tx1"/>
                        </a:solidFill>
                        <a:effectLst/>
                        <a:latin typeface="Times New Roman"/>
                        <a:ea typeface="宋体"/>
                        <a:cs typeface="Times New Roman"/>
                      </a:endParaRPr>
                    </a:p>
                  </a:txBody>
                  <a:tcPr marL="114058" marR="11405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algn="l" defTabSz="914400" rtl="0" eaLnBrk="1" fontAlgn="ctr" latinLnBrk="0" hangingPunct="1">
                        <a:spcAft>
                          <a:spcPts val="0"/>
                        </a:spcAft>
                      </a:pPr>
                      <a:r>
                        <a:rPr lang="zh-CN" sz="1800" kern="100" dirty="0">
                          <a:solidFill>
                            <a:schemeClr val="tx1"/>
                          </a:solidFill>
                          <a:effectLst/>
                          <a:latin typeface="Times New Roman"/>
                          <a:ea typeface="宋体"/>
                          <a:cs typeface="Times New Roman"/>
                        </a:rPr>
                        <a:t>在多个活动约束之间进行切换，以便锁定或禁用它们</a:t>
                      </a:r>
                    </a:p>
                  </a:txBody>
                  <a:tcPr marL="68580" marR="68580" marT="0" marB="0">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102117555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 name="TextBox 35"/>
          <p:cNvSpPr txBox="1"/>
          <p:nvPr/>
        </p:nvSpPr>
        <p:spPr>
          <a:xfrm>
            <a:off x="383240" y="524448"/>
            <a:ext cx="4908177" cy="656846"/>
          </a:xfrm>
          <a:prstGeom prst="rect">
            <a:avLst/>
          </a:prstGeom>
          <a:noFill/>
        </p:spPr>
        <p:txBody>
          <a:bodyPr wrap="square" rtlCol="0">
            <a:spAutoFit/>
          </a:bodyPr>
          <a:lstStyle/>
          <a:p>
            <a:pPr>
              <a:lnSpc>
                <a:spcPct val="150000"/>
              </a:lnSpc>
            </a:pPr>
            <a:r>
              <a:rPr lang="en-US" altLang="zh-CN" sz="2800" b="1" dirty="0">
                <a:latin typeface="Times New Roman" pitchFamily="18" charset="0"/>
                <a:ea typeface="宋体" pitchFamily="2" charset="-122"/>
              </a:rPr>
              <a:t>2.6.2</a:t>
            </a:r>
            <a:r>
              <a:rPr lang="zh-CN" altLang="en-US" sz="2800" b="1" dirty="0">
                <a:latin typeface="Times New Roman" pitchFamily="18" charset="0"/>
                <a:ea typeface="宋体" pitchFamily="2" charset="-122"/>
              </a:rPr>
              <a:t>添加及删除约束</a:t>
            </a:r>
          </a:p>
        </p:txBody>
      </p:sp>
      <p:sp>
        <p:nvSpPr>
          <p:cNvPr id="15" name="TextBox 14"/>
          <p:cNvSpPr txBox="1"/>
          <p:nvPr/>
        </p:nvSpPr>
        <p:spPr>
          <a:xfrm>
            <a:off x="231962" y="1341287"/>
            <a:ext cx="11507321" cy="4832092"/>
          </a:xfrm>
          <a:prstGeom prst="rect">
            <a:avLst/>
          </a:prstGeom>
          <a:noFill/>
        </p:spPr>
        <p:txBody>
          <a:bodyPr wrap="square" rtlCol="0">
            <a:spAutoFit/>
          </a:bodyPr>
          <a:lstStyle/>
          <a:p>
            <a:pPr indent="457200"/>
            <a:r>
              <a:rPr lang="en-US" altLang="zh-CN" sz="2800" dirty="0">
                <a:latin typeface="宋体" pitchFamily="2" charset="-122"/>
                <a:ea typeface="宋体" pitchFamily="2" charset="-122"/>
              </a:rPr>
              <a:t>1</a:t>
            </a:r>
            <a:r>
              <a:rPr lang="zh-CN" altLang="en-US" sz="2800" dirty="0">
                <a:latin typeface="宋体" pitchFamily="2" charset="-122"/>
                <a:ea typeface="宋体" pitchFamily="2" charset="-122"/>
              </a:rPr>
              <a:t>）添加约束</a:t>
            </a:r>
          </a:p>
          <a:p>
            <a:pPr indent="457200"/>
            <a:r>
              <a:rPr lang="zh-CN" altLang="en-US" sz="2800" dirty="0">
                <a:latin typeface="宋体" pitchFamily="2" charset="-122"/>
                <a:ea typeface="宋体" pitchFamily="2" charset="-122"/>
              </a:rPr>
              <a:t>添加约束的一般方法如下：</a:t>
            </a:r>
          </a:p>
          <a:p>
            <a:pPr indent="457200"/>
            <a:r>
              <a:rPr lang="zh-CN" altLang="en-US" sz="2800" dirty="0">
                <a:latin typeface="宋体" pitchFamily="2" charset="-122"/>
                <a:ea typeface="宋体" pitchFamily="2" charset="-122"/>
              </a:rPr>
              <a:t>（</a:t>
            </a:r>
            <a:r>
              <a:rPr lang="en-US" altLang="zh-CN" sz="2800" dirty="0">
                <a:latin typeface="宋体" pitchFamily="2" charset="-122"/>
                <a:ea typeface="宋体" pitchFamily="2" charset="-122"/>
              </a:rPr>
              <a:t>1</a:t>
            </a:r>
            <a:r>
              <a:rPr lang="zh-CN" altLang="en-US" sz="2800" dirty="0">
                <a:latin typeface="宋体" pitchFamily="2" charset="-122"/>
                <a:ea typeface="宋体" pitchFamily="2" charset="-122"/>
              </a:rPr>
              <a:t>）在功能区的</a:t>
            </a:r>
            <a:r>
              <a:rPr lang="en-US" altLang="zh-CN" sz="2800" dirty="0">
                <a:latin typeface="宋体" pitchFamily="2" charset="-122"/>
                <a:ea typeface="宋体" pitchFamily="2" charset="-122"/>
              </a:rPr>
              <a:t>【</a:t>
            </a:r>
            <a:r>
              <a:rPr lang="zh-CN" altLang="en-US" sz="2800" dirty="0">
                <a:latin typeface="宋体" pitchFamily="2" charset="-122"/>
                <a:ea typeface="宋体" pitchFamily="2" charset="-122"/>
              </a:rPr>
              <a:t>草绘</a:t>
            </a:r>
            <a:r>
              <a:rPr lang="en-US" altLang="zh-CN" sz="2800" dirty="0">
                <a:latin typeface="宋体" pitchFamily="2" charset="-122"/>
                <a:ea typeface="宋体" pitchFamily="2" charset="-122"/>
              </a:rPr>
              <a:t>】</a:t>
            </a:r>
            <a:r>
              <a:rPr lang="zh-CN" altLang="en-US" sz="2800" dirty="0">
                <a:latin typeface="宋体" pitchFamily="2" charset="-122"/>
                <a:ea typeface="宋体" pitchFamily="2" charset="-122"/>
              </a:rPr>
              <a:t>选项卡的</a:t>
            </a:r>
            <a:r>
              <a:rPr lang="en-US" altLang="zh-CN" sz="2800" dirty="0">
                <a:latin typeface="宋体" pitchFamily="2" charset="-122"/>
                <a:ea typeface="宋体" pitchFamily="2" charset="-122"/>
              </a:rPr>
              <a:t>【</a:t>
            </a:r>
            <a:r>
              <a:rPr lang="zh-CN" altLang="en-US" sz="2800" dirty="0">
                <a:latin typeface="宋体" pitchFamily="2" charset="-122"/>
                <a:ea typeface="宋体" pitchFamily="2" charset="-122"/>
              </a:rPr>
              <a:t>约束</a:t>
            </a:r>
            <a:r>
              <a:rPr lang="en-US" altLang="zh-CN" sz="2800" dirty="0">
                <a:latin typeface="宋体" pitchFamily="2" charset="-122"/>
                <a:ea typeface="宋体" pitchFamily="2" charset="-122"/>
              </a:rPr>
              <a:t>】</a:t>
            </a:r>
            <a:r>
              <a:rPr lang="zh-CN" altLang="en-US" sz="2800" dirty="0">
                <a:latin typeface="宋体" pitchFamily="2" charset="-122"/>
                <a:ea typeface="宋体" pitchFamily="2" charset="-122"/>
              </a:rPr>
              <a:t>组中单击要应用的约束按钮。</a:t>
            </a:r>
          </a:p>
          <a:p>
            <a:pPr indent="457200"/>
            <a:r>
              <a:rPr lang="zh-CN" altLang="en-US" sz="2800" dirty="0">
                <a:latin typeface="宋体" pitchFamily="2" charset="-122"/>
                <a:ea typeface="宋体" pitchFamily="2" charset="-122"/>
              </a:rPr>
              <a:t>（</a:t>
            </a:r>
            <a:r>
              <a:rPr lang="en-US" altLang="zh-CN" sz="2800" dirty="0">
                <a:latin typeface="宋体" pitchFamily="2" charset="-122"/>
                <a:ea typeface="宋体" pitchFamily="2" charset="-122"/>
              </a:rPr>
              <a:t>2</a:t>
            </a:r>
            <a:r>
              <a:rPr lang="zh-CN" altLang="en-US" sz="2800" dirty="0">
                <a:latin typeface="宋体" pitchFamily="2" charset="-122"/>
                <a:ea typeface="宋体" pitchFamily="2" charset="-122"/>
              </a:rPr>
              <a:t>）在图形窗口中选择要约束的一个或多个图元，选择了用于定义约束的足够图元后，系统便会应用该约束。</a:t>
            </a:r>
            <a:endParaRPr lang="en-US" altLang="zh-CN" sz="2800" dirty="0">
              <a:latin typeface="宋体" pitchFamily="2" charset="-122"/>
              <a:ea typeface="宋体" pitchFamily="2" charset="-122"/>
            </a:endParaRPr>
          </a:p>
          <a:p>
            <a:pPr indent="457200"/>
            <a:endParaRPr lang="zh-CN" altLang="en-US" sz="2800" dirty="0">
              <a:latin typeface="宋体" pitchFamily="2" charset="-122"/>
              <a:ea typeface="宋体" pitchFamily="2" charset="-122"/>
            </a:endParaRPr>
          </a:p>
          <a:p>
            <a:pPr indent="457200"/>
            <a:r>
              <a:rPr lang="en-US" altLang="zh-CN" sz="2800" dirty="0">
                <a:latin typeface="宋体" pitchFamily="2" charset="-122"/>
                <a:ea typeface="宋体" pitchFamily="2" charset="-122"/>
              </a:rPr>
              <a:t>2</a:t>
            </a:r>
            <a:r>
              <a:rPr lang="zh-CN" altLang="en-US" sz="2800" dirty="0">
                <a:latin typeface="宋体" pitchFamily="2" charset="-122"/>
                <a:ea typeface="宋体" pitchFamily="2" charset="-122"/>
              </a:rPr>
              <a:t>）删除约束</a:t>
            </a:r>
          </a:p>
          <a:p>
            <a:pPr indent="457200"/>
            <a:r>
              <a:rPr lang="zh-CN" altLang="en-US" sz="2800" dirty="0">
                <a:latin typeface="宋体" pitchFamily="2" charset="-122"/>
                <a:ea typeface="宋体" pitchFamily="2" charset="-122"/>
              </a:rPr>
              <a:t>删除约束的方法很简单，即选择要删除的约束，接着按“</a:t>
            </a:r>
            <a:r>
              <a:rPr lang="en-US" altLang="zh-CN" sz="2800" dirty="0">
                <a:latin typeface="宋体" pitchFamily="2" charset="-122"/>
                <a:ea typeface="宋体" pitchFamily="2" charset="-122"/>
              </a:rPr>
              <a:t>Delete”</a:t>
            </a:r>
            <a:r>
              <a:rPr lang="zh-CN" altLang="en-US" sz="2800" dirty="0">
                <a:latin typeface="宋体" pitchFamily="2" charset="-122"/>
                <a:ea typeface="宋体" pitchFamily="2" charset="-122"/>
              </a:rPr>
              <a:t>键，或者单击鼠标右键并从快捷菜单中选择“删除”命令，所选约束即被删除。</a:t>
            </a:r>
          </a:p>
        </p:txBody>
      </p:sp>
    </p:spTree>
    <p:extLst>
      <p:ext uri="{BB962C8B-B14F-4D97-AF65-F5344CB8AC3E}">
        <p14:creationId xmlns:p14="http://schemas.microsoft.com/office/powerpoint/2010/main" val="1567400943"/>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460561" y="430306"/>
            <a:ext cx="4057651" cy="830997"/>
          </a:xfrm>
          <a:prstGeom prst="rect">
            <a:avLst/>
          </a:prstGeom>
          <a:solidFill>
            <a:srgbClr val="0000FF"/>
          </a:solidFill>
        </p:spPr>
        <p:txBody>
          <a:bodyPr wrap="square" rtlCol="0">
            <a:spAutoFit/>
          </a:bodyPr>
          <a:lstStyle/>
          <a:p>
            <a:pPr>
              <a:lnSpc>
                <a:spcPct val="150000"/>
              </a:lnSpc>
            </a:pPr>
            <a:r>
              <a:rPr lang="en-US" altLang="zh-CN" sz="3200" dirty="0">
                <a:solidFill>
                  <a:schemeClr val="bg1"/>
                </a:solidFill>
                <a:latin typeface="Times New Roman" pitchFamily="18" charset="0"/>
                <a:ea typeface="黑体" pitchFamily="49" charset="-122"/>
              </a:rPr>
              <a:t>2.7 </a:t>
            </a:r>
            <a:r>
              <a:rPr lang="zh-CN" altLang="en-US" sz="3200" dirty="0">
                <a:solidFill>
                  <a:schemeClr val="bg1"/>
                </a:solidFill>
                <a:latin typeface="Times New Roman" pitchFamily="18" charset="0"/>
                <a:ea typeface="黑体" pitchFamily="49" charset="-122"/>
              </a:rPr>
              <a:t>二维草图综合范例</a:t>
            </a:r>
            <a:endParaRPr lang="en-US" altLang="zh-CN" sz="3200" dirty="0">
              <a:solidFill>
                <a:schemeClr val="bg1"/>
              </a:solidFill>
              <a:latin typeface="Times New Roman" pitchFamily="18" charset="0"/>
              <a:ea typeface="黑体" pitchFamily="49" charset="-122"/>
            </a:endParaRPr>
          </a:p>
        </p:txBody>
      </p:sp>
      <p:sp>
        <p:nvSpPr>
          <p:cNvPr id="15" name="TextBox 14"/>
          <p:cNvSpPr txBox="1"/>
          <p:nvPr/>
        </p:nvSpPr>
        <p:spPr>
          <a:xfrm>
            <a:off x="231962" y="1341287"/>
            <a:ext cx="11507321" cy="1384995"/>
          </a:xfrm>
          <a:prstGeom prst="rect">
            <a:avLst/>
          </a:prstGeom>
          <a:noFill/>
        </p:spPr>
        <p:txBody>
          <a:bodyPr wrap="square" rtlCol="0">
            <a:spAutoFit/>
          </a:bodyPr>
          <a:lstStyle/>
          <a:p>
            <a:pPr indent="457200"/>
            <a:r>
              <a:rPr lang="zh-CN" altLang="en-US" sz="2800" dirty="0">
                <a:latin typeface="宋体" pitchFamily="2" charset="-122"/>
                <a:ea typeface="宋体" pitchFamily="2" charset="-122"/>
              </a:rPr>
              <a:t>本节介绍二维草图综合范例，旨在复习本章所学的一些草绘知识，并掌握二维草图绘制的一般方法、步骤和技巧等。</a:t>
            </a:r>
          </a:p>
          <a:p>
            <a:pPr indent="457200"/>
            <a:r>
              <a:rPr lang="zh-CN" altLang="en-US" sz="2800" dirty="0">
                <a:latin typeface="宋体" pitchFamily="2" charset="-122"/>
                <a:ea typeface="宋体" pitchFamily="2" charset="-122"/>
              </a:rPr>
              <a:t>综合范例：绘制图</a:t>
            </a:r>
            <a:r>
              <a:rPr lang="en-US" altLang="zh-CN" sz="2800" dirty="0">
                <a:latin typeface="宋体" pitchFamily="2" charset="-122"/>
                <a:ea typeface="宋体" pitchFamily="2" charset="-122"/>
              </a:rPr>
              <a:t>2-50</a:t>
            </a:r>
            <a:r>
              <a:rPr lang="zh-CN" altLang="en-US" sz="2800" dirty="0">
                <a:latin typeface="宋体" pitchFamily="2" charset="-122"/>
                <a:ea typeface="宋体" pitchFamily="2" charset="-122"/>
              </a:rPr>
              <a:t>所示的二维草图。</a:t>
            </a:r>
          </a:p>
        </p:txBody>
      </p:sp>
      <p:pic>
        <p:nvPicPr>
          <p:cNvPr id="16" name="图片 15"/>
          <p:cNvPicPr>
            <a:picLocks noChangeAspect="1"/>
          </p:cNvPicPr>
          <p:nvPr/>
        </p:nvPicPr>
        <p:blipFill rotWithShape="1">
          <a:blip r:embed="rId2">
            <a:extLst>
              <a:ext uri="{28A0092B-C50C-407E-A947-70E740481C1C}">
                <a14:useLocalDpi xmlns:a14="http://schemas.microsoft.com/office/drawing/2010/main" val="0"/>
              </a:ext>
            </a:extLst>
          </a:blip>
          <a:srcRect l="16047" t="6834" b="33194"/>
          <a:stretch/>
        </p:blipFill>
        <p:spPr bwMode="auto">
          <a:xfrm>
            <a:off x="4548673" y="2712836"/>
            <a:ext cx="3094655" cy="3686169"/>
          </a:xfrm>
          <a:prstGeom prst="rect">
            <a:avLst/>
          </a:prstGeom>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85667933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extBox 14"/>
          <p:cNvSpPr txBox="1"/>
          <p:nvPr/>
        </p:nvSpPr>
        <p:spPr>
          <a:xfrm>
            <a:off x="231962" y="736172"/>
            <a:ext cx="11507321" cy="3754874"/>
          </a:xfrm>
          <a:prstGeom prst="rect">
            <a:avLst/>
          </a:prstGeom>
          <a:noFill/>
        </p:spPr>
        <p:txBody>
          <a:bodyPr wrap="square" rtlCol="0">
            <a:spAutoFit/>
          </a:bodyPr>
          <a:lstStyle/>
          <a:p>
            <a:pPr indent="266700" algn="just" fontAlgn="ctr">
              <a:lnSpc>
                <a:spcPct val="150000"/>
              </a:lnSpc>
              <a:spcAft>
                <a:spcPts val="0"/>
              </a:spcAft>
            </a:pPr>
            <a:r>
              <a:rPr lang="zh-CN" altLang="zh-CN" sz="2800" b="1" kern="100" dirty="0">
                <a:latin typeface="Times New Roman"/>
                <a:ea typeface="宋体"/>
                <a:cs typeface="Times New Roman"/>
              </a:rPr>
              <a:t>步骤</a:t>
            </a:r>
            <a:r>
              <a:rPr lang="en-US" altLang="zh-CN" sz="2800" b="1" kern="100" dirty="0">
                <a:latin typeface="Times New Roman"/>
                <a:ea typeface="宋体"/>
                <a:cs typeface="Times New Roman"/>
              </a:rPr>
              <a:t>1</a:t>
            </a:r>
            <a:r>
              <a:rPr lang="zh-CN" altLang="zh-CN" sz="2800" b="1" kern="100" dirty="0">
                <a:latin typeface="Times New Roman"/>
                <a:ea typeface="宋体"/>
                <a:cs typeface="Times New Roman"/>
              </a:rPr>
              <a:t>：新建一个草绘文件</a:t>
            </a:r>
            <a:endParaRPr lang="zh-CN" altLang="zh-CN" sz="2800" kern="100" dirty="0">
              <a:latin typeface="等线"/>
              <a:ea typeface="等线"/>
              <a:cs typeface="Times New Roman"/>
            </a:endParaRPr>
          </a:p>
          <a:p>
            <a:pPr indent="360000" algn="just" fontAlgn="ctr">
              <a:lnSpc>
                <a:spcPct val="150000"/>
              </a:lnSpc>
              <a:spcAft>
                <a:spcPts val="0"/>
              </a:spcAft>
            </a:pPr>
            <a:r>
              <a:rPr lang="en-US" altLang="zh-CN" sz="2800" kern="100" dirty="0">
                <a:latin typeface="Times New Roman"/>
                <a:ea typeface="宋体"/>
                <a:cs typeface="Times New Roman"/>
              </a:rPr>
              <a:t>1</a:t>
            </a:r>
            <a:r>
              <a:rPr lang="zh-CN" altLang="en-US" sz="2800" kern="100" dirty="0">
                <a:latin typeface="Times New Roman"/>
                <a:ea typeface="宋体"/>
                <a:cs typeface="Times New Roman"/>
              </a:rPr>
              <a:t>）在快速访问工具栏中单击“新建”按钮 ，或者按“</a:t>
            </a:r>
            <a:r>
              <a:rPr lang="en-US" altLang="zh-CN" sz="2800" kern="100" dirty="0" err="1">
                <a:latin typeface="Times New Roman"/>
                <a:ea typeface="宋体"/>
                <a:cs typeface="Times New Roman"/>
              </a:rPr>
              <a:t>Ctrl+N</a:t>
            </a:r>
            <a:r>
              <a:rPr lang="en-US" altLang="zh-CN" sz="2800" kern="100" dirty="0">
                <a:latin typeface="宋体" pitchFamily="2" charset="-122"/>
                <a:ea typeface="宋体" pitchFamily="2" charset="-122"/>
                <a:cs typeface="Times New Roman"/>
              </a:rPr>
              <a:t>”</a:t>
            </a:r>
            <a:r>
              <a:rPr lang="zh-CN" altLang="en-US" sz="2800" kern="100" dirty="0">
                <a:latin typeface="Times New Roman"/>
                <a:ea typeface="宋体"/>
                <a:cs typeface="Times New Roman"/>
              </a:rPr>
              <a:t>快捷键，系统弹出</a:t>
            </a:r>
            <a:r>
              <a:rPr lang="en-US" altLang="zh-CN" sz="2800" kern="100" dirty="0">
                <a:latin typeface="Times New Roman"/>
                <a:ea typeface="宋体"/>
                <a:cs typeface="Times New Roman"/>
              </a:rPr>
              <a:t>【</a:t>
            </a:r>
            <a:r>
              <a:rPr lang="zh-CN" altLang="en-US" sz="2800" kern="100" dirty="0">
                <a:latin typeface="Times New Roman"/>
                <a:ea typeface="宋体"/>
                <a:cs typeface="Times New Roman"/>
              </a:rPr>
              <a:t>新建</a:t>
            </a:r>
            <a:r>
              <a:rPr lang="en-US" altLang="zh-CN" sz="2800" kern="100" dirty="0">
                <a:latin typeface="Times New Roman"/>
                <a:ea typeface="宋体"/>
                <a:cs typeface="Times New Roman"/>
              </a:rPr>
              <a:t>】</a:t>
            </a:r>
            <a:r>
              <a:rPr lang="zh-CN" altLang="en-US" sz="2800" kern="100" dirty="0">
                <a:latin typeface="Times New Roman"/>
                <a:ea typeface="宋体"/>
                <a:cs typeface="Times New Roman"/>
              </a:rPr>
              <a:t>对话框。</a:t>
            </a:r>
            <a:endParaRPr lang="en-US" altLang="zh-CN" sz="2800" kern="100" dirty="0">
              <a:latin typeface="Times New Roman"/>
              <a:ea typeface="宋体"/>
              <a:cs typeface="Times New Roman"/>
            </a:endParaRPr>
          </a:p>
          <a:p>
            <a:pPr indent="360000" algn="just" fontAlgn="ctr">
              <a:lnSpc>
                <a:spcPct val="150000"/>
              </a:lnSpc>
              <a:spcAft>
                <a:spcPts val="0"/>
              </a:spcAft>
            </a:pPr>
            <a:r>
              <a:rPr lang="en-US" altLang="zh-CN" sz="2800" kern="100" dirty="0">
                <a:latin typeface="Times New Roman"/>
                <a:ea typeface="宋体"/>
                <a:cs typeface="Times New Roman"/>
              </a:rPr>
              <a:t>2</a:t>
            </a:r>
            <a:r>
              <a:rPr lang="zh-CN" altLang="en-US" sz="2800" kern="100" dirty="0">
                <a:latin typeface="Times New Roman"/>
                <a:ea typeface="宋体"/>
                <a:cs typeface="Times New Roman"/>
              </a:rPr>
              <a:t>）在</a:t>
            </a:r>
            <a:r>
              <a:rPr lang="en-US" altLang="zh-CN" sz="2800" kern="100" dirty="0">
                <a:latin typeface="Times New Roman"/>
                <a:ea typeface="宋体"/>
                <a:cs typeface="Times New Roman"/>
              </a:rPr>
              <a:t>【</a:t>
            </a:r>
            <a:r>
              <a:rPr lang="zh-CN" altLang="en-US" sz="2800" kern="100" dirty="0">
                <a:latin typeface="Times New Roman"/>
                <a:ea typeface="宋体"/>
                <a:cs typeface="Times New Roman"/>
              </a:rPr>
              <a:t>类型</a:t>
            </a:r>
            <a:r>
              <a:rPr lang="en-US" altLang="zh-CN" sz="2800" kern="100" dirty="0">
                <a:latin typeface="Times New Roman"/>
                <a:ea typeface="宋体"/>
                <a:cs typeface="Times New Roman"/>
              </a:rPr>
              <a:t>】</a:t>
            </a:r>
            <a:r>
              <a:rPr lang="zh-CN" altLang="en-US" sz="2800" kern="100" dirty="0">
                <a:latin typeface="Times New Roman"/>
                <a:ea typeface="宋体"/>
                <a:cs typeface="Times New Roman"/>
              </a:rPr>
              <a:t>选项组中选择“草绘”单选按钮，在“名称”文本框中输入“</a:t>
            </a:r>
            <a:r>
              <a:rPr lang="en-US" altLang="zh-CN" sz="2800" kern="100" dirty="0" err="1">
                <a:latin typeface="Times New Roman"/>
                <a:ea typeface="宋体"/>
                <a:cs typeface="Times New Roman"/>
              </a:rPr>
              <a:t>guagou</a:t>
            </a:r>
            <a:r>
              <a:rPr lang="en-US" altLang="zh-CN" sz="2800" kern="100" dirty="0">
                <a:latin typeface="Times New Roman"/>
                <a:ea typeface="宋体"/>
                <a:cs typeface="Times New Roman"/>
              </a:rPr>
              <a:t>”</a:t>
            </a:r>
            <a:r>
              <a:rPr lang="zh-CN" altLang="en-US" sz="2800" kern="100" dirty="0">
                <a:latin typeface="Times New Roman"/>
                <a:ea typeface="宋体"/>
                <a:cs typeface="Times New Roman"/>
              </a:rPr>
              <a:t>，然后单击“确定”按钮，从而新建一个草绘文件。</a:t>
            </a:r>
            <a:endParaRPr lang="en-US" altLang="zh-CN" sz="2800" kern="100" dirty="0">
              <a:latin typeface="Times New Roman"/>
              <a:ea typeface="宋体"/>
              <a:cs typeface="Times New Roman"/>
            </a:endParaRPr>
          </a:p>
          <a:p>
            <a:pPr indent="266700" algn="just" fontAlgn="ctr">
              <a:spcAft>
                <a:spcPts val="0"/>
              </a:spcAft>
            </a:pPr>
            <a:endParaRPr lang="zh-CN" altLang="zh-CN" sz="2800" kern="100" dirty="0">
              <a:effectLst/>
              <a:latin typeface="等线"/>
              <a:ea typeface="等线"/>
              <a:cs typeface="Times New Roman"/>
            </a:endParaRPr>
          </a:p>
        </p:txBody>
      </p:sp>
    </p:spTree>
    <p:extLst>
      <p:ext uri="{BB962C8B-B14F-4D97-AF65-F5344CB8AC3E}">
        <p14:creationId xmlns:p14="http://schemas.microsoft.com/office/powerpoint/2010/main" val="1302585381"/>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extBox 14"/>
          <p:cNvSpPr txBox="1"/>
          <p:nvPr/>
        </p:nvSpPr>
        <p:spPr>
          <a:xfrm>
            <a:off x="231962" y="507573"/>
            <a:ext cx="11507321" cy="2677656"/>
          </a:xfrm>
          <a:prstGeom prst="rect">
            <a:avLst/>
          </a:prstGeom>
          <a:noFill/>
        </p:spPr>
        <p:txBody>
          <a:bodyPr wrap="square" rtlCol="0">
            <a:spAutoFit/>
          </a:bodyPr>
          <a:lstStyle/>
          <a:p>
            <a:pPr indent="266700" algn="just" fontAlgn="ctr">
              <a:lnSpc>
                <a:spcPct val="150000"/>
              </a:lnSpc>
              <a:spcAft>
                <a:spcPts val="0"/>
              </a:spcAft>
            </a:pPr>
            <a:r>
              <a:rPr lang="zh-CN" altLang="en-US" sz="2800" b="1" kern="100" dirty="0">
                <a:latin typeface="Times New Roman"/>
                <a:ea typeface="宋体"/>
                <a:cs typeface="Times New Roman"/>
              </a:rPr>
              <a:t>步骤</a:t>
            </a:r>
            <a:r>
              <a:rPr lang="en-US" altLang="zh-CN" sz="2800" b="1" kern="100" dirty="0">
                <a:latin typeface="Times New Roman"/>
                <a:ea typeface="宋体"/>
                <a:cs typeface="Times New Roman"/>
              </a:rPr>
              <a:t>2</a:t>
            </a:r>
            <a:r>
              <a:rPr lang="zh-CN" altLang="en-US" sz="2800" b="1" kern="100" dirty="0">
                <a:latin typeface="Times New Roman"/>
                <a:ea typeface="宋体"/>
                <a:cs typeface="Times New Roman"/>
              </a:rPr>
              <a:t>：绘制中心线</a:t>
            </a:r>
            <a:endParaRPr lang="en-US" altLang="zh-CN" sz="2800" b="1" kern="100" dirty="0">
              <a:latin typeface="Times New Roman"/>
              <a:ea typeface="宋体"/>
              <a:cs typeface="Times New Roman"/>
            </a:endParaRPr>
          </a:p>
          <a:p>
            <a:pPr indent="266700" algn="just" fontAlgn="ctr">
              <a:lnSpc>
                <a:spcPct val="150000"/>
              </a:lnSpc>
              <a:spcAft>
                <a:spcPts val="0"/>
              </a:spcAft>
            </a:pPr>
            <a:r>
              <a:rPr lang="zh-CN" altLang="en-US" sz="2800" kern="100" dirty="0">
                <a:latin typeface="Times New Roman"/>
                <a:ea typeface="宋体"/>
                <a:cs typeface="Times New Roman"/>
              </a:rPr>
              <a:t>在</a:t>
            </a:r>
            <a:r>
              <a:rPr lang="en-US" altLang="zh-CN" sz="2800" kern="100" dirty="0">
                <a:latin typeface="Times New Roman"/>
                <a:ea typeface="宋体"/>
                <a:cs typeface="Times New Roman"/>
              </a:rPr>
              <a:t>【</a:t>
            </a:r>
            <a:r>
              <a:rPr lang="zh-CN" altLang="en-US" sz="2800" kern="100" dirty="0">
                <a:latin typeface="Times New Roman"/>
                <a:ea typeface="宋体"/>
                <a:cs typeface="Times New Roman"/>
              </a:rPr>
              <a:t>草绘</a:t>
            </a:r>
            <a:r>
              <a:rPr lang="en-US" altLang="zh-CN" sz="2800" kern="100" dirty="0">
                <a:latin typeface="Times New Roman"/>
                <a:ea typeface="宋体"/>
                <a:cs typeface="Times New Roman"/>
              </a:rPr>
              <a:t>】</a:t>
            </a:r>
            <a:r>
              <a:rPr lang="zh-CN" altLang="en-US" sz="2800" kern="100" dirty="0">
                <a:latin typeface="Times New Roman"/>
                <a:ea typeface="宋体"/>
                <a:cs typeface="Times New Roman"/>
              </a:rPr>
              <a:t>选项卡的</a:t>
            </a:r>
            <a:r>
              <a:rPr lang="en-US" altLang="zh-CN" sz="2800" kern="100" dirty="0">
                <a:latin typeface="Times New Roman"/>
                <a:ea typeface="宋体"/>
                <a:cs typeface="Times New Roman"/>
              </a:rPr>
              <a:t>【</a:t>
            </a:r>
            <a:r>
              <a:rPr lang="zh-CN" altLang="en-US" sz="2800" kern="100" dirty="0">
                <a:latin typeface="Times New Roman"/>
                <a:ea typeface="宋体"/>
                <a:cs typeface="Times New Roman"/>
              </a:rPr>
              <a:t>草绘</a:t>
            </a:r>
            <a:r>
              <a:rPr lang="en-US" altLang="zh-CN" sz="2800" kern="100" dirty="0">
                <a:latin typeface="Times New Roman"/>
                <a:ea typeface="宋体"/>
                <a:cs typeface="Times New Roman"/>
              </a:rPr>
              <a:t>】</a:t>
            </a:r>
            <a:r>
              <a:rPr lang="zh-CN" altLang="en-US" sz="2800" kern="100" dirty="0">
                <a:latin typeface="Times New Roman"/>
                <a:ea typeface="宋体"/>
                <a:cs typeface="Times New Roman"/>
              </a:rPr>
              <a:t>组单击“中心线”按钮         ，在绘图区绘制相互垂直的中心线，然后选择“构造模式”，绘制</a:t>
            </a:r>
            <a:r>
              <a:rPr lang="en-US" altLang="zh-CN" sz="2800" kern="100" dirty="0">
                <a:latin typeface="Times New Roman"/>
                <a:ea typeface="宋体"/>
                <a:cs typeface="Times New Roman"/>
              </a:rPr>
              <a:t>R25.6</a:t>
            </a:r>
            <a:r>
              <a:rPr lang="zh-CN" altLang="en-US" sz="2800" kern="100" dirty="0">
                <a:latin typeface="Times New Roman"/>
                <a:ea typeface="宋体"/>
                <a:cs typeface="Times New Roman"/>
              </a:rPr>
              <a:t>和</a:t>
            </a:r>
            <a:r>
              <a:rPr lang="en-US" altLang="zh-CN" sz="2800" kern="100" dirty="0">
                <a:latin typeface="Times New Roman"/>
                <a:ea typeface="宋体"/>
                <a:cs typeface="Times New Roman"/>
              </a:rPr>
              <a:t>φ21.6</a:t>
            </a:r>
            <a:r>
              <a:rPr lang="zh-CN" altLang="en-US" sz="2800" kern="100" dirty="0">
                <a:latin typeface="Times New Roman"/>
                <a:ea typeface="宋体"/>
                <a:cs typeface="Times New Roman"/>
              </a:rPr>
              <a:t>两个同心圆弧的中心线，如图</a:t>
            </a:r>
            <a:r>
              <a:rPr lang="en-US" altLang="zh-CN" sz="2800" kern="100" dirty="0">
                <a:latin typeface="Times New Roman"/>
                <a:ea typeface="宋体"/>
                <a:cs typeface="Times New Roman"/>
              </a:rPr>
              <a:t>2-51</a:t>
            </a:r>
            <a:r>
              <a:rPr lang="zh-CN" altLang="en-US" sz="2800" kern="100" dirty="0">
                <a:latin typeface="Times New Roman"/>
                <a:ea typeface="宋体"/>
                <a:cs typeface="Times New Roman"/>
              </a:rPr>
              <a:t>所示。</a:t>
            </a:r>
            <a:endParaRPr lang="zh-CN" altLang="zh-CN" sz="2800" kern="100" dirty="0">
              <a:effectLst/>
              <a:latin typeface="等线"/>
              <a:ea typeface="等线"/>
              <a:cs typeface="Times New Roman"/>
            </a:endParaRPr>
          </a:p>
        </p:txBody>
      </p:sp>
      <p:pic>
        <p:nvPicPr>
          <p:cNvPr id="3" name="图片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808811" y="1463575"/>
            <a:ext cx="877200" cy="360000"/>
          </a:xfrm>
          <a:prstGeom prst="rect">
            <a:avLst/>
          </a:prstGeom>
        </p:spPr>
      </p:pic>
      <p:pic>
        <p:nvPicPr>
          <p:cNvPr id="4" name="图片 3"/>
          <p:cNvPicPr>
            <a:picLocks noChangeAspect="1"/>
          </p:cNvPicPr>
          <p:nvPr/>
        </p:nvPicPr>
        <p:blipFill rotWithShape="1">
          <a:blip r:embed="rId3">
            <a:extLst>
              <a:ext uri="{28A0092B-C50C-407E-A947-70E740481C1C}">
                <a14:useLocalDpi xmlns:a14="http://schemas.microsoft.com/office/drawing/2010/main" val="0"/>
              </a:ext>
            </a:extLst>
          </a:blip>
          <a:srcRect t="12702" b="7384"/>
          <a:stretch/>
        </p:blipFill>
        <p:spPr bwMode="auto">
          <a:xfrm>
            <a:off x="4878535" y="3185229"/>
            <a:ext cx="2434930" cy="2829704"/>
          </a:xfrm>
          <a:prstGeom prst="rect">
            <a:avLst/>
          </a:prstGeom>
          <a:ln>
            <a:noFill/>
          </a:ln>
          <a:extLst>
            <a:ext uri="{53640926-AAD7-44D8-BBD7-CCE9431645EC}">
              <a14:shadowObscured xmlns:a14="http://schemas.microsoft.com/office/drawing/2010/main"/>
            </a:ext>
          </a:extLst>
        </p:spPr>
      </p:pic>
      <p:sp>
        <p:nvSpPr>
          <p:cNvPr id="5" name="TextBox 4"/>
          <p:cNvSpPr txBox="1"/>
          <p:nvPr/>
        </p:nvSpPr>
        <p:spPr>
          <a:xfrm>
            <a:off x="5073926" y="6030860"/>
            <a:ext cx="2044149" cy="369332"/>
          </a:xfrm>
          <a:prstGeom prst="rect">
            <a:avLst/>
          </a:prstGeom>
          <a:noFill/>
        </p:spPr>
        <p:txBody>
          <a:bodyPr wrap="none" rtlCol="0">
            <a:spAutoFit/>
          </a:bodyPr>
          <a:lstStyle/>
          <a:p>
            <a:pPr algn="ctr"/>
            <a:r>
              <a:rPr lang="zh-CN" altLang="en-US" dirty="0"/>
              <a:t>图</a:t>
            </a:r>
            <a:r>
              <a:rPr lang="en-US" altLang="zh-CN" dirty="0"/>
              <a:t>2-51 </a:t>
            </a:r>
            <a:r>
              <a:rPr lang="zh-CN" altLang="en-US" dirty="0"/>
              <a:t>绘制中心线</a:t>
            </a:r>
          </a:p>
        </p:txBody>
      </p:sp>
    </p:spTree>
    <p:extLst>
      <p:ext uri="{BB962C8B-B14F-4D97-AF65-F5344CB8AC3E}">
        <p14:creationId xmlns:p14="http://schemas.microsoft.com/office/powerpoint/2010/main" val="3035574993"/>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extBox 14"/>
          <p:cNvSpPr txBox="1"/>
          <p:nvPr/>
        </p:nvSpPr>
        <p:spPr>
          <a:xfrm>
            <a:off x="231962" y="507573"/>
            <a:ext cx="11507321" cy="738664"/>
          </a:xfrm>
          <a:prstGeom prst="rect">
            <a:avLst/>
          </a:prstGeom>
          <a:noFill/>
        </p:spPr>
        <p:txBody>
          <a:bodyPr wrap="square" rtlCol="0">
            <a:spAutoFit/>
          </a:bodyPr>
          <a:lstStyle/>
          <a:p>
            <a:pPr indent="266700" algn="just" fontAlgn="ctr">
              <a:lnSpc>
                <a:spcPct val="150000"/>
              </a:lnSpc>
              <a:spcAft>
                <a:spcPts val="0"/>
              </a:spcAft>
            </a:pPr>
            <a:r>
              <a:rPr lang="zh-CN" altLang="en-US" sz="2800" b="1" kern="100" dirty="0">
                <a:latin typeface="Times New Roman"/>
                <a:ea typeface="宋体"/>
                <a:cs typeface="Times New Roman"/>
              </a:rPr>
              <a:t>步骤</a:t>
            </a:r>
            <a:r>
              <a:rPr lang="en-US" altLang="zh-CN" sz="2800" b="1" kern="100" dirty="0">
                <a:latin typeface="Times New Roman"/>
                <a:ea typeface="宋体"/>
                <a:cs typeface="Times New Roman"/>
              </a:rPr>
              <a:t>3</a:t>
            </a:r>
            <a:r>
              <a:rPr lang="zh-CN" altLang="en-US" sz="2800" b="1" kern="100" dirty="0">
                <a:latin typeface="Times New Roman"/>
                <a:ea typeface="宋体"/>
                <a:cs typeface="Times New Roman"/>
              </a:rPr>
              <a:t>：绘制挂钩顶部直径</a:t>
            </a:r>
            <a:r>
              <a:rPr lang="en-US" altLang="zh-CN" sz="2800" b="1" kern="100" dirty="0">
                <a:latin typeface="Times New Roman"/>
                <a:ea typeface="宋体"/>
                <a:cs typeface="Times New Roman"/>
              </a:rPr>
              <a:t>φ12mm</a:t>
            </a:r>
            <a:r>
              <a:rPr lang="zh-CN" altLang="en-US" sz="2800" b="1" kern="100" dirty="0">
                <a:latin typeface="Times New Roman"/>
                <a:ea typeface="宋体"/>
                <a:cs typeface="Times New Roman"/>
              </a:rPr>
              <a:t>长</a:t>
            </a:r>
            <a:r>
              <a:rPr lang="en-US" altLang="zh-CN" sz="2800" b="1" kern="100" dirty="0">
                <a:latin typeface="Times New Roman"/>
                <a:ea typeface="宋体"/>
                <a:cs typeface="Times New Roman"/>
              </a:rPr>
              <a:t>16mm</a:t>
            </a:r>
            <a:r>
              <a:rPr lang="zh-CN" altLang="en-US" sz="2800" b="1" kern="100" dirty="0">
                <a:latin typeface="Times New Roman"/>
                <a:ea typeface="宋体"/>
                <a:cs typeface="Times New Roman"/>
              </a:rPr>
              <a:t>的圆柱段投影矩形</a:t>
            </a:r>
            <a:endParaRPr lang="en-US" altLang="zh-CN" sz="2800" b="1" kern="100" dirty="0">
              <a:latin typeface="Times New Roman"/>
              <a:ea typeface="宋体"/>
              <a:cs typeface="Times New Roman"/>
            </a:endParaRPr>
          </a:p>
        </p:txBody>
      </p:sp>
      <p:sp>
        <p:nvSpPr>
          <p:cNvPr id="5" name="TextBox 4"/>
          <p:cNvSpPr txBox="1"/>
          <p:nvPr/>
        </p:nvSpPr>
        <p:spPr>
          <a:xfrm>
            <a:off x="7556025" y="5661528"/>
            <a:ext cx="1813317" cy="369332"/>
          </a:xfrm>
          <a:prstGeom prst="rect">
            <a:avLst/>
          </a:prstGeom>
          <a:noFill/>
        </p:spPr>
        <p:txBody>
          <a:bodyPr wrap="none" rtlCol="0">
            <a:spAutoFit/>
          </a:bodyPr>
          <a:lstStyle/>
          <a:p>
            <a:pPr algn="ctr"/>
            <a:r>
              <a:rPr lang="zh-CN" altLang="en-US" dirty="0"/>
              <a:t>图</a:t>
            </a:r>
            <a:r>
              <a:rPr lang="en-US" altLang="zh-CN" dirty="0"/>
              <a:t>2-53 </a:t>
            </a:r>
            <a:r>
              <a:rPr lang="zh-CN" altLang="en-US" dirty="0"/>
              <a:t>修改尺寸</a:t>
            </a:r>
          </a:p>
        </p:txBody>
      </p:sp>
      <p:pic>
        <p:nvPicPr>
          <p:cNvPr id="6" name="图片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539537" y="1561002"/>
            <a:ext cx="2690236" cy="3841016"/>
          </a:xfrm>
          <a:prstGeom prst="rect">
            <a:avLst/>
          </a:prstGeom>
        </p:spPr>
      </p:pic>
      <p:pic>
        <p:nvPicPr>
          <p:cNvPr id="7" name="图片 6"/>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513998" y="1609477"/>
            <a:ext cx="5174702" cy="3795290"/>
          </a:xfrm>
          <a:prstGeom prst="rect">
            <a:avLst/>
          </a:prstGeom>
        </p:spPr>
      </p:pic>
      <p:sp>
        <p:nvSpPr>
          <p:cNvPr id="8" name="TextBox 7"/>
          <p:cNvSpPr txBox="1"/>
          <p:nvPr/>
        </p:nvSpPr>
        <p:spPr>
          <a:xfrm>
            <a:off x="2168237" y="5661528"/>
            <a:ext cx="1813317" cy="369332"/>
          </a:xfrm>
          <a:prstGeom prst="rect">
            <a:avLst/>
          </a:prstGeom>
          <a:noFill/>
        </p:spPr>
        <p:txBody>
          <a:bodyPr wrap="none" rtlCol="0">
            <a:spAutoFit/>
          </a:bodyPr>
          <a:lstStyle/>
          <a:p>
            <a:pPr algn="ctr"/>
            <a:r>
              <a:rPr lang="zh-CN" altLang="en-US" dirty="0"/>
              <a:t>图</a:t>
            </a:r>
            <a:r>
              <a:rPr lang="en-US" altLang="zh-CN" dirty="0"/>
              <a:t>2-52 </a:t>
            </a:r>
            <a:r>
              <a:rPr lang="zh-CN" altLang="en-US" dirty="0"/>
              <a:t>标注尺寸</a:t>
            </a:r>
          </a:p>
        </p:txBody>
      </p:sp>
    </p:spTree>
    <p:extLst>
      <p:ext uri="{BB962C8B-B14F-4D97-AF65-F5344CB8AC3E}">
        <p14:creationId xmlns:p14="http://schemas.microsoft.com/office/powerpoint/2010/main" val="293398681"/>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extBox 14"/>
          <p:cNvSpPr txBox="1"/>
          <p:nvPr/>
        </p:nvSpPr>
        <p:spPr>
          <a:xfrm>
            <a:off x="231962" y="507573"/>
            <a:ext cx="11507321" cy="738664"/>
          </a:xfrm>
          <a:prstGeom prst="rect">
            <a:avLst/>
          </a:prstGeom>
          <a:noFill/>
        </p:spPr>
        <p:txBody>
          <a:bodyPr wrap="square" rtlCol="0">
            <a:spAutoFit/>
          </a:bodyPr>
          <a:lstStyle/>
          <a:p>
            <a:pPr indent="266700" algn="just" fontAlgn="ctr">
              <a:lnSpc>
                <a:spcPct val="150000"/>
              </a:lnSpc>
              <a:spcAft>
                <a:spcPts val="0"/>
              </a:spcAft>
            </a:pPr>
            <a:r>
              <a:rPr lang="zh-CN" altLang="en-US" sz="2800" b="1" kern="100" dirty="0">
                <a:latin typeface="Times New Roman"/>
                <a:ea typeface="宋体"/>
                <a:cs typeface="Times New Roman"/>
              </a:rPr>
              <a:t>步骤</a:t>
            </a:r>
            <a:r>
              <a:rPr lang="en-US" altLang="zh-CN" sz="2800" b="1" kern="100" dirty="0">
                <a:latin typeface="Times New Roman"/>
                <a:ea typeface="宋体"/>
                <a:cs typeface="Times New Roman"/>
              </a:rPr>
              <a:t>4</a:t>
            </a:r>
            <a:r>
              <a:rPr lang="zh-CN" altLang="en-US" sz="2800" b="1" kern="100" dirty="0">
                <a:latin typeface="Times New Roman"/>
                <a:ea typeface="宋体"/>
                <a:cs typeface="Times New Roman"/>
              </a:rPr>
              <a:t>：绘制与下部圆弧衔接的</a:t>
            </a:r>
            <a:r>
              <a:rPr lang="en-US" altLang="zh-CN" sz="2800" b="1" kern="100" dirty="0">
                <a:latin typeface="Times New Roman"/>
                <a:ea typeface="宋体"/>
                <a:cs typeface="Times New Roman"/>
              </a:rPr>
              <a:t>φ16mm</a:t>
            </a:r>
            <a:r>
              <a:rPr lang="zh-CN" altLang="en-US" sz="2800" b="1" kern="100" dirty="0">
                <a:latin typeface="Times New Roman"/>
                <a:ea typeface="宋体"/>
                <a:cs typeface="Times New Roman"/>
              </a:rPr>
              <a:t>直径段</a:t>
            </a:r>
            <a:endParaRPr lang="en-US" altLang="zh-CN" sz="2800" b="1" kern="100" dirty="0">
              <a:latin typeface="Times New Roman"/>
              <a:ea typeface="宋体"/>
              <a:cs typeface="Times New Roman"/>
            </a:endParaRPr>
          </a:p>
        </p:txBody>
      </p:sp>
      <p:sp>
        <p:nvSpPr>
          <p:cNvPr id="5" name="TextBox 4"/>
          <p:cNvSpPr txBox="1"/>
          <p:nvPr/>
        </p:nvSpPr>
        <p:spPr>
          <a:xfrm>
            <a:off x="4697219" y="6030860"/>
            <a:ext cx="2797562" cy="369332"/>
          </a:xfrm>
          <a:prstGeom prst="rect">
            <a:avLst/>
          </a:prstGeom>
          <a:noFill/>
        </p:spPr>
        <p:txBody>
          <a:bodyPr wrap="none" rtlCol="0">
            <a:spAutoFit/>
          </a:bodyPr>
          <a:lstStyle/>
          <a:p>
            <a:pPr algn="ctr"/>
            <a:r>
              <a:rPr lang="zh-CN" altLang="en-US" dirty="0"/>
              <a:t>图</a:t>
            </a:r>
            <a:r>
              <a:rPr lang="en-US" altLang="zh-CN" dirty="0"/>
              <a:t>2-54 </a:t>
            </a:r>
            <a:r>
              <a:rPr lang="zh-CN" altLang="en-US" dirty="0"/>
              <a:t>绘制</a:t>
            </a:r>
            <a:r>
              <a:rPr lang="en-US" altLang="zh-CN" dirty="0"/>
              <a:t>φ16mm</a:t>
            </a:r>
            <a:r>
              <a:rPr lang="zh-CN" altLang="en-US" dirty="0"/>
              <a:t>直径段</a:t>
            </a:r>
          </a:p>
        </p:txBody>
      </p:sp>
      <p:pic>
        <p:nvPicPr>
          <p:cNvPr id="9" name="图片 8"/>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415556" y="1275316"/>
            <a:ext cx="3360889" cy="4755544"/>
          </a:xfrm>
          <a:prstGeom prst="rect">
            <a:avLst/>
          </a:prstGeom>
        </p:spPr>
      </p:pic>
    </p:spTree>
    <p:extLst>
      <p:ext uri="{BB962C8B-B14F-4D97-AF65-F5344CB8AC3E}">
        <p14:creationId xmlns:p14="http://schemas.microsoft.com/office/powerpoint/2010/main" val="3902206016"/>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extBox 14"/>
          <p:cNvSpPr txBox="1"/>
          <p:nvPr/>
        </p:nvSpPr>
        <p:spPr>
          <a:xfrm>
            <a:off x="231962" y="507573"/>
            <a:ext cx="11507321" cy="738664"/>
          </a:xfrm>
          <a:prstGeom prst="rect">
            <a:avLst/>
          </a:prstGeom>
          <a:noFill/>
        </p:spPr>
        <p:txBody>
          <a:bodyPr wrap="square" rtlCol="0">
            <a:spAutoFit/>
          </a:bodyPr>
          <a:lstStyle/>
          <a:p>
            <a:pPr indent="266700" algn="just" fontAlgn="ctr">
              <a:lnSpc>
                <a:spcPct val="150000"/>
              </a:lnSpc>
              <a:spcAft>
                <a:spcPts val="0"/>
              </a:spcAft>
            </a:pPr>
            <a:r>
              <a:rPr lang="zh-CN" altLang="en-US" sz="2800" b="1" kern="100" dirty="0">
                <a:latin typeface="Times New Roman"/>
                <a:ea typeface="宋体"/>
                <a:cs typeface="Times New Roman"/>
              </a:rPr>
              <a:t>步骤</a:t>
            </a:r>
            <a:r>
              <a:rPr lang="en-US" altLang="zh-CN" sz="2800" b="1" kern="100" dirty="0">
                <a:latin typeface="Times New Roman"/>
                <a:ea typeface="宋体"/>
                <a:cs typeface="Times New Roman"/>
              </a:rPr>
              <a:t>5</a:t>
            </a:r>
            <a:r>
              <a:rPr lang="zh-CN" altLang="en-US" sz="2800" b="1" kern="100" dirty="0">
                <a:latin typeface="Times New Roman"/>
                <a:ea typeface="宋体"/>
                <a:cs typeface="Times New Roman"/>
              </a:rPr>
              <a:t>：绘制</a:t>
            </a:r>
            <a:r>
              <a:rPr lang="en-US" altLang="zh-CN" sz="2800" b="1" kern="100" dirty="0">
                <a:latin typeface="Times New Roman"/>
                <a:ea typeface="宋体"/>
                <a:cs typeface="Times New Roman"/>
              </a:rPr>
              <a:t>R25.6</a:t>
            </a:r>
            <a:r>
              <a:rPr lang="zh-CN" altLang="en-US" sz="2800" b="1" kern="100" dirty="0">
                <a:latin typeface="Times New Roman"/>
                <a:ea typeface="宋体"/>
                <a:cs typeface="Times New Roman"/>
              </a:rPr>
              <a:t>和</a:t>
            </a:r>
            <a:r>
              <a:rPr lang="en-US" altLang="zh-CN" sz="2800" b="1" kern="100" dirty="0">
                <a:latin typeface="Times New Roman"/>
                <a:ea typeface="宋体"/>
                <a:cs typeface="Times New Roman"/>
              </a:rPr>
              <a:t>φ21.6</a:t>
            </a:r>
            <a:r>
              <a:rPr lang="zh-CN" altLang="en-US" sz="2800" b="1" kern="100" dirty="0">
                <a:latin typeface="Times New Roman"/>
                <a:ea typeface="宋体"/>
                <a:cs typeface="Times New Roman"/>
              </a:rPr>
              <a:t>两个同心圆弧</a:t>
            </a:r>
            <a:endParaRPr lang="en-US" altLang="zh-CN" sz="2800" b="1" kern="100" dirty="0">
              <a:latin typeface="Times New Roman"/>
              <a:ea typeface="宋体"/>
              <a:cs typeface="Times New Roman"/>
            </a:endParaRPr>
          </a:p>
        </p:txBody>
      </p:sp>
      <p:sp>
        <p:nvSpPr>
          <p:cNvPr id="5" name="TextBox 4"/>
          <p:cNvSpPr txBox="1"/>
          <p:nvPr/>
        </p:nvSpPr>
        <p:spPr>
          <a:xfrm>
            <a:off x="4296469" y="5250934"/>
            <a:ext cx="3599063" cy="369332"/>
          </a:xfrm>
          <a:prstGeom prst="rect">
            <a:avLst/>
          </a:prstGeom>
          <a:noFill/>
        </p:spPr>
        <p:txBody>
          <a:bodyPr wrap="none" rtlCol="0">
            <a:spAutoFit/>
          </a:bodyPr>
          <a:lstStyle/>
          <a:p>
            <a:pPr algn="ctr"/>
            <a:r>
              <a:rPr lang="zh-CN" altLang="en-US" dirty="0"/>
              <a:t>图</a:t>
            </a:r>
            <a:r>
              <a:rPr lang="en-US" altLang="zh-CN" dirty="0"/>
              <a:t>2-55 </a:t>
            </a:r>
            <a:r>
              <a:rPr lang="zh-CN" altLang="en-US" dirty="0"/>
              <a:t>绘制</a:t>
            </a:r>
            <a:r>
              <a:rPr lang="en-US" altLang="zh-CN" dirty="0"/>
              <a:t>R25.6</a:t>
            </a:r>
            <a:r>
              <a:rPr lang="zh-CN" altLang="en-US" dirty="0"/>
              <a:t>和</a:t>
            </a:r>
            <a:r>
              <a:rPr lang="en-US" altLang="zh-CN" dirty="0"/>
              <a:t>φ21.6</a:t>
            </a:r>
            <a:r>
              <a:rPr lang="zh-CN" altLang="en-US" dirty="0"/>
              <a:t>同心圆弧</a:t>
            </a:r>
          </a:p>
        </p:txBody>
      </p:sp>
      <p:pic>
        <p:nvPicPr>
          <p:cNvPr id="6" name="图片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552205" y="1587883"/>
            <a:ext cx="7087590" cy="3429479"/>
          </a:xfrm>
          <a:prstGeom prst="rect">
            <a:avLst/>
          </a:prstGeom>
        </p:spPr>
      </p:pic>
    </p:spTree>
    <p:extLst>
      <p:ext uri="{BB962C8B-B14F-4D97-AF65-F5344CB8AC3E}">
        <p14:creationId xmlns:p14="http://schemas.microsoft.com/office/powerpoint/2010/main" val="1057019053"/>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extBox 14"/>
          <p:cNvSpPr txBox="1"/>
          <p:nvPr/>
        </p:nvSpPr>
        <p:spPr>
          <a:xfrm>
            <a:off x="231962" y="507573"/>
            <a:ext cx="11507321" cy="1384995"/>
          </a:xfrm>
          <a:prstGeom prst="rect">
            <a:avLst/>
          </a:prstGeom>
          <a:noFill/>
        </p:spPr>
        <p:txBody>
          <a:bodyPr wrap="square" rtlCol="0">
            <a:spAutoFit/>
          </a:bodyPr>
          <a:lstStyle/>
          <a:p>
            <a:pPr indent="266700" algn="just" fontAlgn="ctr">
              <a:lnSpc>
                <a:spcPct val="150000"/>
              </a:lnSpc>
              <a:spcAft>
                <a:spcPts val="0"/>
              </a:spcAft>
            </a:pPr>
            <a:r>
              <a:rPr lang="zh-CN" altLang="en-US" sz="2800" b="1" kern="100" dirty="0">
                <a:latin typeface="Times New Roman"/>
                <a:ea typeface="宋体"/>
                <a:cs typeface="Times New Roman"/>
              </a:rPr>
              <a:t>步骤</a:t>
            </a:r>
            <a:r>
              <a:rPr lang="en-US" altLang="zh-CN" sz="2800" b="1" kern="100" dirty="0">
                <a:latin typeface="Times New Roman"/>
                <a:ea typeface="宋体"/>
                <a:cs typeface="Times New Roman"/>
              </a:rPr>
              <a:t>6</a:t>
            </a:r>
            <a:r>
              <a:rPr lang="zh-CN" altLang="en-US" sz="2800" b="1" kern="100" dirty="0">
                <a:latin typeface="Times New Roman"/>
                <a:ea typeface="宋体"/>
                <a:cs typeface="Times New Roman"/>
              </a:rPr>
              <a:t>：绘制</a:t>
            </a:r>
            <a:r>
              <a:rPr lang="en-US" altLang="zh-CN" sz="2800" b="1" kern="100" dirty="0">
                <a:latin typeface="Times New Roman"/>
                <a:ea typeface="宋体"/>
                <a:cs typeface="Times New Roman"/>
              </a:rPr>
              <a:t>φ16mm</a:t>
            </a:r>
            <a:r>
              <a:rPr lang="zh-CN" altLang="en-US" sz="2800" b="1" kern="100" dirty="0">
                <a:latin typeface="Times New Roman"/>
                <a:ea typeface="宋体"/>
                <a:cs typeface="Times New Roman"/>
              </a:rPr>
              <a:t>直径段与同心圆弧之间的衔接</a:t>
            </a:r>
            <a:r>
              <a:rPr lang="en-US" altLang="zh-CN" sz="2800" b="1" kern="100" dirty="0">
                <a:latin typeface="Times New Roman"/>
                <a:ea typeface="宋体"/>
                <a:cs typeface="Times New Roman"/>
              </a:rPr>
              <a:t>R32mm</a:t>
            </a:r>
            <a:r>
              <a:rPr lang="zh-CN" altLang="en-US" sz="2800" b="1" kern="100" dirty="0">
                <a:latin typeface="Times New Roman"/>
                <a:ea typeface="宋体"/>
                <a:cs typeface="Times New Roman"/>
              </a:rPr>
              <a:t>和</a:t>
            </a:r>
            <a:r>
              <a:rPr lang="en-US" altLang="zh-CN" sz="2800" b="1" kern="100" dirty="0">
                <a:latin typeface="Times New Roman"/>
                <a:ea typeface="宋体"/>
                <a:cs typeface="Times New Roman"/>
              </a:rPr>
              <a:t>R22.4mm</a:t>
            </a:r>
            <a:r>
              <a:rPr lang="zh-CN" altLang="en-US" sz="2800" b="1" kern="100" dirty="0">
                <a:latin typeface="Times New Roman"/>
                <a:ea typeface="宋体"/>
                <a:cs typeface="Times New Roman"/>
              </a:rPr>
              <a:t>圆弧段</a:t>
            </a:r>
            <a:endParaRPr lang="en-US" altLang="zh-CN" sz="2800" b="1" kern="100" dirty="0">
              <a:latin typeface="Times New Roman"/>
              <a:ea typeface="宋体"/>
              <a:cs typeface="Times New Roman"/>
            </a:endParaRPr>
          </a:p>
        </p:txBody>
      </p:sp>
      <p:sp>
        <p:nvSpPr>
          <p:cNvPr id="5" name="TextBox 4"/>
          <p:cNvSpPr txBox="1"/>
          <p:nvPr/>
        </p:nvSpPr>
        <p:spPr>
          <a:xfrm>
            <a:off x="4843093" y="5869496"/>
            <a:ext cx="2505814" cy="369332"/>
          </a:xfrm>
          <a:prstGeom prst="rect">
            <a:avLst/>
          </a:prstGeom>
          <a:noFill/>
        </p:spPr>
        <p:txBody>
          <a:bodyPr wrap="none" rtlCol="0">
            <a:spAutoFit/>
          </a:bodyPr>
          <a:lstStyle/>
          <a:p>
            <a:pPr algn="ctr"/>
            <a:r>
              <a:rPr lang="zh-CN" altLang="en-US" dirty="0"/>
              <a:t>图</a:t>
            </a:r>
            <a:r>
              <a:rPr lang="en-US" altLang="zh-CN" dirty="0"/>
              <a:t>2-56 </a:t>
            </a:r>
            <a:r>
              <a:rPr lang="zh-CN" altLang="en-US" dirty="0"/>
              <a:t>绘制同心圆弧段</a:t>
            </a:r>
          </a:p>
        </p:txBody>
      </p:sp>
      <p:pic>
        <p:nvPicPr>
          <p:cNvPr id="7" name="图片 6"/>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908226" y="1915990"/>
            <a:ext cx="8375549" cy="3680974"/>
          </a:xfrm>
          <a:prstGeom prst="rect">
            <a:avLst/>
          </a:prstGeom>
        </p:spPr>
      </p:pic>
    </p:spTree>
    <p:extLst>
      <p:ext uri="{BB962C8B-B14F-4D97-AF65-F5344CB8AC3E}">
        <p14:creationId xmlns:p14="http://schemas.microsoft.com/office/powerpoint/2010/main" val="4000553209"/>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extBox 14"/>
          <p:cNvSpPr txBox="1"/>
          <p:nvPr/>
        </p:nvSpPr>
        <p:spPr>
          <a:xfrm>
            <a:off x="231962" y="507573"/>
            <a:ext cx="11507321" cy="738664"/>
          </a:xfrm>
          <a:prstGeom prst="rect">
            <a:avLst/>
          </a:prstGeom>
          <a:noFill/>
        </p:spPr>
        <p:txBody>
          <a:bodyPr wrap="square" rtlCol="0">
            <a:spAutoFit/>
          </a:bodyPr>
          <a:lstStyle/>
          <a:p>
            <a:pPr indent="266700" algn="just" fontAlgn="ctr">
              <a:lnSpc>
                <a:spcPct val="150000"/>
              </a:lnSpc>
              <a:spcAft>
                <a:spcPts val="0"/>
              </a:spcAft>
            </a:pPr>
            <a:r>
              <a:rPr lang="zh-CN" altLang="en-US" sz="2800" b="1" kern="100" dirty="0">
                <a:latin typeface="Times New Roman"/>
                <a:ea typeface="宋体"/>
                <a:cs typeface="Times New Roman"/>
              </a:rPr>
              <a:t>步骤</a:t>
            </a:r>
            <a:r>
              <a:rPr lang="en-US" altLang="zh-CN" sz="2800" b="1" kern="100" dirty="0">
                <a:latin typeface="Times New Roman"/>
                <a:ea typeface="宋体"/>
                <a:cs typeface="Times New Roman"/>
              </a:rPr>
              <a:t>7</a:t>
            </a:r>
            <a:r>
              <a:rPr lang="zh-CN" altLang="en-US" sz="2800" b="1" kern="100" dirty="0">
                <a:latin typeface="Times New Roman"/>
                <a:ea typeface="宋体"/>
                <a:cs typeface="Times New Roman"/>
              </a:rPr>
              <a:t>：绘制挂钩端部</a:t>
            </a:r>
            <a:r>
              <a:rPr lang="en-US" altLang="zh-CN" sz="2800" b="1" kern="100" dirty="0">
                <a:latin typeface="Times New Roman"/>
                <a:ea typeface="宋体"/>
                <a:cs typeface="Times New Roman"/>
              </a:rPr>
              <a:t>R21.6mm</a:t>
            </a:r>
            <a:r>
              <a:rPr lang="zh-CN" altLang="en-US" sz="2800" b="1" kern="100" dirty="0">
                <a:latin typeface="Times New Roman"/>
                <a:ea typeface="宋体"/>
                <a:cs typeface="Times New Roman"/>
              </a:rPr>
              <a:t>和</a:t>
            </a:r>
            <a:r>
              <a:rPr lang="en-US" altLang="zh-CN" sz="2800" b="1" kern="100" dirty="0">
                <a:latin typeface="Times New Roman"/>
                <a:ea typeface="宋体"/>
                <a:cs typeface="Times New Roman"/>
              </a:rPr>
              <a:t>R12mm</a:t>
            </a:r>
            <a:r>
              <a:rPr lang="zh-CN" altLang="en-US" sz="2800" b="1" kern="100" dirty="0">
                <a:latin typeface="Times New Roman"/>
                <a:ea typeface="宋体"/>
                <a:cs typeface="Times New Roman"/>
              </a:rPr>
              <a:t>两个圆弧段</a:t>
            </a:r>
            <a:endParaRPr lang="en-US" altLang="zh-CN" sz="2800" b="1" kern="100" dirty="0">
              <a:latin typeface="Times New Roman"/>
              <a:ea typeface="宋体"/>
              <a:cs typeface="Times New Roman"/>
            </a:endParaRPr>
          </a:p>
        </p:txBody>
      </p:sp>
      <p:sp>
        <p:nvSpPr>
          <p:cNvPr id="5" name="TextBox 4"/>
          <p:cNvSpPr txBox="1"/>
          <p:nvPr/>
        </p:nvSpPr>
        <p:spPr>
          <a:xfrm>
            <a:off x="3681717" y="5573662"/>
            <a:ext cx="4828566" cy="369332"/>
          </a:xfrm>
          <a:prstGeom prst="rect">
            <a:avLst/>
          </a:prstGeom>
          <a:noFill/>
        </p:spPr>
        <p:txBody>
          <a:bodyPr wrap="none" rtlCol="0">
            <a:spAutoFit/>
          </a:bodyPr>
          <a:lstStyle/>
          <a:p>
            <a:pPr algn="ctr"/>
            <a:r>
              <a:rPr lang="zh-CN" altLang="en-US" dirty="0"/>
              <a:t>图</a:t>
            </a:r>
            <a:r>
              <a:rPr lang="en-US" altLang="zh-CN" dirty="0"/>
              <a:t>2-57 </a:t>
            </a:r>
            <a:r>
              <a:rPr lang="zh-CN" altLang="en-US" dirty="0"/>
              <a:t>绘制端部</a:t>
            </a:r>
            <a:r>
              <a:rPr lang="en-US" altLang="zh-CN" dirty="0"/>
              <a:t>R21.6mm</a:t>
            </a:r>
            <a:r>
              <a:rPr lang="zh-CN" altLang="en-US" dirty="0"/>
              <a:t>和</a:t>
            </a:r>
            <a:r>
              <a:rPr lang="en-US" altLang="zh-CN" dirty="0"/>
              <a:t>R12mm</a:t>
            </a:r>
            <a:r>
              <a:rPr lang="zh-CN" altLang="en-US" dirty="0"/>
              <a:t>两个圆弧段</a:t>
            </a:r>
          </a:p>
        </p:txBody>
      </p:sp>
      <p:pic>
        <p:nvPicPr>
          <p:cNvPr id="6" name="图片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961573" y="1758444"/>
            <a:ext cx="8268855" cy="3427574"/>
          </a:xfrm>
          <a:prstGeom prst="rect">
            <a:avLst/>
          </a:prstGeom>
        </p:spPr>
      </p:pic>
    </p:spTree>
    <p:extLst>
      <p:ext uri="{BB962C8B-B14F-4D97-AF65-F5344CB8AC3E}">
        <p14:creationId xmlns:p14="http://schemas.microsoft.com/office/powerpoint/2010/main" val="3747139298"/>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extBox 14"/>
          <p:cNvSpPr txBox="1"/>
          <p:nvPr/>
        </p:nvSpPr>
        <p:spPr>
          <a:xfrm>
            <a:off x="231962" y="507573"/>
            <a:ext cx="11507321" cy="3323987"/>
          </a:xfrm>
          <a:prstGeom prst="rect">
            <a:avLst/>
          </a:prstGeom>
          <a:noFill/>
        </p:spPr>
        <p:txBody>
          <a:bodyPr wrap="square" rtlCol="0">
            <a:spAutoFit/>
          </a:bodyPr>
          <a:lstStyle/>
          <a:p>
            <a:pPr indent="266700" algn="just" fontAlgn="ctr">
              <a:lnSpc>
                <a:spcPct val="150000"/>
              </a:lnSpc>
              <a:spcAft>
                <a:spcPts val="0"/>
              </a:spcAft>
            </a:pPr>
            <a:r>
              <a:rPr lang="zh-CN" altLang="en-US" sz="2800" b="1" kern="100" dirty="0">
                <a:latin typeface="Times New Roman"/>
                <a:ea typeface="宋体"/>
                <a:cs typeface="Times New Roman"/>
              </a:rPr>
              <a:t>步骤</a:t>
            </a:r>
            <a:r>
              <a:rPr lang="en-US" altLang="zh-CN" sz="2800" b="1" kern="100" dirty="0">
                <a:latin typeface="Times New Roman"/>
                <a:ea typeface="宋体"/>
                <a:cs typeface="Times New Roman"/>
              </a:rPr>
              <a:t>8</a:t>
            </a:r>
            <a:r>
              <a:rPr lang="zh-CN" altLang="en-US" sz="2800" b="1" kern="100" dirty="0">
                <a:latin typeface="Times New Roman"/>
                <a:ea typeface="宋体"/>
                <a:cs typeface="Times New Roman"/>
              </a:rPr>
              <a:t>：端部倒</a:t>
            </a:r>
            <a:r>
              <a:rPr lang="en-US" altLang="zh-CN" sz="2800" b="1" kern="100" dirty="0">
                <a:latin typeface="Times New Roman"/>
                <a:ea typeface="宋体"/>
                <a:cs typeface="Times New Roman"/>
              </a:rPr>
              <a:t>R2.4mm</a:t>
            </a:r>
            <a:r>
              <a:rPr lang="zh-CN" altLang="en-US" sz="2800" b="1" kern="100" dirty="0">
                <a:latin typeface="Times New Roman"/>
                <a:ea typeface="宋体"/>
                <a:cs typeface="Times New Roman"/>
              </a:rPr>
              <a:t>圆角</a:t>
            </a:r>
            <a:endParaRPr lang="en-US" altLang="zh-CN" sz="2800" b="1" kern="100" dirty="0">
              <a:latin typeface="Times New Roman"/>
              <a:ea typeface="宋体"/>
              <a:cs typeface="Times New Roman"/>
            </a:endParaRPr>
          </a:p>
          <a:p>
            <a:pPr indent="266700" algn="just" fontAlgn="ctr">
              <a:lnSpc>
                <a:spcPct val="150000"/>
              </a:lnSpc>
              <a:spcAft>
                <a:spcPts val="0"/>
              </a:spcAft>
            </a:pPr>
            <a:r>
              <a:rPr lang="en-US" altLang="zh-CN" sz="2800" kern="100" dirty="0">
                <a:latin typeface="Times New Roman"/>
                <a:ea typeface="宋体"/>
                <a:cs typeface="Times New Roman"/>
              </a:rPr>
              <a:t>1</a:t>
            </a:r>
            <a:r>
              <a:rPr lang="zh-CN" altLang="en-US" sz="2800" kern="100" dirty="0">
                <a:latin typeface="Times New Roman"/>
                <a:ea typeface="宋体"/>
                <a:cs typeface="Times New Roman"/>
              </a:rPr>
              <a:t>）在</a:t>
            </a:r>
            <a:r>
              <a:rPr lang="en-US" altLang="zh-CN" sz="2800" kern="100" dirty="0">
                <a:latin typeface="Times New Roman"/>
                <a:ea typeface="宋体"/>
                <a:cs typeface="Times New Roman"/>
              </a:rPr>
              <a:t>【</a:t>
            </a:r>
            <a:r>
              <a:rPr lang="zh-CN" altLang="en-US" sz="2800" kern="100" dirty="0">
                <a:latin typeface="Times New Roman"/>
                <a:ea typeface="宋体"/>
                <a:cs typeface="Times New Roman"/>
              </a:rPr>
              <a:t>草绘</a:t>
            </a:r>
            <a:r>
              <a:rPr lang="en-US" altLang="zh-CN" sz="2800" kern="100" dirty="0">
                <a:latin typeface="Times New Roman"/>
                <a:ea typeface="宋体"/>
                <a:cs typeface="Times New Roman"/>
              </a:rPr>
              <a:t>】</a:t>
            </a:r>
            <a:r>
              <a:rPr lang="zh-CN" altLang="en-US" sz="2800" kern="100" dirty="0">
                <a:latin typeface="Times New Roman"/>
                <a:ea typeface="宋体"/>
                <a:cs typeface="Times New Roman"/>
              </a:rPr>
              <a:t>组单击“圆形修剪”按钮   ，依次选择</a:t>
            </a:r>
            <a:r>
              <a:rPr lang="en-US" altLang="zh-CN" sz="2800" kern="100" dirty="0">
                <a:latin typeface="Times New Roman"/>
                <a:ea typeface="宋体"/>
                <a:cs typeface="Times New Roman"/>
              </a:rPr>
              <a:t>R21.6mm</a:t>
            </a:r>
            <a:r>
              <a:rPr lang="zh-CN" altLang="en-US" sz="2800" kern="100" dirty="0">
                <a:latin typeface="Times New Roman"/>
                <a:ea typeface="宋体"/>
                <a:cs typeface="Times New Roman"/>
              </a:rPr>
              <a:t>和</a:t>
            </a:r>
            <a:r>
              <a:rPr lang="en-US" altLang="zh-CN" sz="2800" kern="100" dirty="0">
                <a:latin typeface="Times New Roman"/>
                <a:ea typeface="宋体"/>
                <a:cs typeface="Times New Roman"/>
              </a:rPr>
              <a:t>R12mm</a:t>
            </a:r>
            <a:r>
              <a:rPr lang="zh-CN" altLang="en-US" sz="2800" kern="100" dirty="0">
                <a:latin typeface="Times New Roman"/>
                <a:ea typeface="宋体"/>
                <a:cs typeface="Times New Roman"/>
              </a:rPr>
              <a:t>两个圆弧段，然后单击鼠标中键结束命令。</a:t>
            </a:r>
          </a:p>
          <a:p>
            <a:pPr indent="266700" algn="just" fontAlgn="ctr">
              <a:lnSpc>
                <a:spcPct val="150000"/>
              </a:lnSpc>
              <a:spcAft>
                <a:spcPts val="0"/>
              </a:spcAft>
            </a:pPr>
            <a:r>
              <a:rPr lang="en-US" altLang="zh-CN" sz="2800" kern="100" dirty="0">
                <a:latin typeface="Times New Roman"/>
                <a:ea typeface="宋体"/>
                <a:cs typeface="Times New Roman"/>
              </a:rPr>
              <a:t>2</a:t>
            </a:r>
            <a:r>
              <a:rPr lang="zh-CN" altLang="en-US" sz="2800" kern="100" dirty="0">
                <a:latin typeface="Times New Roman"/>
                <a:ea typeface="宋体"/>
                <a:cs typeface="Times New Roman"/>
              </a:rPr>
              <a:t>）单击“基本尺寸”按钮 ，按图</a:t>
            </a:r>
            <a:r>
              <a:rPr lang="en-US" altLang="zh-CN" sz="2800" kern="100" dirty="0">
                <a:latin typeface="Times New Roman"/>
                <a:ea typeface="宋体"/>
                <a:cs typeface="Times New Roman"/>
              </a:rPr>
              <a:t>2-50</a:t>
            </a:r>
            <a:r>
              <a:rPr lang="zh-CN" altLang="en-US" sz="2800" kern="100" dirty="0">
                <a:latin typeface="Times New Roman"/>
                <a:ea typeface="宋体"/>
                <a:cs typeface="Times New Roman"/>
              </a:rPr>
              <a:t>所示标注并修改末端圆角尺寸。</a:t>
            </a:r>
          </a:p>
          <a:p>
            <a:pPr indent="266700" algn="just" fontAlgn="ctr">
              <a:lnSpc>
                <a:spcPct val="150000"/>
              </a:lnSpc>
              <a:spcAft>
                <a:spcPts val="0"/>
              </a:spcAft>
            </a:pPr>
            <a:endParaRPr lang="en-US" altLang="zh-CN" sz="2800" b="1" kern="100" dirty="0">
              <a:latin typeface="Times New Roman"/>
              <a:ea typeface="宋体"/>
              <a:cs typeface="Times New Roman"/>
            </a:endParaRPr>
          </a:p>
        </p:txBody>
      </p:sp>
      <p:pic>
        <p:nvPicPr>
          <p:cNvPr id="7" name="图片 6"/>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426138" y="1437714"/>
            <a:ext cx="360000" cy="360000"/>
          </a:xfrm>
          <a:prstGeom prst="rect">
            <a:avLst/>
          </a:prstGeom>
        </p:spPr>
      </p:pic>
    </p:spTree>
    <p:extLst>
      <p:ext uri="{BB962C8B-B14F-4D97-AF65-F5344CB8AC3E}">
        <p14:creationId xmlns:p14="http://schemas.microsoft.com/office/powerpoint/2010/main" val="2902090716"/>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extBox 14"/>
          <p:cNvSpPr txBox="1"/>
          <p:nvPr/>
        </p:nvSpPr>
        <p:spPr>
          <a:xfrm>
            <a:off x="231962" y="507573"/>
            <a:ext cx="11507321" cy="738664"/>
          </a:xfrm>
          <a:prstGeom prst="rect">
            <a:avLst/>
          </a:prstGeom>
          <a:noFill/>
        </p:spPr>
        <p:txBody>
          <a:bodyPr wrap="square" rtlCol="0">
            <a:spAutoFit/>
          </a:bodyPr>
          <a:lstStyle/>
          <a:p>
            <a:pPr indent="266700" algn="just" fontAlgn="ctr">
              <a:lnSpc>
                <a:spcPct val="150000"/>
              </a:lnSpc>
              <a:spcAft>
                <a:spcPts val="0"/>
              </a:spcAft>
            </a:pPr>
            <a:r>
              <a:rPr lang="zh-CN" altLang="en-US" sz="2800" b="1" kern="100" dirty="0">
                <a:latin typeface="Times New Roman"/>
                <a:ea typeface="宋体"/>
                <a:cs typeface="Times New Roman"/>
              </a:rPr>
              <a:t>步骤</a:t>
            </a:r>
            <a:r>
              <a:rPr lang="en-US" altLang="zh-CN" sz="2800" b="1" kern="100" dirty="0">
                <a:latin typeface="Times New Roman"/>
                <a:ea typeface="宋体"/>
                <a:cs typeface="Times New Roman"/>
              </a:rPr>
              <a:t>9</a:t>
            </a:r>
            <a:r>
              <a:rPr lang="zh-CN" altLang="en-US" sz="2800" b="1" kern="100" dirty="0">
                <a:latin typeface="Times New Roman"/>
                <a:ea typeface="宋体"/>
                <a:cs typeface="Times New Roman"/>
              </a:rPr>
              <a:t>：删除多余曲线，完成挂钩草绘图，如图</a:t>
            </a:r>
            <a:r>
              <a:rPr lang="en-US" altLang="zh-CN" sz="2800" b="1" kern="100" dirty="0">
                <a:latin typeface="Times New Roman"/>
                <a:ea typeface="宋体"/>
                <a:cs typeface="Times New Roman"/>
              </a:rPr>
              <a:t>2-58</a:t>
            </a:r>
            <a:r>
              <a:rPr lang="zh-CN" altLang="en-US" sz="2800" b="1" kern="100" dirty="0">
                <a:latin typeface="Times New Roman"/>
                <a:ea typeface="宋体"/>
                <a:cs typeface="Times New Roman"/>
              </a:rPr>
              <a:t>所示。</a:t>
            </a:r>
            <a:endParaRPr lang="en-US" altLang="zh-CN" sz="2800" b="1" kern="100" dirty="0">
              <a:latin typeface="Times New Roman"/>
              <a:ea typeface="宋体"/>
              <a:cs typeface="Times New Roman"/>
            </a:endParaRPr>
          </a:p>
        </p:txBody>
      </p:sp>
      <p:sp>
        <p:nvSpPr>
          <p:cNvPr id="5" name="TextBox 4"/>
          <p:cNvSpPr txBox="1"/>
          <p:nvPr/>
        </p:nvSpPr>
        <p:spPr>
          <a:xfrm>
            <a:off x="5073925" y="5573662"/>
            <a:ext cx="2044149" cy="369332"/>
          </a:xfrm>
          <a:prstGeom prst="rect">
            <a:avLst/>
          </a:prstGeom>
          <a:noFill/>
        </p:spPr>
        <p:txBody>
          <a:bodyPr wrap="none" rtlCol="0">
            <a:spAutoFit/>
          </a:bodyPr>
          <a:lstStyle/>
          <a:p>
            <a:pPr algn="ctr"/>
            <a:r>
              <a:rPr lang="zh-CN" altLang="en-US" dirty="0"/>
              <a:t>图</a:t>
            </a:r>
            <a:r>
              <a:rPr lang="en-US" altLang="zh-CN" dirty="0"/>
              <a:t>2-58 </a:t>
            </a:r>
            <a:r>
              <a:rPr lang="zh-CN" altLang="en-US" dirty="0"/>
              <a:t>挂钩草绘图</a:t>
            </a:r>
          </a:p>
        </p:txBody>
      </p:sp>
      <p:pic>
        <p:nvPicPr>
          <p:cNvPr id="7" name="图片 6"/>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653449" y="1508077"/>
            <a:ext cx="4885102" cy="3863879"/>
          </a:xfrm>
          <a:prstGeom prst="rect">
            <a:avLst/>
          </a:prstGeom>
        </p:spPr>
      </p:pic>
    </p:spTree>
    <p:extLst>
      <p:ext uri="{BB962C8B-B14F-4D97-AF65-F5344CB8AC3E}">
        <p14:creationId xmlns:p14="http://schemas.microsoft.com/office/powerpoint/2010/main" val="3692035263"/>
      </p:ext>
    </p:extLst>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a:ea typeface=""/>
        <a:cs typeface=""/>
        <a:font script="Jpan" typeface="ＭＳ Ｐゴシック"/>
        <a:font script="Hang" typeface="맑은 고딕"/>
        <a:font script="Hans" typeface="微软雅黑"/>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微软雅黑"/>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710</TotalTime>
  <Words>2726</Words>
  <Application>Microsoft Office PowerPoint</Application>
  <PresentationFormat>宽屏</PresentationFormat>
  <Paragraphs>221</Paragraphs>
  <Slides>51</Slides>
  <Notes>0</Notes>
  <HiddenSlides>0</HiddenSlides>
  <MMClips>0</MMClips>
  <ScaleCrop>false</ScaleCrop>
  <HeadingPairs>
    <vt:vector size="6" baseType="variant">
      <vt:variant>
        <vt:lpstr>已用的字体</vt:lpstr>
      </vt:variant>
      <vt:variant>
        <vt:i4>7</vt:i4>
      </vt:variant>
      <vt:variant>
        <vt:lpstr>主题</vt:lpstr>
      </vt:variant>
      <vt:variant>
        <vt:i4>1</vt:i4>
      </vt:variant>
      <vt:variant>
        <vt:lpstr>幻灯片标题</vt:lpstr>
      </vt:variant>
      <vt:variant>
        <vt:i4>51</vt:i4>
      </vt:variant>
    </vt:vector>
  </HeadingPairs>
  <TitlesOfParts>
    <vt:vector size="59" baseType="lpstr">
      <vt:lpstr>等线</vt:lpstr>
      <vt:lpstr>黑体</vt:lpstr>
      <vt:lpstr>宋体</vt:lpstr>
      <vt:lpstr>Arial</vt:lpstr>
      <vt:lpstr>Calibri</vt:lpstr>
      <vt:lpstr>Times New Roman</vt:lpstr>
      <vt:lpstr>Wingdings</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502</dc:creator>
  <cp:lastModifiedBy>37584</cp:lastModifiedBy>
  <cp:revision>72</cp:revision>
  <dcterms:created xsi:type="dcterms:W3CDTF">2022-06-25T09:10:00Z</dcterms:created>
  <dcterms:modified xsi:type="dcterms:W3CDTF">2023-03-29T09:01:13Z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9F5551007EA34426BE42E023EFDA5284</vt:lpwstr>
  </property>
  <property fmtid="{D5CDD505-2E9C-101B-9397-08002B2CF9AE}" pid="3" name="KSOProductBuildVer">
    <vt:lpwstr>2052-11.1.0.11579</vt:lpwstr>
  </property>
</Properties>
</file>