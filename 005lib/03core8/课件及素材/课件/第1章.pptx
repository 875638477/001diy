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4" name="图片 3">
            <a:extLst>
              <a:ext uri="{FF2B5EF4-FFF2-40B4-BE49-F238E27FC236}">
                <a16:creationId xmlns:a16="http://schemas.microsoft.com/office/drawing/2014/main" id="{D9576C96-7572-AB3E-CE07-CD4BE4A43E0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87111" y="6269925"/>
            <a:ext cx="2891034" cy="5532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632012"/>
            <a:ext cx="6508377" cy="646331"/>
          </a:xfrm>
          <a:prstGeom prst="rect">
            <a:avLst/>
          </a:prstGeom>
          <a:noFill/>
        </p:spPr>
        <p:txBody>
          <a:bodyPr wrap="square" rtlCol="0">
            <a:spAutoFit/>
          </a:bodyPr>
          <a:lstStyle/>
          <a:p>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1</a:t>
            </a:r>
            <a:r>
              <a:rPr lang="zh-CN" altLang="en-US" sz="3600" dirty="0">
                <a:latin typeface="Times New Roman" pitchFamily="18" charset="0"/>
                <a:ea typeface="黑体" pitchFamily="49" charset="-122"/>
              </a:rPr>
              <a:t>章 </a:t>
            </a:r>
            <a:r>
              <a:rPr lang="en-US" altLang="zh-CN" sz="3600" dirty="0" err="1">
                <a:latin typeface="Times New Roman" pitchFamily="18" charset="0"/>
                <a:ea typeface="黑体" pitchFamily="49" charset="-122"/>
              </a:rPr>
              <a:t>Creo</a:t>
            </a:r>
            <a:r>
              <a:rPr lang="en-US" altLang="zh-CN" sz="3600" dirty="0">
                <a:latin typeface="Times New Roman" pitchFamily="18" charset="0"/>
                <a:ea typeface="黑体" pitchFamily="49" charset="-122"/>
              </a:rPr>
              <a:t> Parametric 8.0 </a:t>
            </a:r>
            <a:r>
              <a:rPr lang="zh-CN" altLang="en-US" sz="3600" dirty="0">
                <a:latin typeface="Times New Roman" pitchFamily="18" charset="0"/>
                <a:ea typeface="黑体" pitchFamily="49" charset="-122"/>
              </a:rPr>
              <a:t>简介</a:t>
            </a:r>
          </a:p>
        </p:txBody>
      </p:sp>
      <p:sp>
        <p:nvSpPr>
          <p:cNvPr id="3" name="TextBox 2"/>
          <p:cNvSpPr txBox="1"/>
          <p:nvPr/>
        </p:nvSpPr>
        <p:spPr>
          <a:xfrm>
            <a:off x="2283759" y="1627094"/>
            <a:ext cx="7624482" cy="3785652"/>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1.1Creo8.0</a:t>
            </a:r>
            <a:r>
              <a:rPr lang="zh-CN" altLang="en-US" sz="3200" dirty="0">
                <a:latin typeface="Times New Roman" pitchFamily="18" charset="0"/>
                <a:ea typeface="黑体" pitchFamily="49" charset="-122"/>
              </a:rPr>
              <a:t>概述</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1.2 </a:t>
            </a:r>
            <a:r>
              <a:rPr lang="en-US" altLang="zh-CN" sz="3200" dirty="0" err="1">
                <a:latin typeface="Times New Roman" pitchFamily="18" charset="0"/>
                <a:ea typeface="黑体" pitchFamily="49" charset="-122"/>
              </a:rPr>
              <a:t>Creo</a:t>
            </a:r>
            <a:r>
              <a:rPr lang="en-US" altLang="zh-CN" sz="3200" dirty="0">
                <a:latin typeface="Times New Roman" pitchFamily="18" charset="0"/>
                <a:ea typeface="黑体" pitchFamily="49" charset="-122"/>
              </a:rPr>
              <a:t> Parametric 8.0</a:t>
            </a:r>
            <a:r>
              <a:rPr lang="zh-CN" altLang="en-US" sz="3200" dirty="0">
                <a:latin typeface="Times New Roman" pitchFamily="18" charset="0"/>
                <a:ea typeface="黑体" pitchFamily="49" charset="-122"/>
              </a:rPr>
              <a:t>用户界面</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1.3</a:t>
            </a:r>
            <a:r>
              <a:rPr lang="zh-CN" altLang="en-US" sz="3200" dirty="0">
                <a:latin typeface="Times New Roman" pitchFamily="18" charset="0"/>
                <a:ea typeface="黑体" pitchFamily="49" charset="-122"/>
              </a:rPr>
              <a:t>文件的管理</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1.4Creo Parametric 8.0</a:t>
            </a:r>
            <a:r>
              <a:rPr lang="zh-CN" altLang="en-US" sz="3200" dirty="0">
                <a:latin typeface="Times New Roman" pitchFamily="18" charset="0"/>
                <a:ea typeface="黑体" pitchFamily="49" charset="-122"/>
              </a:rPr>
              <a:t>基本操作和视图编辑</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1.5</a:t>
            </a:r>
            <a:r>
              <a:rPr lang="zh-CN" altLang="en-US" sz="3200" dirty="0">
                <a:latin typeface="Times New Roman" pitchFamily="18" charset="0"/>
                <a:ea typeface="黑体" pitchFamily="49" charset="-122"/>
              </a:rPr>
              <a:t>模型树的管理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1.1Creo8.0</a:t>
            </a:r>
            <a:r>
              <a:rPr lang="zh-CN" altLang="en-US" sz="3200" dirty="0">
                <a:solidFill>
                  <a:schemeClr val="bg1"/>
                </a:solidFill>
                <a:latin typeface="Times New Roman" pitchFamily="18" charset="0"/>
                <a:ea typeface="黑体" pitchFamily="49" charset="-122"/>
              </a:rPr>
              <a:t>概述</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0932456" cy="3242170"/>
          </a:xfrm>
          <a:prstGeom prst="rect">
            <a:avLst/>
          </a:prstGeom>
          <a:noFill/>
        </p:spPr>
        <p:txBody>
          <a:bodyPr wrap="square" rtlCol="0">
            <a:spAutoFit/>
          </a:bodyPr>
          <a:lstStyle/>
          <a:p>
            <a:pPr indent="457200">
              <a:lnSpc>
                <a:spcPct val="150000"/>
              </a:lnSpc>
            </a:pPr>
            <a:r>
              <a:rPr lang="en-US" altLang="zh-CN" sz="2800" dirty="0" err="1">
                <a:latin typeface="Times New Roman" pitchFamily="18" charset="0"/>
                <a:ea typeface="宋体" pitchFamily="2" charset="-122"/>
              </a:rPr>
              <a:t>Creo</a:t>
            </a:r>
            <a:r>
              <a:rPr lang="zh-CN" altLang="en-US" sz="2800" dirty="0">
                <a:latin typeface="Times New Roman" pitchFamily="18" charset="0"/>
                <a:ea typeface="宋体" pitchFamily="2" charset="-122"/>
              </a:rPr>
              <a:t>是美国</a:t>
            </a:r>
            <a:r>
              <a:rPr lang="en-US" altLang="zh-CN" sz="2800" dirty="0">
                <a:latin typeface="Times New Roman" pitchFamily="18" charset="0"/>
                <a:ea typeface="宋体" pitchFamily="2" charset="-122"/>
              </a:rPr>
              <a:t>PTC</a:t>
            </a:r>
            <a:r>
              <a:rPr lang="zh-CN" altLang="en-US" sz="2800" dirty="0">
                <a:latin typeface="Times New Roman" pitchFamily="18" charset="0"/>
                <a:ea typeface="宋体" pitchFamily="2" charset="-122"/>
              </a:rPr>
              <a:t>公司于</a:t>
            </a:r>
            <a:r>
              <a:rPr lang="en-US" altLang="zh-CN" sz="2800" dirty="0">
                <a:latin typeface="Times New Roman" pitchFamily="18" charset="0"/>
                <a:ea typeface="宋体" pitchFamily="2" charset="-122"/>
              </a:rPr>
              <a:t>2010</a:t>
            </a:r>
            <a:r>
              <a:rPr lang="zh-CN" altLang="en-US" sz="2800" dirty="0">
                <a:latin typeface="Times New Roman" pitchFamily="18" charset="0"/>
                <a:ea typeface="宋体" pitchFamily="2" charset="-122"/>
              </a:rPr>
              <a:t>年</a:t>
            </a:r>
            <a:r>
              <a:rPr lang="en-US" altLang="zh-CN" sz="2800" dirty="0">
                <a:latin typeface="Times New Roman" pitchFamily="18" charset="0"/>
                <a:ea typeface="宋体" pitchFamily="2" charset="-122"/>
              </a:rPr>
              <a:t>10</a:t>
            </a:r>
            <a:r>
              <a:rPr lang="zh-CN" altLang="en-US" sz="2800" dirty="0">
                <a:latin typeface="Times New Roman" pitchFamily="18" charset="0"/>
                <a:ea typeface="宋体" pitchFamily="2" charset="-122"/>
              </a:rPr>
              <a:t>月推出的三维参数化产品设计软件包。它是一款基于全参数化的三维</a:t>
            </a:r>
            <a:r>
              <a:rPr lang="en-US" altLang="zh-CN" sz="2800" dirty="0">
                <a:latin typeface="Times New Roman" pitchFamily="18" charset="0"/>
                <a:ea typeface="宋体" pitchFamily="2" charset="-122"/>
              </a:rPr>
              <a:t>CAD/CAE/CAM</a:t>
            </a:r>
            <a:r>
              <a:rPr lang="zh-CN" altLang="en-US" sz="2800" dirty="0">
                <a:latin typeface="Times New Roman" pitchFamily="18" charset="0"/>
                <a:ea typeface="宋体" pitchFamily="2" charset="-122"/>
              </a:rPr>
              <a:t>系统，是一个全方位的三维产品开发软件。该软件集零件设计、钣金件设计、模具设计、产品装配、机构运动仿真、工程制图、数控加工、逆向工程等功能于一体。</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51110" y="1586753"/>
            <a:ext cx="3689780" cy="4313657"/>
            <a:chOff x="1822830" y="1586753"/>
            <a:chExt cx="3689780" cy="4313657"/>
          </a:xfrm>
        </p:grpSpPr>
        <p:sp>
          <p:nvSpPr>
            <p:cNvPr id="4" name="TextBox 3"/>
            <p:cNvSpPr txBox="1"/>
            <p:nvPr/>
          </p:nvSpPr>
          <p:spPr>
            <a:xfrm>
              <a:off x="1822830" y="2689409"/>
              <a:ext cx="615553" cy="2246769"/>
            </a:xfrm>
            <a:prstGeom prst="rect">
              <a:avLst/>
            </a:prstGeom>
            <a:noFill/>
          </p:spPr>
          <p:txBody>
            <a:bodyPr vert="eaVert" wrap="none" rtlCol="0">
              <a:spAutoFit/>
            </a:bodyPr>
            <a:lstStyle/>
            <a:p>
              <a:r>
                <a:rPr lang="zh-CN" altLang="en-US" sz="2800" dirty="0">
                  <a:latin typeface="宋体" pitchFamily="2" charset="-122"/>
                  <a:ea typeface="宋体" pitchFamily="2" charset="-122"/>
                </a:rPr>
                <a:t>主要增强功能</a:t>
              </a:r>
            </a:p>
          </p:txBody>
        </p:sp>
        <p:sp>
          <p:nvSpPr>
            <p:cNvPr id="5" name="左大括号 4"/>
            <p:cNvSpPr/>
            <p:nvPr/>
          </p:nvSpPr>
          <p:spPr>
            <a:xfrm>
              <a:off x="2716306" y="1748118"/>
              <a:ext cx="376518" cy="411480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5"/>
            <p:cNvSpPr txBox="1"/>
            <p:nvPr/>
          </p:nvSpPr>
          <p:spPr>
            <a:xfrm>
              <a:off x="3173508" y="1586753"/>
              <a:ext cx="2339102" cy="523220"/>
            </a:xfrm>
            <a:prstGeom prst="rect">
              <a:avLst/>
            </a:prstGeom>
            <a:noFill/>
          </p:spPr>
          <p:txBody>
            <a:bodyPr wrap="none" rtlCol="0">
              <a:spAutoFit/>
            </a:bodyPr>
            <a:lstStyle/>
            <a:p>
              <a:r>
                <a:rPr lang="zh-CN" altLang="en-US" sz="2800" dirty="0">
                  <a:latin typeface="宋体" pitchFamily="2" charset="-122"/>
                  <a:ea typeface="宋体" pitchFamily="2" charset="-122"/>
                </a:rPr>
                <a:t>增强现实协作</a:t>
              </a:r>
            </a:p>
          </p:txBody>
        </p:sp>
        <p:sp>
          <p:nvSpPr>
            <p:cNvPr id="7" name="TextBox 6"/>
            <p:cNvSpPr txBox="1"/>
            <p:nvPr/>
          </p:nvSpPr>
          <p:spPr>
            <a:xfrm>
              <a:off x="3173508" y="3543908"/>
              <a:ext cx="1620957" cy="523220"/>
            </a:xfrm>
            <a:prstGeom prst="rect">
              <a:avLst/>
            </a:prstGeom>
            <a:noFill/>
          </p:spPr>
          <p:txBody>
            <a:bodyPr wrap="none" rtlCol="0">
              <a:spAutoFit/>
            </a:bodyPr>
            <a:lstStyle/>
            <a:p>
              <a:r>
                <a:rPr lang="zh-CN" altLang="en-US" sz="2800" dirty="0">
                  <a:latin typeface="宋体" pitchFamily="2" charset="-122"/>
                  <a:ea typeface="宋体" pitchFamily="2" charset="-122"/>
                </a:rPr>
                <a:t>仿真分析</a:t>
              </a:r>
            </a:p>
          </p:txBody>
        </p:sp>
        <p:sp>
          <p:nvSpPr>
            <p:cNvPr id="8" name="TextBox 7"/>
            <p:cNvSpPr txBox="1"/>
            <p:nvPr/>
          </p:nvSpPr>
          <p:spPr>
            <a:xfrm>
              <a:off x="3173508" y="5377190"/>
              <a:ext cx="1620957" cy="523220"/>
            </a:xfrm>
            <a:prstGeom prst="rect">
              <a:avLst/>
            </a:prstGeom>
            <a:noFill/>
          </p:spPr>
          <p:txBody>
            <a:bodyPr wrap="none" rtlCol="0">
              <a:spAutoFit/>
            </a:bodyPr>
            <a:lstStyle/>
            <a:p>
              <a:r>
                <a:rPr lang="zh-CN" altLang="en-US" sz="2800" dirty="0">
                  <a:latin typeface="宋体" pitchFamily="2" charset="-122"/>
                  <a:ea typeface="宋体" pitchFamily="2" charset="-122"/>
                </a:rPr>
                <a:t>增材制造</a:t>
              </a:r>
            </a:p>
          </p:txBody>
        </p:sp>
      </p:grpSp>
      <p:sp>
        <p:nvSpPr>
          <p:cNvPr id="10" name="TextBox 9"/>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1.1Creo8.0</a:t>
            </a:r>
            <a:r>
              <a:rPr lang="zh-CN" altLang="en-US" sz="3200" dirty="0">
                <a:solidFill>
                  <a:schemeClr val="bg1"/>
                </a:solidFill>
                <a:latin typeface="Times New Roman" pitchFamily="18" charset="0"/>
                <a:ea typeface="黑体" pitchFamily="49" charset="-122"/>
              </a:rPr>
              <a:t>概述</a:t>
            </a:r>
            <a:endParaRPr lang="en-US" altLang="zh-CN" sz="3200" dirty="0">
              <a:solidFill>
                <a:schemeClr val="bg1"/>
              </a:solidFill>
              <a:latin typeface="Times New Roman" pitchFamily="18" charset="0"/>
              <a:ea typeface="黑体" pitchFamily="49" charset="-122"/>
            </a:endParaRPr>
          </a:p>
        </p:txBody>
      </p:sp>
    </p:spTree>
    <p:extLst>
      <p:ext uri="{BB962C8B-B14F-4D97-AF65-F5344CB8AC3E}">
        <p14:creationId xmlns:p14="http://schemas.microsoft.com/office/powerpoint/2010/main" val="4233264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432" y="484094"/>
            <a:ext cx="5590615"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1.2Creo Parametric 8.0</a:t>
            </a:r>
            <a:r>
              <a:rPr lang="zh-CN" altLang="en-US" sz="3200" dirty="0">
                <a:solidFill>
                  <a:schemeClr val="bg1"/>
                </a:solidFill>
                <a:latin typeface="Times New Roman" pitchFamily="18" charset="0"/>
                <a:ea typeface="黑体" pitchFamily="49" charset="-122"/>
              </a:rPr>
              <a:t>用户</a:t>
            </a:r>
            <a:r>
              <a:rPr lang="zh-CN" altLang="en-US" sz="3200" dirty="0">
                <a:solidFill>
                  <a:srgbClr val="0000FF"/>
                </a:solidFill>
                <a:latin typeface="Times New Roman" pitchFamily="18" charset="0"/>
                <a:ea typeface="黑体" pitchFamily="49" charset="-122"/>
              </a:rPr>
              <a:t>界面</a:t>
            </a:r>
            <a:endParaRPr lang="en-US" altLang="zh-CN" sz="3200" dirty="0">
              <a:solidFill>
                <a:srgbClr val="0000FF"/>
              </a:solidFill>
              <a:latin typeface="Times New Roman" pitchFamily="18" charset="0"/>
              <a:ea typeface="黑体" pitchFamily="49"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530" y="1405894"/>
            <a:ext cx="9412941" cy="5030341"/>
          </a:xfrm>
          <a:prstGeom prst="rect">
            <a:avLst/>
          </a:prstGeom>
        </p:spPr>
      </p:pic>
    </p:spTree>
    <p:extLst>
      <p:ext uri="{BB962C8B-B14F-4D97-AF65-F5344CB8AC3E}">
        <p14:creationId xmlns:p14="http://schemas.microsoft.com/office/powerpoint/2010/main" val="156720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60612"/>
            <a:ext cx="10932459" cy="2246769"/>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1. </a:t>
            </a:r>
            <a:r>
              <a:rPr lang="zh-CN" altLang="zh-CN" sz="2800" b="1" kern="100" dirty="0">
                <a:latin typeface="Times New Roman"/>
                <a:ea typeface="宋体"/>
                <a:cs typeface="Times New Roman"/>
              </a:rPr>
              <a:t>快速访问工具栏</a:t>
            </a:r>
            <a:endParaRPr lang="zh-CN" altLang="zh-CN" sz="2800" kern="100" dirty="0">
              <a:latin typeface="等线"/>
              <a:ea typeface="等线"/>
              <a:cs typeface="Times New Roman"/>
            </a:endParaRPr>
          </a:p>
          <a:p>
            <a:pPr indent="266700" algn="just">
              <a:spcAft>
                <a:spcPts val="0"/>
              </a:spcAft>
            </a:pPr>
            <a:r>
              <a:rPr lang="zh-CN" altLang="zh-CN" sz="2800" kern="100" dirty="0">
                <a:latin typeface="Times New Roman"/>
                <a:ea typeface="宋体"/>
                <a:cs typeface="Times New Roman"/>
              </a:rPr>
              <a:t>快速访问工具栏中包括新建、保存、修改模型和设置</a:t>
            </a:r>
            <a:r>
              <a:rPr lang="en-US" altLang="zh-CN" sz="2800" kern="100" dirty="0" err="1">
                <a:latin typeface="Times New Roman"/>
                <a:ea typeface="宋体"/>
                <a:cs typeface="Times New Roman"/>
              </a:rPr>
              <a:t>Creo</a:t>
            </a:r>
            <a:r>
              <a:rPr lang="en-US" altLang="zh-CN" sz="2800" kern="100" dirty="0">
                <a:latin typeface="Times New Roman"/>
                <a:ea typeface="宋体"/>
                <a:cs typeface="Times New Roman"/>
              </a:rPr>
              <a:t> Parametric 8.0</a:t>
            </a:r>
            <a:r>
              <a:rPr lang="zh-CN" altLang="zh-CN" sz="2800" kern="100" dirty="0">
                <a:latin typeface="Times New Roman"/>
                <a:ea typeface="宋体"/>
                <a:cs typeface="Times New Roman"/>
              </a:rPr>
              <a:t>环境的一些命令按钮。单击按钮，执行相关的命令，这为用户快速执行命令提供了极大的方便。用户可以根据自身需求情况定制快速访问工具栏。</a:t>
            </a:r>
            <a:endParaRPr lang="zh-CN" altLang="zh-CN" sz="2800" kern="100" dirty="0">
              <a:effectLst/>
              <a:latin typeface="等线"/>
              <a:ea typeface="等线"/>
              <a:cs typeface="Times New Roman"/>
            </a:endParaRPr>
          </a:p>
        </p:txBody>
      </p:sp>
      <p:sp>
        <p:nvSpPr>
          <p:cNvPr id="3" name="TextBox 2"/>
          <p:cNvSpPr txBox="1"/>
          <p:nvPr/>
        </p:nvSpPr>
        <p:spPr>
          <a:xfrm>
            <a:off x="461683" y="3527601"/>
            <a:ext cx="10932459" cy="954107"/>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2.</a:t>
            </a:r>
            <a:r>
              <a:rPr lang="zh-CN" altLang="en-US" sz="2800" b="1" kern="100" dirty="0">
                <a:latin typeface="Times New Roman"/>
                <a:ea typeface="宋体"/>
                <a:cs typeface="Times New Roman"/>
              </a:rPr>
              <a:t>标题栏</a:t>
            </a:r>
            <a:endParaRPr lang="zh-CN" altLang="zh-CN" sz="2800" kern="100" dirty="0">
              <a:latin typeface="等线"/>
              <a:ea typeface="等线"/>
              <a:cs typeface="Times New Roman"/>
            </a:endParaRPr>
          </a:p>
          <a:p>
            <a:pPr indent="266700" algn="just">
              <a:spcAft>
                <a:spcPts val="0"/>
              </a:spcAft>
            </a:pPr>
            <a:r>
              <a:rPr lang="zh-CN" altLang="en-US" sz="2800" kern="100" dirty="0">
                <a:latin typeface="Times New Roman"/>
                <a:ea typeface="宋体"/>
                <a:cs typeface="Times New Roman"/>
              </a:rPr>
              <a:t>标题栏显示了活动的模型文件名称及当前软件版本。</a:t>
            </a:r>
            <a:endParaRPr lang="zh-CN" altLang="zh-CN" sz="2800" kern="100" dirty="0">
              <a:effectLst/>
              <a:latin typeface="等线"/>
              <a:ea typeface="等线"/>
              <a:cs typeface="Times New Roman"/>
            </a:endParaRPr>
          </a:p>
        </p:txBody>
      </p:sp>
    </p:spTree>
    <p:extLst>
      <p:ext uri="{BB962C8B-B14F-4D97-AF65-F5344CB8AC3E}">
        <p14:creationId xmlns:p14="http://schemas.microsoft.com/office/powerpoint/2010/main" val="20425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60612"/>
            <a:ext cx="10932459" cy="3108543"/>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3.</a:t>
            </a:r>
            <a:r>
              <a:rPr lang="zh-CN" altLang="en-US" sz="2800" b="1" kern="100" dirty="0">
                <a:latin typeface="Times New Roman"/>
                <a:ea typeface="宋体"/>
                <a:cs typeface="Times New Roman"/>
              </a:rPr>
              <a:t>功能区</a:t>
            </a:r>
            <a:endParaRPr lang="zh-CN" altLang="zh-CN" sz="2800" kern="100" dirty="0">
              <a:latin typeface="等线"/>
              <a:ea typeface="等线"/>
              <a:cs typeface="Times New Roman"/>
            </a:endParaRPr>
          </a:p>
          <a:p>
            <a:pPr indent="266700" algn="just">
              <a:spcAft>
                <a:spcPts val="0"/>
              </a:spcAft>
            </a:pPr>
            <a:r>
              <a:rPr lang="zh-CN" altLang="en-US" sz="2800" kern="100" dirty="0">
                <a:latin typeface="Times New Roman"/>
                <a:ea typeface="宋体"/>
                <a:cs typeface="Times New Roman"/>
              </a:rPr>
              <a:t>功能区中包含</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文件</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下拉菜单和命令选项卡。其中命令选项卡显示了</a:t>
            </a:r>
            <a:r>
              <a:rPr lang="en-US" altLang="zh-CN" sz="2800" kern="100" dirty="0" err="1">
                <a:latin typeface="Times New Roman"/>
                <a:ea typeface="宋体"/>
                <a:cs typeface="Times New Roman"/>
              </a:rPr>
              <a:t>Creo</a:t>
            </a:r>
            <a:r>
              <a:rPr lang="en-US" altLang="zh-CN" sz="2800" kern="100" dirty="0">
                <a:latin typeface="Times New Roman"/>
                <a:ea typeface="宋体"/>
                <a:cs typeface="Times New Roman"/>
              </a:rPr>
              <a:t> Parametric 8.0</a:t>
            </a:r>
            <a:r>
              <a:rPr lang="zh-CN" altLang="en-US" sz="2800" kern="100" dirty="0">
                <a:latin typeface="Times New Roman"/>
                <a:ea typeface="宋体"/>
                <a:cs typeface="Times New Roman"/>
              </a:rPr>
              <a:t>中的所有功能按钮，并以选项卡的形式进行分类，用户可以根据具体情况定制选项卡。值得注意的是，在用户使用过程中常会看到有些菜单命令和按钮处于非激活状态（呈灰色），这是由于当前操作中还不具备使用这些功能的条件或者未进入相关环境，一旦具备使用这些命令的条件或进入相关环境，便会自动激活。</a:t>
            </a:r>
            <a:endParaRPr lang="zh-CN" altLang="zh-CN" sz="2800" kern="100" dirty="0">
              <a:effectLst/>
              <a:latin typeface="等线"/>
              <a:ea typeface="等线"/>
              <a:cs typeface="Times New Roman"/>
            </a:endParaRPr>
          </a:p>
        </p:txBody>
      </p:sp>
      <p:sp>
        <p:nvSpPr>
          <p:cNvPr id="3" name="TextBox 2"/>
          <p:cNvSpPr txBox="1"/>
          <p:nvPr/>
        </p:nvSpPr>
        <p:spPr>
          <a:xfrm>
            <a:off x="461683" y="4280633"/>
            <a:ext cx="10932459" cy="1384995"/>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4.</a:t>
            </a:r>
            <a:r>
              <a:rPr lang="zh-CN" altLang="en-US" sz="2800" b="1" kern="100" dirty="0">
                <a:latin typeface="Times New Roman"/>
                <a:ea typeface="宋体"/>
                <a:cs typeface="Times New Roman"/>
              </a:rPr>
              <a:t>图形工具栏</a:t>
            </a:r>
            <a:endParaRPr lang="en-US" altLang="zh-CN" sz="2800" b="1" kern="100" dirty="0">
              <a:latin typeface="Times New Roman"/>
              <a:ea typeface="宋体"/>
              <a:cs typeface="Times New Roman"/>
            </a:endParaRPr>
          </a:p>
          <a:p>
            <a:pPr indent="267970" algn="just">
              <a:spcAft>
                <a:spcPts val="0"/>
              </a:spcAft>
            </a:pPr>
            <a:r>
              <a:rPr lang="zh-CN" altLang="en-US" sz="2800" kern="100" dirty="0">
                <a:latin typeface="Times New Roman"/>
                <a:ea typeface="宋体"/>
                <a:cs typeface="Times New Roman"/>
              </a:rPr>
              <a:t>图形工具栏是将</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视图</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选项卡中部分常用的命令按钮集成在一起的工具条，以方便用户实时调用，快速控制显示方式等。</a:t>
            </a:r>
            <a:endParaRPr lang="zh-CN" altLang="zh-CN" sz="2800" kern="100" dirty="0">
              <a:effectLst/>
              <a:latin typeface="等线"/>
              <a:ea typeface="等线"/>
              <a:cs typeface="Times New Roman"/>
            </a:endParaRPr>
          </a:p>
        </p:txBody>
      </p:sp>
    </p:spTree>
    <p:extLst>
      <p:ext uri="{BB962C8B-B14F-4D97-AF65-F5344CB8AC3E}">
        <p14:creationId xmlns:p14="http://schemas.microsoft.com/office/powerpoint/2010/main" val="885486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60612"/>
            <a:ext cx="10932459" cy="2677656"/>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5.</a:t>
            </a:r>
            <a:r>
              <a:rPr lang="zh-CN" altLang="en-US" sz="2800" b="1" kern="100" dirty="0">
                <a:latin typeface="Times New Roman"/>
                <a:ea typeface="宋体"/>
                <a:cs typeface="Times New Roman"/>
              </a:rPr>
              <a:t>导航区</a:t>
            </a:r>
            <a:endParaRPr lang="zh-CN" altLang="zh-CN" sz="2800" kern="100" dirty="0">
              <a:latin typeface="等线"/>
              <a:ea typeface="等线"/>
              <a:cs typeface="Times New Roman"/>
            </a:endParaRPr>
          </a:p>
          <a:p>
            <a:pPr indent="266700" algn="just">
              <a:spcAft>
                <a:spcPts val="0"/>
              </a:spcAft>
            </a:pPr>
            <a:r>
              <a:rPr lang="zh-CN" altLang="en-US" sz="2800" kern="100" dirty="0">
                <a:latin typeface="Times New Roman"/>
                <a:ea typeface="宋体"/>
                <a:cs typeface="Times New Roman"/>
              </a:rPr>
              <a:t>导航区包括三个页面选项：模型树或层树、文件夹浏览器和收藏夹。</a:t>
            </a:r>
          </a:p>
          <a:p>
            <a:pPr indent="266700" algn="just">
              <a:spcAft>
                <a:spcPts val="0"/>
              </a:spcAft>
            </a:pPr>
            <a:r>
              <a:rPr lang="zh-CN" altLang="en-US" sz="2800" kern="100" dirty="0">
                <a:solidFill>
                  <a:srgbClr val="FF0000"/>
                </a:solidFill>
                <a:latin typeface="Times New Roman"/>
                <a:ea typeface="宋体"/>
                <a:cs typeface="Times New Roman"/>
              </a:rPr>
              <a:t>模型树或层树</a:t>
            </a:r>
            <a:r>
              <a:rPr lang="zh-CN" altLang="en-US" sz="2800" kern="100" dirty="0">
                <a:latin typeface="Times New Roman"/>
                <a:ea typeface="宋体"/>
                <a:cs typeface="Times New Roman"/>
              </a:rPr>
              <a:t>：列出了当前活动文件中的所有零件及特征，并以树的形式显示模型结构。</a:t>
            </a:r>
          </a:p>
          <a:p>
            <a:pPr indent="266700" algn="just">
              <a:spcAft>
                <a:spcPts val="0"/>
              </a:spcAft>
            </a:pPr>
            <a:r>
              <a:rPr lang="zh-CN" altLang="en-US" sz="2800" kern="100" dirty="0">
                <a:solidFill>
                  <a:srgbClr val="FF0000"/>
                </a:solidFill>
                <a:latin typeface="Times New Roman"/>
                <a:ea typeface="宋体"/>
                <a:cs typeface="Times New Roman"/>
              </a:rPr>
              <a:t>文件夹浏览器</a:t>
            </a:r>
            <a:r>
              <a:rPr lang="zh-CN" altLang="en-US" sz="2800" kern="100" dirty="0">
                <a:latin typeface="Times New Roman"/>
                <a:ea typeface="宋体"/>
                <a:cs typeface="Times New Roman"/>
              </a:rPr>
              <a:t>：用于查看文件。</a:t>
            </a:r>
          </a:p>
          <a:p>
            <a:pPr indent="266700" algn="just">
              <a:spcAft>
                <a:spcPts val="0"/>
              </a:spcAft>
            </a:pPr>
            <a:r>
              <a:rPr lang="zh-CN" altLang="en-US" sz="2800" kern="100" dirty="0">
                <a:solidFill>
                  <a:srgbClr val="FF0000"/>
                </a:solidFill>
                <a:latin typeface="Times New Roman"/>
                <a:ea typeface="宋体"/>
                <a:cs typeface="Times New Roman"/>
              </a:rPr>
              <a:t>收藏夹</a:t>
            </a:r>
            <a:r>
              <a:rPr lang="zh-CN" altLang="en-US" sz="2800" kern="100" dirty="0">
                <a:latin typeface="Times New Roman"/>
                <a:ea typeface="宋体"/>
                <a:cs typeface="Times New Roman"/>
              </a:rPr>
              <a:t>：用于有效组织和管理个人资源。</a:t>
            </a:r>
          </a:p>
        </p:txBody>
      </p:sp>
      <p:sp>
        <p:nvSpPr>
          <p:cNvPr id="3" name="TextBox 2"/>
          <p:cNvSpPr txBox="1"/>
          <p:nvPr/>
        </p:nvSpPr>
        <p:spPr>
          <a:xfrm>
            <a:off x="461683" y="4280633"/>
            <a:ext cx="10932459" cy="1384995"/>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6.</a:t>
            </a:r>
            <a:r>
              <a:rPr lang="zh-CN" altLang="en-US" sz="2800" b="1" kern="100" dirty="0">
                <a:latin typeface="Times New Roman"/>
                <a:ea typeface="宋体"/>
                <a:cs typeface="Times New Roman"/>
              </a:rPr>
              <a:t>图形区</a:t>
            </a:r>
            <a:endParaRPr lang="en-US" altLang="zh-CN" sz="2800" b="1" kern="100" dirty="0">
              <a:latin typeface="Times New Roman"/>
              <a:ea typeface="宋体"/>
              <a:cs typeface="Times New Roman"/>
            </a:endParaRPr>
          </a:p>
          <a:p>
            <a:pPr indent="267970" algn="just">
              <a:spcAft>
                <a:spcPts val="0"/>
              </a:spcAft>
            </a:pPr>
            <a:r>
              <a:rPr lang="zh-CN" altLang="en-US" sz="2800" kern="100" dirty="0">
                <a:latin typeface="Times New Roman"/>
                <a:ea typeface="宋体"/>
                <a:cs typeface="Times New Roman"/>
              </a:rPr>
              <a:t>图形区是</a:t>
            </a:r>
            <a:r>
              <a:rPr lang="en-US" altLang="zh-CN" sz="2800" kern="100" dirty="0" err="1">
                <a:latin typeface="Times New Roman"/>
                <a:ea typeface="宋体"/>
                <a:cs typeface="Times New Roman"/>
              </a:rPr>
              <a:t>Creo</a:t>
            </a:r>
            <a:r>
              <a:rPr lang="en-US" altLang="zh-CN" sz="2800" kern="100" dirty="0">
                <a:latin typeface="Times New Roman"/>
                <a:ea typeface="宋体"/>
                <a:cs typeface="Times New Roman"/>
              </a:rPr>
              <a:t> Parametric 8.0 </a:t>
            </a:r>
            <a:r>
              <a:rPr lang="zh-CN" altLang="en-US" sz="2800" kern="100" dirty="0">
                <a:latin typeface="Times New Roman"/>
                <a:ea typeface="宋体"/>
                <a:cs typeface="Times New Roman"/>
              </a:rPr>
              <a:t>的工作区域，可在其中创建和修改模型，例如零件、装配和绘图等。</a:t>
            </a:r>
            <a:endParaRPr lang="zh-CN" altLang="zh-CN" sz="2800" kern="100" dirty="0">
              <a:effectLst/>
              <a:latin typeface="等线"/>
              <a:ea typeface="等线"/>
              <a:cs typeface="Times New Roman"/>
            </a:endParaRPr>
          </a:p>
        </p:txBody>
      </p:sp>
    </p:spTree>
    <p:extLst>
      <p:ext uri="{BB962C8B-B14F-4D97-AF65-F5344CB8AC3E}">
        <p14:creationId xmlns:p14="http://schemas.microsoft.com/office/powerpoint/2010/main" val="3524655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60612"/>
            <a:ext cx="10932459" cy="2246769"/>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7.</a:t>
            </a:r>
            <a:r>
              <a:rPr lang="zh-CN" altLang="en-US" sz="2800" b="1" kern="100" dirty="0">
                <a:latin typeface="Times New Roman"/>
                <a:ea typeface="宋体"/>
                <a:cs typeface="Times New Roman"/>
              </a:rPr>
              <a:t>消息提示栏</a:t>
            </a:r>
            <a:endParaRPr lang="zh-CN" altLang="zh-CN" sz="2800" kern="100" dirty="0">
              <a:latin typeface="等线"/>
              <a:ea typeface="等线"/>
              <a:cs typeface="Times New Roman"/>
            </a:endParaRPr>
          </a:p>
          <a:p>
            <a:pPr indent="266700" algn="just">
              <a:spcAft>
                <a:spcPts val="0"/>
              </a:spcAft>
            </a:pPr>
            <a:r>
              <a:rPr lang="zh-CN" altLang="en-US" sz="2800" kern="100" dirty="0">
                <a:latin typeface="Times New Roman"/>
                <a:ea typeface="宋体"/>
                <a:cs typeface="Times New Roman"/>
              </a:rPr>
              <a:t>用户操作软件的过程中，消息提示栏会实时地显示当前操作的提示信息及执行结果。消息提示栏非常重要，操作人员应养成在操作过程中时刻关注消息提示栏内的提示信息的习惯，这样有助于在建模过程中更好地解决所遇到的问题。</a:t>
            </a:r>
          </a:p>
        </p:txBody>
      </p:sp>
      <p:sp>
        <p:nvSpPr>
          <p:cNvPr id="3" name="TextBox 2"/>
          <p:cNvSpPr txBox="1"/>
          <p:nvPr/>
        </p:nvSpPr>
        <p:spPr>
          <a:xfrm>
            <a:off x="461683" y="4280633"/>
            <a:ext cx="10932459" cy="954107"/>
          </a:xfrm>
          <a:prstGeom prst="rect">
            <a:avLst/>
          </a:prstGeom>
          <a:noFill/>
        </p:spPr>
        <p:txBody>
          <a:bodyPr wrap="square" rtlCol="0">
            <a:spAutoFit/>
          </a:bodyPr>
          <a:lstStyle/>
          <a:p>
            <a:pPr indent="267970" algn="just">
              <a:spcAft>
                <a:spcPts val="0"/>
              </a:spcAft>
            </a:pPr>
            <a:r>
              <a:rPr lang="en-US" altLang="zh-CN" sz="2800" b="1" kern="100" dirty="0">
                <a:latin typeface="Times New Roman"/>
                <a:ea typeface="宋体"/>
                <a:cs typeface="Times New Roman"/>
              </a:rPr>
              <a:t>8.</a:t>
            </a:r>
            <a:r>
              <a:rPr lang="zh-CN" altLang="en-US" sz="2800" b="1" kern="100" dirty="0">
                <a:latin typeface="Times New Roman"/>
                <a:ea typeface="宋体"/>
                <a:cs typeface="Times New Roman"/>
              </a:rPr>
              <a:t>过滤器</a:t>
            </a:r>
            <a:endParaRPr lang="en-US" altLang="zh-CN" sz="2800" b="1" kern="100" dirty="0">
              <a:latin typeface="Times New Roman"/>
              <a:ea typeface="宋体"/>
              <a:cs typeface="Times New Roman"/>
            </a:endParaRPr>
          </a:p>
          <a:p>
            <a:pPr indent="267970" algn="just">
              <a:spcAft>
                <a:spcPts val="0"/>
              </a:spcAft>
            </a:pPr>
            <a:r>
              <a:rPr lang="zh-CN" altLang="en-US" sz="2800" kern="100" dirty="0">
                <a:latin typeface="Times New Roman"/>
                <a:ea typeface="宋体"/>
                <a:cs typeface="Times New Roman"/>
              </a:rPr>
              <a:t>过滤器主要是为了方便用户快速选取需要的模型要素。。</a:t>
            </a:r>
            <a:endParaRPr lang="zh-CN" altLang="zh-CN" sz="2800" kern="100" dirty="0">
              <a:effectLst/>
              <a:latin typeface="等线"/>
              <a:ea typeface="等线"/>
              <a:cs typeface="Times New Roman"/>
            </a:endParaRPr>
          </a:p>
        </p:txBody>
      </p:sp>
    </p:spTree>
    <p:extLst>
      <p:ext uri="{BB962C8B-B14F-4D97-AF65-F5344CB8AC3E}">
        <p14:creationId xmlns:p14="http://schemas.microsoft.com/office/powerpoint/2010/main" val="187079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363071"/>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1.3</a:t>
            </a:r>
            <a:r>
              <a:rPr lang="zh-CN" altLang="en-US" sz="3200" dirty="0">
                <a:solidFill>
                  <a:schemeClr val="bg1"/>
                </a:solidFill>
                <a:latin typeface="Times New Roman" pitchFamily="18" charset="0"/>
                <a:ea typeface="黑体" pitchFamily="49" charset="-122"/>
              </a:rPr>
              <a:t>文件的管理</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47650" y="1110735"/>
            <a:ext cx="2518638" cy="523220"/>
          </a:xfrm>
          <a:prstGeom prst="rect">
            <a:avLst/>
          </a:prstGeom>
          <a:noFill/>
        </p:spPr>
        <p:txBody>
          <a:bodyPr wrap="none" rtlCol="0">
            <a:spAutoFit/>
          </a:bodyPr>
          <a:lstStyle/>
          <a:p>
            <a:r>
              <a:rPr lang="en-US" altLang="zh-CN" sz="2800" b="1" dirty="0">
                <a:latin typeface="黑体" pitchFamily="49" charset="-122"/>
                <a:ea typeface="黑体" pitchFamily="49" charset="-122"/>
              </a:rPr>
              <a:t>1.3.1</a:t>
            </a:r>
            <a:r>
              <a:rPr lang="zh-CN" altLang="en-US" sz="2800" b="1" dirty="0">
                <a:latin typeface="黑体" pitchFamily="49" charset="-122"/>
                <a:ea typeface="黑体" pitchFamily="49" charset="-122"/>
              </a:rPr>
              <a:t>新建文件</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2846" y="1728084"/>
            <a:ext cx="3215868" cy="4320000"/>
          </a:xfrm>
          <a:prstGeom prst="rect">
            <a:avLst/>
          </a:prstGeom>
        </p:spPr>
      </p:pic>
      <p:pic>
        <p:nvPicPr>
          <p:cNvPr id="5" name="图片 4"/>
          <p:cNvPicPr>
            <a:picLocks noChangeAspect="1"/>
          </p:cNvPicPr>
          <p:nvPr/>
        </p:nvPicPr>
        <p:blipFill>
          <a:blip r:embed="rId3"/>
          <a:stretch>
            <a:fillRect/>
          </a:stretch>
        </p:blipFill>
        <p:spPr>
          <a:xfrm>
            <a:off x="6856057" y="1728084"/>
            <a:ext cx="3244657" cy="4320000"/>
          </a:xfrm>
          <a:prstGeom prst="rect">
            <a:avLst/>
          </a:prstGeom>
        </p:spPr>
      </p:pic>
      <p:sp>
        <p:nvSpPr>
          <p:cNvPr id="6" name="TextBox 5"/>
          <p:cNvSpPr txBox="1"/>
          <p:nvPr/>
        </p:nvSpPr>
        <p:spPr>
          <a:xfrm>
            <a:off x="2084294" y="6145307"/>
            <a:ext cx="2335896" cy="369332"/>
          </a:xfrm>
          <a:prstGeom prst="rect">
            <a:avLst/>
          </a:prstGeom>
          <a:noFill/>
        </p:spPr>
        <p:txBody>
          <a:bodyPr wrap="none" rtlCol="0">
            <a:spAutoFit/>
          </a:bodyPr>
          <a:lstStyle/>
          <a:p>
            <a:r>
              <a:rPr lang="zh-CN" altLang="zh-CN" dirty="0"/>
              <a:t>图</a:t>
            </a:r>
            <a:r>
              <a:rPr lang="en-US" altLang="zh-CN" dirty="0"/>
              <a:t>1-2</a:t>
            </a:r>
            <a:r>
              <a:rPr lang="zh-CN" altLang="zh-CN" dirty="0"/>
              <a:t>【新建】对话框</a:t>
            </a:r>
            <a:endParaRPr lang="zh-CN" altLang="en-US" dirty="0"/>
          </a:p>
        </p:txBody>
      </p:sp>
      <p:sp>
        <p:nvSpPr>
          <p:cNvPr id="7" name="TextBox 6"/>
          <p:cNvSpPr txBox="1"/>
          <p:nvPr/>
        </p:nvSpPr>
        <p:spPr>
          <a:xfrm>
            <a:off x="6925236" y="6145307"/>
            <a:ext cx="3259226" cy="369332"/>
          </a:xfrm>
          <a:prstGeom prst="rect">
            <a:avLst/>
          </a:prstGeom>
          <a:noFill/>
        </p:spPr>
        <p:txBody>
          <a:bodyPr wrap="none" rtlCol="0">
            <a:spAutoFit/>
          </a:bodyPr>
          <a:lstStyle/>
          <a:p>
            <a:r>
              <a:rPr lang="zh-CN" altLang="zh-CN" dirty="0"/>
              <a:t>图</a:t>
            </a:r>
            <a:r>
              <a:rPr lang="en-US" altLang="zh-CN" dirty="0"/>
              <a:t>1-3</a:t>
            </a:r>
            <a:r>
              <a:rPr lang="zh-CN" altLang="zh-CN" dirty="0"/>
              <a:t>【新建文件选项】对话框</a:t>
            </a:r>
            <a:endParaRPr lang="zh-CN" altLang="en-US" dirty="0"/>
          </a:p>
        </p:txBody>
      </p:sp>
    </p:spTree>
    <p:extLst>
      <p:ext uri="{BB962C8B-B14F-4D97-AF65-F5344CB8AC3E}">
        <p14:creationId xmlns:p14="http://schemas.microsoft.com/office/powerpoint/2010/main" val="2965778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7650" y="411491"/>
            <a:ext cx="2533066" cy="523220"/>
          </a:xfrm>
          <a:prstGeom prst="rect">
            <a:avLst/>
          </a:prstGeom>
          <a:noFill/>
        </p:spPr>
        <p:txBody>
          <a:bodyPr wrap="none" rtlCol="0">
            <a:spAutoFit/>
          </a:bodyPr>
          <a:lstStyle/>
          <a:p>
            <a:r>
              <a:rPr lang="en-US" altLang="zh-CN" sz="2800" b="1" dirty="0">
                <a:latin typeface="黑体" pitchFamily="49" charset="-122"/>
                <a:ea typeface="黑体" pitchFamily="49" charset="-122"/>
              </a:rPr>
              <a:t>1.3.2</a:t>
            </a:r>
            <a:r>
              <a:rPr lang="zh-CN" altLang="en-US" sz="2800" b="1" dirty="0">
                <a:latin typeface="黑体" pitchFamily="49" charset="-122"/>
                <a:ea typeface="黑体" pitchFamily="49" charset="-122"/>
              </a:rPr>
              <a:t>打开文件</a:t>
            </a:r>
          </a:p>
        </p:txBody>
      </p:sp>
      <p:sp>
        <p:nvSpPr>
          <p:cNvPr id="3" name="TextBox 2"/>
          <p:cNvSpPr txBox="1"/>
          <p:nvPr/>
        </p:nvSpPr>
        <p:spPr>
          <a:xfrm>
            <a:off x="537884" y="954743"/>
            <a:ext cx="9202271" cy="954107"/>
          </a:xfrm>
          <a:prstGeom prst="rect">
            <a:avLst/>
          </a:prstGeom>
          <a:noFill/>
        </p:spPr>
        <p:txBody>
          <a:bodyPr wrap="square" rtlCol="0">
            <a:spAutoFit/>
          </a:bodyPr>
          <a:lstStyle/>
          <a:p>
            <a:r>
              <a:rPr lang="zh-CN" altLang="en-US" sz="2800" dirty="0">
                <a:latin typeface="宋体" pitchFamily="2" charset="-122"/>
                <a:ea typeface="宋体" pitchFamily="2" charset="-122"/>
              </a:rPr>
              <a:t>在快速访问工具栏中单击   或单击</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文件</a:t>
            </a:r>
            <a:r>
              <a:rPr lang="en-US" altLang="zh-CN" sz="2800" dirty="0">
                <a:latin typeface="宋体" pitchFamily="2" charset="-122"/>
                <a:ea typeface="宋体" pitchFamily="2" charset="-122"/>
              </a:rPr>
              <a:t>】&gt;【</a:t>
            </a:r>
            <a:r>
              <a:rPr lang="zh-CN" altLang="en-US" sz="2800" dirty="0">
                <a:latin typeface="宋体" pitchFamily="2" charset="-122"/>
                <a:ea typeface="宋体" pitchFamily="2" charset="-122"/>
              </a:rPr>
              <a:t>打开</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文件打开</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对话框打开。如图</a:t>
            </a:r>
            <a:r>
              <a:rPr lang="en-US" altLang="zh-CN" sz="2800" dirty="0">
                <a:latin typeface="宋体" pitchFamily="2" charset="-122"/>
                <a:ea typeface="宋体" pitchFamily="2" charset="-122"/>
              </a:rPr>
              <a:t>1-5</a:t>
            </a:r>
            <a:r>
              <a:rPr lang="zh-CN" altLang="en-US" sz="2800" dirty="0">
                <a:latin typeface="宋体" pitchFamily="2" charset="-122"/>
                <a:ea typeface="宋体" pitchFamily="2" charset="-122"/>
              </a:rPr>
              <a:t>所示。</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5428" y="1206266"/>
            <a:ext cx="359434" cy="360000"/>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3856" y="1962638"/>
            <a:ext cx="5955006" cy="3960000"/>
          </a:xfrm>
          <a:prstGeom prst="rect">
            <a:avLst/>
          </a:prstGeom>
        </p:spPr>
      </p:pic>
      <p:sp>
        <p:nvSpPr>
          <p:cNvPr id="12" name="TextBox 11"/>
          <p:cNvSpPr txBox="1"/>
          <p:nvPr/>
        </p:nvSpPr>
        <p:spPr>
          <a:xfrm>
            <a:off x="4466387" y="6064625"/>
            <a:ext cx="2797561" cy="369332"/>
          </a:xfrm>
          <a:prstGeom prst="rect">
            <a:avLst/>
          </a:prstGeom>
          <a:noFill/>
        </p:spPr>
        <p:txBody>
          <a:bodyPr wrap="none" rtlCol="0">
            <a:spAutoFit/>
          </a:bodyPr>
          <a:lstStyle/>
          <a:p>
            <a:r>
              <a:rPr lang="zh-CN" altLang="en-US" dirty="0"/>
              <a:t>图</a:t>
            </a:r>
            <a:r>
              <a:rPr lang="en-US" altLang="zh-CN" dirty="0"/>
              <a:t>1-5【</a:t>
            </a:r>
            <a:r>
              <a:rPr lang="zh-CN" altLang="en-US" dirty="0"/>
              <a:t>文件打开</a:t>
            </a:r>
            <a:r>
              <a:rPr lang="en-US" altLang="zh-CN" dirty="0"/>
              <a:t>】</a:t>
            </a:r>
            <a:r>
              <a:rPr lang="zh-CN" altLang="en-US" dirty="0"/>
              <a:t>对话框</a:t>
            </a:r>
          </a:p>
        </p:txBody>
      </p:sp>
    </p:spTree>
    <p:extLst>
      <p:ext uri="{BB962C8B-B14F-4D97-AF65-F5344CB8AC3E}">
        <p14:creationId xmlns:p14="http://schemas.microsoft.com/office/powerpoint/2010/main" val="824899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7650" y="411491"/>
            <a:ext cx="2533066" cy="523220"/>
          </a:xfrm>
          <a:prstGeom prst="rect">
            <a:avLst/>
          </a:prstGeom>
          <a:noFill/>
        </p:spPr>
        <p:txBody>
          <a:bodyPr wrap="none" rtlCol="0">
            <a:spAutoFit/>
          </a:bodyPr>
          <a:lstStyle/>
          <a:p>
            <a:r>
              <a:rPr lang="en-US" altLang="zh-CN" sz="2800" b="1" dirty="0">
                <a:latin typeface="黑体" pitchFamily="49" charset="-122"/>
                <a:ea typeface="黑体" pitchFamily="49" charset="-122"/>
              </a:rPr>
              <a:t>1.3.3</a:t>
            </a:r>
            <a:r>
              <a:rPr lang="zh-CN" altLang="en-US" sz="2800" b="1" dirty="0">
                <a:latin typeface="黑体" pitchFamily="49" charset="-122"/>
                <a:ea typeface="黑体" pitchFamily="49" charset="-122"/>
              </a:rPr>
              <a:t>文件管理</a:t>
            </a:r>
          </a:p>
        </p:txBody>
      </p:sp>
      <p:grpSp>
        <p:nvGrpSpPr>
          <p:cNvPr id="10" name="组合 9"/>
          <p:cNvGrpSpPr/>
          <p:nvPr/>
        </p:nvGrpSpPr>
        <p:grpSpPr>
          <a:xfrm>
            <a:off x="4251110" y="1586753"/>
            <a:ext cx="3878038" cy="4313657"/>
            <a:chOff x="4251110" y="1586753"/>
            <a:chExt cx="3878038" cy="4313657"/>
          </a:xfrm>
        </p:grpSpPr>
        <p:sp>
          <p:nvSpPr>
            <p:cNvPr id="4" name="TextBox 3"/>
            <p:cNvSpPr txBox="1"/>
            <p:nvPr/>
          </p:nvSpPr>
          <p:spPr>
            <a:xfrm>
              <a:off x="4251110" y="3039031"/>
              <a:ext cx="615553" cy="1528624"/>
            </a:xfrm>
            <a:prstGeom prst="rect">
              <a:avLst/>
            </a:prstGeom>
            <a:noFill/>
          </p:spPr>
          <p:txBody>
            <a:bodyPr vert="eaVert" wrap="none" rtlCol="0">
              <a:spAutoFit/>
            </a:bodyPr>
            <a:lstStyle/>
            <a:p>
              <a:r>
                <a:rPr lang="zh-CN" altLang="en-US" sz="2800" dirty="0">
                  <a:latin typeface="宋体" pitchFamily="2" charset="-122"/>
                  <a:ea typeface="宋体" pitchFamily="2" charset="-122"/>
                </a:rPr>
                <a:t>文件管理</a:t>
              </a:r>
            </a:p>
          </p:txBody>
        </p:sp>
        <p:sp>
          <p:nvSpPr>
            <p:cNvPr id="5" name="左大括号 4"/>
            <p:cNvSpPr/>
            <p:nvPr/>
          </p:nvSpPr>
          <p:spPr>
            <a:xfrm>
              <a:off x="5144586" y="1748118"/>
              <a:ext cx="376518" cy="411480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5"/>
            <p:cNvSpPr txBox="1"/>
            <p:nvPr/>
          </p:nvSpPr>
          <p:spPr>
            <a:xfrm>
              <a:off x="5790046" y="1586753"/>
              <a:ext cx="2339102" cy="523220"/>
            </a:xfrm>
            <a:prstGeom prst="rect">
              <a:avLst/>
            </a:prstGeom>
            <a:noFill/>
          </p:spPr>
          <p:txBody>
            <a:bodyPr wrap="none" rtlCol="0">
              <a:spAutoFit/>
            </a:bodyPr>
            <a:lstStyle/>
            <a:p>
              <a:r>
                <a:rPr lang="zh-CN" altLang="en-US" sz="2800" dirty="0">
                  <a:latin typeface="宋体" pitchFamily="2" charset="-122"/>
                  <a:ea typeface="宋体" pitchFamily="2" charset="-122"/>
                </a:rPr>
                <a:t>保存和另存为</a:t>
              </a:r>
            </a:p>
          </p:txBody>
        </p:sp>
        <p:sp>
          <p:nvSpPr>
            <p:cNvPr id="7" name="TextBox 6"/>
            <p:cNvSpPr txBox="1"/>
            <p:nvPr/>
          </p:nvSpPr>
          <p:spPr>
            <a:xfrm>
              <a:off x="5790046" y="2850232"/>
              <a:ext cx="902811" cy="523220"/>
            </a:xfrm>
            <a:prstGeom prst="rect">
              <a:avLst/>
            </a:prstGeom>
            <a:noFill/>
          </p:spPr>
          <p:txBody>
            <a:bodyPr wrap="none" rtlCol="0">
              <a:spAutoFit/>
            </a:bodyPr>
            <a:lstStyle/>
            <a:p>
              <a:r>
                <a:rPr lang="zh-CN" altLang="en-US" sz="2800" dirty="0">
                  <a:latin typeface="宋体" pitchFamily="2" charset="-122"/>
                  <a:ea typeface="宋体" pitchFamily="2" charset="-122"/>
                </a:rPr>
                <a:t>打印</a:t>
              </a:r>
            </a:p>
          </p:txBody>
        </p:sp>
        <p:sp>
          <p:nvSpPr>
            <p:cNvPr id="8" name="TextBox 7"/>
            <p:cNvSpPr txBox="1"/>
            <p:nvPr/>
          </p:nvSpPr>
          <p:spPr>
            <a:xfrm>
              <a:off x="5790046" y="5377190"/>
              <a:ext cx="1620957" cy="523220"/>
            </a:xfrm>
            <a:prstGeom prst="rect">
              <a:avLst/>
            </a:prstGeom>
            <a:noFill/>
          </p:spPr>
          <p:txBody>
            <a:bodyPr wrap="none" rtlCol="0">
              <a:spAutoFit/>
            </a:bodyPr>
            <a:lstStyle/>
            <a:p>
              <a:r>
                <a:rPr lang="zh-CN" altLang="en-US" sz="2800" dirty="0">
                  <a:latin typeface="宋体" pitchFamily="2" charset="-122"/>
                  <a:ea typeface="宋体" pitchFamily="2" charset="-122"/>
                </a:rPr>
                <a:t>管理会话</a:t>
              </a:r>
            </a:p>
          </p:txBody>
        </p:sp>
        <p:sp>
          <p:nvSpPr>
            <p:cNvPr id="9" name="TextBox 8"/>
            <p:cNvSpPr txBox="1"/>
            <p:nvPr/>
          </p:nvSpPr>
          <p:spPr>
            <a:xfrm>
              <a:off x="5790046" y="4113711"/>
              <a:ext cx="1620957" cy="523220"/>
            </a:xfrm>
            <a:prstGeom prst="rect">
              <a:avLst/>
            </a:prstGeom>
            <a:noFill/>
          </p:spPr>
          <p:txBody>
            <a:bodyPr wrap="none" rtlCol="0">
              <a:spAutoFit/>
            </a:bodyPr>
            <a:lstStyle/>
            <a:p>
              <a:r>
                <a:rPr lang="zh-CN" altLang="en-US" sz="2800" dirty="0">
                  <a:latin typeface="宋体" pitchFamily="2" charset="-122"/>
                  <a:ea typeface="宋体" pitchFamily="2" charset="-122"/>
                </a:rPr>
                <a:t>管理文件</a:t>
              </a:r>
            </a:p>
          </p:txBody>
        </p:sp>
      </p:grpSp>
    </p:spTree>
    <p:extLst>
      <p:ext uri="{BB962C8B-B14F-4D97-AF65-F5344CB8AC3E}">
        <p14:creationId xmlns:p14="http://schemas.microsoft.com/office/powerpoint/2010/main" val="3658466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60561" y="497541"/>
            <a:ext cx="7795933"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1.4Creo Parametric 8.0</a:t>
            </a:r>
            <a:r>
              <a:rPr lang="zh-CN" altLang="en-US" sz="3200" dirty="0">
                <a:solidFill>
                  <a:schemeClr val="bg1"/>
                </a:solidFill>
                <a:latin typeface="Times New Roman" pitchFamily="18" charset="0"/>
                <a:ea typeface="黑体" pitchFamily="49" charset="-122"/>
              </a:rPr>
              <a:t>基本操作和视图编辑</a:t>
            </a:r>
            <a:endParaRPr lang="en-US" altLang="zh-CN" sz="3200" dirty="0">
              <a:solidFill>
                <a:schemeClr val="bg1"/>
              </a:solidFill>
              <a:latin typeface="Times New Roman" pitchFamily="18" charset="0"/>
              <a:ea typeface="黑体" pitchFamily="49" charset="-122"/>
            </a:endParaRPr>
          </a:p>
        </p:txBody>
      </p:sp>
      <p:sp>
        <p:nvSpPr>
          <p:cNvPr id="11" name="TextBox 10"/>
          <p:cNvSpPr txBox="1"/>
          <p:nvPr/>
        </p:nvSpPr>
        <p:spPr>
          <a:xfrm>
            <a:off x="460560" y="1446915"/>
            <a:ext cx="5254439" cy="523220"/>
          </a:xfrm>
          <a:prstGeom prst="rect">
            <a:avLst/>
          </a:prstGeom>
          <a:noFill/>
        </p:spPr>
        <p:txBody>
          <a:bodyPr wrap="square" rtlCol="0">
            <a:spAutoFit/>
          </a:bodyPr>
          <a:lstStyle/>
          <a:p>
            <a:r>
              <a:rPr lang="en-US" altLang="zh-CN" sz="2800" b="1" dirty="0">
                <a:latin typeface="黑体" pitchFamily="49" charset="-122"/>
                <a:ea typeface="黑体" pitchFamily="49" charset="-122"/>
              </a:rPr>
              <a:t>1.4.1</a:t>
            </a:r>
            <a:r>
              <a:rPr lang="zh-CN" altLang="en-US" sz="2800" b="1" dirty="0">
                <a:latin typeface="黑体" pitchFamily="49" charset="-122"/>
                <a:ea typeface="黑体" pitchFamily="49" charset="-122"/>
              </a:rPr>
              <a:t>键盘和鼠标的相关操作</a:t>
            </a:r>
          </a:p>
        </p:txBody>
      </p:sp>
      <p:sp>
        <p:nvSpPr>
          <p:cNvPr id="3" name="TextBox 2"/>
          <p:cNvSpPr txBox="1"/>
          <p:nvPr/>
        </p:nvSpPr>
        <p:spPr>
          <a:xfrm>
            <a:off x="393324" y="2022012"/>
            <a:ext cx="10521305" cy="1137106"/>
          </a:xfrm>
          <a:prstGeom prst="rect">
            <a:avLst/>
          </a:prstGeom>
          <a:noFill/>
        </p:spPr>
        <p:txBody>
          <a:bodyPr wrap="square" rtlCol="0">
            <a:spAutoFit/>
          </a:bodyPr>
          <a:lstStyle/>
          <a:p>
            <a:pPr indent="457200">
              <a:lnSpc>
                <a:spcPct val="150000"/>
              </a:lnSpc>
            </a:pPr>
            <a:r>
              <a:rPr lang="zh-CN" altLang="zh-CN" sz="2400" dirty="0">
                <a:latin typeface="宋体" pitchFamily="2" charset="-122"/>
                <a:ea typeface="宋体" pitchFamily="2" charset="-122"/>
              </a:rPr>
              <a:t>鼠标左键用于选择命令和对象，中键用于确认或者缩放、旋转及移动视图，而右键则用于弹出相应的快捷菜单。</a:t>
            </a:r>
            <a:endParaRPr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3442150987"/>
              </p:ext>
            </p:extLst>
          </p:nvPr>
        </p:nvGraphicFramePr>
        <p:xfrm>
          <a:off x="2781300" y="3717279"/>
          <a:ext cx="6629400" cy="2159085"/>
        </p:xfrm>
        <a:graphic>
          <a:graphicData uri="http://schemas.openxmlformats.org/drawingml/2006/table">
            <a:tbl>
              <a:tblPr firstRow="1" firstCol="1" bandRow="1">
                <a:tableStyleId>{3B4B98B0-60AC-42C2-AFA5-B58CD77FA1E5}</a:tableStyleId>
              </a:tblPr>
              <a:tblGrid>
                <a:gridCol w="947248">
                  <a:extLst>
                    <a:ext uri="{9D8B030D-6E8A-4147-A177-3AD203B41FA5}">
                      <a16:colId xmlns:a16="http://schemas.microsoft.com/office/drawing/2014/main" val="20000"/>
                    </a:ext>
                  </a:extLst>
                </a:gridCol>
                <a:gridCol w="5682152">
                  <a:extLst>
                    <a:ext uri="{9D8B030D-6E8A-4147-A177-3AD203B41FA5}">
                      <a16:colId xmlns:a16="http://schemas.microsoft.com/office/drawing/2014/main" val="20001"/>
                    </a:ext>
                  </a:extLst>
                </a:gridCol>
              </a:tblGrid>
              <a:tr h="719695">
                <a:tc>
                  <a:txBody>
                    <a:bodyPr/>
                    <a:lstStyle/>
                    <a:p>
                      <a:pPr algn="ctr">
                        <a:spcAft>
                          <a:spcPts val="0"/>
                        </a:spcAft>
                      </a:pPr>
                      <a:r>
                        <a:rPr lang="zh-CN" sz="2000" b="0" kern="100" dirty="0">
                          <a:effectLst/>
                        </a:rPr>
                        <a:t>旋转</a:t>
                      </a:r>
                      <a:endParaRPr lang="zh-CN" sz="2000" b="0" kern="100" dirty="0">
                        <a:effectLst/>
                        <a:latin typeface="等线"/>
                        <a:ea typeface="等线"/>
                        <a:cs typeface="Times New Roman"/>
                      </a:endParaRPr>
                    </a:p>
                  </a:txBody>
                  <a:tcPr marL="68580" marR="68580" marT="0" marB="0" anchor="ctr"/>
                </a:tc>
                <a:tc>
                  <a:txBody>
                    <a:bodyPr/>
                    <a:lstStyle/>
                    <a:p>
                      <a:pPr algn="ctr">
                        <a:spcAft>
                          <a:spcPts val="0"/>
                        </a:spcAft>
                      </a:pPr>
                      <a:r>
                        <a:rPr lang="zh-CN" sz="2000" b="0" kern="100" dirty="0">
                          <a:effectLst/>
                        </a:rPr>
                        <a:t>按住鼠标中键</a:t>
                      </a:r>
                      <a:r>
                        <a:rPr lang="en-US" sz="2000" b="0" kern="100" dirty="0">
                          <a:effectLst/>
                        </a:rPr>
                        <a:t> + </a:t>
                      </a:r>
                      <a:r>
                        <a:rPr lang="zh-CN" sz="2000" b="0" kern="100" dirty="0">
                          <a:effectLst/>
                        </a:rPr>
                        <a:t>移动鼠标</a:t>
                      </a:r>
                      <a:endParaRPr lang="zh-CN" sz="2000" b="0" kern="100" dirty="0">
                        <a:effectLst/>
                        <a:latin typeface="等线"/>
                        <a:ea typeface="等线"/>
                        <a:cs typeface="Times New Roman"/>
                      </a:endParaRPr>
                    </a:p>
                  </a:txBody>
                  <a:tcPr marL="68580" marR="68580" marT="0" marB="0" anchor="ctr"/>
                </a:tc>
                <a:extLst>
                  <a:ext uri="{0D108BD9-81ED-4DB2-BD59-A6C34878D82A}">
                    <a16:rowId xmlns:a16="http://schemas.microsoft.com/office/drawing/2014/main" val="10000"/>
                  </a:ext>
                </a:extLst>
              </a:tr>
              <a:tr h="719695">
                <a:tc>
                  <a:txBody>
                    <a:bodyPr/>
                    <a:lstStyle/>
                    <a:p>
                      <a:pPr algn="ctr">
                        <a:spcAft>
                          <a:spcPts val="0"/>
                        </a:spcAft>
                      </a:pPr>
                      <a:r>
                        <a:rPr lang="zh-CN" sz="2000" b="0" kern="100" dirty="0">
                          <a:effectLst/>
                        </a:rPr>
                        <a:t>平移</a:t>
                      </a:r>
                      <a:endParaRPr lang="zh-CN" sz="2000" b="0" kern="100" dirty="0">
                        <a:effectLst/>
                        <a:latin typeface="等线"/>
                        <a:ea typeface="等线"/>
                        <a:cs typeface="Times New Roman"/>
                      </a:endParaRPr>
                    </a:p>
                  </a:txBody>
                  <a:tcPr marL="68580" marR="68580" marT="0" marB="0" anchor="ctr"/>
                </a:tc>
                <a:tc>
                  <a:txBody>
                    <a:bodyPr/>
                    <a:lstStyle/>
                    <a:p>
                      <a:pPr algn="ctr">
                        <a:spcAft>
                          <a:spcPts val="0"/>
                        </a:spcAft>
                      </a:pPr>
                      <a:r>
                        <a:rPr lang="zh-CN" sz="2000" kern="100" dirty="0">
                          <a:effectLst/>
                        </a:rPr>
                        <a:t>按住鼠标中键</a:t>
                      </a:r>
                      <a:r>
                        <a:rPr lang="en-US" sz="2000" kern="100" dirty="0">
                          <a:effectLst/>
                        </a:rPr>
                        <a:t> + SHIFT </a:t>
                      </a:r>
                      <a:r>
                        <a:rPr lang="zh-CN" sz="2000" kern="100" dirty="0">
                          <a:effectLst/>
                        </a:rPr>
                        <a:t>键</a:t>
                      </a:r>
                      <a:r>
                        <a:rPr lang="en-US" sz="2000" kern="100" dirty="0">
                          <a:effectLst/>
                        </a:rPr>
                        <a:t> + </a:t>
                      </a:r>
                      <a:r>
                        <a:rPr lang="zh-CN" sz="2000" kern="100" dirty="0">
                          <a:effectLst/>
                        </a:rPr>
                        <a:t>移动鼠标</a:t>
                      </a:r>
                      <a:endParaRPr lang="zh-CN" sz="2000" kern="100" dirty="0">
                        <a:effectLst/>
                        <a:latin typeface="等线"/>
                        <a:ea typeface="等线"/>
                        <a:cs typeface="Times New Roman"/>
                      </a:endParaRPr>
                    </a:p>
                  </a:txBody>
                  <a:tcPr marL="68580" marR="68580" marT="0" marB="0" anchor="ctr"/>
                </a:tc>
                <a:extLst>
                  <a:ext uri="{0D108BD9-81ED-4DB2-BD59-A6C34878D82A}">
                    <a16:rowId xmlns:a16="http://schemas.microsoft.com/office/drawing/2014/main" val="10001"/>
                  </a:ext>
                </a:extLst>
              </a:tr>
              <a:tr h="719695">
                <a:tc>
                  <a:txBody>
                    <a:bodyPr/>
                    <a:lstStyle/>
                    <a:p>
                      <a:pPr algn="ctr">
                        <a:spcAft>
                          <a:spcPts val="0"/>
                        </a:spcAft>
                      </a:pPr>
                      <a:r>
                        <a:rPr lang="zh-CN" sz="2000" b="0" kern="100" dirty="0">
                          <a:effectLst/>
                        </a:rPr>
                        <a:t>缩放</a:t>
                      </a:r>
                      <a:endParaRPr lang="zh-CN" sz="2000" b="0" kern="100" dirty="0">
                        <a:effectLst/>
                        <a:latin typeface="等线"/>
                        <a:ea typeface="等线"/>
                        <a:cs typeface="Times New Roman"/>
                      </a:endParaRPr>
                    </a:p>
                  </a:txBody>
                  <a:tcPr marL="68580" marR="68580" marT="0" marB="0" anchor="ctr"/>
                </a:tc>
                <a:tc>
                  <a:txBody>
                    <a:bodyPr/>
                    <a:lstStyle/>
                    <a:p>
                      <a:pPr algn="ctr">
                        <a:spcAft>
                          <a:spcPts val="0"/>
                        </a:spcAft>
                      </a:pPr>
                      <a:r>
                        <a:rPr lang="zh-CN" sz="2000" kern="100" dirty="0">
                          <a:effectLst/>
                        </a:rPr>
                        <a:t>滚动鼠标中键</a:t>
                      </a:r>
                      <a:endParaRPr lang="zh-CN" sz="2000" kern="100" dirty="0">
                        <a:effectLst/>
                        <a:latin typeface="等线"/>
                        <a:ea typeface="等线"/>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
        <p:nvSpPr>
          <p:cNvPr id="13" name="TextBox 12"/>
          <p:cNvSpPr txBox="1"/>
          <p:nvPr/>
        </p:nvSpPr>
        <p:spPr>
          <a:xfrm>
            <a:off x="4697220" y="3281083"/>
            <a:ext cx="2797561" cy="369332"/>
          </a:xfrm>
          <a:prstGeom prst="rect">
            <a:avLst/>
          </a:prstGeom>
          <a:noFill/>
        </p:spPr>
        <p:txBody>
          <a:bodyPr wrap="none" rtlCol="0">
            <a:spAutoFit/>
          </a:bodyPr>
          <a:lstStyle/>
          <a:p>
            <a:r>
              <a:rPr lang="zh-CN" altLang="en-US" dirty="0"/>
              <a:t>表</a:t>
            </a:r>
            <a:r>
              <a:rPr lang="en-US" altLang="zh-CN" dirty="0"/>
              <a:t>1-1</a:t>
            </a:r>
            <a:r>
              <a:rPr lang="zh-CN" altLang="en-US" dirty="0"/>
              <a:t>键盘和鼠标相关操作</a:t>
            </a:r>
          </a:p>
        </p:txBody>
      </p:sp>
    </p:spTree>
    <p:extLst>
      <p:ext uri="{BB962C8B-B14F-4D97-AF65-F5344CB8AC3E}">
        <p14:creationId xmlns:p14="http://schemas.microsoft.com/office/powerpoint/2010/main" val="35320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60560" y="545966"/>
            <a:ext cx="5254439" cy="523220"/>
          </a:xfrm>
          <a:prstGeom prst="rect">
            <a:avLst/>
          </a:prstGeom>
          <a:noFill/>
        </p:spPr>
        <p:txBody>
          <a:bodyPr wrap="square" rtlCol="0">
            <a:spAutoFit/>
          </a:bodyPr>
          <a:lstStyle/>
          <a:p>
            <a:r>
              <a:rPr lang="en-US" altLang="zh-CN" sz="2800" b="1" dirty="0">
                <a:latin typeface="黑体" pitchFamily="49" charset="-122"/>
                <a:ea typeface="黑体" pitchFamily="49" charset="-122"/>
              </a:rPr>
              <a:t>1.4.2</a:t>
            </a:r>
            <a:r>
              <a:rPr lang="zh-CN" altLang="en-US" sz="2800" b="1" dirty="0">
                <a:latin typeface="黑体" pitchFamily="49" charset="-122"/>
                <a:ea typeface="黑体" pitchFamily="49" charset="-122"/>
              </a:rPr>
              <a:t>视图编辑</a:t>
            </a:r>
          </a:p>
        </p:txBody>
      </p:sp>
      <p:sp>
        <p:nvSpPr>
          <p:cNvPr id="3" name="TextBox 2"/>
          <p:cNvSpPr txBox="1"/>
          <p:nvPr/>
        </p:nvSpPr>
        <p:spPr>
          <a:xfrm>
            <a:off x="393324" y="1201745"/>
            <a:ext cx="10521305" cy="1137106"/>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编辑视图的操作可分为对视图视角的编辑、对模型显示方式的编辑、对视图颜色的编辑和对窗口的控制等几种。</a:t>
            </a:r>
            <a:endParaRPr lang="zh-CN" altLang="en-US" dirty="0"/>
          </a:p>
        </p:txBody>
      </p:sp>
      <p:sp>
        <p:nvSpPr>
          <p:cNvPr id="13" name="TextBox 12"/>
          <p:cNvSpPr txBox="1"/>
          <p:nvPr/>
        </p:nvSpPr>
        <p:spPr>
          <a:xfrm>
            <a:off x="4697220" y="4007221"/>
            <a:ext cx="2388795" cy="369332"/>
          </a:xfrm>
          <a:prstGeom prst="rect">
            <a:avLst/>
          </a:prstGeom>
          <a:noFill/>
        </p:spPr>
        <p:txBody>
          <a:bodyPr wrap="none" rtlCol="0">
            <a:spAutoFit/>
          </a:bodyPr>
          <a:lstStyle/>
          <a:p>
            <a:r>
              <a:rPr lang="zh-CN" altLang="en-US" dirty="0"/>
              <a:t>图</a:t>
            </a:r>
            <a:r>
              <a:rPr lang="en-US" altLang="zh-CN" dirty="0"/>
              <a:t>1-9 【</a:t>
            </a:r>
            <a:r>
              <a:rPr lang="zh-CN" altLang="en-US" dirty="0"/>
              <a:t>视图</a:t>
            </a:r>
            <a:r>
              <a:rPr lang="en-US" altLang="zh-CN" dirty="0"/>
              <a:t>】</a:t>
            </a:r>
            <a:r>
              <a:rPr lang="zh-CN" altLang="en-US" dirty="0"/>
              <a:t>选项卡</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461" y="2584432"/>
            <a:ext cx="9575078" cy="126000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2579" y="4700307"/>
            <a:ext cx="4646842" cy="540000"/>
          </a:xfrm>
          <a:prstGeom prst="rect">
            <a:avLst/>
          </a:prstGeom>
        </p:spPr>
      </p:pic>
      <p:sp>
        <p:nvSpPr>
          <p:cNvPr id="9" name="TextBox 8"/>
          <p:cNvSpPr txBox="1"/>
          <p:nvPr/>
        </p:nvSpPr>
        <p:spPr>
          <a:xfrm>
            <a:off x="5073926" y="5477433"/>
            <a:ext cx="2044149" cy="369332"/>
          </a:xfrm>
          <a:prstGeom prst="rect">
            <a:avLst/>
          </a:prstGeom>
          <a:noFill/>
        </p:spPr>
        <p:txBody>
          <a:bodyPr wrap="none" rtlCol="0">
            <a:spAutoFit/>
          </a:bodyPr>
          <a:lstStyle/>
          <a:p>
            <a:r>
              <a:rPr lang="zh-CN" altLang="en-US" dirty="0"/>
              <a:t>图</a:t>
            </a:r>
            <a:r>
              <a:rPr lang="en-US" altLang="zh-CN" dirty="0"/>
              <a:t>1-10 </a:t>
            </a:r>
            <a:r>
              <a:rPr lang="zh-CN" altLang="en-US" dirty="0"/>
              <a:t>图形工具栏</a:t>
            </a:r>
          </a:p>
        </p:txBody>
      </p:sp>
    </p:spTree>
    <p:extLst>
      <p:ext uri="{BB962C8B-B14F-4D97-AF65-F5344CB8AC3E}">
        <p14:creationId xmlns:p14="http://schemas.microsoft.com/office/powerpoint/2010/main" val="1660968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60560" y="545966"/>
            <a:ext cx="5254439" cy="523220"/>
          </a:xfrm>
          <a:prstGeom prst="rect">
            <a:avLst/>
          </a:prstGeom>
          <a:noFill/>
        </p:spPr>
        <p:txBody>
          <a:bodyPr wrap="square" rtlCol="0">
            <a:spAutoFit/>
          </a:bodyPr>
          <a:lstStyle/>
          <a:p>
            <a:r>
              <a:rPr lang="zh-CN" altLang="en-US" sz="2800" b="1" dirty="0">
                <a:latin typeface="黑体" pitchFamily="49" charset="-122"/>
                <a:ea typeface="黑体" pitchFamily="49" charset="-122"/>
              </a:rPr>
              <a:t>视图定向</a:t>
            </a:r>
          </a:p>
        </p:txBody>
      </p:sp>
      <p:sp>
        <p:nvSpPr>
          <p:cNvPr id="12" name="TextBox 11"/>
          <p:cNvSpPr txBox="1"/>
          <p:nvPr/>
        </p:nvSpPr>
        <p:spPr>
          <a:xfrm>
            <a:off x="460557" y="1117283"/>
            <a:ext cx="10521305" cy="1200329"/>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单击打开其下拉列表如图</a:t>
            </a:r>
            <a:r>
              <a:rPr lang="en-US" altLang="zh-CN" sz="2400" dirty="0">
                <a:latin typeface="宋体" pitchFamily="2" charset="-122"/>
                <a:ea typeface="宋体" pitchFamily="2" charset="-122"/>
              </a:rPr>
              <a:t>1-11</a:t>
            </a:r>
            <a:r>
              <a:rPr lang="zh-CN" altLang="en-US" sz="2400" dirty="0">
                <a:latin typeface="宋体" pitchFamily="2" charset="-122"/>
                <a:ea typeface="宋体" pitchFamily="2" charset="-122"/>
              </a:rPr>
              <a:t>所示，把视图自动调整为前后视图、左右视图、上下视图，并确定默认和标准方向。</a:t>
            </a:r>
            <a:endParaRPr lang="zh-CN" altLang="en-US" dirty="0"/>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782" y="2429716"/>
            <a:ext cx="2756436" cy="3600000"/>
          </a:xfrm>
          <a:prstGeom prst="rect">
            <a:avLst/>
          </a:prstGeom>
        </p:spPr>
      </p:pic>
      <p:sp>
        <p:nvSpPr>
          <p:cNvPr id="15" name="TextBox 14"/>
          <p:cNvSpPr txBox="1"/>
          <p:nvPr/>
        </p:nvSpPr>
        <p:spPr>
          <a:xfrm>
            <a:off x="4407878" y="6056610"/>
            <a:ext cx="3376245" cy="369332"/>
          </a:xfrm>
          <a:prstGeom prst="rect">
            <a:avLst/>
          </a:prstGeom>
          <a:noFill/>
        </p:spPr>
        <p:txBody>
          <a:bodyPr wrap="none" rtlCol="0">
            <a:spAutoFit/>
          </a:bodyPr>
          <a:lstStyle/>
          <a:p>
            <a:r>
              <a:rPr lang="zh-CN" altLang="en-US" dirty="0"/>
              <a:t>图</a:t>
            </a:r>
            <a:r>
              <a:rPr lang="en-US" altLang="zh-CN" dirty="0"/>
              <a:t>1-11【</a:t>
            </a:r>
            <a:r>
              <a:rPr lang="zh-CN" altLang="en-US" dirty="0"/>
              <a:t>已保存方向</a:t>
            </a:r>
            <a:r>
              <a:rPr lang="en-US" altLang="zh-CN" dirty="0"/>
              <a:t>】</a:t>
            </a:r>
            <a:r>
              <a:rPr lang="zh-CN" altLang="en-US" dirty="0"/>
              <a:t>下拉列表</a:t>
            </a:r>
          </a:p>
        </p:txBody>
      </p:sp>
    </p:spTree>
    <p:extLst>
      <p:ext uri="{BB962C8B-B14F-4D97-AF65-F5344CB8AC3E}">
        <p14:creationId xmlns:p14="http://schemas.microsoft.com/office/powerpoint/2010/main" val="4160029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60560" y="545966"/>
            <a:ext cx="5254439" cy="523220"/>
          </a:xfrm>
          <a:prstGeom prst="rect">
            <a:avLst/>
          </a:prstGeom>
          <a:noFill/>
        </p:spPr>
        <p:txBody>
          <a:bodyPr wrap="square" rtlCol="0">
            <a:spAutoFit/>
          </a:bodyPr>
          <a:lstStyle/>
          <a:p>
            <a:r>
              <a:rPr lang="zh-CN" altLang="en-US" sz="2800" b="1" dirty="0">
                <a:latin typeface="黑体" pitchFamily="49" charset="-122"/>
                <a:ea typeface="黑体" pitchFamily="49" charset="-122"/>
              </a:rPr>
              <a:t>视图定向</a:t>
            </a:r>
          </a:p>
        </p:txBody>
      </p:sp>
      <p:sp>
        <p:nvSpPr>
          <p:cNvPr id="12" name="TextBox 11"/>
          <p:cNvSpPr txBox="1"/>
          <p:nvPr/>
        </p:nvSpPr>
        <p:spPr>
          <a:xfrm>
            <a:off x="460557" y="1063495"/>
            <a:ext cx="10521305" cy="1137106"/>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单击“重定向”按钮   ，弹出视图对话框，如图</a:t>
            </a:r>
            <a:r>
              <a:rPr lang="en-US" altLang="zh-CN" sz="2400" dirty="0">
                <a:latin typeface="宋体" pitchFamily="2" charset="-122"/>
                <a:ea typeface="宋体" pitchFamily="2" charset="-122"/>
              </a:rPr>
              <a:t>1-12</a:t>
            </a:r>
            <a:r>
              <a:rPr lang="zh-CN" altLang="en-US" sz="2400" dirty="0">
                <a:latin typeface="宋体" pitchFamily="2" charset="-122"/>
                <a:ea typeface="宋体" pitchFamily="2" charset="-122"/>
              </a:rPr>
              <a:t>所示，调整视图方向。</a:t>
            </a:r>
            <a:endParaRPr lang="zh-CN" altLang="en-US" dirty="0"/>
          </a:p>
        </p:txBody>
      </p:sp>
      <p:sp>
        <p:nvSpPr>
          <p:cNvPr id="15" name="TextBox 14"/>
          <p:cNvSpPr txBox="1"/>
          <p:nvPr/>
        </p:nvSpPr>
        <p:spPr>
          <a:xfrm>
            <a:off x="4407878" y="6096951"/>
            <a:ext cx="2505814" cy="369332"/>
          </a:xfrm>
          <a:prstGeom prst="rect">
            <a:avLst/>
          </a:prstGeom>
          <a:noFill/>
        </p:spPr>
        <p:txBody>
          <a:bodyPr wrap="none" rtlCol="0">
            <a:spAutoFit/>
          </a:bodyPr>
          <a:lstStyle/>
          <a:p>
            <a:r>
              <a:rPr lang="zh-CN" altLang="zh-CN" dirty="0"/>
              <a:t>图</a:t>
            </a:r>
            <a:r>
              <a:rPr lang="en-US" altLang="zh-CN" dirty="0"/>
              <a:t>1-12 </a:t>
            </a:r>
            <a:r>
              <a:rPr lang="zh-CN" altLang="zh-CN" dirty="0"/>
              <a:t>【视图】对话框</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773" y="1315336"/>
            <a:ext cx="360000" cy="36000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0106" y="1734576"/>
            <a:ext cx="3351788" cy="4320000"/>
          </a:xfrm>
          <a:prstGeom prst="rect">
            <a:avLst/>
          </a:prstGeom>
        </p:spPr>
      </p:pic>
    </p:spTree>
    <p:extLst>
      <p:ext uri="{BB962C8B-B14F-4D97-AF65-F5344CB8AC3E}">
        <p14:creationId xmlns:p14="http://schemas.microsoft.com/office/powerpoint/2010/main" val="2232591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60560" y="545966"/>
            <a:ext cx="5254439" cy="523220"/>
          </a:xfrm>
          <a:prstGeom prst="rect">
            <a:avLst/>
          </a:prstGeom>
          <a:noFill/>
        </p:spPr>
        <p:txBody>
          <a:bodyPr wrap="square" rtlCol="0">
            <a:spAutoFit/>
          </a:bodyPr>
          <a:lstStyle/>
          <a:p>
            <a:r>
              <a:rPr lang="zh-CN" altLang="en-US" sz="2800" b="1" dirty="0">
                <a:latin typeface="黑体" pitchFamily="49" charset="-122"/>
                <a:ea typeface="黑体" pitchFamily="49" charset="-122"/>
              </a:rPr>
              <a:t>模型显示样式</a:t>
            </a:r>
          </a:p>
        </p:txBody>
      </p:sp>
      <p:sp>
        <p:nvSpPr>
          <p:cNvPr id="12" name="TextBox 11"/>
          <p:cNvSpPr txBox="1"/>
          <p:nvPr/>
        </p:nvSpPr>
        <p:spPr>
          <a:xfrm>
            <a:off x="460557" y="1063495"/>
            <a:ext cx="10521305" cy="1137106"/>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模型显示样式主要包括着色、隐藏线、无隐藏线、线框和实时渲染五种类型。</a:t>
            </a:r>
            <a:endParaRPr lang="zh-CN" altLang="en-US" dirty="0"/>
          </a:p>
        </p:txBody>
      </p:sp>
      <p:sp>
        <p:nvSpPr>
          <p:cNvPr id="15" name="TextBox 14"/>
          <p:cNvSpPr txBox="1"/>
          <p:nvPr/>
        </p:nvSpPr>
        <p:spPr>
          <a:xfrm>
            <a:off x="705861" y="5350237"/>
            <a:ext cx="3145413" cy="369332"/>
          </a:xfrm>
          <a:prstGeom prst="rect">
            <a:avLst/>
          </a:prstGeom>
          <a:noFill/>
        </p:spPr>
        <p:txBody>
          <a:bodyPr wrap="none" rtlCol="0">
            <a:spAutoFit/>
          </a:bodyPr>
          <a:lstStyle/>
          <a:p>
            <a:r>
              <a:rPr lang="zh-CN" altLang="zh-CN" dirty="0"/>
              <a:t>图</a:t>
            </a:r>
            <a:r>
              <a:rPr lang="en-US" altLang="zh-CN" dirty="0"/>
              <a:t>1-15</a:t>
            </a:r>
            <a:r>
              <a:rPr lang="zh-CN" altLang="zh-CN" dirty="0"/>
              <a:t>【显示样式】下拉列表</a:t>
            </a:r>
            <a:endParaRPr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138" y="2763013"/>
            <a:ext cx="2349607" cy="216000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606" y="2763013"/>
            <a:ext cx="2482047" cy="2160000"/>
          </a:xfrm>
          <a:prstGeom prst="rect">
            <a:avLst/>
          </a:prstGeom>
        </p:spPr>
      </p:pic>
      <p:sp>
        <p:nvSpPr>
          <p:cNvPr id="11" name="TextBox 10"/>
          <p:cNvSpPr txBox="1"/>
          <p:nvPr/>
        </p:nvSpPr>
        <p:spPr>
          <a:xfrm>
            <a:off x="4711305" y="5350237"/>
            <a:ext cx="2736647" cy="369332"/>
          </a:xfrm>
          <a:prstGeom prst="rect">
            <a:avLst/>
          </a:prstGeom>
          <a:noFill/>
        </p:spPr>
        <p:txBody>
          <a:bodyPr wrap="none" rtlCol="0">
            <a:spAutoFit/>
          </a:bodyPr>
          <a:lstStyle/>
          <a:p>
            <a:r>
              <a:rPr lang="zh-CN" altLang="en-US" dirty="0"/>
              <a:t>图</a:t>
            </a:r>
            <a:r>
              <a:rPr lang="en-US" altLang="zh-CN" dirty="0"/>
              <a:t>1-16 </a:t>
            </a:r>
            <a:r>
              <a:rPr lang="zh-CN" altLang="en-US" dirty="0"/>
              <a:t>实体着色显示样式</a:t>
            </a:r>
          </a:p>
        </p:txBody>
      </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7432" y="2763013"/>
            <a:ext cx="2521885" cy="2160000"/>
          </a:xfrm>
          <a:prstGeom prst="rect">
            <a:avLst/>
          </a:prstGeom>
        </p:spPr>
      </p:pic>
      <p:sp>
        <p:nvSpPr>
          <p:cNvPr id="14" name="TextBox 13"/>
          <p:cNvSpPr txBox="1"/>
          <p:nvPr/>
        </p:nvSpPr>
        <p:spPr>
          <a:xfrm>
            <a:off x="8655775" y="5350237"/>
            <a:ext cx="2683748" cy="369332"/>
          </a:xfrm>
          <a:prstGeom prst="rect">
            <a:avLst/>
          </a:prstGeom>
          <a:noFill/>
        </p:spPr>
        <p:txBody>
          <a:bodyPr wrap="none" rtlCol="0">
            <a:spAutoFit/>
          </a:bodyPr>
          <a:lstStyle/>
          <a:p>
            <a:r>
              <a:rPr lang="zh-CN" altLang="zh-CN" dirty="0"/>
              <a:t>图</a:t>
            </a:r>
            <a:r>
              <a:rPr lang="en-US" altLang="zh-CN" dirty="0"/>
              <a:t>1-17</a:t>
            </a:r>
            <a:r>
              <a:rPr lang="zh-CN" altLang="zh-CN" dirty="0"/>
              <a:t>实体消隐显示样式</a:t>
            </a:r>
            <a:endParaRPr lang="zh-CN" altLang="en-US" dirty="0"/>
          </a:p>
        </p:txBody>
      </p:sp>
    </p:spTree>
    <p:extLst>
      <p:ext uri="{BB962C8B-B14F-4D97-AF65-F5344CB8AC3E}">
        <p14:creationId xmlns:p14="http://schemas.microsoft.com/office/powerpoint/2010/main" val="1986770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1" y="497541"/>
            <a:ext cx="3344957"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1.5</a:t>
            </a:r>
            <a:r>
              <a:rPr lang="zh-CN" altLang="en-US" sz="3200" dirty="0">
                <a:solidFill>
                  <a:schemeClr val="bg1"/>
                </a:solidFill>
                <a:latin typeface="Times New Roman" pitchFamily="18" charset="0"/>
                <a:ea typeface="黑体" pitchFamily="49" charset="-122"/>
              </a:rPr>
              <a:t>模型树的管理</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60557" y="1359329"/>
            <a:ext cx="10521305" cy="1691104"/>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模型树是导航区的一部分，用于记录和保存一个模型的创建（装配）过程。模型树由模型的名称、类型、系统基准和创建模型时所用的特征组成。如图</a:t>
            </a:r>
            <a:r>
              <a:rPr lang="en-US" altLang="zh-CN" sz="2400" dirty="0">
                <a:latin typeface="宋体" pitchFamily="2" charset="-122"/>
                <a:ea typeface="宋体" pitchFamily="2" charset="-122"/>
              </a:rPr>
              <a:t>1-19</a:t>
            </a:r>
            <a:r>
              <a:rPr lang="zh-CN" altLang="en-US" sz="2400" dirty="0">
                <a:latin typeface="宋体" pitchFamily="2" charset="-122"/>
                <a:ea typeface="宋体" pitchFamily="2" charset="-122"/>
              </a:rPr>
              <a:t>所示。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151" y="2801173"/>
            <a:ext cx="2478992" cy="3240000"/>
          </a:xfrm>
          <a:prstGeom prst="rect">
            <a:avLst/>
          </a:prstGeom>
        </p:spPr>
      </p:pic>
      <p:pic>
        <p:nvPicPr>
          <p:cNvPr id="5" name="图片 4"/>
          <p:cNvPicPr/>
          <p:nvPr/>
        </p:nvPicPr>
        <p:blipFill>
          <a:blip r:embed="rId3">
            <a:extLst>
              <a:ext uri="{28A0092B-C50C-407E-A947-70E740481C1C}">
                <a14:useLocalDpi xmlns:a14="http://schemas.microsoft.com/office/drawing/2010/main" val="0"/>
              </a:ext>
            </a:extLst>
          </a:blip>
          <a:stretch>
            <a:fillRect/>
          </a:stretch>
        </p:blipFill>
        <p:spPr>
          <a:xfrm>
            <a:off x="7076999" y="2801173"/>
            <a:ext cx="1830070" cy="3239770"/>
          </a:xfrm>
          <a:prstGeom prst="rect">
            <a:avLst/>
          </a:prstGeom>
        </p:spPr>
      </p:pic>
      <p:sp>
        <p:nvSpPr>
          <p:cNvPr id="6" name="TextBox 5"/>
          <p:cNvSpPr txBox="1"/>
          <p:nvPr/>
        </p:nvSpPr>
        <p:spPr>
          <a:xfrm>
            <a:off x="3185207" y="6143614"/>
            <a:ext cx="1529586" cy="369332"/>
          </a:xfrm>
          <a:prstGeom prst="rect">
            <a:avLst/>
          </a:prstGeom>
          <a:noFill/>
        </p:spPr>
        <p:txBody>
          <a:bodyPr wrap="none" rtlCol="0">
            <a:spAutoFit/>
          </a:bodyPr>
          <a:lstStyle/>
          <a:p>
            <a:r>
              <a:rPr lang="zh-CN" altLang="zh-CN" dirty="0"/>
              <a:t>图</a:t>
            </a:r>
            <a:r>
              <a:rPr lang="en-US" altLang="zh-CN" dirty="0"/>
              <a:t>1-19</a:t>
            </a:r>
            <a:r>
              <a:rPr lang="zh-CN" altLang="zh-CN" dirty="0"/>
              <a:t>模型树</a:t>
            </a:r>
            <a:endParaRPr lang="zh-CN" altLang="en-US" dirty="0"/>
          </a:p>
        </p:txBody>
      </p:sp>
      <p:sp>
        <p:nvSpPr>
          <p:cNvPr id="7" name="TextBox 6"/>
          <p:cNvSpPr txBox="1"/>
          <p:nvPr/>
        </p:nvSpPr>
        <p:spPr>
          <a:xfrm>
            <a:off x="6646695" y="6143614"/>
            <a:ext cx="2736647" cy="369332"/>
          </a:xfrm>
          <a:prstGeom prst="rect">
            <a:avLst/>
          </a:prstGeom>
          <a:noFill/>
        </p:spPr>
        <p:txBody>
          <a:bodyPr wrap="none" rtlCol="0">
            <a:spAutoFit/>
          </a:bodyPr>
          <a:lstStyle/>
          <a:p>
            <a:r>
              <a:rPr lang="zh-CN" altLang="zh-CN" dirty="0"/>
              <a:t>图</a:t>
            </a:r>
            <a:r>
              <a:rPr lang="en-US" altLang="zh-CN" dirty="0"/>
              <a:t>1-20 </a:t>
            </a:r>
            <a:r>
              <a:rPr lang="zh-CN" altLang="zh-CN" dirty="0"/>
              <a:t>模型树创建局部组</a:t>
            </a:r>
            <a:endParaRPr lang="zh-CN" altLang="en-US" dirty="0"/>
          </a:p>
        </p:txBody>
      </p:sp>
    </p:spTree>
    <p:extLst>
      <p:ext uri="{BB962C8B-B14F-4D97-AF65-F5344CB8AC3E}">
        <p14:creationId xmlns:p14="http://schemas.microsoft.com/office/powerpoint/2010/main" val="2897739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0557" y="579403"/>
            <a:ext cx="10521305" cy="1691104"/>
          </a:xfrm>
          <a:prstGeom prst="rect">
            <a:avLst/>
          </a:prstGeom>
          <a:noFill/>
        </p:spPr>
        <p:txBody>
          <a:bodyPr wrap="square" rtlCol="0">
            <a:spAutoFit/>
          </a:bodyPr>
          <a:lstStyle/>
          <a:p>
            <a:pPr indent="457200">
              <a:lnSpc>
                <a:spcPct val="150000"/>
              </a:lnSpc>
            </a:pPr>
            <a:r>
              <a:rPr lang="zh-CN" altLang="en-US" sz="2400" dirty="0">
                <a:latin typeface="宋体" pitchFamily="2" charset="-122"/>
                <a:ea typeface="宋体" pitchFamily="2" charset="-122"/>
              </a:rPr>
              <a:t>单击模型树的设置按钮   ，弹出图</a:t>
            </a:r>
            <a:r>
              <a:rPr lang="en-US" altLang="zh-CN" sz="2400" dirty="0">
                <a:latin typeface="宋体" pitchFamily="2" charset="-122"/>
                <a:ea typeface="宋体" pitchFamily="2" charset="-122"/>
              </a:rPr>
              <a:t>1-21</a:t>
            </a:r>
            <a:r>
              <a:rPr lang="zh-CN" altLang="en-US" sz="2400" dirty="0">
                <a:latin typeface="宋体" pitchFamily="2" charset="-122"/>
                <a:ea typeface="宋体" pitchFamily="2" charset="-122"/>
              </a:rPr>
              <a:t>所示的下拉列表。单击</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树过滤器</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选项，弹出图</a:t>
            </a:r>
            <a:r>
              <a:rPr lang="en-US" altLang="zh-CN" sz="2400" dirty="0">
                <a:latin typeface="宋体" pitchFamily="2" charset="-122"/>
                <a:ea typeface="宋体" pitchFamily="2" charset="-122"/>
              </a:rPr>
              <a:t>1-22</a:t>
            </a:r>
            <a:r>
              <a:rPr lang="zh-CN" altLang="en-US" sz="2400" dirty="0">
                <a:latin typeface="宋体" pitchFamily="2" charset="-122"/>
                <a:ea typeface="宋体" pitchFamily="2" charset="-122"/>
              </a:rPr>
              <a:t>所示的</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模型树项</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对话框，在此对话框中可以设置在用户操作界面中显示的选项。</a:t>
            </a:r>
            <a:endParaRPr lang="zh-CN" altLang="en-US" dirty="0"/>
          </a:p>
        </p:txBody>
      </p:sp>
      <p:sp>
        <p:nvSpPr>
          <p:cNvPr id="6" name="TextBox 5"/>
          <p:cNvSpPr txBox="1"/>
          <p:nvPr/>
        </p:nvSpPr>
        <p:spPr>
          <a:xfrm>
            <a:off x="1397701" y="6089826"/>
            <a:ext cx="2736647" cy="369332"/>
          </a:xfrm>
          <a:prstGeom prst="rect">
            <a:avLst/>
          </a:prstGeom>
          <a:noFill/>
        </p:spPr>
        <p:txBody>
          <a:bodyPr wrap="none" rtlCol="0">
            <a:spAutoFit/>
          </a:bodyPr>
          <a:lstStyle/>
          <a:p>
            <a:r>
              <a:rPr lang="zh-CN" altLang="zh-CN" dirty="0"/>
              <a:t>图</a:t>
            </a:r>
            <a:r>
              <a:rPr lang="en-US" altLang="zh-CN" dirty="0"/>
              <a:t>1-21 </a:t>
            </a:r>
            <a:r>
              <a:rPr lang="zh-CN" altLang="zh-CN" dirty="0"/>
              <a:t>【设置】下拉菜单</a:t>
            </a:r>
            <a:endParaRPr lang="zh-CN" altLang="en-US" dirty="0"/>
          </a:p>
        </p:txBody>
      </p:sp>
      <p:sp>
        <p:nvSpPr>
          <p:cNvPr id="7" name="TextBox 6"/>
          <p:cNvSpPr txBox="1"/>
          <p:nvPr/>
        </p:nvSpPr>
        <p:spPr>
          <a:xfrm>
            <a:off x="7184575" y="6089826"/>
            <a:ext cx="2967479" cy="369332"/>
          </a:xfrm>
          <a:prstGeom prst="rect">
            <a:avLst/>
          </a:prstGeom>
          <a:noFill/>
        </p:spPr>
        <p:txBody>
          <a:bodyPr wrap="none" rtlCol="0">
            <a:spAutoFit/>
          </a:bodyPr>
          <a:lstStyle/>
          <a:p>
            <a:r>
              <a:rPr lang="zh-CN" altLang="zh-CN" dirty="0"/>
              <a:t>图</a:t>
            </a:r>
            <a:r>
              <a:rPr lang="en-US" altLang="zh-CN" dirty="0"/>
              <a:t>1-22 </a:t>
            </a:r>
            <a:r>
              <a:rPr lang="zh-CN" altLang="zh-CN" dirty="0"/>
              <a:t>【模型树项】对话框</a:t>
            </a:r>
            <a:endParaRPr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0000" y="738467"/>
            <a:ext cx="510000" cy="36000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7950" y="2477622"/>
            <a:ext cx="2160000" cy="3240000"/>
          </a:xfrm>
          <a:prstGeom prst="rect">
            <a:avLst/>
          </a:prstGeom>
        </p:spPr>
      </p:pic>
      <p:pic>
        <p:nvPicPr>
          <p:cNvPr id="10" name="图片 9"/>
          <p:cNvPicPr/>
          <p:nvPr/>
        </p:nvPicPr>
        <p:blipFill>
          <a:blip r:embed="rId4">
            <a:extLst>
              <a:ext uri="{28A0092B-C50C-407E-A947-70E740481C1C}">
                <a14:useLocalDpi xmlns:a14="http://schemas.microsoft.com/office/drawing/2010/main" val="0"/>
              </a:ext>
            </a:extLst>
          </a:blip>
          <a:stretch>
            <a:fillRect/>
          </a:stretch>
        </p:blipFill>
        <p:spPr>
          <a:xfrm>
            <a:off x="6130898" y="1891987"/>
            <a:ext cx="5274310" cy="4115435"/>
          </a:xfrm>
          <a:prstGeom prst="rect">
            <a:avLst/>
          </a:prstGeom>
        </p:spPr>
      </p:pic>
    </p:spTree>
    <p:extLst>
      <p:ext uri="{BB962C8B-B14F-4D97-AF65-F5344CB8AC3E}">
        <p14:creationId xmlns:p14="http://schemas.microsoft.com/office/powerpoint/2010/main" val="37523723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962</Words>
  <Application>Microsoft Office PowerPoint</Application>
  <PresentationFormat>宽屏</PresentationFormat>
  <Paragraphs>78</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等线</vt:lpstr>
      <vt:lpstr>黑体</vt:lpstr>
      <vt:lpstr>宋体</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26</cp:revision>
  <dcterms:created xsi:type="dcterms:W3CDTF">2022-06-25T09:10:00Z</dcterms:created>
  <dcterms:modified xsi:type="dcterms:W3CDTF">2023-03-29T08:59:01Z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