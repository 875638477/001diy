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47"/>
  </p:handoutMasterIdLst>
  <p:sldIdLst>
    <p:sldId id="256" r:id="rId2"/>
    <p:sldId id="257"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036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8" d="100"/>
          <a:sy n="68" d="100"/>
        </p:scale>
        <p:origin x="780" y="7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91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7D4EB5-7A91-4453-9159-82F472709EE6}" type="datetimeFigureOut">
              <a:rPr lang="zh-CN" altLang="en-US" smtClean="0"/>
              <a:t>2023/3/29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6447EE-71ED-4CDF-A1E2-57E93385EA12}" type="slidenum">
              <a:rPr lang="zh-CN" altLang="en-US" smtClean="0"/>
              <a:t>‹#›</a:t>
            </a:fld>
            <a:endParaRPr lang="zh-CN" altLang="en-US"/>
          </a:p>
        </p:txBody>
      </p:sp>
    </p:spTree>
    <p:extLst>
      <p:ext uri="{BB962C8B-B14F-4D97-AF65-F5344CB8AC3E}">
        <p14:creationId xmlns:p14="http://schemas.microsoft.com/office/powerpoint/2010/main" val="21702934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2" name="直接连接符 21"/>
          <p:cNvCxnSpPr/>
          <p:nvPr userDrawn="1"/>
        </p:nvCxnSpPr>
        <p:spPr>
          <a:xfrm>
            <a:off x="518756"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7488043"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pic>
        <p:nvPicPr>
          <p:cNvPr id="100" name="图片 99"/>
          <p:cNvPicPr>
            <a:picLocks/>
          </p:cNvPicPr>
          <p:nvPr userDrawn="1"/>
        </p:nvPicPr>
        <p:blipFill>
          <a:blip r:embed="rId3"/>
          <a:srcRect t="30838" b="33250"/>
          <a:stretch>
            <a:fillRect/>
          </a:stretch>
        </p:blipFill>
        <p:spPr>
          <a:xfrm>
            <a:off x="5155096" y="6473823"/>
            <a:ext cx="1881809" cy="360000"/>
          </a:xfrm>
          <a:prstGeom prst="rect">
            <a:avLst/>
          </a:prstGeom>
          <a:noFill/>
          <a:ln w="9525">
            <a:noFill/>
          </a:ln>
        </p:spPr>
      </p:pic>
      <p:sp>
        <p:nvSpPr>
          <p:cNvPr id="3" name="文本框 2"/>
          <p:cNvSpPr txBox="1"/>
          <p:nvPr userDrawn="1"/>
        </p:nvSpPr>
        <p:spPr>
          <a:xfrm>
            <a:off x="4652093" y="143510"/>
            <a:ext cx="2887815" cy="369332"/>
          </a:xfrm>
          <a:prstGeom prst="rect">
            <a:avLst/>
          </a:prstGeom>
          <a:noFill/>
        </p:spPr>
        <p:txBody>
          <a:bodyPr wrap="square" rtlCol="0">
            <a:spAutoFit/>
          </a:bodyPr>
          <a:lstStyle/>
          <a:p>
            <a:r>
              <a:rPr lang="en-US" altLang="zh-CN" sz="1800" b="1" dirty="0">
                <a:solidFill>
                  <a:schemeClr val="tx1"/>
                </a:solidFill>
                <a:latin typeface="黑体" panose="02010609060101010101" charset="-122"/>
                <a:ea typeface="黑体" panose="02010609060101010101" charset="-122"/>
                <a:cs typeface="黑体" panose="02010609060101010101" charset="-122"/>
              </a:rPr>
              <a:t>Creo8.0</a:t>
            </a:r>
            <a:r>
              <a:rPr lang="zh-CN" altLang="en-US" sz="1800" b="1" dirty="0">
                <a:solidFill>
                  <a:schemeClr val="tx1"/>
                </a:solidFill>
                <a:latin typeface="黑体" panose="02010609060101010101" charset="-122"/>
                <a:ea typeface="黑体" panose="02010609060101010101" charset="-122"/>
                <a:cs typeface="黑体" panose="02010609060101010101" charset="-122"/>
              </a:rPr>
              <a:t>机械设计实例教程</a:t>
            </a:r>
          </a:p>
        </p:txBody>
      </p:sp>
      <p:pic>
        <p:nvPicPr>
          <p:cNvPr id="4" name="图片 3">
            <a:extLst>
              <a:ext uri="{FF2B5EF4-FFF2-40B4-BE49-F238E27FC236}">
                <a16:creationId xmlns:a16="http://schemas.microsoft.com/office/drawing/2014/main" id="{D65B1E38-8C9A-3606-3C7D-9612C90EF35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148565" y="6234337"/>
            <a:ext cx="3001870" cy="57442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41812" y="632012"/>
            <a:ext cx="6508377" cy="646331"/>
          </a:xfrm>
          <a:prstGeom prst="rect">
            <a:avLst/>
          </a:prstGeom>
          <a:noFill/>
        </p:spPr>
        <p:txBody>
          <a:bodyPr wrap="square" rtlCol="0">
            <a:spAutoFit/>
          </a:bodyPr>
          <a:lstStyle/>
          <a:p>
            <a:pPr algn="ctr"/>
            <a:r>
              <a:rPr lang="zh-CN" altLang="en-US" sz="3600" dirty="0">
                <a:latin typeface="Times New Roman" pitchFamily="18" charset="0"/>
                <a:ea typeface="黑体" pitchFamily="49" charset="-122"/>
              </a:rPr>
              <a:t>第</a:t>
            </a:r>
            <a:r>
              <a:rPr lang="en-US" altLang="zh-CN" sz="3600" dirty="0">
                <a:latin typeface="Times New Roman" pitchFamily="18" charset="0"/>
                <a:ea typeface="黑体" pitchFamily="49" charset="-122"/>
              </a:rPr>
              <a:t>4</a:t>
            </a:r>
            <a:r>
              <a:rPr lang="zh-CN" altLang="en-US" sz="3600" dirty="0">
                <a:latin typeface="Times New Roman" pitchFamily="18" charset="0"/>
                <a:ea typeface="黑体" pitchFamily="49" charset="-122"/>
              </a:rPr>
              <a:t>章基准特征</a:t>
            </a:r>
          </a:p>
        </p:txBody>
      </p:sp>
      <p:sp>
        <p:nvSpPr>
          <p:cNvPr id="3" name="TextBox 2"/>
          <p:cNvSpPr txBox="1"/>
          <p:nvPr/>
        </p:nvSpPr>
        <p:spPr>
          <a:xfrm>
            <a:off x="2283759" y="1223684"/>
            <a:ext cx="7624482" cy="5169492"/>
          </a:xfrm>
          <a:prstGeom prst="rect">
            <a:avLst/>
          </a:prstGeom>
          <a:noFill/>
        </p:spPr>
        <p:txBody>
          <a:bodyPr wrap="square" rtlCol="0">
            <a:spAutoFit/>
          </a:bodyPr>
          <a:lstStyle/>
          <a:p>
            <a:pPr>
              <a:lnSpc>
                <a:spcPct val="150000"/>
              </a:lnSpc>
            </a:pPr>
            <a:r>
              <a:rPr lang="en-US" altLang="zh-CN" sz="3200" dirty="0">
                <a:latin typeface="Times New Roman" pitchFamily="18" charset="0"/>
                <a:ea typeface="黑体" pitchFamily="49" charset="-122"/>
              </a:rPr>
              <a:t>4.1</a:t>
            </a:r>
            <a:r>
              <a:rPr lang="zh-CN" altLang="en-US" sz="3200" dirty="0">
                <a:latin typeface="Times New Roman" pitchFamily="18" charset="0"/>
                <a:ea typeface="黑体" pitchFamily="49" charset="-122"/>
              </a:rPr>
              <a:t>基准特征概述</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4.2</a:t>
            </a:r>
            <a:r>
              <a:rPr lang="zh-CN" altLang="en-US" sz="3200" dirty="0">
                <a:latin typeface="Times New Roman" pitchFamily="18" charset="0"/>
                <a:ea typeface="黑体" pitchFamily="49" charset="-122"/>
              </a:rPr>
              <a:t>基准平面</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4.3</a:t>
            </a:r>
            <a:r>
              <a:rPr lang="zh-CN" altLang="en-US" sz="3200" dirty="0">
                <a:latin typeface="Times New Roman" pitchFamily="18" charset="0"/>
                <a:ea typeface="黑体" pitchFamily="49" charset="-122"/>
              </a:rPr>
              <a:t>基准轴</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4.4</a:t>
            </a:r>
            <a:r>
              <a:rPr lang="zh-CN" altLang="en-US" sz="3200" dirty="0">
                <a:latin typeface="Times New Roman" pitchFamily="18" charset="0"/>
                <a:ea typeface="黑体" pitchFamily="49" charset="-122"/>
              </a:rPr>
              <a:t>基准点</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4.5</a:t>
            </a:r>
            <a:r>
              <a:rPr lang="zh-CN" altLang="en-US" sz="3200" dirty="0">
                <a:latin typeface="Times New Roman" pitchFamily="18" charset="0"/>
                <a:ea typeface="黑体" pitchFamily="49" charset="-122"/>
              </a:rPr>
              <a:t>基准曲线</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4.6</a:t>
            </a:r>
            <a:r>
              <a:rPr lang="zh-CN" altLang="en-US" sz="3200" dirty="0">
                <a:latin typeface="Times New Roman" pitchFamily="18" charset="0"/>
                <a:ea typeface="黑体" pitchFamily="49" charset="-122"/>
              </a:rPr>
              <a:t>基准坐标系</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4.7</a:t>
            </a:r>
            <a:r>
              <a:rPr lang="zh-CN" altLang="en-US" sz="3200" dirty="0">
                <a:latin typeface="Times New Roman" pitchFamily="18" charset="0"/>
                <a:ea typeface="黑体" pitchFamily="49" charset="-122"/>
              </a:rPr>
              <a:t>综合实例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4.1</a:t>
            </a:r>
            <a:r>
              <a:rPr lang="zh-CN" altLang="en-US" sz="3200" dirty="0">
                <a:solidFill>
                  <a:schemeClr val="bg1"/>
                </a:solidFill>
                <a:latin typeface="Times New Roman" pitchFamily="18" charset="0"/>
                <a:ea typeface="黑体" pitchFamily="49" charset="-122"/>
              </a:rPr>
              <a:t>基准特征概述</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465730"/>
            <a:ext cx="7617652" cy="4534831"/>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基准特征在设计中具有很重要的意义，可以用作其他特征的建模参考和定位参考等。基准特征主要包括基准平面、基准轴、基准点、基准曲线、坐标系和基准参考等。在零件建模模式下，用于创建基准特征的工具命令位于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组中，如图</a:t>
            </a:r>
            <a:r>
              <a:rPr lang="en-US" altLang="zh-CN" sz="2800" dirty="0">
                <a:latin typeface="Times New Roman" pitchFamily="18" charset="0"/>
                <a:ea typeface="宋体" pitchFamily="2" charset="-122"/>
              </a:rPr>
              <a:t>4-1</a:t>
            </a:r>
            <a:r>
              <a:rPr lang="zh-CN" altLang="en-US" sz="2800" dirty="0">
                <a:latin typeface="Times New Roman" pitchFamily="18" charset="0"/>
                <a:ea typeface="宋体" pitchFamily="2" charset="-122"/>
              </a:rPr>
              <a:t>所示。</a:t>
            </a:r>
          </a:p>
        </p:txBody>
      </p:sp>
      <p:pic>
        <p:nvPicPr>
          <p:cNvPr id="4" name="图片 3">
            <a:extLst>
              <a:ext uri="{FF2B5EF4-FFF2-40B4-BE49-F238E27FC236}">
                <a16:creationId xmlns:a16="http://schemas.microsoft.com/office/drawing/2014/main" id="{C695A958-07B2-0586-D53B-DE4AFCA035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7901" y="1711209"/>
            <a:ext cx="2259731" cy="3690786"/>
          </a:xfrm>
          <a:prstGeom prst="rect">
            <a:avLst/>
          </a:prstGeom>
        </p:spPr>
      </p:pic>
      <p:sp>
        <p:nvSpPr>
          <p:cNvPr id="5" name="TextBox 1">
            <a:extLst>
              <a:ext uri="{FF2B5EF4-FFF2-40B4-BE49-F238E27FC236}">
                <a16:creationId xmlns:a16="http://schemas.microsoft.com/office/drawing/2014/main" id="{82C827CF-A4ED-6137-61CD-83A9F63A8ABE}"/>
              </a:ext>
            </a:extLst>
          </p:cNvPr>
          <p:cNvSpPr txBox="1"/>
          <p:nvPr/>
        </p:nvSpPr>
        <p:spPr>
          <a:xfrm>
            <a:off x="8129606" y="5474902"/>
            <a:ext cx="341632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 </a:t>
            </a:r>
            <a:r>
              <a:rPr lang="zh-CN" altLang="en-US" dirty="0">
                <a:latin typeface="黑体" panose="02010609060101010101" pitchFamily="49" charset="-122"/>
                <a:ea typeface="黑体" panose="02010609060101010101" pitchFamily="49" charset="-122"/>
              </a:rPr>
              <a:t>创建基准特征的工具命令</a:t>
            </a:r>
          </a:p>
        </p:txBody>
      </p:sp>
    </p:spTree>
    <p:extLst>
      <p:ext uri="{BB962C8B-B14F-4D97-AF65-F5344CB8AC3E}">
        <p14:creationId xmlns:p14="http://schemas.microsoft.com/office/powerpoint/2010/main" val="329827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1465730"/>
            <a:ext cx="7617652" cy="324217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用户可以根据设计需求而设置基准平面是否在图形窗口中显示，可以用“图形工具栏”中的“基准显示过滤器”按钮     ，此时用户可以通过单击相应的复选框来设置轴、点、坐标系和平面的显示状况，如图</a:t>
            </a:r>
            <a:r>
              <a:rPr lang="en-US" altLang="zh-CN" sz="2800" dirty="0">
                <a:latin typeface="Times New Roman" pitchFamily="18" charset="0"/>
                <a:ea typeface="宋体" pitchFamily="2" charset="-122"/>
              </a:rPr>
              <a:t>4-2</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2C827CF-A4ED-6137-61CD-83A9F63A8ABE}"/>
              </a:ext>
            </a:extLst>
          </p:cNvPr>
          <p:cNvSpPr txBox="1"/>
          <p:nvPr/>
        </p:nvSpPr>
        <p:spPr>
          <a:xfrm>
            <a:off x="8129606" y="5474902"/>
            <a:ext cx="341632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 </a:t>
            </a:r>
            <a:r>
              <a:rPr lang="zh-CN" altLang="en-US" dirty="0">
                <a:latin typeface="黑体" panose="02010609060101010101" pitchFamily="49" charset="-122"/>
                <a:ea typeface="黑体" panose="02010609060101010101" pitchFamily="49" charset="-122"/>
              </a:rPr>
              <a:t>创建基准特征的工具命令</a:t>
            </a:r>
          </a:p>
        </p:txBody>
      </p:sp>
      <p:pic>
        <p:nvPicPr>
          <p:cNvPr id="6" name="图片 5">
            <a:extLst>
              <a:ext uri="{FF2B5EF4-FFF2-40B4-BE49-F238E27FC236}">
                <a16:creationId xmlns:a16="http://schemas.microsoft.com/office/drawing/2014/main" id="{09491D5E-2218-B4F6-387E-699F445B2747}"/>
              </a:ext>
            </a:extLst>
          </p:cNvPr>
          <p:cNvPicPr>
            <a:picLocks noChangeAspect="1"/>
          </p:cNvPicPr>
          <p:nvPr/>
        </p:nvPicPr>
        <p:blipFill>
          <a:blip r:embed="rId2"/>
          <a:stretch>
            <a:fillRect/>
          </a:stretch>
        </p:blipFill>
        <p:spPr>
          <a:xfrm>
            <a:off x="4825681" y="2952515"/>
            <a:ext cx="428625" cy="411480"/>
          </a:xfrm>
          <a:prstGeom prst="rect">
            <a:avLst/>
          </a:prstGeom>
        </p:spPr>
      </p:pic>
      <p:pic>
        <p:nvPicPr>
          <p:cNvPr id="7" name="图片 6">
            <a:extLst>
              <a:ext uri="{FF2B5EF4-FFF2-40B4-BE49-F238E27FC236}">
                <a16:creationId xmlns:a16="http://schemas.microsoft.com/office/drawing/2014/main" id="{D16DCF4C-49A0-4604-ADCF-D24A66A071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7379" y="1637186"/>
            <a:ext cx="2784519" cy="3242170"/>
          </a:xfrm>
          <a:prstGeom prst="rect">
            <a:avLst/>
          </a:prstGeom>
        </p:spPr>
      </p:pic>
    </p:spTree>
    <p:extLst>
      <p:ext uri="{BB962C8B-B14F-4D97-AF65-F5344CB8AC3E}">
        <p14:creationId xmlns:p14="http://schemas.microsoft.com/office/powerpoint/2010/main" val="514484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4.2</a:t>
            </a:r>
            <a:r>
              <a:rPr lang="zh-CN" altLang="en-US" sz="3200" dirty="0">
                <a:solidFill>
                  <a:schemeClr val="bg1"/>
                </a:solidFill>
                <a:latin typeface="Times New Roman" pitchFamily="18" charset="0"/>
                <a:ea typeface="黑体" pitchFamily="49" charset="-122"/>
              </a:rPr>
              <a:t>基准平面</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2" y="1465730"/>
            <a:ext cx="10489093" cy="388850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基准平面在设计中是比较重要的。例如，可以在基准平面上草绘或放置特征，可以将基准平面用作尺寸标注的位置参照（参考），可以将基准平面作为装配时零部件相互配合的参照面等。</a:t>
            </a:r>
          </a:p>
          <a:p>
            <a:pPr indent="457200">
              <a:lnSpc>
                <a:spcPct val="150000"/>
              </a:lnSpc>
            </a:pPr>
            <a:r>
              <a:rPr lang="zh-CN" altLang="en-US" sz="2800" dirty="0">
                <a:latin typeface="Times New Roman" pitchFamily="18" charset="0"/>
                <a:ea typeface="宋体" pitchFamily="2" charset="-122"/>
              </a:rPr>
              <a:t>用户可以根据设计需要来创建新基准平面，新建的基准平面将获得系统按照依次顺序自动分配的基准名称：</a:t>
            </a:r>
            <a:r>
              <a:rPr lang="en-US" altLang="zh-CN" sz="2800" dirty="0">
                <a:latin typeface="Times New Roman" pitchFamily="18" charset="0"/>
                <a:ea typeface="宋体" pitchFamily="2" charset="-122"/>
              </a:rPr>
              <a:t>DTM1</a:t>
            </a: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DTM2</a:t>
            </a: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DTM3……</a:t>
            </a:r>
            <a:r>
              <a:rPr lang="zh-CN" altLang="en-US" sz="2800" dirty="0">
                <a:latin typeface="Times New Roman" pitchFamily="18" charset="0"/>
                <a:ea typeface="宋体" pitchFamily="2" charset="-122"/>
              </a:rPr>
              <a:t>当然用户也可以自定义基准平面的名称。</a:t>
            </a:r>
          </a:p>
        </p:txBody>
      </p:sp>
    </p:spTree>
    <p:extLst>
      <p:ext uri="{BB962C8B-B14F-4D97-AF65-F5344CB8AC3E}">
        <p14:creationId xmlns:p14="http://schemas.microsoft.com/office/powerpoint/2010/main" val="424515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808" y="1053730"/>
            <a:ext cx="11476383" cy="324217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在零件模式下，从功能区的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组中单击“平面”按钮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基准平面</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基准平面</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对话框具有</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个选项卡，下面介绍这</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个选项卡的功能含义。</a:t>
            </a:r>
            <a:endParaRPr lang="en-US" altLang="zh-CN" sz="2800" dirty="0">
              <a:latin typeface="Times New Roman" pitchFamily="18" charset="0"/>
              <a:ea typeface="宋体" pitchFamily="2" charset="-122"/>
            </a:endParaRPr>
          </a:p>
          <a:p>
            <a:pPr indent="457200">
              <a:lnSpc>
                <a:spcPct val="150000"/>
              </a:lnSpc>
            </a:pP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选项卡的主要用途是收集参照和设置放置约束等来定义基准平面的放置位置。</a:t>
            </a:r>
            <a:endParaRPr lang="en-US" altLang="zh-CN" sz="2800" dirty="0">
              <a:latin typeface="Times New Roman" pitchFamily="18" charset="0"/>
              <a:ea typeface="宋体" pitchFamily="2" charset="-122"/>
            </a:endParaRPr>
          </a:p>
        </p:txBody>
      </p:sp>
      <p:sp>
        <p:nvSpPr>
          <p:cNvPr id="5" name="TextBox 1">
            <a:extLst>
              <a:ext uri="{FF2B5EF4-FFF2-40B4-BE49-F238E27FC236}">
                <a16:creationId xmlns:a16="http://schemas.microsoft.com/office/drawing/2014/main" id="{82C827CF-A4ED-6137-61CD-83A9F63A8ABE}"/>
              </a:ext>
            </a:extLst>
          </p:cNvPr>
          <p:cNvSpPr txBox="1"/>
          <p:nvPr/>
        </p:nvSpPr>
        <p:spPr>
          <a:xfrm>
            <a:off x="8074855" y="5859215"/>
            <a:ext cx="341632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 </a:t>
            </a:r>
            <a:r>
              <a:rPr lang="zh-CN" altLang="en-US" dirty="0">
                <a:latin typeface="黑体" panose="02010609060101010101" pitchFamily="49" charset="-122"/>
                <a:ea typeface="黑体" panose="02010609060101010101" pitchFamily="49" charset="-122"/>
              </a:rPr>
              <a:t>创建基准特征的工具命令</a:t>
            </a:r>
          </a:p>
        </p:txBody>
      </p:sp>
      <p:pic>
        <p:nvPicPr>
          <p:cNvPr id="2" name="图片 1">
            <a:extLst>
              <a:ext uri="{FF2B5EF4-FFF2-40B4-BE49-F238E27FC236}">
                <a16:creationId xmlns:a16="http://schemas.microsoft.com/office/drawing/2014/main" id="{9111744A-FAA1-1875-0A4D-2E119811E8B0}"/>
              </a:ext>
            </a:extLst>
          </p:cNvPr>
          <p:cNvPicPr>
            <a:picLocks noChangeAspect="1"/>
          </p:cNvPicPr>
          <p:nvPr/>
        </p:nvPicPr>
        <p:blipFill>
          <a:blip r:embed="rId2"/>
          <a:stretch>
            <a:fillRect/>
          </a:stretch>
        </p:blipFill>
        <p:spPr>
          <a:xfrm>
            <a:off x="1918020" y="1885607"/>
            <a:ext cx="485775" cy="385763"/>
          </a:xfrm>
          <a:prstGeom prst="rect">
            <a:avLst/>
          </a:prstGeom>
        </p:spPr>
      </p:pic>
    </p:spTree>
    <p:extLst>
      <p:ext uri="{BB962C8B-B14F-4D97-AF65-F5344CB8AC3E}">
        <p14:creationId xmlns:p14="http://schemas.microsoft.com/office/powerpoint/2010/main" val="1754466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75F8283-8E8E-BBA1-A30C-BA395FBF3F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0159" y="1114424"/>
            <a:ext cx="7531683" cy="4386263"/>
          </a:xfrm>
          <a:prstGeom prst="rect">
            <a:avLst/>
          </a:prstGeom>
        </p:spPr>
      </p:pic>
      <p:sp>
        <p:nvSpPr>
          <p:cNvPr id="3" name="TextBox 1">
            <a:extLst>
              <a:ext uri="{FF2B5EF4-FFF2-40B4-BE49-F238E27FC236}">
                <a16:creationId xmlns:a16="http://schemas.microsoft.com/office/drawing/2014/main" id="{27BD0DE9-7754-38BD-A062-77888CE792B8}"/>
              </a:ext>
            </a:extLst>
          </p:cNvPr>
          <p:cNvSpPr txBox="1"/>
          <p:nvPr/>
        </p:nvSpPr>
        <p:spPr>
          <a:xfrm>
            <a:off x="4849505" y="5646358"/>
            <a:ext cx="249299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4-3 【</a:t>
            </a:r>
            <a:r>
              <a:rPr lang="zh-CN" altLang="en-US" dirty="0">
                <a:latin typeface="黑体" panose="02010609060101010101" pitchFamily="49" charset="-122"/>
                <a:ea typeface="黑体" panose="02010609060101010101" pitchFamily="49" charset="-122"/>
              </a:rPr>
              <a:t>放置</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spTree>
    <p:extLst>
      <p:ext uri="{BB962C8B-B14F-4D97-AF65-F5344CB8AC3E}">
        <p14:creationId xmlns:p14="http://schemas.microsoft.com/office/powerpoint/2010/main" val="3207148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27BD0DE9-7754-38BD-A062-77888CE792B8}"/>
              </a:ext>
            </a:extLst>
          </p:cNvPr>
          <p:cNvSpPr txBox="1"/>
          <p:nvPr/>
        </p:nvSpPr>
        <p:spPr>
          <a:xfrm>
            <a:off x="4849505" y="5646358"/>
            <a:ext cx="249299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4-4 【</a:t>
            </a:r>
            <a:r>
              <a:rPr lang="zh-CN" altLang="en-US" dirty="0">
                <a:latin typeface="黑体" panose="02010609060101010101" pitchFamily="49" charset="-122"/>
                <a:ea typeface="黑体" panose="02010609060101010101" pitchFamily="49" charset="-122"/>
              </a:rPr>
              <a:t>显示</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sp>
        <p:nvSpPr>
          <p:cNvPr id="4" name="TextBox 2">
            <a:extLst>
              <a:ext uri="{FF2B5EF4-FFF2-40B4-BE49-F238E27FC236}">
                <a16:creationId xmlns:a16="http://schemas.microsoft.com/office/drawing/2014/main" id="{3B0E1801-B6A0-0B73-6648-C6470F6D9C77}"/>
              </a:ext>
            </a:extLst>
          </p:cNvPr>
          <p:cNvSpPr txBox="1"/>
          <p:nvPr/>
        </p:nvSpPr>
        <p:spPr>
          <a:xfrm>
            <a:off x="0" y="696542"/>
            <a:ext cx="11476383" cy="656846"/>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显示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选项卡主要用于调整基准平面的方向和显示大小。</a:t>
            </a:r>
            <a:endParaRPr lang="en-US" altLang="zh-CN" sz="2800" dirty="0">
              <a:latin typeface="Times New Roman" pitchFamily="18" charset="0"/>
              <a:ea typeface="宋体" pitchFamily="2" charset="-122"/>
            </a:endParaRPr>
          </a:p>
        </p:txBody>
      </p:sp>
      <p:pic>
        <p:nvPicPr>
          <p:cNvPr id="5" name="图片 4">
            <a:extLst>
              <a:ext uri="{FF2B5EF4-FFF2-40B4-BE49-F238E27FC236}">
                <a16:creationId xmlns:a16="http://schemas.microsoft.com/office/drawing/2014/main" id="{77D40691-934D-AE37-339B-B4BCC75730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84078" y="1526800"/>
            <a:ext cx="6623845" cy="3946145"/>
          </a:xfrm>
          <a:prstGeom prst="rect">
            <a:avLst/>
          </a:prstGeom>
        </p:spPr>
      </p:pic>
    </p:spTree>
    <p:extLst>
      <p:ext uri="{BB962C8B-B14F-4D97-AF65-F5344CB8AC3E}">
        <p14:creationId xmlns:p14="http://schemas.microsoft.com/office/powerpoint/2010/main" val="1571196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271466" y="782270"/>
            <a:ext cx="11476383"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属性</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选项卡可以利用“名称”文本框来重命名该基准特征，并可单击“显示此特征的信息”按钮     ，以在</a:t>
            </a:r>
            <a:r>
              <a:rPr lang="en-US" altLang="zh-CN" sz="2800" dirty="0">
                <a:latin typeface="Times New Roman" pitchFamily="18" charset="0"/>
                <a:ea typeface="宋体" pitchFamily="2" charset="-122"/>
              </a:rPr>
              <a:t>Creo Parametric 8.0</a:t>
            </a:r>
            <a:r>
              <a:rPr lang="zh-CN" altLang="en-US" sz="2800" dirty="0">
                <a:latin typeface="Times New Roman" pitchFamily="18" charset="0"/>
                <a:ea typeface="宋体" pitchFamily="2" charset="-122"/>
              </a:rPr>
              <a:t>浏览器中查看关于当前基准平面特征的详细信息。</a:t>
            </a:r>
            <a:endParaRPr lang="en-US" altLang="zh-CN" sz="2800" dirty="0">
              <a:latin typeface="Times New Roman" pitchFamily="18" charset="0"/>
              <a:ea typeface="宋体" pitchFamily="2" charset="-122"/>
            </a:endParaRPr>
          </a:p>
        </p:txBody>
      </p:sp>
      <p:pic>
        <p:nvPicPr>
          <p:cNvPr id="3" name="图片 2">
            <a:extLst>
              <a:ext uri="{FF2B5EF4-FFF2-40B4-BE49-F238E27FC236}">
                <a16:creationId xmlns:a16="http://schemas.microsoft.com/office/drawing/2014/main" id="{C49DAF8B-5FF0-027E-B116-07FA121A6862}"/>
              </a:ext>
            </a:extLst>
          </p:cNvPr>
          <p:cNvPicPr>
            <a:picLocks noChangeAspect="1"/>
          </p:cNvPicPr>
          <p:nvPr/>
        </p:nvPicPr>
        <p:blipFill>
          <a:blip r:embed="rId2"/>
          <a:stretch>
            <a:fillRect/>
          </a:stretch>
        </p:blipFill>
        <p:spPr>
          <a:xfrm>
            <a:off x="5449257" y="1637964"/>
            <a:ext cx="243840" cy="381000"/>
          </a:xfrm>
          <a:prstGeom prst="rect">
            <a:avLst/>
          </a:prstGeom>
        </p:spPr>
      </p:pic>
    </p:spTree>
    <p:extLst>
      <p:ext uri="{BB962C8B-B14F-4D97-AF65-F5344CB8AC3E}">
        <p14:creationId xmlns:p14="http://schemas.microsoft.com/office/powerpoint/2010/main" val="4171593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1246461"/>
            <a:ext cx="11476383" cy="5181162"/>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如同基准平面一样，基准轴也可以用作其他特征创建时的参考，例如以基准轴为参考，可以定义基准平面、同轴放置项目和创建径向阵列（轴阵列）等。在 </a:t>
            </a:r>
            <a:r>
              <a:rPr lang="en-US" altLang="zh-CN" sz="2800" dirty="0" err="1">
                <a:latin typeface="Times New Roman" pitchFamily="18" charset="0"/>
                <a:ea typeface="宋体" pitchFamily="2" charset="-122"/>
              </a:rPr>
              <a:t>CreoParametiric</a:t>
            </a:r>
            <a:r>
              <a:rPr lang="en-US" altLang="zh-CN" sz="2800" dirty="0">
                <a:latin typeface="Times New Roman" pitchFamily="18" charset="0"/>
                <a:ea typeface="宋体" pitchFamily="2" charset="-122"/>
              </a:rPr>
              <a:t> 8.0 </a:t>
            </a:r>
            <a:r>
              <a:rPr lang="zh-CN" altLang="en-US" sz="2800" dirty="0">
                <a:latin typeface="Times New Roman" pitchFamily="18" charset="0"/>
                <a:ea typeface="宋体" pitchFamily="2" charset="-122"/>
              </a:rPr>
              <a:t>中，基准轴是独立的特征，能够作为特征级的项目显示在模型树上。</a:t>
            </a:r>
          </a:p>
          <a:p>
            <a:pPr indent="457200">
              <a:lnSpc>
                <a:spcPct val="150000"/>
              </a:lnSpc>
            </a:pPr>
            <a:r>
              <a:rPr lang="zh-CN" altLang="en-US" sz="2800" dirty="0">
                <a:latin typeface="Times New Roman" pitchFamily="18" charset="0"/>
                <a:ea typeface="宋体" pitchFamily="2" charset="-122"/>
              </a:rPr>
              <a:t>特征轴与基准轴有所不同。特征轴是在创建一些特征（例如拉伸圆柱特征、旋转特征、孔特征等）时，系统自动给特征生成的中心轴。如果删除了这些特征，其特征轴也就随之被删除。因此，特征轴不是单独的特征。</a:t>
            </a:r>
          </a:p>
        </p:txBody>
      </p:sp>
      <p:sp>
        <p:nvSpPr>
          <p:cNvPr id="4" name="TextBox 1">
            <a:extLst>
              <a:ext uri="{FF2B5EF4-FFF2-40B4-BE49-F238E27FC236}">
                <a16:creationId xmlns:a16="http://schemas.microsoft.com/office/drawing/2014/main" id="{DE53A96E-9C66-3517-3F11-2818B402952A}"/>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4.3</a:t>
            </a:r>
            <a:r>
              <a:rPr lang="zh-CN" altLang="en-US" sz="3200" dirty="0">
                <a:solidFill>
                  <a:schemeClr val="bg1"/>
                </a:solidFill>
                <a:latin typeface="Times New Roman" pitchFamily="18" charset="0"/>
                <a:ea typeface="黑体" pitchFamily="49" charset="-122"/>
              </a:rPr>
              <a:t>基准轴</a:t>
            </a:r>
            <a:endParaRPr lang="en-US" altLang="zh-CN" sz="3200" dirty="0">
              <a:solidFill>
                <a:schemeClr val="bg1"/>
              </a:solidFill>
              <a:latin typeface="Times New Roman" pitchFamily="18" charset="0"/>
              <a:ea typeface="黑体" pitchFamily="49" charset="-122"/>
            </a:endParaRPr>
          </a:p>
        </p:txBody>
      </p:sp>
    </p:spTree>
    <p:extLst>
      <p:ext uri="{BB962C8B-B14F-4D97-AF65-F5344CB8AC3E}">
        <p14:creationId xmlns:p14="http://schemas.microsoft.com/office/powerpoint/2010/main" val="3797439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271466" y="439360"/>
            <a:ext cx="11476383" cy="5827493"/>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选项卡主要包括“参考”收集器和“偏移参考”收集器。使用“参考”收集器选取要在其上放置新基准轴的参照，然后选取所需的参照类型。要选择其他参照，则在选择时按住“</a:t>
            </a:r>
            <a:r>
              <a:rPr lang="en-US" altLang="zh-CN" sz="2800" dirty="0">
                <a:latin typeface="Times New Roman" pitchFamily="18" charset="0"/>
                <a:ea typeface="宋体" pitchFamily="2" charset="-122"/>
              </a:rPr>
              <a:t>Ctrl”</a:t>
            </a:r>
            <a:r>
              <a:rPr lang="zh-CN" altLang="en-US" sz="2800" dirty="0">
                <a:latin typeface="Times New Roman" pitchFamily="18" charset="0"/>
                <a:ea typeface="宋体" pitchFamily="2" charset="-122"/>
              </a:rPr>
              <a:t>键。常见的参照放置类型有如下几种。</a:t>
            </a:r>
          </a:p>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穿过：表示基准轴延伸穿过选定参照。</a:t>
            </a:r>
          </a:p>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法向（垂直）：放置垂直于选定参照的基准轴。 </a:t>
            </a:r>
          </a:p>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相切：放置与选定参照相切的基准轴。 </a:t>
            </a:r>
          </a:p>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中心：通过选定平面圆边或曲线的中心，且在垂直于选定曲线或边所在平面的方向上放置基准轴。</a:t>
            </a:r>
          </a:p>
        </p:txBody>
      </p:sp>
    </p:spTree>
    <p:extLst>
      <p:ext uri="{BB962C8B-B14F-4D97-AF65-F5344CB8AC3E}">
        <p14:creationId xmlns:p14="http://schemas.microsoft.com/office/powerpoint/2010/main" val="4151016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271466" y="596528"/>
            <a:ext cx="11476383" cy="388850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显示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选项卡中，选中“调整轮廓”复选框时，可以通过指定长度尺寸来调整基准轴显示轮廓的长度，或者选定参照使基准轴轮廓与参照相拟合。</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属性</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选项卡中可以重命名基准轴特征，还可以单击“显示此特征的信息”按钮    ，从而在</a:t>
            </a:r>
            <a:r>
              <a:rPr lang="en-US" altLang="zh-CN" sz="2800" dirty="0">
                <a:latin typeface="Times New Roman" pitchFamily="18" charset="0"/>
                <a:ea typeface="宋体" pitchFamily="2" charset="-122"/>
              </a:rPr>
              <a:t>Creo Parametric</a:t>
            </a:r>
            <a:r>
              <a:rPr lang="zh-CN" altLang="en-US" sz="2800" dirty="0">
                <a:latin typeface="Times New Roman" pitchFamily="18" charset="0"/>
                <a:ea typeface="宋体" pitchFamily="2" charset="-122"/>
              </a:rPr>
              <a:t>浏览器中查看当前基准轴特征的信息。</a:t>
            </a:r>
            <a:endParaRPr lang="en-US" altLang="zh-CN" sz="2800" dirty="0">
              <a:latin typeface="Times New Roman" pitchFamily="18" charset="0"/>
              <a:ea typeface="宋体" pitchFamily="2" charset="-122"/>
            </a:endParaRPr>
          </a:p>
        </p:txBody>
      </p:sp>
      <p:pic>
        <p:nvPicPr>
          <p:cNvPr id="3" name="图片 2">
            <a:extLst>
              <a:ext uri="{FF2B5EF4-FFF2-40B4-BE49-F238E27FC236}">
                <a16:creationId xmlns:a16="http://schemas.microsoft.com/office/drawing/2014/main" id="{8F2449CF-182C-6C70-4943-28DB2510FA22}"/>
              </a:ext>
            </a:extLst>
          </p:cNvPr>
          <p:cNvPicPr>
            <a:picLocks noChangeAspect="1"/>
          </p:cNvPicPr>
          <p:nvPr/>
        </p:nvPicPr>
        <p:blipFill>
          <a:blip r:embed="rId2"/>
          <a:stretch>
            <a:fillRect/>
          </a:stretch>
        </p:blipFill>
        <p:spPr>
          <a:xfrm>
            <a:off x="2934657" y="3381380"/>
            <a:ext cx="243840" cy="381000"/>
          </a:xfrm>
          <a:prstGeom prst="rect">
            <a:avLst/>
          </a:prstGeom>
        </p:spPr>
      </p:pic>
    </p:spTree>
    <p:extLst>
      <p:ext uri="{BB962C8B-B14F-4D97-AF65-F5344CB8AC3E}">
        <p14:creationId xmlns:p14="http://schemas.microsoft.com/office/powerpoint/2010/main" val="2656675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1246461"/>
            <a:ext cx="11476383" cy="2595839"/>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基准点在实际设计工作中时常用到，它同样可作为模型特征的参考基准，很多时候通过建立的基准点来创建空间曲线。用户可以根据设计要求随时向模型中添加点，即便在创建另一个特征的过程中也可以执行此操作。要向模型中添加基准点，可以使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特征。</a:t>
            </a:r>
          </a:p>
        </p:txBody>
      </p:sp>
      <p:sp>
        <p:nvSpPr>
          <p:cNvPr id="4" name="TextBox 1">
            <a:extLst>
              <a:ext uri="{FF2B5EF4-FFF2-40B4-BE49-F238E27FC236}">
                <a16:creationId xmlns:a16="http://schemas.microsoft.com/office/drawing/2014/main" id="{DE53A96E-9C66-3517-3F11-2818B402952A}"/>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4.4</a:t>
            </a:r>
            <a:r>
              <a:rPr lang="zh-CN" altLang="en-US" sz="3200" dirty="0">
                <a:solidFill>
                  <a:schemeClr val="bg1"/>
                </a:solidFill>
                <a:latin typeface="Times New Roman" pitchFamily="18" charset="0"/>
                <a:ea typeface="黑体" pitchFamily="49" charset="-122"/>
              </a:rPr>
              <a:t>基准点</a:t>
            </a:r>
            <a:endParaRPr lang="en-US" altLang="zh-CN" sz="3200" dirty="0">
              <a:solidFill>
                <a:schemeClr val="bg1"/>
              </a:solidFill>
              <a:latin typeface="Times New Roman" pitchFamily="18" charset="0"/>
              <a:ea typeface="黑体" pitchFamily="49" charset="-122"/>
            </a:endParaRPr>
          </a:p>
        </p:txBody>
      </p:sp>
    </p:spTree>
    <p:extLst>
      <p:ext uri="{BB962C8B-B14F-4D97-AF65-F5344CB8AC3E}">
        <p14:creationId xmlns:p14="http://schemas.microsoft.com/office/powerpoint/2010/main" val="2928928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589229"/>
            <a:ext cx="11476383" cy="2595839"/>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Creo Parametric8.0</a:t>
            </a:r>
            <a:r>
              <a:rPr lang="zh-CN" altLang="en-US" sz="2800" dirty="0">
                <a:latin typeface="Times New Roman" pitchFamily="18" charset="0"/>
                <a:ea typeface="宋体" pitchFamily="2" charset="-122"/>
              </a:rPr>
              <a:t>在零件模型下新建基准点用标签“</a:t>
            </a:r>
            <a:r>
              <a:rPr lang="en-US" altLang="zh-CN" sz="2800" dirty="0">
                <a:latin typeface="Times New Roman" pitchFamily="18" charset="0"/>
                <a:ea typeface="宋体" pitchFamily="2" charset="-122"/>
              </a:rPr>
              <a:t>PNT#”</a:t>
            </a:r>
            <a:r>
              <a:rPr lang="zh-CN" altLang="en-US" sz="2800" dirty="0">
                <a:latin typeface="Times New Roman" pitchFamily="18" charset="0"/>
                <a:ea typeface="宋体" pitchFamily="2" charset="-122"/>
              </a:rPr>
              <a:t>标识，其中“</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为基准点的连续号码，系统提供专门的创建工具（如图 </a:t>
            </a:r>
            <a:r>
              <a:rPr lang="en-US" altLang="zh-CN" sz="2800" dirty="0">
                <a:latin typeface="Times New Roman" pitchFamily="18" charset="0"/>
                <a:ea typeface="宋体" pitchFamily="2" charset="-122"/>
              </a:rPr>
              <a:t>4-5</a:t>
            </a:r>
            <a:r>
              <a:rPr lang="zh-CN" altLang="en-US" sz="2800" dirty="0">
                <a:latin typeface="Times New Roman" pitchFamily="18" charset="0"/>
                <a:ea typeface="宋体" pitchFamily="2" charset="-122"/>
              </a:rPr>
              <a:t>所示）分别用于创建以下 </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种类型之一的基准点，其中，点和偏移坐标系的基准点用在常规建模中。</a:t>
            </a:r>
          </a:p>
        </p:txBody>
      </p:sp>
      <p:pic>
        <p:nvPicPr>
          <p:cNvPr id="3" name="图片 2">
            <a:extLst>
              <a:ext uri="{FF2B5EF4-FFF2-40B4-BE49-F238E27FC236}">
                <a16:creationId xmlns:a16="http://schemas.microsoft.com/office/drawing/2014/main" id="{7F74C110-829E-F5E1-21CF-2C005A149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8649" y="3076299"/>
            <a:ext cx="2774703" cy="2782888"/>
          </a:xfrm>
          <a:prstGeom prst="rect">
            <a:avLst/>
          </a:prstGeom>
        </p:spPr>
      </p:pic>
      <p:sp>
        <p:nvSpPr>
          <p:cNvPr id="5" name="TextBox 1">
            <a:extLst>
              <a:ext uri="{FF2B5EF4-FFF2-40B4-BE49-F238E27FC236}">
                <a16:creationId xmlns:a16="http://schemas.microsoft.com/office/drawing/2014/main" id="{81D18632-DE31-9593-3969-3A9B2AE12571}"/>
              </a:ext>
            </a:extLst>
          </p:cNvPr>
          <p:cNvSpPr txBox="1"/>
          <p:nvPr/>
        </p:nvSpPr>
        <p:spPr>
          <a:xfrm>
            <a:off x="4849505" y="5989262"/>
            <a:ext cx="249299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4-5 </a:t>
            </a:r>
            <a:r>
              <a:rPr lang="zh-CN" altLang="en-US" dirty="0">
                <a:latin typeface="黑体" panose="02010609060101010101" pitchFamily="49" charset="-122"/>
                <a:ea typeface="黑体" panose="02010609060101010101" pitchFamily="49" charset="-122"/>
              </a:rPr>
              <a:t>基准点创建工具</a:t>
            </a:r>
          </a:p>
        </p:txBody>
      </p:sp>
    </p:spTree>
    <p:extLst>
      <p:ext uri="{BB962C8B-B14F-4D97-AF65-F5344CB8AC3E}">
        <p14:creationId xmlns:p14="http://schemas.microsoft.com/office/powerpoint/2010/main" val="1502568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446349"/>
            <a:ext cx="11476383" cy="1949508"/>
          </a:xfrm>
          <a:prstGeom prst="rect">
            <a:avLst/>
          </a:prstGeom>
          <a:noFill/>
        </p:spPr>
        <p:txBody>
          <a:bodyPr wrap="square" rtlCol="0">
            <a:spAutoFit/>
          </a:bodyPr>
          <a:lstStyle/>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点：在图元上、图元相交处或自某一图元偏移处所创建的一般类型的基准点。单击“点”按钮      ，系统弹出如图</a:t>
            </a:r>
            <a:r>
              <a:rPr lang="en-US" altLang="zh-CN" sz="2800" dirty="0">
                <a:latin typeface="Times New Roman" pitchFamily="18" charset="0"/>
                <a:ea typeface="宋体" pitchFamily="2" charset="-122"/>
              </a:rPr>
              <a:t>4-6</a:t>
            </a:r>
            <a:r>
              <a:rPr lang="zh-CN" altLang="en-US" sz="2800" dirty="0">
                <a:latin typeface="Times New Roman" pitchFamily="18" charset="0"/>
                <a:ea typeface="宋体" pitchFamily="2" charset="-122"/>
              </a:rPr>
              <a:t>所示的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对话框，选择最多</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个参考以放置点。</a:t>
            </a:r>
          </a:p>
        </p:txBody>
      </p:sp>
      <p:sp>
        <p:nvSpPr>
          <p:cNvPr id="5" name="TextBox 1">
            <a:extLst>
              <a:ext uri="{FF2B5EF4-FFF2-40B4-BE49-F238E27FC236}">
                <a16:creationId xmlns:a16="http://schemas.microsoft.com/office/drawing/2014/main" id="{81D18632-DE31-9593-3969-3A9B2AE12571}"/>
              </a:ext>
            </a:extLst>
          </p:cNvPr>
          <p:cNvSpPr txBox="1"/>
          <p:nvPr/>
        </p:nvSpPr>
        <p:spPr>
          <a:xfrm>
            <a:off x="4849505" y="6017838"/>
            <a:ext cx="249299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4-6 </a:t>
            </a:r>
            <a:r>
              <a:rPr lang="zh-CN" altLang="en-US" dirty="0">
                <a:latin typeface="黑体" panose="02010609060101010101" pitchFamily="49" charset="-122"/>
                <a:ea typeface="黑体" panose="02010609060101010101" pitchFamily="49" charset="-122"/>
              </a:rPr>
              <a:t>创建一般基准点</a:t>
            </a:r>
          </a:p>
        </p:txBody>
      </p:sp>
      <p:pic>
        <p:nvPicPr>
          <p:cNvPr id="4" name="图片 3">
            <a:extLst>
              <a:ext uri="{FF2B5EF4-FFF2-40B4-BE49-F238E27FC236}">
                <a16:creationId xmlns:a16="http://schemas.microsoft.com/office/drawing/2014/main" id="{F0B2EDFA-B9FF-0B41-1CD7-4B350419E9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0550" y="2313762"/>
            <a:ext cx="3606954" cy="3675499"/>
          </a:xfrm>
          <a:prstGeom prst="rect">
            <a:avLst/>
          </a:prstGeom>
        </p:spPr>
      </p:pic>
      <p:pic>
        <p:nvPicPr>
          <p:cNvPr id="6" name="图片 5">
            <a:extLst>
              <a:ext uri="{FF2B5EF4-FFF2-40B4-BE49-F238E27FC236}">
                <a16:creationId xmlns:a16="http://schemas.microsoft.com/office/drawing/2014/main" id="{4BB08292-2F10-B0AD-8351-535F2F06C033}"/>
              </a:ext>
            </a:extLst>
          </p:cNvPr>
          <p:cNvPicPr>
            <a:picLocks noChangeAspect="1"/>
          </p:cNvPicPr>
          <p:nvPr/>
        </p:nvPicPr>
        <p:blipFill>
          <a:blip r:embed="rId3"/>
          <a:stretch>
            <a:fillRect/>
          </a:stretch>
        </p:blipFill>
        <p:spPr>
          <a:xfrm>
            <a:off x="4792353" y="1243939"/>
            <a:ext cx="428625" cy="411480"/>
          </a:xfrm>
          <a:prstGeom prst="rect">
            <a:avLst/>
          </a:prstGeom>
        </p:spPr>
      </p:pic>
    </p:spTree>
    <p:extLst>
      <p:ext uri="{BB962C8B-B14F-4D97-AF65-F5344CB8AC3E}">
        <p14:creationId xmlns:p14="http://schemas.microsoft.com/office/powerpoint/2010/main" val="3844240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446349"/>
            <a:ext cx="11476383" cy="1949508"/>
          </a:xfrm>
          <a:prstGeom prst="rect">
            <a:avLst/>
          </a:prstGeom>
          <a:noFill/>
        </p:spPr>
        <p:txBody>
          <a:bodyPr wrap="square" rtlCol="0">
            <a:spAutoFit/>
          </a:bodyPr>
          <a:lstStyle/>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偏移坐标系：通过自选定坐标系偏移所创建的基准点。单击“偏移坐标系”按钮     ，系统弹出如图</a:t>
            </a:r>
            <a:r>
              <a:rPr lang="en-US" altLang="zh-CN" sz="2800" dirty="0">
                <a:latin typeface="Times New Roman" pitchFamily="18" charset="0"/>
                <a:ea typeface="宋体" pitchFamily="2" charset="-122"/>
              </a:rPr>
              <a:t>4-7</a:t>
            </a:r>
            <a:r>
              <a:rPr lang="zh-CN" altLang="en-US" sz="2800" dirty="0">
                <a:latin typeface="Times New Roman" pitchFamily="18" charset="0"/>
                <a:ea typeface="宋体" pitchFamily="2" charset="-122"/>
              </a:rPr>
              <a:t>所示的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对话框，选择参考坐标系和坐标系类型，然后输入坐标值。</a:t>
            </a:r>
          </a:p>
        </p:txBody>
      </p:sp>
      <p:sp>
        <p:nvSpPr>
          <p:cNvPr id="5" name="TextBox 1">
            <a:extLst>
              <a:ext uri="{FF2B5EF4-FFF2-40B4-BE49-F238E27FC236}">
                <a16:creationId xmlns:a16="http://schemas.microsoft.com/office/drawing/2014/main" id="{81D18632-DE31-9593-3969-3A9B2AE12571}"/>
              </a:ext>
            </a:extLst>
          </p:cNvPr>
          <p:cNvSpPr txBox="1"/>
          <p:nvPr/>
        </p:nvSpPr>
        <p:spPr>
          <a:xfrm>
            <a:off x="4272424" y="6017838"/>
            <a:ext cx="364715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4-7 </a:t>
            </a:r>
            <a:r>
              <a:rPr lang="zh-CN" altLang="en-US" dirty="0">
                <a:latin typeface="黑体" panose="02010609060101010101" pitchFamily="49" charset="-122"/>
                <a:ea typeface="黑体" panose="02010609060101010101" pitchFamily="49" charset="-122"/>
              </a:rPr>
              <a:t>创建自坐标系偏移的基准点</a:t>
            </a:r>
          </a:p>
        </p:txBody>
      </p:sp>
      <p:pic>
        <p:nvPicPr>
          <p:cNvPr id="3" name="图片 2">
            <a:extLst>
              <a:ext uri="{FF2B5EF4-FFF2-40B4-BE49-F238E27FC236}">
                <a16:creationId xmlns:a16="http://schemas.microsoft.com/office/drawing/2014/main" id="{6867A1C4-B440-9914-7B4D-40D6E378F4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8891" y="2358469"/>
            <a:ext cx="2074218" cy="3608200"/>
          </a:xfrm>
          <a:prstGeom prst="rect">
            <a:avLst/>
          </a:prstGeom>
        </p:spPr>
      </p:pic>
      <p:pic>
        <p:nvPicPr>
          <p:cNvPr id="6" name="图片 5">
            <a:extLst>
              <a:ext uri="{FF2B5EF4-FFF2-40B4-BE49-F238E27FC236}">
                <a16:creationId xmlns:a16="http://schemas.microsoft.com/office/drawing/2014/main" id="{1CF4B464-44AE-B164-EF07-0FB0F7BF2451}"/>
              </a:ext>
            </a:extLst>
          </p:cNvPr>
          <p:cNvPicPr>
            <a:picLocks noChangeAspect="1"/>
          </p:cNvPicPr>
          <p:nvPr/>
        </p:nvPicPr>
        <p:blipFill>
          <a:blip r:embed="rId3"/>
          <a:stretch>
            <a:fillRect/>
          </a:stretch>
        </p:blipFill>
        <p:spPr>
          <a:xfrm>
            <a:off x="2637790" y="1261084"/>
            <a:ext cx="342900" cy="377190"/>
          </a:xfrm>
          <a:prstGeom prst="rect">
            <a:avLst/>
          </a:prstGeom>
        </p:spPr>
      </p:pic>
    </p:spTree>
    <p:extLst>
      <p:ext uri="{BB962C8B-B14F-4D97-AF65-F5344CB8AC3E}">
        <p14:creationId xmlns:p14="http://schemas.microsoft.com/office/powerpoint/2010/main" val="1476708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446349"/>
            <a:ext cx="11476383" cy="1949508"/>
          </a:xfrm>
          <a:prstGeom prst="rect">
            <a:avLst/>
          </a:prstGeom>
          <a:noFill/>
        </p:spPr>
        <p:txBody>
          <a:bodyPr wrap="square" rtlCol="0">
            <a:spAutoFit/>
          </a:bodyPr>
          <a:lstStyle/>
          <a:p>
            <a:pPr indent="457200">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域：在“行为建模”中用于分析的点，一个域点标识一个几何域。单击“域”按钮     ，系统弹出如图</a:t>
            </a:r>
            <a:r>
              <a:rPr lang="en-US" altLang="zh-CN" sz="2800" dirty="0">
                <a:latin typeface="Times New Roman" pitchFamily="18" charset="0"/>
                <a:ea typeface="宋体" pitchFamily="2" charset="-122"/>
              </a:rPr>
              <a:t>4-8</a:t>
            </a:r>
            <a:r>
              <a:rPr lang="zh-CN" altLang="en-US" sz="2800" dirty="0">
                <a:latin typeface="Times New Roman" pitchFamily="18" charset="0"/>
                <a:ea typeface="宋体" pitchFamily="2" charset="-122"/>
              </a:rPr>
              <a:t>所示的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对话框，选择一个参考（例如曲线、边、曲面或面组）以放置点。</a:t>
            </a:r>
          </a:p>
        </p:txBody>
      </p:sp>
      <p:sp>
        <p:nvSpPr>
          <p:cNvPr id="5" name="TextBox 1">
            <a:extLst>
              <a:ext uri="{FF2B5EF4-FFF2-40B4-BE49-F238E27FC236}">
                <a16:creationId xmlns:a16="http://schemas.microsoft.com/office/drawing/2014/main" id="{81D18632-DE31-9593-3969-3A9B2AE12571}"/>
              </a:ext>
            </a:extLst>
          </p:cNvPr>
          <p:cNvSpPr txBox="1"/>
          <p:nvPr/>
        </p:nvSpPr>
        <p:spPr>
          <a:xfrm>
            <a:off x="5195753" y="5760654"/>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4-8 </a:t>
            </a:r>
            <a:r>
              <a:rPr lang="zh-CN" altLang="en-US" dirty="0">
                <a:latin typeface="黑体" panose="02010609060101010101" pitchFamily="49" charset="-122"/>
                <a:ea typeface="黑体" panose="02010609060101010101" pitchFamily="49" charset="-122"/>
              </a:rPr>
              <a:t>创建域点</a:t>
            </a:r>
          </a:p>
        </p:txBody>
      </p:sp>
      <p:pic>
        <p:nvPicPr>
          <p:cNvPr id="4" name="图片 3">
            <a:extLst>
              <a:ext uri="{FF2B5EF4-FFF2-40B4-BE49-F238E27FC236}">
                <a16:creationId xmlns:a16="http://schemas.microsoft.com/office/drawing/2014/main" id="{43485999-0CE7-C68C-4DE0-0F0053E6E9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1331" y="2709227"/>
            <a:ext cx="4109338" cy="2862898"/>
          </a:xfrm>
          <a:prstGeom prst="rect">
            <a:avLst/>
          </a:prstGeom>
        </p:spPr>
      </p:pic>
      <p:pic>
        <p:nvPicPr>
          <p:cNvPr id="6" name="图片 5">
            <a:extLst>
              <a:ext uri="{FF2B5EF4-FFF2-40B4-BE49-F238E27FC236}">
                <a16:creationId xmlns:a16="http://schemas.microsoft.com/office/drawing/2014/main" id="{8B383D6F-D2B8-BB42-40AA-0586D19EBA22}"/>
              </a:ext>
            </a:extLst>
          </p:cNvPr>
          <p:cNvPicPr>
            <a:picLocks noChangeAspect="1"/>
          </p:cNvPicPr>
          <p:nvPr/>
        </p:nvPicPr>
        <p:blipFill>
          <a:blip r:embed="rId3"/>
          <a:stretch>
            <a:fillRect/>
          </a:stretch>
        </p:blipFill>
        <p:spPr>
          <a:xfrm>
            <a:off x="2980691" y="1309663"/>
            <a:ext cx="360045" cy="394335"/>
          </a:xfrm>
          <a:prstGeom prst="rect">
            <a:avLst/>
          </a:prstGeom>
        </p:spPr>
      </p:pic>
    </p:spTree>
    <p:extLst>
      <p:ext uri="{BB962C8B-B14F-4D97-AF65-F5344CB8AC3E}">
        <p14:creationId xmlns:p14="http://schemas.microsoft.com/office/powerpoint/2010/main" val="293187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1246461"/>
            <a:ext cx="11476383" cy="388850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创建基准曲线的方式主要分两种情形，一种用于插入空间基准曲线，另一种则用于在指定的草绘平面内草绘平面基准曲线。</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要插入空间基准曲线，则在功能区的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组下拉三角按钮，接着单击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曲线</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旁边的箭头按钮，打开一个工具命令列表，如图</a:t>
            </a:r>
            <a:r>
              <a:rPr lang="en-US" altLang="zh-CN" sz="2800" dirty="0">
                <a:latin typeface="Times New Roman" pitchFamily="18" charset="0"/>
                <a:ea typeface="宋体" pitchFamily="2" charset="-122"/>
              </a:rPr>
              <a:t>4-9</a:t>
            </a:r>
            <a:r>
              <a:rPr lang="zh-CN" altLang="en-US" sz="2800" dirty="0">
                <a:latin typeface="Times New Roman" pitchFamily="18" charset="0"/>
                <a:ea typeface="宋体" pitchFamily="2" charset="-122"/>
              </a:rPr>
              <a:t>所示，其中提供了</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种曲线选项，即“通过点的曲线”“来自方程的曲线”“来自横截面的曲线”。</a:t>
            </a:r>
          </a:p>
        </p:txBody>
      </p:sp>
      <p:sp>
        <p:nvSpPr>
          <p:cNvPr id="4" name="TextBox 1">
            <a:extLst>
              <a:ext uri="{FF2B5EF4-FFF2-40B4-BE49-F238E27FC236}">
                <a16:creationId xmlns:a16="http://schemas.microsoft.com/office/drawing/2014/main" id="{DE53A96E-9C66-3517-3F11-2818B402952A}"/>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4.5</a:t>
            </a:r>
            <a:r>
              <a:rPr lang="zh-CN" altLang="en-US" sz="3200" dirty="0">
                <a:solidFill>
                  <a:schemeClr val="bg1"/>
                </a:solidFill>
                <a:latin typeface="Times New Roman" pitchFamily="18" charset="0"/>
                <a:ea typeface="黑体" pitchFamily="49" charset="-122"/>
              </a:rPr>
              <a:t>基准曲线</a:t>
            </a:r>
            <a:endParaRPr lang="en-US" altLang="zh-CN" sz="3200" dirty="0">
              <a:solidFill>
                <a:schemeClr val="bg1"/>
              </a:solidFill>
              <a:latin typeface="Times New Roman" pitchFamily="18" charset="0"/>
              <a:ea typeface="黑体" pitchFamily="49" charset="-122"/>
            </a:endParaRPr>
          </a:p>
        </p:txBody>
      </p:sp>
    </p:spTree>
    <p:extLst>
      <p:ext uri="{BB962C8B-B14F-4D97-AF65-F5344CB8AC3E}">
        <p14:creationId xmlns:p14="http://schemas.microsoft.com/office/powerpoint/2010/main" val="2060902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24C6CEF-B754-6370-A94C-A72373A51D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4607" y="1386605"/>
            <a:ext cx="4402786" cy="3635969"/>
          </a:xfrm>
          <a:prstGeom prst="rect">
            <a:avLst/>
          </a:prstGeom>
        </p:spPr>
      </p:pic>
      <p:sp>
        <p:nvSpPr>
          <p:cNvPr id="5" name="TextBox 1">
            <a:extLst>
              <a:ext uri="{FF2B5EF4-FFF2-40B4-BE49-F238E27FC236}">
                <a16:creationId xmlns:a16="http://schemas.microsoft.com/office/drawing/2014/main" id="{CA34D4E0-E360-0E9E-F67C-159D6EB72972}"/>
              </a:ext>
            </a:extLst>
          </p:cNvPr>
          <p:cNvSpPr txBox="1"/>
          <p:nvPr/>
        </p:nvSpPr>
        <p:spPr>
          <a:xfrm>
            <a:off x="5195753" y="5164305"/>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4-9 </a:t>
            </a:r>
            <a:r>
              <a:rPr lang="zh-CN" altLang="en-US" dirty="0">
                <a:latin typeface="黑体" panose="02010609060101010101" pitchFamily="49" charset="-122"/>
                <a:ea typeface="黑体" panose="02010609060101010101" pitchFamily="49" charset="-122"/>
              </a:rPr>
              <a:t>曲线命令</a:t>
            </a:r>
          </a:p>
        </p:txBody>
      </p:sp>
    </p:spTree>
    <p:extLst>
      <p:ext uri="{BB962C8B-B14F-4D97-AF65-F5344CB8AC3E}">
        <p14:creationId xmlns:p14="http://schemas.microsoft.com/office/powerpoint/2010/main" val="2891819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5718CBC7-D71E-40A3-22D2-C4DC7E740904}"/>
              </a:ext>
            </a:extLst>
          </p:cNvPr>
          <p:cNvSpPr txBox="1"/>
          <p:nvPr/>
        </p:nvSpPr>
        <p:spPr>
          <a:xfrm>
            <a:off x="357808" y="636858"/>
            <a:ext cx="11476383" cy="5827493"/>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通过点的曲线</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单击“通过点的曲线”命令，打开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曲线：通过点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选项卡，如图</a:t>
            </a:r>
            <a:r>
              <a:rPr lang="en-US" altLang="zh-CN" sz="2800" dirty="0">
                <a:latin typeface="Times New Roman" pitchFamily="18" charset="0"/>
                <a:ea typeface="宋体" pitchFamily="2" charset="-122"/>
              </a:rPr>
              <a:t>4-10</a:t>
            </a:r>
            <a:r>
              <a:rPr lang="zh-CN" altLang="en-US" sz="2800" dirty="0">
                <a:latin typeface="Times New Roman" pitchFamily="18" charset="0"/>
                <a:ea typeface="宋体" pitchFamily="2" charset="-122"/>
              </a:rPr>
              <a:t>所示。打开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面板，单击激活“点”收集器，在图形窗口中选择一个现有点、顶点或曲线端点，接着确保处于“添加点”的状态下，选择其他点添加到曲线定义中（所选点显示在点列表中），如图</a:t>
            </a:r>
            <a:r>
              <a:rPr lang="en-US" altLang="zh-CN" sz="2800" dirty="0">
                <a:latin typeface="Times New Roman" pitchFamily="18" charset="0"/>
                <a:ea typeface="宋体" pitchFamily="2" charset="-122"/>
              </a:rPr>
              <a:t>4-11</a:t>
            </a:r>
            <a:r>
              <a:rPr lang="zh-CN" altLang="en-US" sz="2800" dirty="0">
                <a:latin typeface="Times New Roman" pitchFamily="18" charset="0"/>
                <a:ea typeface="宋体" pitchFamily="2" charset="-122"/>
              </a:rPr>
              <a:t>所示。</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要定义一个点与之前添加的点如何连接，那么在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面板的点列表中选择该点，接着在“连接到前一点的方式”选项组中选择“样条”或“直线”单选按钮，</a:t>
            </a:r>
            <a:r>
              <a:rPr lang="zh-CN" altLang="zh-CN" sz="2800" dirty="0">
                <a:latin typeface="Times New Roman" pitchFamily="18" charset="0"/>
                <a:ea typeface="宋体" pitchFamily="2" charset="-122"/>
              </a:rPr>
              <a:t>如图</a:t>
            </a:r>
            <a:r>
              <a:rPr lang="en-US" altLang="zh-CN" sz="2800" dirty="0">
                <a:latin typeface="Times New Roman" pitchFamily="18" charset="0"/>
                <a:ea typeface="宋体" pitchFamily="2" charset="-122"/>
              </a:rPr>
              <a:t>4-12</a:t>
            </a:r>
            <a:r>
              <a:rPr lang="zh-CN" altLang="zh-CN" sz="2800" dirty="0">
                <a:latin typeface="Times New Roman" pitchFamily="18" charset="0"/>
                <a:ea typeface="宋体" pitchFamily="2" charset="-122"/>
              </a:rPr>
              <a:t>所示</a:t>
            </a:r>
            <a:r>
              <a:rPr lang="zh-CN" altLang="en-US" sz="2800" dirty="0">
                <a:latin typeface="Times New Roman" pitchFamily="18" charset="0"/>
                <a:ea typeface="宋体" pitchFamily="2" charset="-122"/>
              </a:rPr>
              <a:t>。</a:t>
            </a:r>
          </a:p>
        </p:txBody>
      </p:sp>
    </p:spTree>
    <p:extLst>
      <p:ext uri="{BB962C8B-B14F-4D97-AF65-F5344CB8AC3E}">
        <p14:creationId xmlns:p14="http://schemas.microsoft.com/office/powerpoint/2010/main" val="2726015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D5FC80B-6175-D72B-23FB-77EC33286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6850" y="749509"/>
            <a:ext cx="7978301" cy="1331085"/>
          </a:xfrm>
          <a:prstGeom prst="rect">
            <a:avLst/>
          </a:prstGeom>
        </p:spPr>
      </p:pic>
      <p:sp>
        <p:nvSpPr>
          <p:cNvPr id="3" name="TextBox 1">
            <a:extLst>
              <a:ext uri="{FF2B5EF4-FFF2-40B4-BE49-F238E27FC236}">
                <a16:creationId xmlns:a16="http://schemas.microsoft.com/office/drawing/2014/main" id="{7186AD28-6CF1-A0C2-6371-70108B5234F6}"/>
              </a:ext>
            </a:extLst>
          </p:cNvPr>
          <p:cNvSpPr txBox="1"/>
          <p:nvPr/>
        </p:nvSpPr>
        <p:spPr>
          <a:xfrm>
            <a:off x="4330132" y="2209073"/>
            <a:ext cx="353173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4-10 【</a:t>
            </a:r>
            <a:r>
              <a:rPr lang="zh-CN" altLang="en-US" dirty="0">
                <a:latin typeface="黑体" panose="02010609060101010101" pitchFamily="49" charset="-122"/>
                <a:ea typeface="黑体" panose="02010609060101010101" pitchFamily="49" charset="-122"/>
              </a:rPr>
              <a:t>曲线：通过点</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pic>
        <p:nvPicPr>
          <p:cNvPr id="4" name="图片 3">
            <a:extLst>
              <a:ext uri="{FF2B5EF4-FFF2-40B4-BE49-F238E27FC236}">
                <a16:creationId xmlns:a16="http://schemas.microsoft.com/office/drawing/2014/main" id="{00EE03CA-4493-5AD3-14F8-6FF9C95F58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6850" y="2752951"/>
            <a:ext cx="2538608" cy="3355540"/>
          </a:xfrm>
          <a:prstGeom prst="rect">
            <a:avLst/>
          </a:prstGeom>
        </p:spPr>
      </p:pic>
      <p:pic>
        <p:nvPicPr>
          <p:cNvPr id="5" name="图片 4">
            <a:extLst>
              <a:ext uri="{FF2B5EF4-FFF2-40B4-BE49-F238E27FC236}">
                <a16:creationId xmlns:a16="http://schemas.microsoft.com/office/drawing/2014/main" id="{10D03F6D-2A89-EA16-EF41-5F8E3F50EB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1677" y="2706884"/>
            <a:ext cx="2653473" cy="3401607"/>
          </a:xfrm>
          <a:prstGeom prst="rect">
            <a:avLst/>
          </a:prstGeom>
        </p:spPr>
      </p:pic>
      <p:sp>
        <p:nvSpPr>
          <p:cNvPr id="6" name="TextBox 1">
            <a:extLst>
              <a:ext uri="{FF2B5EF4-FFF2-40B4-BE49-F238E27FC236}">
                <a16:creationId xmlns:a16="http://schemas.microsoft.com/office/drawing/2014/main" id="{0B5213EC-4848-3C63-8825-F28653097D69}"/>
              </a:ext>
            </a:extLst>
          </p:cNvPr>
          <p:cNvSpPr txBox="1"/>
          <p:nvPr/>
        </p:nvSpPr>
        <p:spPr>
          <a:xfrm>
            <a:off x="2356170" y="6111932"/>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4-11 【</a:t>
            </a:r>
            <a:r>
              <a:rPr lang="zh-CN" altLang="en-US" dirty="0">
                <a:latin typeface="黑体" panose="02010609060101010101" pitchFamily="49" charset="-122"/>
                <a:ea typeface="黑体" panose="02010609060101010101" pitchFamily="49" charset="-122"/>
              </a:rPr>
              <a:t>放置</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面板</a:t>
            </a:r>
          </a:p>
        </p:txBody>
      </p:sp>
      <p:sp>
        <p:nvSpPr>
          <p:cNvPr id="7" name="TextBox 1">
            <a:extLst>
              <a:ext uri="{FF2B5EF4-FFF2-40B4-BE49-F238E27FC236}">
                <a16:creationId xmlns:a16="http://schemas.microsoft.com/office/drawing/2014/main" id="{1562C884-6AFC-DE1E-AD36-0CE52E83CC8D}"/>
              </a:ext>
            </a:extLst>
          </p:cNvPr>
          <p:cNvSpPr txBox="1"/>
          <p:nvPr/>
        </p:nvSpPr>
        <p:spPr>
          <a:xfrm>
            <a:off x="6646296" y="6111932"/>
            <a:ext cx="422423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4-12 </a:t>
            </a:r>
            <a:r>
              <a:rPr lang="zh-CN" altLang="en-US" dirty="0">
                <a:latin typeface="黑体" panose="02010609060101010101" pitchFamily="49" charset="-122"/>
                <a:ea typeface="黑体" panose="02010609060101010101" pitchFamily="49" charset="-122"/>
              </a:rPr>
              <a:t>使用直线将选定点连接到上一点</a:t>
            </a:r>
          </a:p>
        </p:txBody>
      </p:sp>
    </p:spTree>
    <p:extLst>
      <p:ext uri="{BB962C8B-B14F-4D97-AF65-F5344CB8AC3E}">
        <p14:creationId xmlns:p14="http://schemas.microsoft.com/office/powerpoint/2010/main" val="1093519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446349"/>
            <a:ext cx="11476383" cy="1949508"/>
          </a:xfrm>
          <a:prstGeom prst="rect">
            <a:avLst/>
          </a:prstGeom>
          <a:noFill/>
        </p:spPr>
        <p:txBody>
          <a:bodyPr wrap="square" rtlCol="0">
            <a:spAutoFit/>
          </a:bodyPr>
          <a:lstStyle/>
          <a:p>
            <a:pPr indent="457200">
              <a:lnSpc>
                <a:spcPct val="150000"/>
              </a:lnSpc>
            </a:pPr>
            <a:r>
              <a:rPr lang="zh-CN" altLang="en-US" sz="2800" dirty="0">
                <a:latin typeface="Wingdings" panose="05000000000000000000" pitchFamily="2" charset="2"/>
                <a:ea typeface="宋体" pitchFamily="2" charset="-122"/>
              </a:rPr>
              <a:t>要在曲线的端点定义条件，那么在</a:t>
            </a:r>
            <a:r>
              <a:rPr lang="en-US" altLang="zh-CN" sz="2800" dirty="0">
                <a:latin typeface="Wingdings" panose="05000000000000000000" pitchFamily="2" charset="2"/>
                <a:ea typeface="宋体" pitchFamily="2" charset="-122"/>
              </a:rPr>
              <a:t>【</a:t>
            </a:r>
            <a:r>
              <a:rPr lang="zh-CN" altLang="en-US" sz="2800" dirty="0">
                <a:latin typeface="Wingdings" panose="05000000000000000000" pitchFamily="2" charset="2"/>
                <a:ea typeface="宋体" pitchFamily="2" charset="-122"/>
              </a:rPr>
              <a:t>曲线：通过点</a:t>
            </a:r>
            <a:r>
              <a:rPr lang="en-US" altLang="zh-CN" sz="2800" dirty="0">
                <a:latin typeface="Wingdings" panose="05000000000000000000" pitchFamily="2" charset="2"/>
                <a:ea typeface="宋体" pitchFamily="2" charset="-122"/>
              </a:rPr>
              <a:t>】</a:t>
            </a:r>
            <a:r>
              <a:rPr lang="zh-CN" altLang="en-US" sz="2800" dirty="0">
                <a:latin typeface="Wingdings" panose="05000000000000000000" pitchFamily="2" charset="2"/>
                <a:ea typeface="宋体" pitchFamily="2" charset="-122"/>
              </a:rPr>
              <a:t>选项卡中单击</a:t>
            </a:r>
            <a:r>
              <a:rPr lang="en-US" altLang="zh-CN" sz="2800" dirty="0">
                <a:latin typeface="Wingdings" panose="05000000000000000000" pitchFamily="2" charset="2"/>
                <a:ea typeface="宋体" pitchFamily="2" charset="-122"/>
              </a:rPr>
              <a:t>【</a:t>
            </a:r>
            <a:r>
              <a:rPr lang="zh-CN" altLang="en-US" sz="2800" dirty="0">
                <a:latin typeface="Wingdings" panose="05000000000000000000" pitchFamily="2" charset="2"/>
                <a:ea typeface="宋体" pitchFamily="2" charset="-122"/>
              </a:rPr>
              <a:t>结束条件</a:t>
            </a:r>
            <a:r>
              <a:rPr lang="en-US" altLang="zh-CN" sz="2800" dirty="0">
                <a:latin typeface="Wingdings" panose="05000000000000000000" pitchFamily="2" charset="2"/>
                <a:ea typeface="宋体" pitchFamily="2" charset="-122"/>
              </a:rPr>
              <a:t>】</a:t>
            </a:r>
            <a:r>
              <a:rPr lang="zh-CN" altLang="en-US" sz="2800" dirty="0">
                <a:latin typeface="Wingdings" panose="05000000000000000000" pitchFamily="2" charset="2"/>
                <a:ea typeface="宋体" pitchFamily="2" charset="-122"/>
              </a:rPr>
              <a:t>面板，在“曲线侧”框中选择曲线的“起点”或“终点”，接着在“结束条件”下拉列表框中选择以下选项之一，如图</a:t>
            </a:r>
            <a:r>
              <a:rPr lang="en-US" altLang="zh-CN" sz="2800" dirty="0">
                <a:effectLst/>
                <a:latin typeface="Times New Roman" panose="02020603050405020304" pitchFamily="18" charset="0"/>
                <a:ea typeface="宋体" panose="02010600030101010101" pitchFamily="2" charset="-122"/>
              </a:rPr>
              <a:t>4-13</a:t>
            </a:r>
            <a:r>
              <a:rPr lang="zh-CN" altLang="en-US" sz="2800" dirty="0">
                <a:latin typeface="Wingdings" panose="05000000000000000000" pitchFamily="2" charset="2"/>
                <a:ea typeface="宋体" pitchFamily="2" charset="-122"/>
              </a:rPr>
              <a:t>所示。</a:t>
            </a:r>
            <a:endParaRPr lang="zh-CN" altLang="en-US" sz="2800" dirty="0">
              <a:latin typeface="Times New Roman" pitchFamily="18" charset="0"/>
              <a:ea typeface="宋体" pitchFamily="2" charset="-122"/>
            </a:endParaRPr>
          </a:p>
        </p:txBody>
      </p:sp>
      <p:sp>
        <p:nvSpPr>
          <p:cNvPr id="5" name="TextBox 1">
            <a:extLst>
              <a:ext uri="{FF2B5EF4-FFF2-40B4-BE49-F238E27FC236}">
                <a16:creationId xmlns:a16="http://schemas.microsoft.com/office/drawing/2014/main" id="{81D18632-DE31-9593-3969-3A9B2AE12571}"/>
              </a:ext>
            </a:extLst>
          </p:cNvPr>
          <p:cNvSpPr txBox="1"/>
          <p:nvPr/>
        </p:nvSpPr>
        <p:spPr>
          <a:xfrm>
            <a:off x="4676380" y="5826914"/>
            <a:ext cx="283924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4-13 “</a:t>
            </a:r>
            <a:r>
              <a:rPr lang="zh-CN" altLang="en-US" dirty="0">
                <a:latin typeface="黑体" panose="02010609060101010101" pitchFamily="49" charset="-122"/>
                <a:ea typeface="黑体" panose="02010609060101010101" pitchFamily="49" charset="-122"/>
              </a:rPr>
              <a:t>结束条件”选项</a:t>
            </a:r>
          </a:p>
        </p:txBody>
      </p:sp>
      <p:pic>
        <p:nvPicPr>
          <p:cNvPr id="3" name="图片 2">
            <a:extLst>
              <a:ext uri="{FF2B5EF4-FFF2-40B4-BE49-F238E27FC236}">
                <a16:creationId xmlns:a16="http://schemas.microsoft.com/office/drawing/2014/main" id="{56CFA22D-D61F-A23A-5108-AAAA78D7AD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7386" y="2529205"/>
            <a:ext cx="3557228" cy="3334828"/>
          </a:xfrm>
          <a:prstGeom prst="rect">
            <a:avLst/>
          </a:prstGeom>
        </p:spPr>
      </p:pic>
    </p:spTree>
    <p:extLst>
      <p:ext uri="{BB962C8B-B14F-4D97-AF65-F5344CB8AC3E}">
        <p14:creationId xmlns:p14="http://schemas.microsoft.com/office/powerpoint/2010/main" val="2550857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1042697"/>
            <a:ext cx="11476383" cy="3240439"/>
          </a:xfrm>
          <a:prstGeom prst="rect">
            <a:avLst/>
          </a:prstGeom>
          <a:noFill/>
        </p:spPr>
        <p:txBody>
          <a:bodyPr wrap="square" rtlCol="0">
            <a:spAutoFit/>
          </a:bodyPr>
          <a:lstStyle/>
          <a:p>
            <a:pPr indent="457200">
              <a:lnSpc>
                <a:spcPct val="150000"/>
              </a:lnSpc>
            </a:pPr>
            <a:r>
              <a:rPr lang="zh-CN" altLang="en-US" sz="2800" dirty="0">
                <a:latin typeface="Wingdings" panose="05000000000000000000" pitchFamily="2" charset="2"/>
                <a:ea typeface="宋体" pitchFamily="2" charset="-122"/>
              </a:rPr>
              <a:t>	自由：在此端点使曲线无相切约束。 </a:t>
            </a:r>
          </a:p>
          <a:p>
            <a:pPr indent="457200">
              <a:lnSpc>
                <a:spcPct val="150000"/>
              </a:lnSpc>
            </a:pPr>
            <a:r>
              <a:rPr lang="zh-CN" altLang="en-US" sz="2800" dirty="0">
                <a:latin typeface="Wingdings" panose="05000000000000000000" pitchFamily="2" charset="2"/>
                <a:ea typeface="宋体" pitchFamily="2" charset="-122"/>
              </a:rPr>
              <a:t>	相切：使曲线在该端点处与选定参考相切。</a:t>
            </a:r>
          </a:p>
          <a:p>
            <a:pPr indent="457200">
              <a:lnSpc>
                <a:spcPct val="150000"/>
              </a:lnSpc>
            </a:pPr>
            <a:r>
              <a:rPr lang="zh-CN" altLang="en-US" sz="2800" dirty="0">
                <a:latin typeface="Wingdings" panose="05000000000000000000" pitchFamily="2" charset="2"/>
                <a:ea typeface="宋体" pitchFamily="2" charset="-122"/>
              </a:rPr>
              <a:t>	曲率连续：使曲线在该端点处与选定参考相切，并将连续曲率条件应用于该点。</a:t>
            </a:r>
          </a:p>
          <a:p>
            <a:pPr indent="457200">
              <a:lnSpc>
                <a:spcPct val="150000"/>
              </a:lnSpc>
            </a:pPr>
            <a:r>
              <a:rPr lang="zh-CN" altLang="en-US" sz="2800" dirty="0">
                <a:latin typeface="Wingdings" panose="05000000000000000000" pitchFamily="2" charset="2"/>
                <a:ea typeface="宋体" pitchFamily="2" charset="-122"/>
              </a:rPr>
              <a:t>	垂直：使曲线在该端点处与选定参考垂直。</a:t>
            </a:r>
          </a:p>
        </p:txBody>
      </p:sp>
    </p:spTree>
    <p:extLst>
      <p:ext uri="{BB962C8B-B14F-4D97-AF65-F5344CB8AC3E}">
        <p14:creationId xmlns:p14="http://schemas.microsoft.com/office/powerpoint/2010/main" val="4021188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896924"/>
            <a:ext cx="11476383" cy="4533100"/>
          </a:xfrm>
          <a:prstGeom prst="rect">
            <a:avLst/>
          </a:prstGeom>
          <a:noFill/>
        </p:spPr>
        <p:txBody>
          <a:bodyPr wrap="square" rtlCol="0">
            <a:spAutoFit/>
          </a:bodyPr>
          <a:lstStyle/>
          <a:p>
            <a:pPr indent="457200">
              <a:lnSpc>
                <a:spcPct val="150000"/>
              </a:lnSpc>
            </a:pPr>
            <a:r>
              <a:rPr lang="zh-CN" altLang="en-US" sz="2800" dirty="0">
                <a:latin typeface="Wingdings" panose="05000000000000000000" pitchFamily="2" charset="2"/>
                <a:ea typeface="宋体" pitchFamily="2" charset="-122"/>
              </a:rPr>
              <a:t>来自横截面的曲线</a:t>
            </a:r>
            <a:endParaRPr lang="en-US" altLang="zh-CN" sz="2800" dirty="0">
              <a:latin typeface="Wingdings" panose="05000000000000000000" pitchFamily="2" charset="2"/>
              <a:ea typeface="宋体" pitchFamily="2" charset="-122"/>
            </a:endParaRPr>
          </a:p>
          <a:p>
            <a:pPr indent="457200">
              <a:lnSpc>
                <a:spcPct val="150000"/>
              </a:lnSpc>
            </a:pPr>
            <a:r>
              <a:rPr lang="zh-CN" altLang="en-US" sz="2800" dirty="0">
                <a:latin typeface="Wingdings" panose="05000000000000000000" pitchFamily="2" charset="2"/>
                <a:ea typeface="宋体" pitchFamily="2" charset="-122"/>
              </a:rPr>
              <a:t>可以使用横截面创建基准曲线，实际就是沿着横截面边界与零件轮廓之间的相交线创建基准曲线。但是需要注意的是，不能使用偏移横截面中的边界创建基准曲线。</a:t>
            </a:r>
            <a:endParaRPr lang="en-US" altLang="zh-CN" sz="2800" dirty="0">
              <a:latin typeface="Wingdings" panose="05000000000000000000" pitchFamily="2" charset="2"/>
              <a:ea typeface="宋体" pitchFamily="2" charset="-122"/>
            </a:endParaRPr>
          </a:p>
          <a:p>
            <a:pPr indent="457200">
              <a:lnSpc>
                <a:spcPct val="150000"/>
              </a:lnSpc>
            </a:pPr>
            <a:r>
              <a:rPr lang="zh-CN" altLang="en-US" sz="2800" dirty="0">
                <a:latin typeface="Wingdings" panose="05000000000000000000" pitchFamily="2" charset="2"/>
                <a:ea typeface="宋体" pitchFamily="2" charset="-122"/>
              </a:rPr>
              <a:t>要创建横截面，则可以使用功能区</a:t>
            </a:r>
            <a:r>
              <a:rPr lang="en-US" altLang="zh-CN" sz="2800" dirty="0">
                <a:latin typeface="Wingdings" panose="05000000000000000000" pitchFamily="2" charset="2"/>
                <a:ea typeface="宋体" pitchFamily="2" charset="-122"/>
              </a:rPr>
              <a:t>【</a:t>
            </a:r>
            <a:r>
              <a:rPr lang="zh-CN" altLang="en-US" sz="2800" dirty="0">
                <a:latin typeface="Wingdings" panose="05000000000000000000" pitchFamily="2" charset="2"/>
                <a:ea typeface="宋体" pitchFamily="2" charset="-122"/>
              </a:rPr>
              <a:t>视图</a:t>
            </a:r>
            <a:r>
              <a:rPr lang="en-US" altLang="zh-CN" sz="2800" dirty="0">
                <a:latin typeface="Wingdings" panose="05000000000000000000" pitchFamily="2" charset="2"/>
                <a:ea typeface="宋体" pitchFamily="2" charset="-122"/>
              </a:rPr>
              <a:t>】</a:t>
            </a:r>
            <a:r>
              <a:rPr lang="zh-CN" altLang="en-US" sz="2800" dirty="0">
                <a:latin typeface="Wingdings" panose="05000000000000000000" pitchFamily="2" charset="2"/>
                <a:ea typeface="宋体" pitchFamily="2" charset="-122"/>
              </a:rPr>
              <a:t>选项卡的“截面”列表中的相关命令工具，如图</a:t>
            </a:r>
            <a:r>
              <a:rPr lang="zh-CN" altLang="en-US" sz="2800" dirty="0">
                <a:latin typeface="宋体" panose="02010600030101010101" pitchFamily="2" charset="-122"/>
                <a:ea typeface="宋体" panose="02010600030101010101" pitchFamily="2" charset="-122"/>
              </a:rPr>
              <a:t> </a:t>
            </a:r>
            <a:r>
              <a:rPr lang="en-US" altLang="zh-CN" sz="2800" dirty="0">
                <a:latin typeface="宋体" panose="02010600030101010101" pitchFamily="2" charset="-122"/>
                <a:ea typeface="宋体" panose="02010600030101010101" pitchFamily="2" charset="-122"/>
              </a:rPr>
              <a:t>4-14 </a:t>
            </a:r>
            <a:r>
              <a:rPr lang="zh-CN" altLang="en-US" sz="2800" dirty="0">
                <a:latin typeface="Wingdings" panose="05000000000000000000" pitchFamily="2" charset="2"/>
                <a:ea typeface="宋体" pitchFamily="2" charset="-122"/>
              </a:rPr>
              <a:t>所示。在掌握各种平面横截面的创建方法之后，可以用平面横截面来创建基准曲线。</a:t>
            </a:r>
          </a:p>
        </p:txBody>
      </p:sp>
    </p:spTree>
    <p:extLst>
      <p:ext uri="{BB962C8B-B14F-4D97-AF65-F5344CB8AC3E}">
        <p14:creationId xmlns:p14="http://schemas.microsoft.com/office/powerpoint/2010/main" val="2353149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B496341-BDFD-2F83-6243-E95527703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8923" y="1198479"/>
            <a:ext cx="3374155" cy="3769941"/>
          </a:xfrm>
          <a:prstGeom prst="rect">
            <a:avLst/>
          </a:prstGeom>
        </p:spPr>
      </p:pic>
      <p:sp>
        <p:nvSpPr>
          <p:cNvPr id="4" name="TextBox 1">
            <a:extLst>
              <a:ext uri="{FF2B5EF4-FFF2-40B4-BE49-F238E27FC236}">
                <a16:creationId xmlns:a16="http://schemas.microsoft.com/office/drawing/2014/main" id="{B4CE23F7-09D7-C051-BAAD-A0341ADC61B8}"/>
              </a:ext>
            </a:extLst>
          </p:cNvPr>
          <p:cNvSpPr txBox="1"/>
          <p:nvPr/>
        </p:nvSpPr>
        <p:spPr>
          <a:xfrm>
            <a:off x="4907213" y="5230566"/>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4-14 【</a:t>
            </a:r>
            <a:r>
              <a:rPr lang="zh-CN" altLang="en-US" dirty="0">
                <a:latin typeface="黑体" panose="02010609060101010101" pitchFamily="49" charset="-122"/>
                <a:ea typeface="黑体" panose="02010609060101010101" pitchFamily="49" charset="-122"/>
              </a:rPr>
              <a:t>截面</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命令</a:t>
            </a:r>
          </a:p>
        </p:txBody>
      </p:sp>
    </p:spTree>
    <p:extLst>
      <p:ext uri="{BB962C8B-B14F-4D97-AF65-F5344CB8AC3E}">
        <p14:creationId xmlns:p14="http://schemas.microsoft.com/office/powerpoint/2010/main" val="2552422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764403"/>
            <a:ext cx="11476383" cy="5560689"/>
          </a:xfrm>
          <a:prstGeom prst="rect">
            <a:avLst/>
          </a:prstGeom>
          <a:noFill/>
        </p:spPr>
        <p:txBody>
          <a:bodyPr wrap="square" rtlCol="0">
            <a:spAutoFit/>
          </a:bodyPr>
          <a:lstStyle/>
          <a:p>
            <a:pPr indent="457200">
              <a:lnSpc>
                <a:spcPct val="150000"/>
              </a:lnSpc>
            </a:pPr>
            <a:r>
              <a:rPr lang="zh-CN" altLang="en-US" sz="2400" dirty="0">
                <a:latin typeface="Wingdings" panose="05000000000000000000" pitchFamily="2" charset="2"/>
                <a:ea typeface="宋体" pitchFamily="2" charset="-122"/>
              </a:rPr>
              <a:t>	“截面：平面”按钮  ：使用基准平面或平整曲面作为参考来创建平面横截面。</a:t>
            </a:r>
          </a:p>
          <a:p>
            <a:pPr indent="457200">
              <a:lnSpc>
                <a:spcPct val="150000"/>
              </a:lnSpc>
            </a:pPr>
            <a:r>
              <a:rPr lang="zh-CN" altLang="en-US" sz="2400" dirty="0">
                <a:latin typeface="Wingdings" panose="05000000000000000000" pitchFamily="2" charset="2"/>
                <a:ea typeface="宋体" pitchFamily="2" charset="-122"/>
              </a:rPr>
              <a:t>	“截面：</a:t>
            </a:r>
            <a:r>
              <a:rPr lang="en-US" altLang="zh-CN" sz="2400" dirty="0">
                <a:latin typeface="宋体" panose="02010600030101010101" pitchFamily="2" charset="-122"/>
                <a:ea typeface="宋体" panose="02010600030101010101" pitchFamily="2" charset="-122"/>
              </a:rPr>
              <a:t>X </a:t>
            </a:r>
            <a:r>
              <a:rPr lang="zh-CN" altLang="en-US" sz="2400" dirty="0">
                <a:latin typeface="Wingdings" panose="05000000000000000000" pitchFamily="2" charset="2"/>
                <a:ea typeface="宋体" pitchFamily="2" charset="-122"/>
              </a:rPr>
              <a:t>方向”按钮  ：使用默认坐标系的</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x </a:t>
            </a:r>
            <a:r>
              <a:rPr lang="zh-CN" altLang="en-US" sz="2400" dirty="0">
                <a:latin typeface="Wingdings" panose="05000000000000000000" pitchFamily="2" charset="2"/>
                <a:ea typeface="宋体" pitchFamily="2" charset="-122"/>
              </a:rPr>
              <a:t>轴作为参考来创建平面横截面。</a:t>
            </a:r>
          </a:p>
          <a:p>
            <a:pPr indent="457200">
              <a:lnSpc>
                <a:spcPct val="150000"/>
              </a:lnSpc>
            </a:pPr>
            <a:r>
              <a:rPr lang="zh-CN" altLang="en-US" sz="2400" dirty="0">
                <a:latin typeface="Wingdings" panose="05000000000000000000" pitchFamily="2" charset="2"/>
                <a:ea typeface="宋体" pitchFamily="2" charset="-122"/>
              </a:rPr>
              <a:t>	“截面：</a:t>
            </a:r>
            <a:r>
              <a:rPr lang="en-US" altLang="zh-CN" sz="2400" dirty="0">
                <a:latin typeface="宋体" panose="02010600030101010101" pitchFamily="2" charset="-122"/>
                <a:ea typeface="宋体" panose="02010600030101010101" pitchFamily="2" charset="-122"/>
              </a:rPr>
              <a:t>Y </a:t>
            </a:r>
            <a:r>
              <a:rPr lang="zh-CN" altLang="en-US" sz="2400" dirty="0">
                <a:latin typeface="Wingdings" panose="05000000000000000000" pitchFamily="2" charset="2"/>
                <a:ea typeface="宋体" pitchFamily="2" charset="-122"/>
              </a:rPr>
              <a:t>方向”按钮  ：使用默认坐标系的</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y </a:t>
            </a:r>
            <a:r>
              <a:rPr lang="zh-CN" altLang="en-US" sz="2400" dirty="0">
                <a:latin typeface="Wingdings" panose="05000000000000000000" pitchFamily="2" charset="2"/>
                <a:ea typeface="宋体" pitchFamily="2" charset="-122"/>
              </a:rPr>
              <a:t>轴作为参考来创建平面横截面。</a:t>
            </a:r>
          </a:p>
          <a:p>
            <a:pPr indent="457200">
              <a:lnSpc>
                <a:spcPct val="150000"/>
              </a:lnSpc>
            </a:pPr>
            <a:r>
              <a:rPr lang="zh-CN" altLang="en-US" sz="2400" dirty="0">
                <a:latin typeface="Wingdings" panose="05000000000000000000" pitchFamily="2" charset="2"/>
                <a:ea typeface="宋体" pitchFamily="2" charset="-122"/>
              </a:rPr>
              <a:t>	“截面：</a:t>
            </a:r>
            <a:r>
              <a:rPr lang="en-US" altLang="zh-CN" sz="2400" dirty="0">
                <a:latin typeface="宋体" panose="02010600030101010101" pitchFamily="2" charset="-122"/>
                <a:ea typeface="宋体" panose="02010600030101010101" pitchFamily="2" charset="-122"/>
              </a:rPr>
              <a:t>Z </a:t>
            </a:r>
            <a:r>
              <a:rPr lang="zh-CN" altLang="en-US" sz="2400" dirty="0">
                <a:latin typeface="Wingdings" panose="05000000000000000000" pitchFamily="2" charset="2"/>
                <a:ea typeface="宋体" pitchFamily="2" charset="-122"/>
              </a:rPr>
              <a:t>方向”按钮  ：使用默认坐标系的</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z </a:t>
            </a:r>
            <a:r>
              <a:rPr lang="zh-CN" altLang="en-US" sz="2400" dirty="0">
                <a:latin typeface="Wingdings" panose="05000000000000000000" pitchFamily="2" charset="2"/>
                <a:ea typeface="宋体" pitchFamily="2" charset="-122"/>
              </a:rPr>
              <a:t>轴作为参考来创建平面横截面。</a:t>
            </a:r>
          </a:p>
          <a:p>
            <a:pPr indent="457200">
              <a:lnSpc>
                <a:spcPct val="150000"/>
              </a:lnSpc>
            </a:pPr>
            <a:r>
              <a:rPr lang="zh-CN" altLang="en-US" sz="2400" dirty="0">
                <a:latin typeface="Wingdings" panose="05000000000000000000" pitchFamily="2" charset="2"/>
                <a:ea typeface="宋体" pitchFamily="2" charset="-122"/>
              </a:rPr>
              <a:t>	“截面：偏移”按钮  ：使用草绘作为参考来创建偏移横截面。</a:t>
            </a:r>
          </a:p>
          <a:p>
            <a:pPr indent="457200">
              <a:lnSpc>
                <a:spcPct val="150000"/>
              </a:lnSpc>
            </a:pPr>
            <a:r>
              <a:rPr lang="zh-CN" altLang="en-US" sz="2400" dirty="0">
                <a:latin typeface="Wingdings" panose="05000000000000000000" pitchFamily="2" charset="2"/>
                <a:ea typeface="宋体" pitchFamily="2" charset="-122"/>
              </a:rPr>
              <a:t>	“截面：区域”按钮  ：创建区域。</a:t>
            </a:r>
          </a:p>
        </p:txBody>
      </p:sp>
      <p:pic>
        <p:nvPicPr>
          <p:cNvPr id="3" name="图片 2">
            <a:extLst>
              <a:ext uri="{FF2B5EF4-FFF2-40B4-BE49-F238E27FC236}">
                <a16:creationId xmlns:a16="http://schemas.microsoft.com/office/drawing/2014/main" id="{931D1B0C-6C59-FE24-E58A-36ED2869CCA8}"/>
              </a:ext>
            </a:extLst>
          </p:cNvPr>
          <p:cNvPicPr>
            <a:picLocks noChangeAspect="1"/>
          </p:cNvPicPr>
          <p:nvPr/>
        </p:nvPicPr>
        <p:blipFill>
          <a:blip r:embed="rId2"/>
          <a:stretch>
            <a:fillRect/>
          </a:stretch>
        </p:blipFill>
        <p:spPr>
          <a:xfrm>
            <a:off x="4191000" y="962025"/>
            <a:ext cx="335280" cy="304800"/>
          </a:xfrm>
          <a:prstGeom prst="rect">
            <a:avLst/>
          </a:prstGeom>
        </p:spPr>
      </p:pic>
      <p:pic>
        <p:nvPicPr>
          <p:cNvPr id="4" name="图片 3">
            <a:extLst>
              <a:ext uri="{FF2B5EF4-FFF2-40B4-BE49-F238E27FC236}">
                <a16:creationId xmlns:a16="http://schemas.microsoft.com/office/drawing/2014/main" id="{4A3CD098-90DB-D8DA-B496-E70E343D4B2D}"/>
              </a:ext>
            </a:extLst>
          </p:cNvPr>
          <p:cNvPicPr>
            <a:picLocks noChangeAspect="1"/>
          </p:cNvPicPr>
          <p:nvPr/>
        </p:nvPicPr>
        <p:blipFill>
          <a:blip r:embed="rId3"/>
          <a:stretch>
            <a:fillRect/>
          </a:stretch>
        </p:blipFill>
        <p:spPr>
          <a:xfrm>
            <a:off x="4526280" y="2090737"/>
            <a:ext cx="289560" cy="320040"/>
          </a:xfrm>
          <a:prstGeom prst="rect">
            <a:avLst/>
          </a:prstGeom>
        </p:spPr>
      </p:pic>
      <p:pic>
        <p:nvPicPr>
          <p:cNvPr id="5" name="图片 4">
            <a:extLst>
              <a:ext uri="{FF2B5EF4-FFF2-40B4-BE49-F238E27FC236}">
                <a16:creationId xmlns:a16="http://schemas.microsoft.com/office/drawing/2014/main" id="{28C6426F-099C-8F89-247A-609B3DEEC442}"/>
              </a:ext>
            </a:extLst>
          </p:cNvPr>
          <p:cNvPicPr>
            <a:picLocks noChangeAspect="1"/>
          </p:cNvPicPr>
          <p:nvPr/>
        </p:nvPicPr>
        <p:blipFill>
          <a:blip r:embed="rId4"/>
          <a:stretch>
            <a:fillRect/>
          </a:stretch>
        </p:blipFill>
        <p:spPr>
          <a:xfrm>
            <a:off x="4526280" y="3139440"/>
            <a:ext cx="320040" cy="289560"/>
          </a:xfrm>
          <a:prstGeom prst="rect">
            <a:avLst/>
          </a:prstGeom>
        </p:spPr>
      </p:pic>
      <p:pic>
        <p:nvPicPr>
          <p:cNvPr id="6" name="图片 5">
            <a:extLst>
              <a:ext uri="{FF2B5EF4-FFF2-40B4-BE49-F238E27FC236}">
                <a16:creationId xmlns:a16="http://schemas.microsoft.com/office/drawing/2014/main" id="{4ADF74C4-7416-5330-A5D0-2631C128A844}"/>
              </a:ext>
            </a:extLst>
          </p:cNvPr>
          <p:cNvPicPr>
            <a:picLocks noChangeAspect="1"/>
          </p:cNvPicPr>
          <p:nvPr/>
        </p:nvPicPr>
        <p:blipFill>
          <a:blip r:embed="rId5"/>
          <a:stretch>
            <a:fillRect/>
          </a:stretch>
        </p:blipFill>
        <p:spPr>
          <a:xfrm>
            <a:off x="4495800" y="4286255"/>
            <a:ext cx="320040" cy="289560"/>
          </a:xfrm>
          <a:prstGeom prst="rect">
            <a:avLst/>
          </a:prstGeom>
        </p:spPr>
      </p:pic>
      <p:pic>
        <p:nvPicPr>
          <p:cNvPr id="7" name="图片 6">
            <a:extLst>
              <a:ext uri="{FF2B5EF4-FFF2-40B4-BE49-F238E27FC236}">
                <a16:creationId xmlns:a16="http://schemas.microsoft.com/office/drawing/2014/main" id="{DB7B4360-5277-2995-E487-2E37AEE1FCD2}"/>
              </a:ext>
            </a:extLst>
          </p:cNvPr>
          <p:cNvPicPr>
            <a:picLocks noChangeAspect="1"/>
          </p:cNvPicPr>
          <p:nvPr/>
        </p:nvPicPr>
        <p:blipFill>
          <a:blip r:embed="rId6"/>
          <a:stretch>
            <a:fillRect/>
          </a:stretch>
        </p:blipFill>
        <p:spPr>
          <a:xfrm>
            <a:off x="4198620" y="5362828"/>
            <a:ext cx="320040" cy="289560"/>
          </a:xfrm>
          <a:prstGeom prst="rect">
            <a:avLst/>
          </a:prstGeom>
        </p:spPr>
      </p:pic>
      <p:pic>
        <p:nvPicPr>
          <p:cNvPr id="8" name="图片 7">
            <a:extLst>
              <a:ext uri="{FF2B5EF4-FFF2-40B4-BE49-F238E27FC236}">
                <a16:creationId xmlns:a16="http://schemas.microsoft.com/office/drawing/2014/main" id="{DA06076C-90EC-6CDB-18CA-3C6EF053DBC4}"/>
              </a:ext>
            </a:extLst>
          </p:cNvPr>
          <p:cNvPicPr>
            <a:picLocks noChangeAspect="1"/>
          </p:cNvPicPr>
          <p:nvPr/>
        </p:nvPicPr>
        <p:blipFill>
          <a:blip r:embed="rId7"/>
          <a:stretch>
            <a:fillRect/>
          </a:stretch>
        </p:blipFill>
        <p:spPr>
          <a:xfrm>
            <a:off x="4203379" y="5916440"/>
            <a:ext cx="320040" cy="320040"/>
          </a:xfrm>
          <a:prstGeom prst="rect">
            <a:avLst/>
          </a:prstGeom>
        </p:spPr>
      </p:pic>
    </p:spTree>
    <p:extLst>
      <p:ext uri="{BB962C8B-B14F-4D97-AF65-F5344CB8AC3E}">
        <p14:creationId xmlns:p14="http://schemas.microsoft.com/office/powerpoint/2010/main" val="690581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B4CE23F7-09D7-C051-BAAD-A0341ADC61B8}"/>
              </a:ext>
            </a:extLst>
          </p:cNvPr>
          <p:cNvSpPr txBox="1"/>
          <p:nvPr/>
        </p:nvSpPr>
        <p:spPr>
          <a:xfrm>
            <a:off x="5022629" y="5230566"/>
            <a:ext cx="214674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4-15 </a:t>
            </a:r>
            <a:r>
              <a:rPr lang="zh-CN" altLang="en-US" dirty="0">
                <a:latin typeface="黑体" panose="02010609060101010101" pitchFamily="49" charset="-122"/>
                <a:ea typeface="黑体" panose="02010609060101010101" pitchFamily="49" charset="-122"/>
              </a:rPr>
              <a:t>视图管理器</a:t>
            </a:r>
          </a:p>
        </p:txBody>
      </p:sp>
      <p:pic>
        <p:nvPicPr>
          <p:cNvPr id="2" name="图片 1">
            <a:extLst>
              <a:ext uri="{FF2B5EF4-FFF2-40B4-BE49-F238E27FC236}">
                <a16:creationId xmlns:a16="http://schemas.microsoft.com/office/drawing/2014/main" id="{054C84F6-4493-3AF4-274C-24986EA34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6761" y="1120456"/>
            <a:ext cx="3058478" cy="3958099"/>
          </a:xfrm>
          <a:prstGeom prst="rect">
            <a:avLst/>
          </a:prstGeom>
        </p:spPr>
      </p:pic>
    </p:spTree>
    <p:extLst>
      <p:ext uri="{BB962C8B-B14F-4D97-AF65-F5344CB8AC3E}">
        <p14:creationId xmlns:p14="http://schemas.microsoft.com/office/powerpoint/2010/main" val="3406999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989688"/>
            <a:ext cx="11476383" cy="3240439"/>
          </a:xfrm>
          <a:prstGeom prst="rect">
            <a:avLst/>
          </a:prstGeom>
          <a:noFill/>
        </p:spPr>
        <p:txBody>
          <a:bodyPr wrap="square" rtlCol="0">
            <a:spAutoFit/>
          </a:bodyPr>
          <a:lstStyle/>
          <a:p>
            <a:pPr indent="457200">
              <a:lnSpc>
                <a:spcPct val="150000"/>
              </a:lnSpc>
            </a:pPr>
            <a:r>
              <a:rPr lang="zh-CN" altLang="en-US" sz="2800" dirty="0">
                <a:latin typeface="宋体" panose="02010600030101010101" pitchFamily="2" charset="-122"/>
                <a:ea typeface="宋体" panose="02010600030101010101" pitchFamily="2" charset="-122"/>
              </a:rPr>
              <a:t>使用“来自横截面的曲线”命令方式创建基准曲线的操作步骤如下。</a:t>
            </a:r>
          </a:p>
          <a:p>
            <a:pPr indent="457200">
              <a:lnSpc>
                <a:spcPct val="150000"/>
              </a:lnSpc>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）选择“来自横截面的曲线”命令，打开</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曲线</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选项卡。</a:t>
            </a:r>
          </a:p>
          <a:p>
            <a:pPr indent="457200">
              <a:lnSpc>
                <a:spcPct val="150000"/>
              </a:lnSpc>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）在</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曲线</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选项卡的“横截面”下拉列表框中选择用来创建曲线的命名横截面，即已经创建的横截面名称。</a:t>
            </a:r>
          </a:p>
          <a:p>
            <a:pPr indent="457200">
              <a:lnSpc>
                <a:spcPct val="150000"/>
              </a:lnSpc>
            </a:pP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）在</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曲线</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选项卡中单击“确定”按钮。</a:t>
            </a:r>
          </a:p>
        </p:txBody>
      </p:sp>
    </p:spTree>
    <p:extLst>
      <p:ext uri="{BB962C8B-B14F-4D97-AF65-F5344CB8AC3E}">
        <p14:creationId xmlns:p14="http://schemas.microsoft.com/office/powerpoint/2010/main" val="2978251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565624"/>
            <a:ext cx="11476383" cy="4533100"/>
          </a:xfrm>
          <a:prstGeom prst="rect">
            <a:avLst/>
          </a:prstGeom>
          <a:noFill/>
        </p:spPr>
        <p:txBody>
          <a:bodyPr wrap="square" rtlCol="0">
            <a:spAutoFit/>
          </a:bodyPr>
          <a:lstStyle/>
          <a:p>
            <a:pPr indent="457200">
              <a:lnSpc>
                <a:spcPct val="150000"/>
              </a:lnSpc>
            </a:pPr>
            <a:r>
              <a:rPr lang="zh-CN" altLang="en-US" sz="2800" dirty="0">
                <a:latin typeface="Wingdings" panose="05000000000000000000" pitchFamily="2" charset="2"/>
                <a:ea typeface="宋体" pitchFamily="2" charset="-122"/>
              </a:rPr>
              <a:t>来自方程的曲线</a:t>
            </a:r>
            <a:endParaRPr lang="en-US" altLang="zh-CN" sz="2800" dirty="0">
              <a:latin typeface="Wingdings" panose="05000000000000000000" pitchFamily="2" charset="2"/>
              <a:ea typeface="宋体" pitchFamily="2" charset="-122"/>
            </a:endParaRPr>
          </a:p>
          <a:p>
            <a:pPr indent="457200">
              <a:lnSpc>
                <a:spcPct val="150000"/>
              </a:lnSpc>
            </a:pPr>
            <a:r>
              <a:rPr lang="zh-CN" altLang="en-US" sz="2800" dirty="0">
                <a:latin typeface="宋体" panose="02010600030101010101" pitchFamily="2" charset="-122"/>
                <a:ea typeface="宋体" panose="02010600030101010101" pitchFamily="2" charset="-122"/>
              </a:rPr>
              <a:t>通过方程可以创建许多以手工草绘方式所不能或者很难精确创建的复杂曲线，如三角函数曲线、渐开线、双曲线等。</a:t>
            </a:r>
          </a:p>
          <a:p>
            <a:pPr indent="457200">
              <a:lnSpc>
                <a:spcPct val="150000"/>
              </a:lnSpc>
            </a:pPr>
            <a:r>
              <a:rPr lang="zh-CN" altLang="en-US" sz="2800" dirty="0">
                <a:latin typeface="宋体" panose="02010600030101010101" pitchFamily="2" charset="-122"/>
                <a:ea typeface="宋体" panose="02010600030101010101" pitchFamily="2" charset="-122"/>
              </a:rPr>
              <a:t>在功能区的</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模型</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选项卡中单击</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基准</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组下拉三角按钮，接着单击“曲线”命令旁的箭头并选择“来自方程的曲线”命令，功能区出现如图 </a:t>
            </a:r>
            <a:r>
              <a:rPr lang="en-US" altLang="zh-CN" sz="2800" dirty="0">
                <a:latin typeface="宋体" panose="02010600030101010101" pitchFamily="2" charset="-122"/>
                <a:ea typeface="宋体" panose="02010600030101010101" pitchFamily="2" charset="-122"/>
              </a:rPr>
              <a:t>4-16 </a:t>
            </a:r>
            <a:r>
              <a:rPr lang="zh-CN" altLang="en-US" sz="2800" dirty="0">
                <a:latin typeface="宋体" panose="02010600030101010101" pitchFamily="2" charset="-122"/>
                <a:ea typeface="宋体" panose="02010600030101010101" pitchFamily="2" charset="-122"/>
              </a:rPr>
              <a:t>所示的</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曲线：从方程</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选项卡，其中各主要组成元素的功能含义如下。</a:t>
            </a:r>
          </a:p>
        </p:txBody>
      </p:sp>
    </p:spTree>
    <p:extLst>
      <p:ext uri="{BB962C8B-B14F-4D97-AF65-F5344CB8AC3E}">
        <p14:creationId xmlns:p14="http://schemas.microsoft.com/office/powerpoint/2010/main" val="2984716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B4CE23F7-09D7-C051-BAAD-A0341ADC61B8}"/>
              </a:ext>
            </a:extLst>
          </p:cNvPr>
          <p:cNvSpPr txBox="1"/>
          <p:nvPr/>
        </p:nvSpPr>
        <p:spPr>
          <a:xfrm>
            <a:off x="4330132" y="4064375"/>
            <a:ext cx="353173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4-16 【</a:t>
            </a:r>
            <a:r>
              <a:rPr lang="zh-CN" altLang="en-US" dirty="0">
                <a:latin typeface="黑体" panose="02010609060101010101" pitchFamily="49" charset="-122"/>
                <a:ea typeface="黑体" panose="02010609060101010101" pitchFamily="49" charset="-122"/>
              </a:rPr>
              <a:t>曲线：从方程</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pic>
        <p:nvPicPr>
          <p:cNvPr id="3" name="图片 2">
            <a:extLst>
              <a:ext uri="{FF2B5EF4-FFF2-40B4-BE49-F238E27FC236}">
                <a16:creationId xmlns:a16="http://schemas.microsoft.com/office/drawing/2014/main" id="{5CE56582-9777-37A1-7C5F-A105695BF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284" y="2341754"/>
            <a:ext cx="9313432" cy="1488123"/>
          </a:xfrm>
          <a:prstGeom prst="rect">
            <a:avLst/>
          </a:prstGeom>
        </p:spPr>
      </p:pic>
    </p:spTree>
    <p:extLst>
      <p:ext uri="{BB962C8B-B14F-4D97-AF65-F5344CB8AC3E}">
        <p14:creationId xmlns:p14="http://schemas.microsoft.com/office/powerpoint/2010/main" val="177886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764403"/>
            <a:ext cx="11476383" cy="5560689"/>
          </a:xfrm>
          <a:prstGeom prst="rect">
            <a:avLst/>
          </a:prstGeom>
          <a:noFill/>
        </p:spPr>
        <p:txBody>
          <a:bodyPr wrap="square" rtlCol="0">
            <a:spAutoFit/>
          </a:bodyPr>
          <a:lstStyle/>
          <a:p>
            <a:pPr indent="457200">
              <a:lnSpc>
                <a:spcPct val="150000"/>
              </a:lnSpc>
            </a:pPr>
            <a:r>
              <a:rPr lang="zh-CN" altLang="en-US" sz="2400" dirty="0">
                <a:latin typeface="Wingdings" panose="05000000000000000000" pitchFamily="2" charset="2"/>
                <a:ea typeface="宋体" pitchFamily="2" charset="-122"/>
              </a:rPr>
              <a:t>“坐标系”下拉列表框：定义坐标系类型，可供选择的坐标系类型有“笛卡尔”、“柱坐标”和“球坐标”。</a:t>
            </a:r>
            <a:endParaRPr lang="en-US" altLang="zh-CN" sz="2400" dirty="0">
              <a:latin typeface="Wingdings" panose="05000000000000000000" pitchFamily="2" charset="2"/>
              <a:ea typeface="宋体" pitchFamily="2" charset="-122"/>
            </a:endParaRPr>
          </a:p>
          <a:p>
            <a:pPr indent="457200">
              <a:lnSpc>
                <a:spcPct val="150000"/>
              </a:lnSpc>
            </a:pPr>
            <a:r>
              <a:rPr lang="zh-CN" altLang="en-US" sz="2400" dirty="0">
                <a:latin typeface="Wingdings" panose="05000000000000000000" pitchFamily="2" charset="2"/>
                <a:ea typeface="宋体" pitchFamily="2" charset="-122"/>
              </a:rPr>
              <a:t>	“方程”按钮：单击此按钮，将打开一个</a:t>
            </a:r>
            <a:r>
              <a:rPr lang="en-US" altLang="zh-CN" sz="2400" dirty="0">
                <a:latin typeface="Wingdings" panose="05000000000000000000" pitchFamily="2" charset="2"/>
                <a:ea typeface="宋体" pitchFamily="2" charset="-122"/>
              </a:rPr>
              <a:t>【</a:t>
            </a:r>
            <a:r>
              <a:rPr lang="zh-CN" altLang="en-US" sz="2400" dirty="0">
                <a:latin typeface="Wingdings" panose="05000000000000000000" pitchFamily="2" charset="2"/>
                <a:ea typeface="宋体" pitchFamily="2" charset="-122"/>
              </a:rPr>
              <a:t>方程</a:t>
            </a:r>
            <a:r>
              <a:rPr lang="en-US" altLang="zh-CN" sz="2400" dirty="0">
                <a:latin typeface="Wingdings" panose="05000000000000000000" pitchFamily="2" charset="2"/>
                <a:ea typeface="宋体" pitchFamily="2" charset="-122"/>
              </a:rPr>
              <a:t>】</a:t>
            </a:r>
            <a:r>
              <a:rPr lang="zh-CN" altLang="en-US" sz="2400" dirty="0">
                <a:latin typeface="Wingdings" panose="05000000000000000000" pitchFamily="2" charset="2"/>
                <a:ea typeface="宋体" pitchFamily="2" charset="-122"/>
              </a:rPr>
              <a:t>对话框以输入和编辑所需的方程。</a:t>
            </a:r>
          </a:p>
          <a:p>
            <a:pPr indent="457200">
              <a:lnSpc>
                <a:spcPct val="150000"/>
              </a:lnSpc>
            </a:pPr>
            <a:r>
              <a:rPr lang="zh-CN" altLang="en-US" sz="2400" dirty="0">
                <a:latin typeface="Wingdings" panose="05000000000000000000" pitchFamily="2" charset="2"/>
                <a:ea typeface="宋体" pitchFamily="2" charset="-122"/>
              </a:rPr>
              <a:t>	“自”框：设置自变量范围的下限值。</a:t>
            </a:r>
          </a:p>
          <a:p>
            <a:pPr indent="457200">
              <a:lnSpc>
                <a:spcPct val="150000"/>
              </a:lnSpc>
            </a:pPr>
            <a:r>
              <a:rPr lang="zh-CN" altLang="en-US" sz="2400" dirty="0">
                <a:latin typeface="Wingdings" panose="05000000000000000000" pitchFamily="2" charset="2"/>
                <a:ea typeface="宋体" pitchFamily="2" charset="-122"/>
              </a:rPr>
              <a:t>	“至”框：设置自变量范围的上限值。</a:t>
            </a:r>
          </a:p>
          <a:p>
            <a:pPr indent="457200">
              <a:lnSpc>
                <a:spcPct val="150000"/>
              </a:lnSpc>
            </a:pPr>
            <a:r>
              <a:rPr lang="zh-CN" altLang="en-US" sz="2400" dirty="0">
                <a:latin typeface="Wingdings" panose="05000000000000000000" pitchFamily="2" charset="2"/>
                <a:ea typeface="宋体" pitchFamily="2" charset="-122"/>
              </a:rPr>
              <a:t>	“参考”面板：该面板包含一个“坐标系”收集器，用于收集和显示表示方程零点的基准坐标系或目的基准坐标系。</a:t>
            </a:r>
          </a:p>
          <a:p>
            <a:pPr indent="457200">
              <a:lnSpc>
                <a:spcPct val="150000"/>
              </a:lnSpc>
            </a:pPr>
            <a:r>
              <a:rPr lang="zh-CN" altLang="en-US" sz="2400" dirty="0">
                <a:latin typeface="Wingdings" panose="05000000000000000000" pitchFamily="2" charset="2"/>
                <a:ea typeface="宋体" pitchFamily="2" charset="-122"/>
              </a:rPr>
              <a:t>	“属性”面板：在该面板中可以设置特征名称，</a:t>
            </a:r>
            <a:r>
              <a:rPr lang="zh-CN" altLang="en-US" sz="2400" dirty="0">
                <a:latin typeface="宋体" panose="02010600030101010101" pitchFamily="2" charset="-122"/>
                <a:ea typeface="宋体" panose="02010600030101010101" pitchFamily="2" charset="-122"/>
              </a:rPr>
              <a:t>以及在 </a:t>
            </a:r>
            <a:r>
              <a:rPr lang="en-US" altLang="zh-CN" sz="2400" dirty="0">
                <a:latin typeface="宋体" panose="02010600030101010101" pitchFamily="2" charset="-122"/>
                <a:ea typeface="宋体" panose="02010600030101010101" pitchFamily="2" charset="-122"/>
              </a:rPr>
              <a:t>Creo Parametric 8.0 </a:t>
            </a:r>
            <a:r>
              <a:rPr lang="zh-CN" altLang="en-US" sz="2400" dirty="0">
                <a:latin typeface="Wingdings" panose="05000000000000000000" pitchFamily="2" charset="2"/>
                <a:ea typeface="宋体" pitchFamily="2" charset="-122"/>
              </a:rPr>
              <a:t>浏览器中显示详细的该特征信息。</a:t>
            </a:r>
          </a:p>
        </p:txBody>
      </p:sp>
    </p:spTree>
    <p:extLst>
      <p:ext uri="{BB962C8B-B14F-4D97-AF65-F5344CB8AC3E}">
        <p14:creationId xmlns:p14="http://schemas.microsoft.com/office/powerpoint/2010/main" val="3637675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6BAABB26-45DC-48A8-B771-A500AF4F8B0B}"/>
              </a:ext>
            </a:extLst>
          </p:cNvPr>
          <p:cNvSpPr txBox="1"/>
          <p:nvPr/>
        </p:nvSpPr>
        <p:spPr>
          <a:xfrm>
            <a:off x="357808" y="1246461"/>
            <a:ext cx="11476383" cy="2595839"/>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在三维空间中创建基准坐标系，这些坐标系可以是笛卡儿坐标系、柱坐标系和球坐标系，其中常用的基准坐标系为笛卡儿坐标系。</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要创建基准坐标系，则在功能区的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基准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组中单击“坐标系”按钮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坐标系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a:t>
            </a:r>
          </a:p>
        </p:txBody>
      </p:sp>
      <p:sp>
        <p:nvSpPr>
          <p:cNvPr id="4" name="TextBox 1">
            <a:extLst>
              <a:ext uri="{FF2B5EF4-FFF2-40B4-BE49-F238E27FC236}">
                <a16:creationId xmlns:a16="http://schemas.microsoft.com/office/drawing/2014/main" id="{DE53A96E-9C66-3517-3F11-2818B402952A}"/>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4.6</a:t>
            </a:r>
            <a:r>
              <a:rPr lang="zh-CN" altLang="en-US" sz="3200" dirty="0">
                <a:solidFill>
                  <a:schemeClr val="bg1"/>
                </a:solidFill>
                <a:latin typeface="Times New Roman" pitchFamily="18" charset="0"/>
                <a:ea typeface="黑体" pitchFamily="49" charset="-122"/>
              </a:rPr>
              <a:t>基准坐标系</a:t>
            </a:r>
            <a:endParaRPr lang="en-US" altLang="zh-CN" sz="3200" dirty="0">
              <a:solidFill>
                <a:schemeClr val="bg1"/>
              </a:solidFill>
              <a:latin typeface="Times New Roman" pitchFamily="18" charset="0"/>
              <a:ea typeface="黑体" pitchFamily="49" charset="-122"/>
            </a:endParaRPr>
          </a:p>
        </p:txBody>
      </p:sp>
      <p:pic>
        <p:nvPicPr>
          <p:cNvPr id="3" name="图片 2">
            <a:extLst>
              <a:ext uri="{FF2B5EF4-FFF2-40B4-BE49-F238E27FC236}">
                <a16:creationId xmlns:a16="http://schemas.microsoft.com/office/drawing/2014/main" id="{7095DC71-A984-C566-1696-4FFABE325955}"/>
              </a:ext>
            </a:extLst>
          </p:cNvPr>
          <p:cNvPicPr>
            <a:picLocks noChangeAspect="1"/>
          </p:cNvPicPr>
          <p:nvPr/>
        </p:nvPicPr>
        <p:blipFill>
          <a:blip r:embed="rId2"/>
          <a:stretch>
            <a:fillRect/>
          </a:stretch>
        </p:blipFill>
        <p:spPr>
          <a:xfrm>
            <a:off x="3286126" y="3400424"/>
            <a:ext cx="377190" cy="377190"/>
          </a:xfrm>
          <a:prstGeom prst="rect">
            <a:avLst/>
          </a:prstGeom>
        </p:spPr>
      </p:pic>
    </p:spTree>
    <p:extLst>
      <p:ext uri="{BB962C8B-B14F-4D97-AF65-F5344CB8AC3E}">
        <p14:creationId xmlns:p14="http://schemas.microsoft.com/office/powerpoint/2010/main" val="2110384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18F6FA0-99DE-31A1-6326-3DCBB71961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5913" y="734694"/>
            <a:ext cx="3184207" cy="4793930"/>
          </a:xfrm>
          <a:prstGeom prst="rect">
            <a:avLst/>
          </a:prstGeom>
        </p:spPr>
      </p:pic>
      <p:pic>
        <p:nvPicPr>
          <p:cNvPr id="6" name="图片 5">
            <a:extLst>
              <a:ext uri="{FF2B5EF4-FFF2-40B4-BE49-F238E27FC236}">
                <a16:creationId xmlns:a16="http://schemas.microsoft.com/office/drawing/2014/main" id="{6AA50181-8054-33DE-F8E2-2B61BD3E99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2126" y="724060"/>
            <a:ext cx="3184207" cy="4804564"/>
          </a:xfrm>
          <a:prstGeom prst="rect">
            <a:avLst/>
          </a:prstGeom>
        </p:spPr>
      </p:pic>
      <p:sp>
        <p:nvSpPr>
          <p:cNvPr id="7" name="TextBox 1">
            <a:extLst>
              <a:ext uri="{FF2B5EF4-FFF2-40B4-BE49-F238E27FC236}">
                <a16:creationId xmlns:a16="http://schemas.microsoft.com/office/drawing/2014/main" id="{4D2F0139-BE2F-7D26-820D-EAEF531704E6}"/>
              </a:ext>
            </a:extLst>
          </p:cNvPr>
          <p:cNvSpPr txBox="1"/>
          <p:nvPr/>
        </p:nvSpPr>
        <p:spPr>
          <a:xfrm>
            <a:off x="950482" y="5753974"/>
            <a:ext cx="445506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4-17 【</a:t>
            </a:r>
            <a:r>
              <a:rPr lang="zh-CN" altLang="en-US" dirty="0">
                <a:latin typeface="黑体" panose="02010609060101010101" pitchFamily="49" charset="-122"/>
                <a:ea typeface="黑体" panose="02010609060101010101" pitchFamily="49" charset="-122"/>
              </a:rPr>
              <a:t>坐标系</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对话框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原点</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sp>
        <p:nvSpPr>
          <p:cNvPr id="8" name="TextBox 1">
            <a:extLst>
              <a:ext uri="{FF2B5EF4-FFF2-40B4-BE49-F238E27FC236}">
                <a16:creationId xmlns:a16="http://schemas.microsoft.com/office/drawing/2014/main" id="{5328016D-56C1-7DC5-5702-4E0FEF4E3B11}"/>
              </a:ext>
            </a:extLst>
          </p:cNvPr>
          <p:cNvSpPr txBox="1"/>
          <p:nvPr/>
        </p:nvSpPr>
        <p:spPr>
          <a:xfrm>
            <a:off x="6250115" y="5753974"/>
            <a:ext cx="4339651"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4-18【</a:t>
            </a:r>
            <a:r>
              <a:rPr lang="zh-CN" altLang="en-US" dirty="0">
                <a:latin typeface="黑体" panose="02010609060101010101" pitchFamily="49" charset="-122"/>
                <a:ea typeface="黑体" panose="02010609060101010101" pitchFamily="49" charset="-122"/>
              </a:rPr>
              <a:t>坐标系</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对话框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方向</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spTree>
    <p:extLst>
      <p:ext uri="{BB962C8B-B14F-4D97-AF65-F5344CB8AC3E}">
        <p14:creationId xmlns:p14="http://schemas.microsoft.com/office/powerpoint/2010/main" val="16475682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5022628" y="6018021"/>
            <a:ext cx="214674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4-19 </a:t>
            </a:r>
            <a:r>
              <a:rPr lang="zh-CN" altLang="en-US" dirty="0">
                <a:latin typeface="黑体" panose="02010609060101010101" pitchFamily="49" charset="-122"/>
                <a:ea typeface="黑体" panose="02010609060101010101" pitchFamily="49" charset="-122"/>
              </a:rPr>
              <a:t>支架零件图</a:t>
            </a:r>
          </a:p>
        </p:txBody>
      </p:sp>
      <p:sp>
        <p:nvSpPr>
          <p:cNvPr id="2" name="TextBox 1">
            <a:extLst>
              <a:ext uri="{FF2B5EF4-FFF2-40B4-BE49-F238E27FC236}">
                <a16:creationId xmlns:a16="http://schemas.microsoft.com/office/drawing/2014/main" id="{D5BFEFB4-EF70-E690-91A1-9BFE89440C19}"/>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4.7</a:t>
            </a:r>
            <a:r>
              <a:rPr lang="zh-CN" altLang="en-US" sz="3200" dirty="0">
                <a:solidFill>
                  <a:schemeClr val="bg1"/>
                </a:solidFill>
                <a:latin typeface="Times New Roman" pitchFamily="18" charset="0"/>
                <a:ea typeface="黑体" pitchFamily="49" charset="-122"/>
              </a:rPr>
              <a:t>综合实例</a:t>
            </a:r>
            <a:endParaRPr lang="en-US" altLang="zh-CN" sz="3200" dirty="0">
              <a:solidFill>
                <a:schemeClr val="bg1"/>
              </a:solidFill>
              <a:latin typeface="Times New Roman" pitchFamily="18" charset="0"/>
              <a:ea typeface="黑体" pitchFamily="49" charset="-122"/>
            </a:endParaRPr>
          </a:p>
        </p:txBody>
      </p:sp>
      <p:sp>
        <p:nvSpPr>
          <p:cNvPr id="4" name="文本框 3">
            <a:extLst>
              <a:ext uri="{FF2B5EF4-FFF2-40B4-BE49-F238E27FC236}">
                <a16:creationId xmlns:a16="http://schemas.microsoft.com/office/drawing/2014/main" id="{EC93CFC9-5A39-BADC-30BA-D38F1724962D}"/>
              </a:ext>
            </a:extLst>
          </p:cNvPr>
          <p:cNvSpPr txBox="1"/>
          <p:nvPr/>
        </p:nvSpPr>
        <p:spPr>
          <a:xfrm>
            <a:off x="460562" y="1301226"/>
            <a:ext cx="7283053" cy="523220"/>
          </a:xfrm>
          <a:prstGeom prst="rect">
            <a:avLst/>
          </a:prstGeom>
          <a:noFill/>
        </p:spPr>
        <p:txBody>
          <a:bodyPr wrap="square">
            <a:spAutoFit/>
          </a:bodyPr>
          <a:lstStyle/>
          <a:p>
            <a:r>
              <a:rPr lang="zh-CN" altLang="en-US" sz="2800" dirty="0">
                <a:latin typeface="宋体" panose="02010600030101010101" pitchFamily="2" charset="-122"/>
                <a:ea typeface="宋体" panose="02010600030101010101" pitchFamily="2" charset="-122"/>
              </a:rPr>
              <a:t>运用基准创建图</a:t>
            </a:r>
            <a:r>
              <a:rPr lang="en-US" altLang="zh-CN" sz="2800" dirty="0">
                <a:latin typeface="宋体" panose="02010600030101010101" pitchFamily="2" charset="-122"/>
                <a:ea typeface="宋体" panose="02010600030101010101" pitchFamily="2" charset="-122"/>
              </a:rPr>
              <a:t>4-19</a:t>
            </a:r>
            <a:r>
              <a:rPr lang="zh-CN" altLang="en-US" sz="2800" dirty="0">
                <a:latin typeface="宋体" panose="02010600030101010101" pitchFamily="2" charset="-122"/>
                <a:ea typeface="宋体" panose="02010600030101010101" pitchFamily="2" charset="-122"/>
              </a:rPr>
              <a:t>所示的零件倾斜支架。</a:t>
            </a:r>
          </a:p>
        </p:txBody>
      </p:sp>
      <p:pic>
        <p:nvPicPr>
          <p:cNvPr id="9" name="图片 8">
            <a:extLst>
              <a:ext uri="{FF2B5EF4-FFF2-40B4-BE49-F238E27FC236}">
                <a16:creationId xmlns:a16="http://schemas.microsoft.com/office/drawing/2014/main" id="{094E5AC2-3A2D-944D-66CB-9F3C073657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17468" y="1917515"/>
            <a:ext cx="4757065" cy="3963889"/>
          </a:xfrm>
          <a:prstGeom prst="rect">
            <a:avLst/>
          </a:prstGeom>
        </p:spPr>
      </p:pic>
    </p:spTree>
    <p:extLst>
      <p:ext uri="{BB962C8B-B14F-4D97-AF65-F5344CB8AC3E}">
        <p14:creationId xmlns:p14="http://schemas.microsoft.com/office/powerpoint/2010/main" val="1220967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907212" y="6018021"/>
            <a:ext cx="237757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4-20 </a:t>
            </a:r>
            <a:r>
              <a:rPr lang="zh-CN" altLang="en-US" dirty="0">
                <a:latin typeface="黑体" panose="02010609060101010101" pitchFamily="49" charset="-122"/>
                <a:ea typeface="黑体" panose="02010609060101010101" pitchFamily="49" charset="-122"/>
              </a:rPr>
              <a:t>支架零件底盘</a:t>
            </a: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1384995"/>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在</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快速访问</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工具栏中单击“打开”按钮  ，系统弹出</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文件打开</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对话框，选择“</a:t>
            </a:r>
            <a:r>
              <a:rPr lang="en-US" altLang="zh-CN" sz="2800" dirty="0">
                <a:latin typeface="宋体" panose="02010600030101010101" pitchFamily="2" charset="-122"/>
                <a:ea typeface="宋体" panose="02010600030101010101" pitchFamily="2" charset="-122"/>
              </a:rPr>
              <a:t>\DATA\ch4\</a:t>
            </a:r>
            <a:r>
              <a:rPr lang="zh-CN" altLang="en-US" sz="2800" dirty="0">
                <a:latin typeface="宋体" panose="02010600030101010101" pitchFamily="2" charset="-122"/>
                <a:ea typeface="宋体" panose="02010600030101010101" pitchFamily="2" charset="-122"/>
              </a:rPr>
              <a:t>例</a:t>
            </a:r>
            <a:r>
              <a:rPr lang="en-US" altLang="zh-CN" sz="2800" dirty="0">
                <a:latin typeface="宋体" panose="02010600030101010101" pitchFamily="2" charset="-122"/>
                <a:ea typeface="宋体" panose="02010600030101010101" pitchFamily="2" charset="-122"/>
              </a:rPr>
              <a:t>4-1.prt”</a:t>
            </a:r>
            <a:r>
              <a:rPr lang="zh-CN" altLang="en-US" sz="2800" dirty="0">
                <a:latin typeface="宋体" panose="02010600030101010101" pitchFamily="2" charset="-122"/>
                <a:ea typeface="宋体" panose="02010600030101010101" pitchFamily="2" charset="-122"/>
              </a:rPr>
              <a:t>文件，单击“打开”按钮，其中支架零件的底盘已经创建完成，如图</a:t>
            </a:r>
            <a:r>
              <a:rPr lang="en-US" altLang="zh-CN" sz="2800" dirty="0">
                <a:latin typeface="宋体" panose="02010600030101010101" pitchFamily="2" charset="-122"/>
                <a:ea typeface="宋体" panose="02010600030101010101" pitchFamily="2" charset="-122"/>
              </a:rPr>
              <a:t>4-20</a:t>
            </a:r>
            <a:r>
              <a:rPr lang="zh-CN" altLang="en-US" sz="2800" dirty="0">
                <a:latin typeface="宋体" panose="02010600030101010101" pitchFamily="2" charset="-122"/>
                <a:ea typeface="宋体" panose="02010600030101010101" pitchFamily="2" charset="-122"/>
              </a:rPr>
              <a:t>所示。</a:t>
            </a:r>
          </a:p>
        </p:txBody>
      </p:sp>
      <p:pic>
        <p:nvPicPr>
          <p:cNvPr id="3" name="图片 2">
            <a:extLst>
              <a:ext uri="{FF2B5EF4-FFF2-40B4-BE49-F238E27FC236}">
                <a16:creationId xmlns:a16="http://schemas.microsoft.com/office/drawing/2014/main" id="{AE9B43C2-4BB2-B2BB-A6B0-1206B755F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129" y="876301"/>
            <a:ext cx="342900" cy="342900"/>
          </a:xfrm>
          <a:prstGeom prst="rect">
            <a:avLst/>
          </a:prstGeom>
        </p:spPr>
      </p:pic>
      <p:pic>
        <p:nvPicPr>
          <p:cNvPr id="5" name="图片 4">
            <a:extLst>
              <a:ext uri="{FF2B5EF4-FFF2-40B4-BE49-F238E27FC236}">
                <a16:creationId xmlns:a16="http://schemas.microsoft.com/office/drawing/2014/main" id="{73136DFE-0717-CC8D-8DF7-AF43F4225C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6382" y="2143296"/>
            <a:ext cx="4599237" cy="3990657"/>
          </a:xfrm>
          <a:prstGeom prst="rect">
            <a:avLst/>
          </a:prstGeom>
        </p:spPr>
      </p:pic>
    </p:spTree>
    <p:extLst>
      <p:ext uri="{BB962C8B-B14F-4D97-AF65-F5344CB8AC3E}">
        <p14:creationId xmlns:p14="http://schemas.microsoft.com/office/powerpoint/2010/main" val="2110241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676380" y="6018021"/>
            <a:ext cx="283924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4-21 </a:t>
            </a:r>
            <a:r>
              <a:rPr lang="zh-CN" altLang="en-US" dirty="0">
                <a:latin typeface="黑体" panose="02010609060101010101" pitchFamily="49" charset="-122"/>
                <a:ea typeface="黑体" panose="02010609060101010101" pitchFamily="49" charset="-122"/>
              </a:rPr>
              <a:t>创建基准平面</a:t>
            </a:r>
            <a:r>
              <a:rPr lang="en-US" altLang="zh-CN" dirty="0">
                <a:latin typeface="黑体" panose="02010609060101010101" pitchFamily="49" charset="-122"/>
                <a:ea typeface="黑体" panose="02010609060101010101" pitchFamily="49" charset="-122"/>
              </a:rPr>
              <a:t>DTM1</a:t>
            </a:r>
            <a:endParaRPr lang="zh-CN" altLang="en-US"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1384995"/>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在图形区选中</a:t>
            </a:r>
            <a:r>
              <a:rPr lang="en-US" altLang="zh-CN" sz="2800" dirty="0">
                <a:latin typeface="宋体" panose="02010600030101010101" pitchFamily="2" charset="-122"/>
                <a:ea typeface="宋体" panose="02010600030101010101" pitchFamily="2" charset="-122"/>
              </a:rPr>
              <a:t>RIGHT</a:t>
            </a:r>
            <a:r>
              <a:rPr lang="zh-CN" altLang="en-US" sz="2800" dirty="0">
                <a:latin typeface="宋体" panose="02010600030101010101" pitchFamily="2" charset="-122"/>
                <a:ea typeface="宋体" panose="02010600030101010101" pitchFamily="2" charset="-122"/>
              </a:rPr>
              <a:t>基准平面，在弹出的快捷工具栏中选择“平面”按钮   ，系统弹出</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基准平面</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对话框，设置偏移值为</a:t>
            </a:r>
            <a:r>
              <a:rPr lang="en-US" altLang="zh-CN" sz="2800" dirty="0">
                <a:latin typeface="宋体" panose="02010600030101010101" pitchFamily="2" charset="-122"/>
                <a:ea typeface="宋体" panose="02010600030101010101" pitchFamily="2" charset="-122"/>
              </a:rPr>
              <a:t>55</a:t>
            </a:r>
            <a:r>
              <a:rPr lang="zh-CN" altLang="en-US" sz="2800" dirty="0">
                <a:latin typeface="宋体" panose="02010600030101010101" pitchFamily="2" charset="-122"/>
                <a:ea typeface="宋体" panose="02010600030101010101" pitchFamily="2" charset="-122"/>
              </a:rPr>
              <a:t>，完成基准平面</a:t>
            </a:r>
            <a:r>
              <a:rPr lang="en-US" altLang="zh-CN" sz="2800" dirty="0">
                <a:latin typeface="宋体" panose="02010600030101010101" pitchFamily="2" charset="-122"/>
                <a:ea typeface="宋体" panose="02010600030101010101" pitchFamily="2" charset="-122"/>
              </a:rPr>
              <a:t>DTM1</a:t>
            </a:r>
            <a:r>
              <a:rPr lang="zh-CN" altLang="en-US" sz="2800" dirty="0">
                <a:latin typeface="宋体" panose="02010600030101010101" pitchFamily="2" charset="-122"/>
                <a:ea typeface="宋体" panose="02010600030101010101" pitchFamily="2" charset="-122"/>
              </a:rPr>
              <a:t>的创建，如图</a:t>
            </a:r>
            <a:r>
              <a:rPr lang="en-US" altLang="zh-CN" sz="2800" dirty="0">
                <a:latin typeface="宋体" panose="02010600030101010101" pitchFamily="2" charset="-122"/>
                <a:ea typeface="宋体" panose="02010600030101010101" pitchFamily="2" charset="-122"/>
              </a:rPr>
              <a:t>4-21</a:t>
            </a:r>
            <a:r>
              <a:rPr lang="zh-CN" altLang="en-US" sz="2800" dirty="0">
                <a:latin typeface="宋体" panose="02010600030101010101" pitchFamily="2" charset="-122"/>
                <a:ea typeface="宋体" panose="02010600030101010101" pitchFamily="2" charset="-122"/>
              </a:rPr>
              <a:t>所示。</a:t>
            </a:r>
          </a:p>
        </p:txBody>
      </p:sp>
      <p:pic>
        <p:nvPicPr>
          <p:cNvPr id="2" name="图片 1">
            <a:extLst>
              <a:ext uri="{FF2B5EF4-FFF2-40B4-BE49-F238E27FC236}">
                <a16:creationId xmlns:a16="http://schemas.microsoft.com/office/drawing/2014/main" id="{A7900B36-C2BF-F18F-5951-0D76502BB624}"/>
              </a:ext>
            </a:extLst>
          </p:cNvPr>
          <p:cNvPicPr>
            <a:picLocks noChangeAspect="1"/>
          </p:cNvPicPr>
          <p:nvPr/>
        </p:nvPicPr>
        <p:blipFill>
          <a:blip r:embed="rId2"/>
          <a:stretch>
            <a:fillRect/>
          </a:stretch>
        </p:blipFill>
        <p:spPr>
          <a:xfrm>
            <a:off x="675004" y="1245058"/>
            <a:ext cx="518160" cy="411480"/>
          </a:xfrm>
          <a:prstGeom prst="rect">
            <a:avLst/>
          </a:prstGeom>
        </p:spPr>
      </p:pic>
      <p:pic>
        <p:nvPicPr>
          <p:cNvPr id="6" name="图片 5">
            <a:extLst>
              <a:ext uri="{FF2B5EF4-FFF2-40B4-BE49-F238E27FC236}">
                <a16:creationId xmlns:a16="http://schemas.microsoft.com/office/drawing/2014/main" id="{621C24D4-3444-B65E-5A6B-00E890B88C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5271" y="2143296"/>
            <a:ext cx="6221459" cy="3678000"/>
          </a:xfrm>
          <a:prstGeom prst="rect">
            <a:avLst/>
          </a:prstGeom>
        </p:spPr>
      </p:pic>
    </p:spTree>
    <p:extLst>
      <p:ext uri="{BB962C8B-B14F-4D97-AF65-F5344CB8AC3E}">
        <p14:creationId xmlns:p14="http://schemas.microsoft.com/office/powerpoint/2010/main" val="10235834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907213" y="5846565"/>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4-22</a:t>
            </a:r>
            <a:r>
              <a:rPr lang="zh-CN" altLang="en-US" dirty="0">
                <a:latin typeface="黑体" panose="02010609060101010101" pitchFamily="49" charset="-122"/>
                <a:ea typeface="黑体" panose="02010609060101010101" pitchFamily="49" charset="-122"/>
              </a:rPr>
              <a:t>创建基准轴</a:t>
            </a:r>
            <a:r>
              <a:rPr lang="en-US" altLang="zh-CN" dirty="0">
                <a:latin typeface="黑体" panose="02010609060101010101" pitchFamily="49" charset="-122"/>
                <a:ea typeface="黑体" panose="02010609060101010101" pitchFamily="49" charset="-122"/>
              </a:rPr>
              <a:t>A_5</a:t>
            </a:r>
            <a:endParaRPr lang="zh-CN" altLang="en-US"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1384995"/>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单击功能区</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基准</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组“轴”按钮  ，在弹出的</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基准轴</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对话框</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放置</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选项卡的“参考”选择基准平面</a:t>
            </a:r>
            <a:r>
              <a:rPr lang="en-US" altLang="zh-CN" sz="2800" dirty="0">
                <a:latin typeface="宋体" panose="02010600030101010101" pitchFamily="2" charset="-122"/>
                <a:ea typeface="宋体" panose="02010600030101010101" pitchFamily="2" charset="-122"/>
              </a:rPr>
              <a:t>DTM1</a:t>
            </a:r>
            <a:r>
              <a:rPr lang="zh-CN" altLang="en-US" sz="2800" dirty="0">
                <a:latin typeface="宋体" panose="02010600030101010101" pitchFamily="2" charset="-122"/>
                <a:ea typeface="宋体" panose="02010600030101010101" pitchFamily="2" charset="-122"/>
              </a:rPr>
              <a:t>，按住“</a:t>
            </a:r>
            <a:r>
              <a:rPr lang="en-US" altLang="zh-CN" sz="2800" dirty="0">
                <a:latin typeface="宋体" panose="02010600030101010101" pitchFamily="2" charset="-122"/>
                <a:ea typeface="宋体" panose="02010600030101010101" pitchFamily="2" charset="-122"/>
              </a:rPr>
              <a:t>Ctrl”</a:t>
            </a:r>
            <a:r>
              <a:rPr lang="zh-CN" altLang="en-US" sz="2800" dirty="0">
                <a:latin typeface="宋体" panose="02010600030101010101" pitchFamily="2" charset="-122"/>
                <a:ea typeface="宋体" panose="02010600030101010101" pitchFamily="2" charset="-122"/>
              </a:rPr>
              <a:t>键的同时选择底盘上表面，创建基准轴</a:t>
            </a:r>
            <a:r>
              <a:rPr lang="en-US" altLang="zh-CN" sz="2800" dirty="0">
                <a:latin typeface="宋体" panose="02010600030101010101" pitchFamily="2" charset="-122"/>
                <a:ea typeface="宋体" panose="02010600030101010101" pitchFamily="2" charset="-122"/>
              </a:rPr>
              <a:t>A_5</a:t>
            </a:r>
            <a:r>
              <a:rPr lang="zh-CN" altLang="en-US" sz="2800" dirty="0">
                <a:latin typeface="宋体" panose="02010600030101010101" pitchFamily="2" charset="-122"/>
                <a:ea typeface="宋体" panose="02010600030101010101" pitchFamily="2" charset="-122"/>
              </a:rPr>
              <a:t>，如图</a:t>
            </a:r>
            <a:r>
              <a:rPr lang="en-US" altLang="zh-CN" sz="2800" dirty="0">
                <a:latin typeface="宋体" panose="02010600030101010101" pitchFamily="2" charset="-122"/>
                <a:ea typeface="宋体" panose="02010600030101010101" pitchFamily="2" charset="-122"/>
              </a:rPr>
              <a:t>4-22</a:t>
            </a:r>
            <a:r>
              <a:rPr lang="zh-CN" altLang="en-US" sz="2800" dirty="0">
                <a:latin typeface="宋体" panose="02010600030101010101" pitchFamily="2" charset="-122"/>
                <a:ea typeface="宋体" panose="02010600030101010101" pitchFamily="2" charset="-122"/>
              </a:rPr>
              <a:t>所示。</a:t>
            </a:r>
          </a:p>
        </p:txBody>
      </p:sp>
      <p:pic>
        <p:nvPicPr>
          <p:cNvPr id="3" name="图片 2">
            <a:extLst>
              <a:ext uri="{FF2B5EF4-FFF2-40B4-BE49-F238E27FC236}">
                <a16:creationId xmlns:a16="http://schemas.microsoft.com/office/drawing/2014/main" id="{3E5931EC-7EE7-A7A6-056F-7294195F0008}"/>
              </a:ext>
            </a:extLst>
          </p:cNvPr>
          <p:cNvPicPr>
            <a:picLocks noChangeAspect="1"/>
          </p:cNvPicPr>
          <p:nvPr/>
        </p:nvPicPr>
        <p:blipFill>
          <a:blip r:embed="rId2"/>
          <a:stretch>
            <a:fillRect/>
          </a:stretch>
        </p:blipFill>
        <p:spPr>
          <a:xfrm>
            <a:off x="6182676" y="890587"/>
            <a:ext cx="242888" cy="328613"/>
          </a:xfrm>
          <a:prstGeom prst="rect">
            <a:avLst/>
          </a:prstGeom>
        </p:spPr>
      </p:pic>
      <p:pic>
        <p:nvPicPr>
          <p:cNvPr id="5" name="图片 4">
            <a:extLst>
              <a:ext uri="{FF2B5EF4-FFF2-40B4-BE49-F238E27FC236}">
                <a16:creationId xmlns:a16="http://schemas.microsoft.com/office/drawing/2014/main" id="{C11C1492-C0F9-3C30-1C82-0B48A7B239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2493" y="2275582"/>
            <a:ext cx="6827015" cy="3285954"/>
          </a:xfrm>
          <a:prstGeom prst="rect">
            <a:avLst/>
          </a:prstGeom>
        </p:spPr>
      </p:pic>
    </p:spTree>
    <p:extLst>
      <p:ext uri="{BB962C8B-B14F-4D97-AF65-F5344CB8AC3E}">
        <p14:creationId xmlns:p14="http://schemas.microsoft.com/office/powerpoint/2010/main" val="509594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676380" y="5846565"/>
            <a:ext cx="283924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4-23 </a:t>
            </a:r>
            <a:r>
              <a:rPr lang="zh-CN" altLang="en-US" dirty="0">
                <a:latin typeface="黑体" panose="02010609060101010101" pitchFamily="49" charset="-122"/>
                <a:ea typeface="黑体" panose="02010609060101010101" pitchFamily="49" charset="-122"/>
              </a:rPr>
              <a:t>创建基准平面</a:t>
            </a:r>
            <a:r>
              <a:rPr lang="en-US" altLang="zh-CN" dirty="0">
                <a:latin typeface="黑体" panose="02010609060101010101" pitchFamily="49" charset="-122"/>
                <a:ea typeface="黑体" panose="02010609060101010101" pitchFamily="49" charset="-122"/>
              </a:rPr>
              <a:t>DTM2</a:t>
            </a:r>
            <a:endParaRPr lang="zh-CN" altLang="en-US"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1815882"/>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在图形区选中基准轴</a:t>
            </a:r>
            <a:r>
              <a:rPr lang="en-US" altLang="zh-CN" sz="2800" dirty="0">
                <a:latin typeface="宋体" panose="02010600030101010101" pitchFamily="2" charset="-122"/>
                <a:ea typeface="宋体" panose="02010600030101010101" pitchFamily="2" charset="-122"/>
              </a:rPr>
              <a:t>A_5</a:t>
            </a:r>
            <a:r>
              <a:rPr lang="zh-CN" altLang="en-US" sz="2800" dirty="0">
                <a:latin typeface="宋体" panose="02010600030101010101" pitchFamily="2" charset="-122"/>
                <a:ea typeface="宋体" panose="02010600030101010101" pitchFamily="2" charset="-122"/>
              </a:rPr>
              <a:t>，在弹出的快捷工具栏中选择“平面”按钮   ，系统弹出</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基准平面</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对话框，按住“</a:t>
            </a:r>
            <a:r>
              <a:rPr lang="en-US" altLang="zh-CN" sz="2800" dirty="0">
                <a:latin typeface="宋体" panose="02010600030101010101" pitchFamily="2" charset="-122"/>
                <a:ea typeface="宋体" panose="02010600030101010101" pitchFamily="2" charset="-122"/>
              </a:rPr>
              <a:t>Ctrl”</a:t>
            </a:r>
            <a:r>
              <a:rPr lang="zh-CN" altLang="en-US" sz="2800" dirty="0">
                <a:latin typeface="宋体" panose="02010600030101010101" pitchFamily="2" charset="-122"/>
                <a:ea typeface="宋体" panose="02010600030101010101" pitchFamily="2" charset="-122"/>
              </a:rPr>
              <a:t>键的同时选择底盘上表面，选择放置类型为偏移，偏移旋转项输入</a:t>
            </a:r>
            <a:r>
              <a:rPr lang="en-US" altLang="zh-CN" sz="2800" dirty="0">
                <a:latin typeface="宋体" panose="02010600030101010101" pitchFamily="2" charset="-122"/>
                <a:ea typeface="宋体" panose="02010600030101010101" pitchFamily="2" charset="-122"/>
              </a:rPr>
              <a:t>60</a:t>
            </a:r>
            <a:r>
              <a:rPr lang="zh-CN" altLang="en-US" sz="2800" dirty="0">
                <a:latin typeface="宋体" panose="02010600030101010101" pitchFamily="2" charset="-122"/>
                <a:ea typeface="宋体" panose="02010600030101010101" pitchFamily="2" charset="-122"/>
              </a:rPr>
              <a:t>，创建基准平面</a:t>
            </a:r>
            <a:r>
              <a:rPr lang="en-US" altLang="zh-CN" sz="2800" dirty="0">
                <a:latin typeface="宋体" panose="02010600030101010101" pitchFamily="2" charset="-122"/>
                <a:ea typeface="宋体" panose="02010600030101010101" pitchFamily="2" charset="-122"/>
              </a:rPr>
              <a:t>DTM2</a:t>
            </a:r>
            <a:r>
              <a:rPr lang="zh-CN" altLang="en-US" sz="2800" dirty="0">
                <a:latin typeface="宋体" panose="02010600030101010101" pitchFamily="2" charset="-122"/>
                <a:ea typeface="宋体" panose="02010600030101010101" pitchFamily="2" charset="-122"/>
              </a:rPr>
              <a:t>，如图</a:t>
            </a:r>
            <a:r>
              <a:rPr lang="en-US" altLang="zh-CN" sz="2800" dirty="0">
                <a:latin typeface="宋体" panose="02010600030101010101" pitchFamily="2" charset="-122"/>
                <a:ea typeface="宋体" panose="02010600030101010101" pitchFamily="2" charset="-122"/>
              </a:rPr>
              <a:t>4-23</a:t>
            </a:r>
            <a:r>
              <a:rPr lang="zh-CN" altLang="en-US" sz="2800" dirty="0">
                <a:latin typeface="宋体" panose="02010600030101010101" pitchFamily="2" charset="-122"/>
                <a:ea typeface="宋体" panose="02010600030101010101" pitchFamily="2" charset="-122"/>
              </a:rPr>
              <a:t>所示。</a:t>
            </a:r>
          </a:p>
        </p:txBody>
      </p:sp>
      <p:pic>
        <p:nvPicPr>
          <p:cNvPr id="2" name="图片 1">
            <a:extLst>
              <a:ext uri="{FF2B5EF4-FFF2-40B4-BE49-F238E27FC236}">
                <a16:creationId xmlns:a16="http://schemas.microsoft.com/office/drawing/2014/main" id="{D87C030E-C576-0182-09B3-0DA7A3D4EF30}"/>
              </a:ext>
            </a:extLst>
          </p:cNvPr>
          <p:cNvPicPr>
            <a:picLocks noChangeAspect="1"/>
          </p:cNvPicPr>
          <p:nvPr/>
        </p:nvPicPr>
        <p:blipFill>
          <a:blip r:embed="rId2"/>
          <a:stretch>
            <a:fillRect/>
          </a:stretch>
        </p:blipFill>
        <p:spPr>
          <a:xfrm>
            <a:off x="11304904" y="873583"/>
            <a:ext cx="518160" cy="411480"/>
          </a:xfrm>
          <a:prstGeom prst="rect">
            <a:avLst/>
          </a:prstGeom>
        </p:spPr>
      </p:pic>
      <p:pic>
        <p:nvPicPr>
          <p:cNvPr id="6" name="图片 5">
            <a:extLst>
              <a:ext uri="{FF2B5EF4-FFF2-40B4-BE49-F238E27FC236}">
                <a16:creationId xmlns:a16="http://schemas.microsoft.com/office/drawing/2014/main" id="{3E47FE94-8267-C172-FD57-42E4E412C1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6632" y="2347595"/>
            <a:ext cx="5558736" cy="3353118"/>
          </a:xfrm>
          <a:prstGeom prst="rect">
            <a:avLst/>
          </a:prstGeom>
        </p:spPr>
      </p:pic>
    </p:spTree>
    <p:extLst>
      <p:ext uri="{BB962C8B-B14F-4D97-AF65-F5344CB8AC3E}">
        <p14:creationId xmlns:p14="http://schemas.microsoft.com/office/powerpoint/2010/main" val="5313792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907213" y="5889429"/>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4-24 </a:t>
            </a:r>
            <a:r>
              <a:rPr lang="zh-CN" altLang="en-US" dirty="0">
                <a:latin typeface="黑体" panose="02010609060101010101" pitchFamily="49" charset="-122"/>
                <a:ea typeface="黑体" panose="02010609060101010101" pitchFamily="49" charset="-122"/>
              </a:rPr>
              <a:t>绘制支架截面</a:t>
            </a: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1384995"/>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在图形区单击选中基准平面</a:t>
            </a:r>
            <a:r>
              <a:rPr lang="en-US" altLang="zh-CN" sz="2800" dirty="0">
                <a:latin typeface="宋体" panose="02010600030101010101" pitchFamily="2" charset="-122"/>
                <a:ea typeface="宋体" panose="02010600030101010101" pitchFamily="2" charset="-122"/>
              </a:rPr>
              <a:t>DTM2</a:t>
            </a:r>
            <a:r>
              <a:rPr lang="zh-CN" altLang="en-US" sz="2800" dirty="0">
                <a:latin typeface="宋体" panose="02010600030101010101" pitchFamily="2" charset="-122"/>
                <a:ea typeface="宋体" panose="02010600030101010101" pitchFamily="2" charset="-122"/>
              </a:rPr>
              <a:t>，在弹出的快捷工具栏中选择“拉伸”按钮   ，选择</a:t>
            </a:r>
            <a:r>
              <a:rPr lang="en-US" altLang="zh-CN" sz="2800" dirty="0">
                <a:latin typeface="宋体" panose="02010600030101010101" pitchFamily="2" charset="-122"/>
                <a:ea typeface="宋体" panose="02010600030101010101" pitchFamily="2" charset="-122"/>
              </a:rPr>
              <a:t>TOP</a:t>
            </a:r>
            <a:r>
              <a:rPr lang="zh-CN" altLang="en-US" sz="2800" dirty="0">
                <a:latin typeface="宋体" panose="02010600030101010101" pitchFamily="2" charset="-122"/>
                <a:ea typeface="宋体" panose="02010600030101010101" pitchFamily="2" charset="-122"/>
              </a:rPr>
              <a:t>基准平面作为参考，方向为“右”，单击“确定”按钮进入草绘环境，绘制如图</a:t>
            </a:r>
            <a:r>
              <a:rPr lang="en-US" altLang="zh-CN" sz="2800" dirty="0">
                <a:latin typeface="宋体" panose="02010600030101010101" pitchFamily="2" charset="-122"/>
                <a:ea typeface="宋体" panose="02010600030101010101" pitchFamily="2" charset="-122"/>
              </a:rPr>
              <a:t>4-24</a:t>
            </a:r>
            <a:r>
              <a:rPr lang="zh-CN" altLang="en-US" sz="2800" dirty="0">
                <a:latin typeface="宋体" panose="02010600030101010101" pitchFamily="2" charset="-122"/>
                <a:ea typeface="宋体" panose="02010600030101010101" pitchFamily="2" charset="-122"/>
              </a:rPr>
              <a:t>所示的支架截面。</a:t>
            </a:r>
          </a:p>
        </p:txBody>
      </p:sp>
      <p:pic>
        <p:nvPicPr>
          <p:cNvPr id="3" name="图片 2">
            <a:extLst>
              <a:ext uri="{FF2B5EF4-FFF2-40B4-BE49-F238E27FC236}">
                <a16:creationId xmlns:a16="http://schemas.microsoft.com/office/drawing/2014/main" id="{D14DB0CE-CC2D-ED77-C035-0D6DE43EF8B4}"/>
              </a:ext>
            </a:extLst>
          </p:cNvPr>
          <p:cNvPicPr>
            <a:picLocks noChangeAspect="1"/>
          </p:cNvPicPr>
          <p:nvPr/>
        </p:nvPicPr>
        <p:blipFill>
          <a:blip r:embed="rId2"/>
          <a:stretch>
            <a:fillRect/>
          </a:stretch>
        </p:blipFill>
        <p:spPr>
          <a:xfrm>
            <a:off x="1119186" y="1315066"/>
            <a:ext cx="357188" cy="271463"/>
          </a:xfrm>
          <a:prstGeom prst="rect">
            <a:avLst/>
          </a:prstGeom>
        </p:spPr>
      </p:pic>
      <p:pic>
        <p:nvPicPr>
          <p:cNvPr id="5" name="图片 4">
            <a:extLst>
              <a:ext uri="{FF2B5EF4-FFF2-40B4-BE49-F238E27FC236}">
                <a16:creationId xmlns:a16="http://schemas.microsoft.com/office/drawing/2014/main" id="{EFCC6AA8-3BA3-6C75-5E15-18634E3648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994" y="2124252"/>
            <a:ext cx="5180012" cy="3722313"/>
          </a:xfrm>
          <a:prstGeom prst="rect">
            <a:avLst/>
          </a:prstGeom>
        </p:spPr>
      </p:pic>
    </p:spTree>
    <p:extLst>
      <p:ext uri="{BB962C8B-B14F-4D97-AF65-F5344CB8AC3E}">
        <p14:creationId xmlns:p14="http://schemas.microsoft.com/office/powerpoint/2010/main" val="10245891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676380" y="5575099"/>
            <a:ext cx="283924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4-25 </a:t>
            </a:r>
            <a:r>
              <a:rPr lang="zh-CN" altLang="en-US" dirty="0">
                <a:latin typeface="黑体" panose="02010609060101010101" pitchFamily="49" charset="-122"/>
                <a:ea typeface="黑体" panose="02010609060101010101" pitchFamily="49" charset="-122"/>
              </a:rPr>
              <a:t>拉伸创建倾斜支架</a:t>
            </a: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954107"/>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单击“确定”按钮，退出草绘环境。在</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拉伸</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操控板中指定拉伸深度值</a:t>
            </a:r>
            <a:r>
              <a:rPr lang="en-US" altLang="zh-CN" sz="2800" dirty="0">
                <a:latin typeface="宋体" panose="02010600030101010101" pitchFamily="2" charset="-122"/>
                <a:ea typeface="宋体" panose="02010600030101010101" pitchFamily="2" charset="-122"/>
              </a:rPr>
              <a:t>12</a:t>
            </a:r>
            <a:r>
              <a:rPr lang="zh-CN" altLang="en-US" sz="2800" dirty="0">
                <a:latin typeface="宋体" panose="02010600030101010101" pitchFamily="2" charset="-122"/>
                <a:ea typeface="宋体" panose="02010600030101010101" pitchFamily="2" charset="-122"/>
              </a:rPr>
              <a:t>，单击“确定”按钮，完成倾斜支架的创建，如图</a:t>
            </a:r>
            <a:r>
              <a:rPr lang="en-US" altLang="zh-CN" sz="2800" dirty="0">
                <a:latin typeface="宋体" panose="02010600030101010101" pitchFamily="2" charset="-122"/>
                <a:ea typeface="宋体" panose="02010600030101010101" pitchFamily="2" charset="-122"/>
              </a:rPr>
              <a:t>4-25</a:t>
            </a:r>
            <a:r>
              <a:rPr lang="zh-CN" altLang="en-US" sz="2800" dirty="0">
                <a:latin typeface="宋体" panose="02010600030101010101" pitchFamily="2" charset="-122"/>
                <a:ea typeface="宋体" panose="02010600030101010101" pitchFamily="2" charset="-122"/>
              </a:rPr>
              <a:t>所示。</a:t>
            </a:r>
          </a:p>
        </p:txBody>
      </p:sp>
      <p:pic>
        <p:nvPicPr>
          <p:cNvPr id="2" name="图片 1">
            <a:extLst>
              <a:ext uri="{FF2B5EF4-FFF2-40B4-BE49-F238E27FC236}">
                <a16:creationId xmlns:a16="http://schemas.microsoft.com/office/drawing/2014/main" id="{BE42861D-3091-CF4E-324C-8CF3277DDD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6813" y="1934328"/>
            <a:ext cx="4778375" cy="3395441"/>
          </a:xfrm>
          <a:prstGeom prst="rect">
            <a:avLst/>
          </a:prstGeom>
        </p:spPr>
      </p:pic>
    </p:spTree>
    <p:extLst>
      <p:ext uri="{BB962C8B-B14F-4D97-AF65-F5344CB8AC3E}">
        <p14:creationId xmlns:p14="http://schemas.microsoft.com/office/powerpoint/2010/main" val="9681989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964921" y="5575099"/>
            <a:ext cx="226215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4-26 </a:t>
            </a:r>
            <a:r>
              <a:rPr lang="zh-CN" altLang="en-US" dirty="0">
                <a:latin typeface="黑体" panose="02010609060101010101" pitchFamily="49" charset="-122"/>
                <a:ea typeface="黑体" panose="02010609060101010101" pitchFamily="49" charset="-122"/>
              </a:rPr>
              <a:t>创建</a:t>
            </a:r>
            <a:r>
              <a:rPr lang="en-US" altLang="zh-CN" dirty="0">
                <a:latin typeface="黑体" panose="02010609060101010101" pitchFamily="49" charset="-122"/>
                <a:ea typeface="黑体" panose="02010609060101010101" pitchFamily="49" charset="-122"/>
              </a:rPr>
              <a:t>R16</a:t>
            </a:r>
            <a:r>
              <a:rPr lang="zh-CN" altLang="en-US" dirty="0">
                <a:latin typeface="黑体" panose="02010609060101010101" pitchFamily="49" charset="-122"/>
                <a:ea typeface="黑体" panose="02010609060101010101" pitchFamily="49" charset="-122"/>
              </a:rPr>
              <a:t>圆角</a:t>
            </a: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1384995"/>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单击</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模型</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选项卡</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工程</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组“倒圆角”按钮   ，选择倾斜支架背面与底座上表面相交的两条边，输入半径值</a:t>
            </a:r>
            <a:r>
              <a:rPr lang="en-US" altLang="zh-CN" sz="2800" dirty="0">
                <a:latin typeface="宋体" panose="02010600030101010101" pitchFamily="2" charset="-122"/>
                <a:ea typeface="宋体" panose="02010600030101010101" pitchFamily="2" charset="-122"/>
              </a:rPr>
              <a:t>16</a:t>
            </a:r>
            <a:r>
              <a:rPr lang="zh-CN" altLang="en-US" sz="2800" dirty="0">
                <a:latin typeface="宋体" panose="02010600030101010101" pitchFamily="2" charset="-122"/>
                <a:ea typeface="宋体" panose="02010600030101010101" pitchFamily="2" charset="-122"/>
              </a:rPr>
              <a:t>，完成</a:t>
            </a:r>
            <a:r>
              <a:rPr lang="en-US" altLang="zh-CN" sz="2800" dirty="0">
                <a:latin typeface="宋体" panose="02010600030101010101" pitchFamily="2" charset="-122"/>
                <a:ea typeface="宋体" panose="02010600030101010101" pitchFamily="2" charset="-122"/>
              </a:rPr>
              <a:t>R16</a:t>
            </a:r>
            <a:r>
              <a:rPr lang="zh-CN" altLang="en-US" sz="2800" dirty="0">
                <a:latin typeface="宋体" panose="02010600030101010101" pitchFamily="2" charset="-122"/>
                <a:ea typeface="宋体" panose="02010600030101010101" pitchFamily="2" charset="-122"/>
              </a:rPr>
              <a:t>圆角的创建，如图</a:t>
            </a:r>
            <a:r>
              <a:rPr lang="en-US" altLang="zh-CN" sz="2800" dirty="0">
                <a:latin typeface="宋体" panose="02010600030101010101" pitchFamily="2" charset="-122"/>
                <a:ea typeface="宋体" panose="02010600030101010101" pitchFamily="2" charset="-122"/>
              </a:rPr>
              <a:t>4-26</a:t>
            </a:r>
            <a:r>
              <a:rPr lang="zh-CN" altLang="en-US" sz="2800" dirty="0">
                <a:latin typeface="宋体" panose="02010600030101010101" pitchFamily="2" charset="-122"/>
                <a:ea typeface="宋体" panose="02010600030101010101" pitchFamily="2" charset="-122"/>
              </a:rPr>
              <a:t>所示。</a:t>
            </a:r>
          </a:p>
        </p:txBody>
      </p:sp>
      <p:pic>
        <p:nvPicPr>
          <p:cNvPr id="3" name="图片 2">
            <a:extLst>
              <a:ext uri="{FF2B5EF4-FFF2-40B4-BE49-F238E27FC236}">
                <a16:creationId xmlns:a16="http://schemas.microsoft.com/office/drawing/2014/main" id="{9BA13307-FE25-EFE2-5B4C-2C4BBDE21735}"/>
              </a:ext>
            </a:extLst>
          </p:cNvPr>
          <p:cNvPicPr>
            <a:picLocks noChangeAspect="1"/>
          </p:cNvPicPr>
          <p:nvPr/>
        </p:nvPicPr>
        <p:blipFill>
          <a:blip r:embed="rId2"/>
          <a:stretch>
            <a:fillRect/>
          </a:stretch>
        </p:blipFill>
        <p:spPr>
          <a:xfrm>
            <a:off x="8301038" y="876300"/>
            <a:ext cx="350520" cy="350520"/>
          </a:xfrm>
          <a:prstGeom prst="rect">
            <a:avLst/>
          </a:prstGeom>
        </p:spPr>
      </p:pic>
      <p:pic>
        <p:nvPicPr>
          <p:cNvPr id="5" name="图片 4">
            <a:extLst>
              <a:ext uri="{FF2B5EF4-FFF2-40B4-BE49-F238E27FC236}">
                <a16:creationId xmlns:a16="http://schemas.microsoft.com/office/drawing/2014/main" id="{4BECAE49-7861-E12D-3C89-2DBC85786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6651" y="1892200"/>
            <a:ext cx="4818698" cy="3682899"/>
          </a:xfrm>
          <a:prstGeom prst="rect">
            <a:avLst/>
          </a:prstGeom>
        </p:spPr>
      </p:pic>
    </p:spTree>
    <p:extLst>
      <p:ext uri="{BB962C8B-B14F-4D97-AF65-F5344CB8AC3E}">
        <p14:creationId xmlns:p14="http://schemas.microsoft.com/office/powerpoint/2010/main" val="17662098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272424" y="5703691"/>
            <a:ext cx="364715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4-27</a:t>
            </a:r>
            <a:r>
              <a:rPr lang="zh-CN" altLang="en-US" dirty="0">
                <a:latin typeface="黑体" panose="02010609060101010101" pitchFamily="49" charset="-122"/>
                <a:ea typeface="黑体" panose="02010609060101010101" pitchFamily="49" charset="-122"/>
              </a:rPr>
              <a:t>基准点、基准曲线应用范例</a:t>
            </a: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1384995"/>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基准点、基准曲线应用范例</a:t>
            </a:r>
            <a:endParaRPr lang="en-US" altLang="zh-CN" sz="2800" dirty="0">
              <a:latin typeface="宋体" panose="02010600030101010101" pitchFamily="2" charset="-122"/>
              <a:ea typeface="宋体" panose="02010600030101010101" pitchFamily="2" charset="-122"/>
            </a:endParaRPr>
          </a:p>
          <a:p>
            <a:pPr indent="457200"/>
            <a:r>
              <a:rPr lang="zh-CN" altLang="en-US" sz="2800" dirty="0">
                <a:latin typeface="宋体" panose="02010600030101010101" pitchFamily="2" charset="-122"/>
                <a:ea typeface="宋体" panose="02010600030101010101" pitchFamily="2" charset="-122"/>
              </a:rPr>
              <a:t>在该范例中首先创建从坐标系偏移的</a:t>
            </a:r>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个基准点，然后使用基准点创建基准曲线，以该基准曲线作为扫描轨迹来创建管道，如图</a:t>
            </a:r>
            <a:r>
              <a:rPr lang="en-US" altLang="zh-CN" sz="2800" dirty="0">
                <a:latin typeface="宋体" panose="02010600030101010101" pitchFamily="2" charset="-122"/>
                <a:ea typeface="宋体" panose="02010600030101010101" pitchFamily="2" charset="-122"/>
              </a:rPr>
              <a:t>4-27</a:t>
            </a:r>
            <a:r>
              <a:rPr lang="zh-CN" altLang="en-US" sz="2800" dirty="0">
                <a:latin typeface="宋体" panose="02010600030101010101" pitchFamily="2" charset="-122"/>
                <a:ea typeface="宋体" panose="02010600030101010101" pitchFamily="2" charset="-122"/>
              </a:rPr>
              <a:t>所示。</a:t>
            </a:r>
          </a:p>
        </p:txBody>
      </p:sp>
      <p:pic>
        <p:nvPicPr>
          <p:cNvPr id="2" name="图片 1">
            <a:extLst>
              <a:ext uri="{FF2B5EF4-FFF2-40B4-BE49-F238E27FC236}">
                <a16:creationId xmlns:a16="http://schemas.microsoft.com/office/drawing/2014/main" id="{B12A6419-27F6-11B6-079F-AEA22696DC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08419" y="2205219"/>
            <a:ext cx="6375163" cy="3369880"/>
          </a:xfrm>
          <a:prstGeom prst="rect">
            <a:avLst/>
          </a:prstGeom>
        </p:spPr>
      </p:pic>
    </p:spTree>
    <p:extLst>
      <p:ext uri="{BB962C8B-B14F-4D97-AF65-F5344CB8AC3E}">
        <p14:creationId xmlns:p14="http://schemas.microsoft.com/office/powerpoint/2010/main" val="321227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676381" y="5846571"/>
            <a:ext cx="283923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4-28 </a:t>
            </a:r>
            <a:r>
              <a:rPr lang="zh-CN" altLang="en-US" dirty="0">
                <a:latin typeface="黑体" panose="02010609060101010101" pitchFamily="49" charset="-122"/>
                <a:ea typeface="黑体" panose="02010609060101010101" pitchFamily="49" charset="-122"/>
              </a:rPr>
              <a:t>偏移基准点坐标值</a:t>
            </a: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1815882"/>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单击</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模型</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选项卡</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基准</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组中的“偏移坐标系”按钮  ，系统弹出</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基准点</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对话框，选择默认基准坐标系为参考坐标系，坐标系类型选择“笛卡尔”，依次创建</a:t>
            </a:r>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个偏移基准点</a:t>
            </a:r>
            <a:r>
              <a:rPr lang="en-US" altLang="zh-CN" sz="2800" dirty="0">
                <a:latin typeface="宋体" panose="02010600030101010101" pitchFamily="2" charset="-122"/>
                <a:ea typeface="宋体" panose="02010600030101010101" pitchFamily="2" charset="-122"/>
              </a:rPr>
              <a:t>PNT0</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PNT3</a:t>
            </a:r>
            <a:r>
              <a:rPr lang="zh-CN" altLang="en-US" sz="2800" dirty="0">
                <a:latin typeface="宋体" panose="02010600030101010101" pitchFamily="2" charset="-122"/>
                <a:ea typeface="宋体" panose="02010600030101010101" pitchFamily="2" charset="-122"/>
              </a:rPr>
              <a:t>，基准点坐标如图</a:t>
            </a:r>
            <a:r>
              <a:rPr lang="en-US" altLang="zh-CN" sz="2800" dirty="0">
                <a:latin typeface="宋体" panose="02010600030101010101" pitchFamily="2" charset="-122"/>
                <a:ea typeface="宋体" panose="02010600030101010101" pitchFamily="2" charset="-122"/>
              </a:rPr>
              <a:t>4-28</a:t>
            </a:r>
            <a:r>
              <a:rPr lang="zh-CN" altLang="en-US" sz="2800" dirty="0">
                <a:latin typeface="宋体" panose="02010600030101010101" pitchFamily="2" charset="-122"/>
                <a:ea typeface="宋体" panose="02010600030101010101" pitchFamily="2" charset="-122"/>
              </a:rPr>
              <a:t>所示。</a:t>
            </a:r>
          </a:p>
        </p:txBody>
      </p:sp>
      <p:pic>
        <p:nvPicPr>
          <p:cNvPr id="3" name="图片 2">
            <a:extLst>
              <a:ext uri="{FF2B5EF4-FFF2-40B4-BE49-F238E27FC236}">
                <a16:creationId xmlns:a16="http://schemas.microsoft.com/office/drawing/2014/main" id="{45382879-AB0B-09FC-67B6-2E542153BA97}"/>
              </a:ext>
            </a:extLst>
          </p:cNvPr>
          <p:cNvPicPr>
            <a:picLocks noChangeAspect="1"/>
          </p:cNvPicPr>
          <p:nvPr/>
        </p:nvPicPr>
        <p:blipFill>
          <a:blip r:embed="rId2"/>
          <a:stretch>
            <a:fillRect/>
          </a:stretch>
        </p:blipFill>
        <p:spPr>
          <a:xfrm>
            <a:off x="9724390" y="890588"/>
            <a:ext cx="285750" cy="314325"/>
          </a:xfrm>
          <a:prstGeom prst="rect">
            <a:avLst/>
          </a:prstGeom>
        </p:spPr>
      </p:pic>
      <p:pic>
        <p:nvPicPr>
          <p:cNvPr id="5" name="图片 4">
            <a:extLst>
              <a:ext uri="{FF2B5EF4-FFF2-40B4-BE49-F238E27FC236}">
                <a16:creationId xmlns:a16="http://schemas.microsoft.com/office/drawing/2014/main" id="{5EC3BEEB-B019-FBF8-6870-1599CA9DE0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5468" y="2204404"/>
            <a:ext cx="3441065" cy="3500902"/>
          </a:xfrm>
          <a:prstGeom prst="rect">
            <a:avLst/>
          </a:prstGeom>
        </p:spPr>
      </p:pic>
    </p:spTree>
    <p:extLst>
      <p:ext uri="{BB962C8B-B14F-4D97-AF65-F5344CB8AC3E}">
        <p14:creationId xmlns:p14="http://schemas.microsoft.com/office/powerpoint/2010/main" val="20405672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5022629" y="5803707"/>
            <a:ext cx="214674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4-29 </a:t>
            </a:r>
            <a:r>
              <a:rPr lang="zh-CN" altLang="en-US" dirty="0">
                <a:latin typeface="黑体" panose="02010609060101010101" pitchFamily="49" charset="-122"/>
                <a:ea typeface="黑体" panose="02010609060101010101" pitchFamily="49" charset="-122"/>
              </a:rPr>
              <a:t>偏移基准点</a:t>
            </a: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954107"/>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单击</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基准点</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对话框“确定”按钮，完成基准点的创建，如图</a:t>
            </a:r>
            <a:r>
              <a:rPr lang="en-US" altLang="zh-CN" sz="2800" dirty="0">
                <a:latin typeface="宋体" panose="02010600030101010101" pitchFamily="2" charset="-122"/>
                <a:ea typeface="宋体" panose="02010600030101010101" pitchFamily="2" charset="-122"/>
              </a:rPr>
              <a:t>4-29</a:t>
            </a:r>
            <a:r>
              <a:rPr lang="zh-CN" altLang="en-US" sz="2800" dirty="0">
                <a:latin typeface="宋体" panose="02010600030101010101" pitchFamily="2" charset="-122"/>
                <a:ea typeface="宋体" panose="02010600030101010101" pitchFamily="2" charset="-122"/>
              </a:rPr>
              <a:t>所示。</a:t>
            </a:r>
          </a:p>
        </p:txBody>
      </p:sp>
      <p:pic>
        <p:nvPicPr>
          <p:cNvPr id="2" name="图片 1">
            <a:extLst>
              <a:ext uri="{FF2B5EF4-FFF2-40B4-BE49-F238E27FC236}">
                <a16:creationId xmlns:a16="http://schemas.microsoft.com/office/drawing/2014/main" id="{9C31F87F-E9A7-F567-B045-12CA395F5C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9319" y="1597461"/>
            <a:ext cx="4053362" cy="3931802"/>
          </a:xfrm>
          <a:prstGeom prst="rect">
            <a:avLst/>
          </a:prstGeom>
        </p:spPr>
      </p:pic>
    </p:spTree>
    <p:extLst>
      <p:ext uri="{BB962C8B-B14F-4D97-AF65-F5344CB8AC3E}">
        <p14:creationId xmlns:p14="http://schemas.microsoft.com/office/powerpoint/2010/main" val="530442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4387840" y="5803707"/>
            <a:ext cx="3416321"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4-30</a:t>
            </a:r>
            <a:r>
              <a:rPr lang="zh-CN" altLang="en-US" dirty="0">
                <a:latin typeface="黑体" panose="02010609060101010101" pitchFamily="49" charset="-122"/>
                <a:ea typeface="黑体" panose="02010609060101010101" pitchFamily="49" charset="-122"/>
              </a:rPr>
              <a:t>使用基准点创建基准曲线</a:t>
            </a: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523220"/>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使用基准点创建基准曲线</a:t>
            </a:r>
          </a:p>
        </p:txBody>
      </p:sp>
      <p:pic>
        <p:nvPicPr>
          <p:cNvPr id="3" name="图片 2">
            <a:extLst>
              <a:ext uri="{FF2B5EF4-FFF2-40B4-BE49-F238E27FC236}">
                <a16:creationId xmlns:a16="http://schemas.microsoft.com/office/drawing/2014/main" id="{838374C8-0E02-E775-3626-FDB753ADF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7160" y="1406509"/>
            <a:ext cx="5997681" cy="4294204"/>
          </a:xfrm>
          <a:prstGeom prst="rect">
            <a:avLst/>
          </a:prstGeom>
        </p:spPr>
      </p:pic>
    </p:spTree>
    <p:extLst>
      <p:ext uri="{BB962C8B-B14F-4D97-AF65-F5344CB8AC3E}">
        <p14:creationId xmlns:p14="http://schemas.microsoft.com/office/powerpoint/2010/main" val="34463431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4D2F0139-BE2F-7D26-820D-EAEF531704E6}"/>
              </a:ext>
            </a:extLst>
          </p:cNvPr>
          <p:cNvSpPr txBox="1"/>
          <p:nvPr/>
        </p:nvSpPr>
        <p:spPr>
          <a:xfrm>
            <a:off x="2123049" y="5619040"/>
            <a:ext cx="203132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4-31  </a:t>
            </a:r>
            <a:r>
              <a:rPr lang="zh-CN" altLang="en-US" dirty="0">
                <a:latin typeface="黑体" panose="02010609060101010101" pitchFamily="49" charset="-122"/>
                <a:ea typeface="黑体" panose="02010609060101010101" pitchFamily="49" charset="-122"/>
              </a:rPr>
              <a:t>草绘截面</a:t>
            </a:r>
          </a:p>
        </p:txBody>
      </p:sp>
      <p:sp>
        <p:nvSpPr>
          <p:cNvPr id="4" name="文本框 3">
            <a:extLst>
              <a:ext uri="{FF2B5EF4-FFF2-40B4-BE49-F238E27FC236}">
                <a16:creationId xmlns:a16="http://schemas.microsoft.com/office/drawing/2014/main" id="{EC93CFC9-5A39-BADC-30BA-D38F1724962D}"/>
              </a:ext>
            </a:extLst>
          </p:cNvPr>
          <p:cNvSpPr txBox="1"/>
          <p:nvPr/>
        </p:nvSpPr>
        <p:spPr>
          <a:xfrm>
            <a:off x="230280" y="758301"/>
            <a:ext cx="11731438" cy="523220"/>
          </a:xfrm>
          <a:prstGeom prst="rect">
            <a:avLst/>
          </a:prstGeom>
          <a:noFill/>
        </p:spPr>
        <p:txBody>
          <a:bodyPr wrap="square">
            <a:spAutoFit/>
          </a:bodyPr>
          <a:lstStyle/>
          <a:p>
            <a:pPr indent="457200"/>
            <a:r>
              <a:rPr lang="zh-CN" altLang="en-US" sz="2800" dirty="0">
                <a:latin typeface="宋体" panose="02010600030101010101" pitchFamily="2" charset="-122"/>
                <a:ea typeface="宋体" panose="02010600030101010101" pitchFamily="2" charset="-122"/>
              </a:rPr>
              <a:t>以基准曲线为扫描轨迹创建外径</a:t>
            </a:r>
            <a:r>
              <a:rPr lang="en-US" altLang="zh-CN" sz="2800" dirty="0">
                <a:latin typeface="宋体" panose="02010600030101010101" pitchFamily="2" charset="-122"/>
                <a:ea typeface="宋体" panose="02010600030101010101" pitchFamily="2" charset="-122"/>
              </a:rPr>
              <a:t>φ26</a:t>
            </a:r>
            <a:r>
              <a:rPr lang="zh-CN" altLang="en-US" sz="2800" dirty="0">
                <a:latin typeface="宋体" panose="02010600030101010101" pitchFamily="2" charset="-122"/>
                <a:ea typeface="宋体" panose="02010600030101010101" pitchFamily="2" charset="-122"/>
              </a:rPr>
              <a:t>，壁厚</a:t>
            </a:r>
            <a:r>
              <a:rPr lang="en-US" altLang="zh-CN" sz="2800" dirty="0">
                <a:latin typeface="宋体" panose="02010600030101010101" pitchFamily="2" charset="-122"/>
                <a:ea typeface="宋体" panose="02010600030101010101" pitchFamily="2" charset="-122"/>
              </a:rPr>
              <a:t>0.5</a:t>
            </a:r>
            <a:r>
              <a:rPr lang="zh-CN" altLang="en-US" sz="2800" dirty="0">
                <a:latin typeface="宋体" panose="02010600030101010101" pitchFamily="2" charset="-122"/>
                <a:ea typeface="宋体" panose="02010600030101010101" pitchFamily="2" charset="-122"/>
              </a:rPr>
              <a:t>的管道特征</a:t>
            </a:r>
          </a:p>
        </p:txBody>
      </p:sp>
      <p:pic>
        <p:nvPicPr>
          <p:cNvPr id="2" name="图片 1">
            <a:extLst>
              <a:ext uri="{FF2B5EF4-FFF2-40B4-BE49-F238E27FC236}">
                <a16:creationId xmlns:a16="http://schemas.microsoft.com/office/drawing/2014/main" id="{739F0A2A-46D2-F9D6-CCEE-6C2DDAE76D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22" y="1996961"/>
            <a:ext cx="5434780" cy="3091305"/>
          </a:xfrm>
          <a:prstGeom prst="rect">
            <a:avLst/>
          </a:prstGeom>
        </p:spPr>
      </p:pic>
      <p:pic>
        <p:nvPicPr>
          <p:cNvPr id="5" name="图片 4">
            <a:extLst>
              <a:ext uri="{FF2B5EF4-FFF2-40B4-BE49-F238E27FC236}">
                <a16:creationId xmlns:a16="http://schemas.microsoft.com/office/drawing/2014/main" id="{73EB6B7E-1168-BDA9-1443-97D0672126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9248" y="1996961"/>
            <a:ext cx="4345172" cy="3280780"/>
          </a:xfrm>
          <a:prstGeom prst="rect">
            <a:avLst/>
          </a:prstGeom>
        </p:spPr>
      </p:pic>
      <p:sp>
        <p:nvSpPr>
          <p:cNvPr id="6" name="TextBox 1">
            <a:extLst>
              <a:ext uri="{FF2B5EF4-FFF2-40B4-BE49-F238E27FC236}">
                <a16:creationId xmlns:a16="http://schemas.microsoft.com/office/drawing/2014/main" id="{2F5A5B1B-7525-29C9-1EF8-44FFF9752BC4}"/>
              </a:ext>
            </a:extLst>
          </p:cNvPr>
          <p:cNvSpPr txBox="1"/>
          <p:nvPr/>
        </p:nvSpPr>
        <p:spPr>
          <a:xfrm>
            <a:off x="7734486" y="5617977"/>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4-32 </a:t>
            </a:r>
            <a:r>
              <a:rPr lang="zh-CN" altLang="en-US" dirty="0">
                <a:latin typeface="黑体" panose="02010609060101010101" pitchFamily="49" charset="-122"/>
                <a:ea typeface="黑体" panose="02010609060101010101" pitchFamily="49" charset="-122"/>
              </a:rPr>
              <a:t>创建管道特征</a:t>
            </a:r>
          </a:p>
        </p:txBody>
      </p:sp>
    </p:spTree>
    <p:extLst>
      <p:ext uri="{BB962C8B-B14F-4D97-AF65-F5344CB8AC3E}">
        <p14:creationId xmlns:p14="http://schemas.microsoft.com/office/powerpoint/2010/main" val="7871511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795</TotalTime>
  <Words>2663</Words>
  <Application>Microsoft Office PowerPoint</Application>
  <PresentationFormat>宽屏</PresentationFormat>
  <Paragraphs>118</Paragraphs>
  <Slides>45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45</vt:i4>
      </vt:variant>
    </vt:vector>
  </HeadingPairs>
  <TitlesOfParts>
    <vt:vector size="52" baseType="lpstr">
      <vt:lpstr>黑体</vt:lpstr>
      <vt:lpstr>宋体</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502</dc:creator>
  <cp:lastModifiedBy>37584</cp:lastModifiedBy>
  <cp:revision>90</cp:revision>
  <dcterms:created xsi:type="dcterms:W3CDTF">2022-06-25T09:10:00Z</dcterms:created>
  <dcterms:modified xsi:type="dcterms:W3CDTF">2023-03-29T09:03:05Z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9F5551007EA34426BE42E023EFDA5284</vt:lpwstr>
  </property>
  <property fmtid="{D5CDD505-2E9C-101B-9397-08002B2CF9AE}" pid="3" name="KSOProductBuildVer">
    <vt:lpwstr>2052-11.1.0.11579</vt:lpwstr>
  </property>
</Properties>
</file>