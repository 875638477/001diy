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handoutMasterIdLst>
    <p:handoutMasterId r:id="rId96"/>
  </p:handoutMasterIdLst>
  <p:sldIdLst>
    <p:sldId id="256" r:id="rId2"/>
    <p:sldId id="257" r:id="rId3"/>
    <p:sldId id="311" r:id="rId4"/>
    <p:sldId id="312" r:id="rId5"/>
    <p:sldId id="313" r:id="rId6"/>
    <p:sldId id="314" r:id="rId7"/>
    <p:sldId id="315" r:id="rId8"/>
    <p:sldId id="316" r:id="rId9"/>
    <p:sldId id="317" r:id="rId10"/>
    <p:sldId id="318" r:id="rId11"/>
    <p:sldId id="319" r:id="rId12"/>
    <p:sldId id="320" r:id="rId13"/>
    <p:sldId id="321" r:id="rId14"/>
    <p:sldId id="322" r:id="rId15"/>
    <p:sldId id="323" r:id="rId16"/>
    <p:sldId id="324" r:id="rId17"/>
    <p:sldId id="325" r:id="rId18"/>
    <p:sldId id="326" r:id="rId19"/>
    <p:sldId id="327" r:id="rId20"/>
    <p:sldId id="328" r:id="rId21"/>
    <p:sldId id="329" r:id="rId22"/>
    <p:sldId id="330" r:id="rId23"/>
    <p:sldId id="331" r:id="rId24"/>
    <p:sldId id="332" r:id="rId25"/>
    <p:sldId id="333" r:id="rId26"/>
    <p:sldId id="334" r:id="rId27"/>
    <p:sldId id="335" r:id="rId28"/>
    <p:sldId id="336" r:id="rId29"/>
    <p:sldId id="337" r:id="rId30"/>
    <p:sldId id="338" r:id="rId31"/>
    <p:sldId id="339" r:id="rId32"/>
    <p:sldId id="340" r:id="rId33"/>
    <p:sldId id="341" r:id="rId34"/>
    <p:sldId id="342" r:id="rId35"/>
    <p:sldId id="343" r:id="rId36"/>
    <p:sldId id="344" r:id="rId37"/>
    <p:sldId id="345" r:id="rId38"/>
    <p:sldId id="346" r:id="rId39"/>
    <p:sldId id="347" r:id="rId40"/>
    <p:sldId id="348" r:id="rId41"/>
    <p:sldId id="349" r:id="rId42"/>
    <p:sldId id="350" r:id="rId43"/>
    <p:sldId id="351" r:id="rId44"/>
    <p:sldId id="352" r:id="rId45"/>
    <p:sldId id="353" r:id="rId46"/>
    <p:sldId id="354" r:id="rId47"/>
    <p:sldId id="355" r:id="rId48"/>
    <p:sldId id="356" r:id="rId49"/>
    <p:sldId id="357" r:id="rId50"/>
    <p:sldId id="358" r:id="rId51"/>
    <p:sldId id="359" r:id="rId52"/>
    <p:sldId id="360" r:id="rId53"/>
    <p:sldId id="361" r:id="rId54"/>
    <p:sldId id="362" r:id="rId55"/>
    <p:sldId id="363" r:id="rId56"/>
    <p:sldId id="364" r:id="rId57"/>
    <p:sldId id="365" r:id="rId58"/>
    <p:sldId id="366" r:id="rId59"/>
    <p:sldId id="367" r:id="rId60"/>
    <p:sldId id="368" r:id="rId61"/>
    <p:sldId id="369" r:id="rId62"/>
    <p:sldId id="370" r:id="rId63"/>
    <p:sldId id="371" r:id="rId64"/>
    <p:sldId id="372" r:id="rId65"/>
    <p:sldId id="373" r:id="rId66"/>
    <p:sldId id="374" r:id="rId67"/>
    <p:sldId id="375" r:id="rId68"/>
    <p:sldId id="376" r:id="rId69"/>
    <p:sldId id="377" r:id="rId70"/>
    <p:sldId id="378" r:id="rId71"/>
    <p:sldId id="379" r:id="rId72"/>
    <p:sldId id="380" r:id="rId73"/>
    <p:sldId id="381" r:id="rId74"/>
    <p:sldId id="382" r:id="rId75"/>
    <p:sldId id="383" r:id="rId76"/>
    <p:sldId id="384" r:id="rId77"/>
    <p:sldId id="385" r:id="rId78"/>
    <p:sldId id="386" r:id="rId79"/>
    <p:sldId id="387" r:id="rId80"/>
    <p:sldId id="388" r:id="rId81"/>
    <p:sldId id="389" r:id="rId82"/>
    <p:sldId id="390" r:id="rId83"/>
    <p:sldId id="391" r:id="rId84"/>
    <p:sldId id="392" r:id="rId85"/>
    <p:sldId id="393" r:id="rId86"/>
    <p:sldId id="394" r:id="rId87"/>
    <p:sldId id="395" r:id="rId88"/>
    <p:sldId id="396" r:id="rId89"/>
    <p:sldId id="397" r:id="rId90"/>
    <p:sldId id="398" r:id="rId91"/>
    <p:sldId id="399" r:id="rId92"/>
    <p:sldId id="400" r:id="rId93"/>
    <p:sldId id="401" r:id="rId94"/>
    <p:sldId id="402" r:id="rId9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0000FF"/>
    <a:srgbClr val="0361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68" d="100"/>
          <a:sy n="68" d="100"/>
        </p:scale>
        <p:origin x="780" y="72"/>
      </p:cViewPr>
      <p:guideLst>
        <p:guide orient="horz" pos="2160"/>
        <p:guide pos="3840"/>
      </p:guideLst>
    </p:cSldViewPr>
  </p:slideViewPr>
  <p:notesTextViewPr>
    <p:cViewPr>
      <p:scale>
        <a:sx n="1" d="1"/>
        <a:sy n="1" d="1"/>
      </p:scale>
      <p:origin x="0" y="0"/>
    </p:cViewPr>
  </p:notesTextViewPr>
  <p:notesViewPr>
    <p:cSldViewPr snapToGrid="0">
      <p:cViewPr varScale="1">
        <p:scale>
          <a:sx n="54" d="100"/>
          <a:sy n="54" d="100"/>
        </p:scale>
        <p:origin x="-2916"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97"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C7D4EB5-7A91-4453-9159-82F472709EE6}" type="datetimeFigureOut">
              <a:rPr lang="zh-CN" altLang="en-US" smtClean="0"/>
              <a:t>2023/3/29</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06447EE-71ED-4CDF-A1E2-57E93385EA12}" type="slidenum">
              <a:rPr lang="zh-CN" altLang="en-US" smtClean="0"/>
              <a:t>‹#›</a:t>
            </a:fld>
            <a:endParaRPr lang="zh-CN" altLang="en-US"/>
          </a:p>
        </p:txBody>
      </p:sp>
    </p:spTree>
    <p:extLst>
      <p:ext uri="{BB962C8B-B14F-4D97-AF65-F5344CB8AC3E}">
        <p14:creationId xmlns:p14="http://schemas.microsoft.com/office/powerpoint/2010/main" val="217029342"/>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22" name="直接连接符 21"/>
          <p:cNvCxnSpPr/>
          <p:nvPr userDrawn="1"/>
        </p:nvCxnSpPr>
        <p:spPr>
          <a:xfrm>
            <a:off x="518756" y="311468"/>
            <a:ext cx="4108450" cy="0"/>
          </a:xfrm>
          <a:prstGeom prst="line">
            <a:avLst/>
          </a:prstGeom>
          <a:ln w="127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userDrawn="1"/>
        </p:nvCxnSpPr>
        <p:spPr>
          <a:xfrm>
            <a:off x="7488043" y="311468"/>
            <a:ext cx="4108450" cy="0"/>
          </a:xfrm>
          <a:prstGeom prst="line">
            <a:avLst/>
          </a:prstGeom>
          <a:ln w="12700">
            <a:solidFill>
              <a:srgbClr val="7030A0"/>
            </a:solidFill>
          </a:ln>
        </p:spPr>
        <p:style>
          <a:lnRef idx="1">
            <a:schemeClr val="accent1"/>
          </a:lnRef>
          <a:fillRef idx="0">
            <a:schemeClr val="accent1"/>
          </a:fillRef>
          <a:effectRef idx="0">
            <a:schemeClr val="accent1"/>
          </a:effectRef>
          <a:fontRef idx="minor">
            <a:schemeClr val="tx1"/>
          </a:fontRef>
        </p:style>
      </p:cxnSp>
      <p:pic>
        <p:nvPicPr>
          <p:cNvPr id="100" name="图片 99"/>
          <p:cNvPicPr>
            <a:picLocks/>
          </p:cNvPicPr>
          <p:nvPr userDrawn="1"/>
        </p:nvPicPr>
        <p:blipFill>
          <a:blip r:embed="rId3"/>
          <a:srcRect t="30838" b="33250"/>
          <a:stretch>
            <a:fillRect/>
          </a:stretch>
        </p:blipFill>
        <p:spPr>
          <a:xfrm>
            <a:off x="5155096" y="6473823"/>
            <a:ext cx="1881809" cy="360000"/>
          </a:xfrm>
          <a:prstGeom prst="rect">
            <a:avLst/>
          </a:prstGeom>
          <a:noFill/>
          <a:ln w="9525">
            <a:noFill/>
          </a:ln>
        </p:spPr>
      </p:pic>
      <p:sp>
        <p:nvSpPr>
          <p:cNvPr id="3" name="文本框 2"/>
          <p:cNvSpPr txBox="1"/>
          <p:nvPr userDrawn="1"/>
        </p:nvSpPr>
        <p:spPr>
          <a:xfrm>
            <a:off x="4652093" y="143510"/>
            <a:ext cx="2887815" cy="369332"/>
          </a:xfrm>
          <a:prstGeom prst="rect">
            <a:avLst/>
          </a:prstGeom>
          <a:noFill/>
        </p:spPr>
        <p:txBody>
          <a:bodyPr wrap="square" rtlCol="0">
            <a:spAutoFit/>
          </a:bodyPr>
          <a:lstStyle/>
          <a:p>
            <a:r>
              <a:rPr lang="en-US" altLang="zh-CN" sz="1800" b="1" dirty="0">
                <a:solidFill>
                  <a:schemeClr val="tx1"/>
                </a:solidFill>
                <a:latin typeface="黑体" panose="02010609060101010101" charset="-122"/>
                <a:ea typeface="黑体" panose="02010609060101010101" charset="-122"/>
                <a:cs typeface="黑体" panose="02010609060101010101" charset="-122"/>
              </a:rPr>
              <a:t>Creo8.0</a:t>
            </a:r>
            <a:r>
              <a:rPr lang="zh-CN" altLang="en-US" sz="1800" b="1" dirty="0">
                <a:solidFill>
                  <a:schemeClr val="tx1"/>
                </a:solidFill>
                <a:latin typeface="黑体" panose="02010609060101010101" charset="-122"/>
                <a:ea typeface="黑体" panose="02010609060101010101" charset="-122"/>
                <a:cs typeface="黑体" panose="02010609060101010101" charset="-122"/>
              </a:rPr>
              <a:t>机械设计实例教程</a:t>
            </a:r>
          </a:p>
        </p:txBody>
      </p:sp>
      <p:pic>
        <p:nvPicPr>
          <p:cNvPr id="4" name="图片 3">
            <a:extLst>
              <a:ext uri="{FF2B5EF4-FFF2-40B4-BE49-F238E27FC236}">
                <a16:creationId xmlns:a16="http://schemas.microsoft.com/office/drawing/2014/main" id="{44D4B075-C59A-78F3-E184-550993060270}"/>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365673" y="6307116"/>
            <a:ext cx="2766343" cy="529353"/>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3.PNG"/><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1.xml"/><Relationship Id="rId4" Type="http://schemas.openxmlformats.org/officeDocument/2006/relationships/image" Target="../media/image58.png"/></Relationships>
</file>

<file path=ppt/slides/_rels/slide5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1.xml"/><Relationship Id="rId4" Type="http://schemas.openxmlformats.org/officeDocument/2006/relationships/image" Target="../media/image83.png"/></Relationships>
</file>

<file path=ppt/slides/_rels/slide80.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41812" y="587971"/>
            <a:ext cx="6508377" cy="646331"/>
          </a:xfrm>
          <a:prstGeom prst="rect">
            <a:avLst/>
          </a:prstGeom>
          <a:noFill/>
        </p:spPr>
        <p:txBody>
          <a:bodyPr wrap="square" rtlCol="0">
            <a:spAutoFit/>
          </a:bodyPr>
          <a:lstStyle/>
          <a:p>
            <a:pPr algn="ctr"/>
            <a:r>
              <a:rPr lang="zh-CN" altLang="en-US" sz="3600" dirty="0">
                <a:latin typeface="Times New Roman" pitchFamily="18" charset="0"/>
                <a:ea typeface="黑体" pitchFamily="49" charset="-122"/>
              </a:rPr>
              <a:t>第</a:t>
            </a:r>
            <a:r>
              <a:rPr lang="en-US" altLang="zh-CN" sz="3600" dirty="0">
                <a:latin typeface="Times New Roman" pitchFamily="18" charset="0"/>
                <a:ea typeface="黑体" pitchFamily="49" charset="-122"/>
              </a:rPr>
              <a:t>8</a:t>
            </a:r>
            <a:r>
              <a:rPr lang="zh-CN" altLang="en-US" sz="3600" dirty="0">
                <a:latin typeface="Times New Roman" pitchFamily="18" charset="0"/>
                <a:ea typeface="黑体" pitchFamily="49" charset="-122"/>
              </a:rPr>
              <a:t>章 装配</a:t>
            </a:r>
          </a:p>
        </p:txBody>
      </p:sp>
      <p:sp>
        <p:nvSpPr>
          <p:cNvPr id="3" name="TextBox 2"/>
          <p:cNvSpPr txBox="1"/>
          <p:nvPr/>
        </p:nvSpPr>
        <p:spPr>
          <a:xfrm>
            <a:off x="4633828" y="1213887"/>
            <a:ext cx="3300350" cy="5169492"/>
          </a:xfrm>
          <a:prstGeom prst="rect">
            <a:avLst/>
          </a:prstGeom>
          <a:noFill/>
        </p:spPr>
        <p:txBody>
          <a:bodyPr wrap="square" rtlCol="0">
            <a:spAutoFit/>
          </a:bodyPr>
          <a:lstStyle/>
          <a:p>
            <a:pPr>
              <a:lnSpc>
                <a:spcPct val="150000"/>
              </a:lnSpc>
            </a:pPr>
            <a:r>
              <a:rPr lang="en-US" altLang="zh-CN" sz="3200" dirty="0">
                <a:latin typeface="Times New Roman" pitchFamily="18" charset="0"/>
                <a:ea typeface="黑体" pitchFamily="49" charset="-122"/>
              </a:rPr>
              <a:t>8.1 </a:t>
            </a:r>
            <a:r>
              <a:rPr lang="zh-CN" altLang="en-US" sz="3200" dirty="0">
                <a:latin typeface="Times New Roman" pitchFamily="18" charset="0"/>
                <a:ea typeface="黑体" pitchFamily="49" charset="-122"/>
              </a:rPr>
              <a:t>装配概述</a:t>
            </a:r>
            <a:endParaRPr lang="en-US" altLang="zh-CN" sz="3200" dirty="0">
              <a:latin typeface="Times New Roman" pitchFamily="18" charset="0"/>
              <a:ea typeface="黑体" pitchFamily="49" charset="-122"/>
            </a:endParaRPr>
          </a:p>
          <a:p>
            <a:pPr>
              <a:lnSpc>
                <a:spcPct val="150000"/>
              </a:lnSpc>
            </a:pPr>
            <a:r>
              <a:rPr lang="en-US" altLang="zh-CN" sz="3200" dirty="0">
                <a:latin typeface="Times New Roman" pitchFamily="18" charset="0"/>
                <a:ea typeface="黑体" pitchFamily="49" charset="-122"/>
              </a:rPr>
              <a:t>8.2 </a:t>
            </a:r>
            <a:r>
              <a:rPr lang="zh-CN" altLang="en-US" sz="3200" dirty="0">
                <a:latin typeface="Times New Roman" pitchFamily="18" charset="0"/>
                <a:ea typeface="黑体" pitchFamily="49" charset="-122"/>
              </a:rPr>
              <a:t>放置约束</a:t>
            </a:r>
            <a:endParaRPr lang="en-US" altLang="zh-CN" sz="3200" dirty="0">
              <a:latin typeface="Times New Roman" pitchFamily="18" charset="0"/>
              <a:ea typeface="黑体" pitchFamily="49" charset="-122"/>
            </a:endParaRPr>
          </a:p>
          <a:p>
            <a:pPr>
              <a:lnSpc>
                <a:spcPct val="150000"/>
              </a:lnSpc>
            </a:pPr>
            <a:r>
              <a:rPr lang="en-US" altLang="zh-CN" sz="3200" dirty="0">
                <a:latin typeface="Times New Roman" pitchFamily="18" charset="0"/>
                <a:ea typeface="黑体" pitchFamily="49" charset="-122"/>
              </a:rPr>
              <a:t>8.3 </a:t>
            </a:r>
            <a:r>
              <a:rPr lang="zh-CN" altLang="en-US" sz="3200" dirty="0">
                <a:latin typeface="Times New Roman" pitchFamily="18" charset="0"/>
                <a:ea typeface="黑体" pitchFamily="49" charset="-122"/>
              </a:rPr>
              <a:t>连接装配</a:t>
            </a:r>
            <a:endParaRPr lang="en-US" altLang="zh-CN" sz="3200" dirty="0">
              <a:latin typeface="Times New Roman" pitchFamily="18" charset="0"/>
              <a:ea typeface="黑体" pitchFamily="49" charset="-122"/>
            </a:endParaRPr>
          </a:p>
          <a:p>
            <a:pPr>
              <a:lnSpc>
                <a:spcPct val="150000"/>
              </a:lnSpc>
            </a:pPr>
            <a:r>
              <a:rPr lang="en-US" altLang="zh-CN" sz="3200" dirty="0">
                <a:latin typeface="Times New Roman" pitchFamily="18" charset="0"/>
                <a:ea typeface="黑体" pitchFamily="49" charset="-122"/>
              </a:rPr>
              <a:t>8.4 </a:t>
            </a:r>
            <a:r>
              <a:rPr lang="zh-CN" altLang="en-US" sz="3200" dirty="0">
                <a:latin typeface="Times New Roman" pitchFamily="18" charset="0"/>
                <a:ea typeface="黑体" pitchFamily="49" charset="-122"/>
              </a:rPr>
              <a:t>镜像元件</a:t>
            </a:r>
            <a:endParaRPr lang="en-US" altLang="zh-CN" sz="3200" dirty="0">
              <a:latin typeface="Times New Roman" pitchFamily="18" charset="0"/>
              <a:ea typeface="黑体" pitchFamily="49" charset="-122"/>
            </a:endParaRPr>
          </a:p>
          <a:p>
            <a:pPr>
              <a:lnSpc>
                <a:spcPct val="150000"/>
              </a:lnSpc>
            </a:pPr>
            <a:r>
              <a:rPr lang="en-US" altLang="zh-CN" sz="3200" dirty="0">
                <a:latin typeface="Times New Roman" pitchFamily="18" charset="0"/>
                <a:ea typeface="黑体" pitchFamily="49" charset="-122"/>
              </a:rPr>
              <a:t>8.5 </a:t>
            </a:r>
            <a:r>
              <a:rPr lang="zh-CN" altLang="en-US" sz="3200" dirty="0">
                <a:latin typeface="Times New Roman" pitchFamily="18" charset="0"/>
                <a:ea typeface="黑体" pitchFamily="49" charset="-122"/>
              </a:rPr>
              <a:t>阵列原件</a:t>
            </a:r>
            <a:endParaRPr lang="en-US" altLang="zh-CN" sz="3200" dirty="0">
              <a:latin typeface="Times New Roman" pitchFamily="18" charset="0"/>
              <a:ea typeface="黑体" pitchFamily="49" charset="-122"/>
            </a:endParaRPr>
          </a:p>
          <a:p>
            <a:pPr>
              <a:lnSpc>
                <a:spcPct val="150000"/>
              </a:lnSpc>
            </a:pPr>
            <a:r>
              <a:rPr lang="en-US" altLang="zh-CN" sz="3200" dirty="0">
                <a:latin typeface="Times New Roman" pitchFamily="18" charset="0"/>
                <a:ea typeface="黑体" pitchFamily="49" charset="-122"/>
              </a:rPr>
              <a:t>8.6 </a:t>
            </a:r>
            <a:r>
              <a:rPr lang="zh-CN" altLang="en-US" sz="3200" dirty="0">
                <a:latin typeface="Times New Roman" pitchFamily="18" charset="0"/>
                <a:ea typeface="黑体" pitchFamily="49" charset="-122"/>
              </a:rPr>
              <a:t>重复放置元件</a:t>
            </a:r>
            <a:endParaRPr lang="en-US" altLang="zh-CN" sz="3200" dirty="0">
              <a:latin typeface="Times New Roman" pitchFamily="18" charset="0"/>
              <a:ea typeface="黑体" pitchFamily="49" charset="-122"/>
            </a:endParaRPr>
          </a:p>
          <a:p>
            <a:pPr>
              <a:lnSpc>
                <a:spcPct val="150000"/>
              </a:lnSpc>
            </a:pPr>
            <a:r>
              <a:rPr lang="en-US" altLang="zh-CN" sz="3200" dirty="0">
                <a:latin typeface="Times New Roman" pitchFamily="18" charset="0"/>
                <a:ea typeface="黑体" pitchFamily="49" charset="-122"/>
              </a:rPr>
              <a:t>8.7 </a:t>
            </a:r>
            <a:r>
              <a:rPr lang="zh-CN" altLang="en-US" sz="3200" dirty="0">
                <a:latin typeface="Times New Roman" pitchFamily="18" charset="0"/>
                <a:ea typeface="黑体" pitchFamily="49" charset="-122"/>
              </a:rPr>
              <a:t>管理装配视图</a:t>
            </a:r>
            <a:endParaRPr lang="en-US" altLang="zh-CN" sz="3200" dirty="0">
              <a:latin typeface="Times New Roman" pitchFamily="18" charset="0"/>
              <a:ea typeface="黑体" pitchFamily="49"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0562" y="470647"/>
            <a:ext cx="3565712" cy="737510"/>
          </a:xfrm>
          <a:prstGeom prst="rect">
            <a:avLst/>
          </a:prstGeom>
          <a:solidFill>
            <a:srgbClr val="0000FF"/>
          </a:solidFill>
        </p:spPr>
        <p:txBody>
          <a:bodyPr wrap="square" rtlCol="0">
            <a:spAutoFit/>
          </a:bodyPr>
          <a:lstStyle/>
          <a:p>
            <a:pPr>
              <a:lnSpc>
                <a:spcPct val="150000"/>
              </a:lnSpc>
            </a:pPr>
            <a:r>
              <a:rPr lang="en-US" altLang="zh-CN" sz="3200" dirty="0">
                <a:solidFill>
                  <a:schemeClr val="bg1"/>
                </a:solidFill>
                <a:latin typeface="Times New Roman" pitchFamily="18" charset="0"/>
                <a:ea typeface="黑体" pitchFamily="49" charset="-122"/>
              </a:rPr>
              <a:t>8.1 </a:t>
            </a:r>
            <a:r>
              <a:rPr lang="zh-CN" altLang="en-US" sz="3200" dirty="0">
                <a:solidFill>
                  <a:schemeClr val="bg1"/>
                </a:solidFill>
                <a:latin typeface="Times New Roman" pitchFamily="18" charset="0"/>
                <a:ea typeface="黑体" pitchFamily="49" charset="-122"/>
              </a:rPr>
              <a:t>装配概述</a:t>
            </a:r>
            <a:endParaRPr lang="en-US" altLang="zh-CN" sz="3200" dirty="0">
              <a:solidFill>
                <a:schemeClr val="bg1"/>
              </a:solidFill>
              <a:latin typeface="Times New Roman" pitchFamily="18" charset="0"/>
              <a:ea typeface="黑体" pitchFamily="49" charset="-122"/>
            </a:endParaRPr>
          </a:p>
        </p:txBody>
      </p:sp>
      <p:sp>
        <p:nvSpPr>
          <p:cNvPr id="3" name="TextBox 2"/>
          <p:cNvSpPr txBox="1"/>
          <p:nvPr/>
        </p:nvSpPr>
        <p:spPr>
          <a:xfrm>
            <a:off x="457203" y="1279582"/>
            <a:ext cx="11178206" cy="3017236"/>
          </a:xfrm>
          <a:prstGeom prst="rect">
            <a:avLst/>
          </a:prstGeom>
          <a:noFill/>
        </p:spPr>
        <p:txBody>
          <a:bodyPr wrap="square" rtlCol="0">
            <a:spAutoFit/>
          </a:bodyPr>
          <a:lstStyle/>
          <a:p>
            <a:pPr indent="457200">
              <a:lnSpc>
                <a:spcPct val="150000"/>
              </a:lnSpc>
            </a:pPr>
            <a:r>
              <a:rPr lang="en-US" altLang="zh-CN" sz="2600" dirty="0">
                <a:latin typeface="Times New Roman" pitchFamily="18" charset="0"/>
                <a:ea typeface="宋体" pitchFamily="2" charset="-122"/>
              </a:rPr>
              <a:t>Creo Parametric 8.0</a:t>
            </a:r>
            <a:r>
              <a:rPr lang="zh-CN" altLang="en-US" sz="2600" dirty="0">
                <a:latin typeface="Times New Roman" pitchFamily="18" charset="0"/>
                <a:ea typeface="宋体" pitchFamily="2" charset="-122"/>
              </a:rPr>
              <a:t>的装配功能允许将零件和子装配以一定的装配关系放置在一起以形成装配体，用户可以在装配模式下添加和创建零部件，也可以阵列元件、镜像装配、替换元件等。在装配模式下，产品的全部或部分结构一目了然，助于用户检查各零件之间的关系和干涉问题，从而更好地把握产品细节结构，进行优化设计。</a:t>
            </a:r>
          </a:p>
        </p:txBody>
      </p:sp>
    </p:spTree>
    <p:extLst>
      <p:ext uri="{BB962C8B-B14F-4D97-AF65-F5344CB8AC3E}">
        <p14:creationId xmlns:p14="http://schemas.microsoft.com/office/powerpoint/2010/main" val="32982766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3" y="538694"/>
            <a:ext cx="11178206" cy="4862357"/>
          </a:xfrm>
          <a:prstGeom prst="rect">
            <a:avLst/>
          </a:prstGeom>
          <a:noFill/>
        </p:spPr>
        <p:txBody>
          <a:bodyPr wrap="square" rtlCol="0">
            <a:spAutoFit/>
          </a:bodyPr>
          <a:lstStyle/>
          <a:p>
            <a:pPr indent="457200">
              <a:lnSpc>
                <a:spcPct val="150000"/>
              </a:lnSpc>
            </a:pPr>
            <a:r>
              <a:rPr lang="zh-CN" altLang="en-US" sz="2600" dirty="0">
                <a:latin typeface="Times New Roman" pitchFamily="18" charset="0"/>
                <a:ea typeface="宋体" pitchFamily="2" charset="-122"/>
              </a:rPr>
              <a:t>下面介绍新建一个装配文件的步骤。</a:t>
            </a:r>
            <a:endParaRPr lang="en-US" altLang="zh-CN" sz="2600" dirty="0">
              <a:latin typeface="Times New Roman" pitchFamily="18" charset="0"/>
              <a:ea typeface="宋体" pitchFamily="2" charset="-122"/>
            </a:endParaRPr>
          </a:p>
          <a:p>
            <a:pPr indent="457200">
              <a:lnSpc>
                <a:spcPct val="150000"/>
              </a:lnSpc>
            </a:pPr>
            <a:r>
              <a:rPr lang="en-US" altLang="zh-CN" sz="2600" dirty="0">
                <a:latin typeface="Times New Roman" pitchFamily="18" charset="0"/>
                <a:ea typeface="宋体" pitchFamily="2" charset="-122"/>
              </a:rPr>
              <a:t>1</a:t>
            </a:r>
            <a:r>
              <a:rPr lang="zh-CN" altLang="en-US" sz="2600" dirty="0">
                <a:latin typeface="Times New Roman" pitchFamily="18" charset="0"/>
                <a:ea typeface="宋体" pitchFamily="2" charset="-122"/>
              </a:rPr>
              <a:t>） 在“快速访问”工具栏中单击“新建”按钮      ，弹出</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新建</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对话框。</a:t>
            </a:r>
          </a:p>
          <a:p>
            <a:pPr indent="457200">
              <a:lnSpc>
                <a:spcPct val="150000"/>
              </a:lnSpc>
            </a:pPr>
            <a:r>
              <a:rPr lang="en-US" altLang="zh-CN" sz="2600" dirty="0">
                <a:latin typeface="Times New Roman" pitchFamily="18" charset="0"/>
                <a:ea typeface="宋体" pitchFamily="2" charset="-122"/>
              </a:rPr>
              <a:t>2</a:t>
            </a:r>
            <a:r>
              <a:rPr lang="zh-CN" altLang="en-US" sz="2600" dirty="0">
                <a:latin typeface="Times New Roman" pitchFamily="18" charset="0"/>
                <a:ea typeface="宋体" pitchFamily="2" charset="-122"/>
              </a:rPr>
              <a:t>） 在“类型”选项组中选择“装配”单选按钮，在“子类型”选项组中选择“设计”单选按钮，在“文件名”文本框中输入新的组件名称或接受默认的组件名称，取消选中“使用默认模板”复选框，如图</a:t>
            </a:r>
            <a:r>
              <a:rPr lang="en-US" altLang="zh-CN" sz="2600" dirty="0">
                <a:latin typeface="Times New Roman" pitchFamily="18" charset="0"/>
                <a:ea typeface="宋体" pitchFamily="2" charset="-122"/>
              </a:rPr>
              <a:t>8-1</a:t>
            </a:r>
            <a:r>
              <a:rPr lang="zh-CN" altLang="en-US" sz="2600" dirty="0">
                <a:latin typeface="Times New Roman" pitchFamily="18" charset="0"/>
                <a:ea typeface="宋体" pitchFamily="2" charset="-122"/>
              </a:rPr>
              <a:t>所示。然后单击“确定”按钮，弹出</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新文件选项</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对话框。</a:t>
            </a:r>
          </a:p>
          <a:p>
            <a:pPr indent="457200">
              <a:lnSpc>
                <a:spcPct val="150000"/>
              </a:lnSpc>
            </a:pPr>
            <a:endParaRPr lang="zh-CN" altLang="en-US" sz="2800" dirty="0">
              <a:latin typeface="Times New Roman" pitchFamily="18" charset="0"/>
              <a:ea typeface="宋体" pitchFamily="2" charset="-122"/>
            </a:endParaRPr>
          </a:p>
        </p:txBody>
      </p:sp>
      <p:pic>
        <p:nvPicPr>
          <p:cNvPr id="2" name="图片 1">
            <a:extLst>
              <a:ext uri="{FF2B5EF4-FFF2-40B4-BE49-F238E27FC236}">
                <a16:creationId xmlns:a16="http://schemas.microsoft.com/office/drawing/2014/main" id="{A387E386-5924-54C6-5CA8-CFCFAF9A43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05953" y="1309068"/>
            <a:ext cx="342900" cy="342900"/>
          </a:xfrm>
          <a:prstGeom prst="rect">
            <a:avLst/>
          </a:prstGeom>
        </p:spPr>
      </p:pic>
    </p:spTree>
    <p:extLst>
      <p:ext uri="{BB962C8B-B14F-4D97-AF65-F5344CB8AC3E}">
        <p14:creationId xmlns:p14="http://schemas.microsoft.com/office/powerpoint/2010/main" val="32349383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9F215463-1B2D-B71A-FC0C-F2E7DC34AC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43517" y="672201"/>
            <a:ext cx="3504966" cy="5291973"/>
          </a:xfrm>
          <a:prstGeom prst="rect">
            <a:avLst/>
          </a:prstGeom>
        </p:spPr>
      </p:pic>
      <p:sp>
        <p:nvSpPr>
          <p:cNvPr id="4" name="文本框 3">
            <a:extLst>
              <a:ext uri="{FF2B5EF4-FFF2-40B4-BE49-F238E27FC236}">
                <a16:creationId xmlns:a16="http://schemas.microsoft.com/office/drawing/2014/main" id="{7E0B3149-7DEB-09E8-3B98-0E3F22913003}"/>
              </a:ext>
            </a:extLst>
          </p:cNvPr>
          <p:cNvSpPr txBox="1"/>
          <p:nvPr/>
        </p:nvSpPr>
        <p:spPr>
          <a:xfrm>
            <a:off x="4916557" y="6014385"/>
            <a:ext cx="2358887" cy="369332"/>
          </a:xfrm>
          <a:prstGeom prst="rect">
            <a:avLst/>
          </a:prstGeom>
          <a:noFill/>
        </p:spPr>
        <p:txBody>
          <a:bodyPr wrap="square">
            <a:spAutoFit/>
          </a:bodyPr>
          <a:lstStyle/>
          <a:p>
            <a:pPr algn="ctr"/>
            <a:r>
              <a:rPr lang="zh-CN" altLang="zh-CN" sz="1800" dirty="0">
                <a:effectLst/>
                <a:ea typeface="黑体" panose="02010609060101010101" pitchFamily="49" charset="-122"/>
                <a:cs typeface="Times New Roman" panose="02020603050405020304" pitchFamily="18" charset="0"/>
              </a:rPr>
              <a:t>图</a:t>
            </a:r>
            <a:r>
              <a:rPr lang="en-US" altLang="zh-CN" sz="1800" dirty="0">
                <a:effectLst/>
                <a:ea typeface="黑体" panose="02010609060101010101" pitchFamily="49" charset="-122"/>
                <a:cs typeface="Times New Roman" panose="02020603050405020304" pitchFamily="18" charset="0"/>
              </a:rPr>
              <a:t>8-1</a:t>
            </a:r>
            <a:r>
              <a:rPr lang="zh-CN" altLang="zh-CN" sz="1800" dirty="0">
                <a:effectLst/>
                <a:ea typeface="黑体" panose="02010609060101010101" pitchFamily="49" charset="-122"/>
                <a:cs typeface="Times New Roman" panose="02020603050405020304" pitchFamily="18" charset="0"/>
              </a:rPr>
              <a:t>【新建】对话框</a:t>
            </a:r>
            <a:endParaRPr lang="zh-CN" altLang="en-US" dirty="0"/>
          </a:p>
        </p:txBody>
      </p:sp>
    </p:spTree>
    <p:extLst>
      <p:ext uri="{BB962C8B-B14F-4D97-AF65-F5344CB8AC3E}">
        <p14:creationId xmlns:p14="http://schemas.microsoft.com/office/powerpoint/2010/main" val="35541769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3" y="459182"/>
            <a:ext cx="11178206" cy="1816908"/>
          </a:xfrm>
          <a:prstGeom prst="rect">
            <a:avLst/>
          </a:prstGeom>
          <a:noFill/>
        </p:spPr>
        <p:txBody>
          <a:bodyPr wrap="square" rtlCol="0">
            <a:spAutoFit/>
          </a:bodyPr>
          <a:lstStyle/>
          <a:p>
            <a:pPr indent="457200">
              <a:lnSpc>
                <a:spcPct val="150000"/>
              </a:lnSpc>
            </a:pPr>
            <a:r>
              <a:rPr lang="en-US" altLang="zh-CN" sz="2600" dirty="0">
                <a:latin typeface="Times New Roman" pitchFamily="18" charset="0"/>
                <a:ea typeface="宋体" pitchFamily="2" charset="-122"/>
              </a:rPr>
              <a:t>3</a:t>
            </a:r>
            <a:r>
              <a:rPr lang="zh-CN" altLang="en-US" sz="2600" dirty="0">
                <a:latin typeface="Times New Roman" pitchFamily="18" charset="0"/>
                <a:ea typeface="宋体" pitchFamily="2" charset="-122"/>
              </a:rPr>
              <a:t>）在“模板”选项组中选择公制模板“</a:t>
            </a:r>
            <a:r>
              <a:rPr lang="en-US" altLang="zh-CN" sz="2600" dirty="0" err="1">
                <a:latin typeface="Times New Roman" pitchFamily="18" charset="0"/>
                <a:ea typeface="宋体" pitchFamily="2" charset="-122"/>
              </a:rPr>
              <a:t>mmns_asm_design_abs</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，如图</a:t>
            </a:r>
            <a:r>
              <a:rPr lang="en-US" altLang="zh-CN" sz="2600" dirty="0">
                <a:latin typeface="Times New Roman" pitchFamily="18" charset="0"/>
                <a:ea typeface="宋体" pitchFamily="2" charset="-122"/>
              </a:rPr>
              <a:t>8-2</a:t>
            </a:r>
            <a:r>
              <a:rPr lang="zh-CN" altLang="en-US" sz="2600" dirty="0">
                <a:latin typeface="Times New Roman" pitchFamily="18" charset="0"/>
                <a:ea typeface="宋体" pitchFamily="2" charset="-122"/>
              </a:rPr>
              <a:t>所示，然后单击“确定”按钮，进入装配环境的的工作界面，其功能区如图</a:t>
            </a:r>
            <a:r>
              <a:rPr lang="en-US" altLang="zh-CN" sz="2600" dirty="0">
                <a:latin typeface="Times New Roman" pitchFamily="18" charset="0"/>
                <a:ea typeface="宋体" pitchFamily="2" charset="-122"/>
              </a:rPr>
              <a:t>8-3</a:t>
            </a:r>
            <a:r>
              <a:rPr lang="zh-CN" altLang="en-US" sz="2600" dirty="0">
                <a:latin typeface="Times New Roman" pitchFamily="18" charset="0"/>
                <a:ea typeface="宋体" pitchFamily="2" charset="-122"/>
              </a:rPr>
              <a:t>所示。</a:t>
            </a:r>
          </a:p>
        </p:txBody>
      </p:sp>
      <p:pic>
        <p:nvPicPr>
          <p:cNvPr id="4" name="图片 3">
            <a:extLst>
              <a:ext uri="{FF2B5EF4-FFF2-40B4-BE49-F238E27FC236}">
                <a16:creationId xmlns:a16="http://schemas.microsoft.com/office/drawing/2014/main" id="{9DC3BF98-36CF-CF30-2ECA-4D1B426261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2615" y="2355681"/>
            <a:ext cx="3297762" cy="4015341"/>
          </a:xfrm>
          <a:prstGeom prst="rect">
            <a:avLst/>
          </a:prstGeom>
        </p:spPr>
      </p:pic>
      <p:sp>
        <p:nvSpPr>
          <p:cNvPr id="5" name="文本框 4">
            <a:extLst>
              <a:ext uri="{FF2B5EF4-FFF2-40B4-BE49-F238E27FC236}">
                <a16:creationId xmlns:a16="http://schemas.microsoft.com/office/drawing/2014/main" id="{829D0546-21A7-39D7-846D-A45380A26F8D}"/>
              </a:ext>
            </a:extLst>
          </p:cNvPr>
          <p:cNvSpPr txBox="1"/>
          <p:nvPr/>
        </p:nvSpPr>
        <p:spPr>
          <a:xfrm>
            <a:off x="615216" y="6425322"/>
            <a:ext cx="3297762" cy="369332"/>
          </a:xfrm>
          <a:prstGeom prst="rect">
            <a:avLst/>
          </a:prstGeom>
          <a:noFill/>
        </p:spPr>
        <p:txBody>
          <a:bodyPr wrap="square">
            <a:spAutoFit/>
          </a:bodyPr>
          <a:lstStyle/>
          <a:p>
            <a:pPr algn="ctr"/>
            <a:r>
              <a:rPr lang="zh-CN" altLang="en-US" sz="1800" dirty="0">
                <a:effectLst/>
                <a:ea typeface="黑体" panose="02010609060101010101" pitchFamily="49" charset="-122"/>
                <a:cs typeface="Times New Roman" panose="02020603050405020304" pitchFamily="18" charset="0"/>
              </a:rPr>
              <a:t>图</a:t>
            </a:r>
            <a:r>
              <a:rPr lang="en-US" altLang="zh-CN" sz="1800" dirty="0">
                <a:effectLst/>
                <a:ea typeface="黑体" panose="02010609060101010101" pitchFamily="49" charset="-122"/>
                <a:cs typeface="Times New Roman" panose="02020603050405020304" pitchFamily="18" charset="0"/>
              </a:rPr>
              <a:t>8-2【</a:t>
            </a:r>
            <a:r>
              <a:rPr lang="zh-CN" altLang="en-US" sz="1800" dirty="0">
                <a:effectLst/>
                <a:ea typeface="黑体" panose="02010609060101010101" pitchFamily="49" charset="-122"/>
                <a:cs typeface="Times New Roman" panose="02020603050405020304" pitchFamily="18" charset="0"/>
              </a:rPr>
              <a:t>新文件选项</a:t>
            </a:r>
            <a:r>
              <a:rPr lang="en-US" altLang="zh-CN" sz="1800" dirty="0">
                <a:effectLst/>
                <a:ea typeface="黑体" panose="02010609060101010101" pitchFamily="49" charset="-122"/>
                <a:cs typeface="Times New Roman" panose="02020603050405020304" pitchFamily="18" charset="0"/>
              </a:rPr>
              <a:t>】</a:t>
            </a:r>
            <a:r>
              <a:rPr lang="zh-CN" altLang="en-US" sz="1800" dirty="0">
                <a:effectLst/>
                <a:ea typeface="黑体" panose="02010609060101010101" pitchFamily="49" charset="-122"/>
                <a:cs typeface="Times New Roman" panose="02020603050405020304" pitchFamily="18" charset="0"/>
              </a:rPr>
              <a:t>对话框</a:t>
            </a:r>
            <a:endParaRPr lang="zh-CN" altLang="en-US" dirty="0"/>
          </a:p>
        </p:txBody>
      </p:sp>
      <p:pic>
        <p:nvPicPr>
          <p:cNvPr id="6" name="图片 5">
            <a:extLst>
              <a:ext uri="{FF2B5EF4-FFF2-40B4-BE49-F238E27FC236}">
                <a16:creationId xmlns:a16="http://schemas.microsoft.com/office/drawing/2014/main" id="{B1F2DD3A-31EE-E743-10AA-CCB702A4F2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20131" y="3641812"/>
            <a:ext cx="6601463" cy="807499"/>
          </a:xfrm>
          <a:prstGeom prst="rect">
            <a:avLst/>
          </a:prstGeom>
        </p:spPr>
      </p:pic>
      <p:sp>
        <p:nvSpPr>
          <p:cNvPr id="7" name="文本框 6">
            <a:extLst>
              <a:ext uri="{FF2B5EF4-FFF2-40B4-BE49-F238E27FC236}">
                <a16:creationId xmlns:a16="http://schemas.microsoft.com/office/drawing/2014/main" id="{B3EA05FD-A837-897C-D26B-E753395AC38A}"/>
              </a:ext>
            </a:extLst>
          </p:cNvPr>
          <p:cNvSpPr txBox="1"/>
          <p:nvPr/>
        </p:nvSpPr>
        <p:spPr>
          <a:xfrm>
            <a:off x="6311737" y="4682661"/>
            <a:ext cx="3297762" cy="369332"/>
          </a:xfrm>
          <a:prstGeom prst="rect">
            <a:avLst/>
          </a:prstGeom>
          <a:noFill/>
        </p:spPr>
        <p:txBody>
          <a:bodyPr wrap="square">
            <a:spAutoFit/>
          </a:bodyPr>
          <a:lstStyle/>
          <a:p>
            <a:pPr algn="ctr"/>
            <a:r>
              <a:rPr lang="zh-CN" altLang="en-US" sz="1800" dirty="0">
                <a:effectLst/>
                <a:ea typeface="黑体" panose="02010609060101010101" pitchFamily="49" charset="-122"/>
                <a:cs typeface="Times New Roman" panose="02020603050405020304" pitchFamily="18" charset="0"/>
              </a:rPr>
              <a:t>图</a:t>
            </a:r>
            <a:r>
              <a:rPr lang="en-US" altLang="zh-CN" sz="1800" dirty="0">
                <a:effectLst/>
                <a:ea typeface="黑体" panose="02010609060101010101" pitchFamily="49" charset="-122"/>
                <a:cs typeface="Times New Roman" panose="02020603050405020304" pitchFamily="18" charset="0"/>
              </a:rPr>
              <a:t>8-3</a:t>
            </a:r>
            <a:r>
              <a:rPr lang="zh-CN" altLang="en-US" sz="1800" dirty="0">
                <a:effectLst/>
                <a:ea typeface="黑体" panose="02010609060101010101" pitchFamily="49" charset="-122"/>
                <a:cs typeface="Times New Roman" panose="02020603050405020304" pitchFamily="18" charset="0"/>
              </a:rPr>
              <a:t>装配环境下的功能区</a:t>
            </a:r>
            <a:endParaRPr lang="zh-CN" altLang="en-US" dirty="0"/>
          </a:p>
        </p:txBody>
      </p:sp>
    </p:spTree>
    <p:extLst>
      <p:ext uri="{BB962C8B-B14F-4D97-AF65-F5344CB8AC3E}">
        <p14:creationId xmlns:p14="http://schemas.microsoft.com/office/powerpoint/2010/main" val="22360637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3" y="416318"/>
            <a:ext cx="11178206" cy="2417072"/>
          </a:xfrm>
          <a:prstGeom prst="rect">
            <a:avLst/>
          </a:prstGeom>
          <a:noFill/>
        </p:spPr>
        <p:txBody>
          <a:bodyPr wrap="square" rtlCol="0">
            <a:spAutoFit/>
          </a:bodyPr>
          <a:lstStyle/>
          <a:p>
            <a:pPr indent="457200">
              <a:lnSpc>
                <a:spcPct val="150000"/>
              </a:lnSpc>
            </a:pPr>
            <a:r>
              <a:rPr lang="en-US" altLang="zh-CN" sz="2600" dirty="0">
                <a:latin typeface="Times New Roman" pitchFamily="18" charset="0"/>
                <a:ea typeface="宋体" pitchFamily="2" charset="-122"/>
              </a:rPr>
              <a:t>4</a:t>
            </a:r>
            <a:r>
              <a:rPr lang="zh-CN" altLang="en-US" sz="2600" dirty="0">
                <a:latin typeface="Times New Roman" pitchFamily="18" charset="0"/>
                <a:ea typeface="宋体" pitchFamily="2" charset="-122"/>
              </a:rPr>
              <a:t>）单击</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模型</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选项卡中</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元件</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组的“组装”按钮    ，弹出</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打开</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对话框。选择要装入的元件，用户可以通过单击右下角的</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预览</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按钮打开预览区，预览即将调入装配环境的模型。在预览区中用户可以通过鼠标中键旋转或拖拽模型，如图</a:t>
            </a:r>
            <a:r>
              <a:rPr lang="en-US" altLang="zh-CN" sz="2600" dirty="0">
                <a:latin typeface="Times New Roman" pitchFamily="18" charset="0"/>
                <a:ea typeface="宋体" pitchFamily="2" charset="-122"/>
              </a:rPr>
              <a:t>8-4</a:t>
            </a:r>
            <a:r>
              <a:rPr lang="zh-CN" altLang="en-US" sz="2600" dirty="0">
                <a:latin typeface="Times New Roman" pitchFamily="18" charset="0"/>
                <a:ea typeface="宋体" pitchFamily="2" charset="-122"/>
              </a:rPr>
              <a:t>所示。</a:t>
            </a:r>
          </a:p>
        </p:txBody>
      </p:sp>
      <p:sp>
        <p:nvSpPr>
          <p:cNvPr id="5" name="文本框 4">
            <a:extLst>
              <a:ext uri="{FF2B5EF4-FFF2-40B4-BE49-F238E27FC236}">
                <a16:creationId xmlns:a16="http://schemas.microsoft.com/office/drawing/2014/main" id="{829D0546-21A7-39D7-846D-A45380A26F8D}"/>
              </a:ext>
            </a:extLst>
          </p:cNvPr>
          <p:cNvSpPr txBox="1"/>
          <p:nvPr/>
        </p:nvSpPr>
        <p:spPr>
          <a:xfrm>
            <a:off x="4397425" y="6157000"/>
            <a:ext cx="3297762" cy="369332"/>
          </a:xfrm>
          <a:prstGeom prst="rect">
            <a:avLst/>
          </a:prstGeom>
          <a:noFill/>
        </p:spPr>
        <p:txBody>
          <a:bodyPr wrap="square">
            <a:spAutoFit/>
          </a:bodyPr>
          <a:lstStyle/>
          <a:p>
            <a:pPr algn="ctr"/>
            <a:r>
              <a:rPr lang="zh-CN" altLang="en-US" sz="1800" dirty="0">
                <a:effectLst/>
                <a:ea typeface="黑体" panose="02010609060101010101" pitchFamily="49" charset="-122"/>
                <a:cs typeface="Times New Roman" panose="02020603050405020304" pitchFamily="18" charset="0"/>
              </a:rPr>
              <a:t>图</a:t>
            </a:r>
            <a:r>
              <a:rPr lang="en-US" altLang="zh-CN" sz="1800" dirty="0">
                <a:effectLst/>
                <a:ea typeface="黑体" panose="02010609060101010101" pitchFamily="49" charset="-122"/>
                <a:cs typeface="Times New Roman" panose="02020603050405020304" pitchFamily="18" charset="0"/>
              </a:rPr>
              <a:t>8-4 </a:t>
            </a:r>
            <a:r>
              <a:rPr lang="zh-CN" altLang="en-US" sz="1800" dirty="0">
                <a:effectLst/>
                <a:ea typeface="黑体" panose="02010609060101010101" pitchFamily="49" charset="-122"/>
                <a:cs typeface="Times New Roman" panose="02020603050405020304" pitchFamily="18" charset="0"/>
              </a:rPr>
              <a:t>打开预览区</a:t>
            </a:r>
            <a:endParaRPr lang="zh-CN" altLang="en-US" dirty="0"/>
          </a:p>
        </p:txBody>
      </p:sp>
      <p:pic>
        <p:nvPicPr>
          <p:cNvPr id="2" name="图片 1">
            <a:extLst>
              <a:ext uri="{FF2B5EF4-FFF2-40B4-BE49-F238E27FC236}">
                <a16:creationId xmlns:a16="http://schemas.microsoft.com/office/drawing/2014/main" id="{21C067B4-DBFA-F29B-64E6-B402913CE2D5}"/>
              </a:ext>
            </a:extLst>
          </p:cNvPr>
          <p:cNvPicPr>
            <a:picLocks noChangeAspect="1"/>
          </p:cNvPicPr>
          <p:nvPr/>
        </p:nvPicPr>
        <p:blipFill>
          <a:blip r:embed="rId2"/>
          <a:stretch>
            <a:fillRect/>
          </a:stretch>
        </p:blipFill>
        <p:spPr>
          <a:xfrm>
            <a:off x="8797806" y="608977"/>
            <a:ext cx="314325" cy="342900"/>
          </a:xfrm>
          <a:prstGeom prst="rect">
            <a:avLst/>
          </a:prstGeom>
        </p:spPr>
      </p:pic>
      <p:pic>
        <p:nvPicPr>
          <p:cNvPr id="8" name="图片 7">
            <a:extLst>
              <a:ext uri="{FF2B5EF4-FFF2-40B4-BE49-F238E27FC236}">
                <a16:creationId xmlns:a16="http://schemas.microsoft.com/office/drawing/2014/main" id="{EC478CC8-E030-DFC7-355C-FA45DEE224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87038" y="2997869"/>
            <a:ext cx="4617924" cy="3074317"/>
          </a:xfrm>
          <a:prstGeom prst="rect">
            <a:avLst/>
          </a:prstGeom>
        </p:spPr>
      </p:pic>
    </p:spTree>
    <p:extLst>
      <p:ext uri="{BB962C8B-B14F-4D97-AF65-F5344CB8AC3E}">
        <p14:creationId xmlns:p14="http://schemas.microsoft.com/office/powerpoint/2010/main" val="6161053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3" y="702078"/>
            <a:ext cx="11178206" cy="1216743"/>
          </a:xfrm>
          <a:prstGeom prst="rect">
            <a:avLst/>
          </a:prstGeom>
          <a:noFill/>
        </p:spPr>
        <p:txBody>
          <a:bodyPr wrap="square" rtlCol="0">
            <a:spAutoFit/>
          </a:bodyPr>
          <a:lstStyle/>
          <a:p>
            <a:pPr indent="457200">
              <a:lnSpc>
                <a:spcPct val="150000"/>
              </a:lnSpc>
            </a:pPr>
            <a:r>
              <a:rPr lang="en-US" altLang="zh-CN" sz="2600" dirty="0">
                <a:latin typeface="Times New Roman" pitchFamily="18" charset="0"/>
                <a:ea typeface="宋体" pitchFamily="2" charset="-122"/>
              </a:rPr>
              <a:t>5</a:t>
            </a:r>
            <a:r>
              <a:rPr lang="zh-CN" altLang="en-US" sz="2600" dirty="0">
                <a:latin typeface="Times New Roman" pitchFamily="18" charset="0"/>
                <a:ea typeface="宋体" pitchFamily="2" charset="-122"/>
              </a:rPr>
              <a:t>）单击“打开”按钮，将选中的模型加载到装配环境中。图形区出现调入的元件，并弹出如图</a:t>
            </a:r>
            <a:r>
              <a:rPr lang="en-US" altLang="zh-CN" sz="2600" dirty="0">
                <a:latin typeface="Times New Roman" pitchFamily="18" charset="0"/>
                <a:ea typeface="宋体" pitchFamily="2" charset="-122"/>
              </a:rPr>
              <a:t>8-5</a:t>
            </a:r>
            <a:r>
              <a:rPr lang="zh-CN" altLang="en-US" sz="2600" dirty="0">
                <a:latin typeface="Times New Roman" pitchFamily="18" charset="0"/>
                <a:ea typeface="宋体" pitchFamily="2" charset="-122"/>
              </a:rPr>
              <a:t>所示的</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元件放置</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a:t>
            </a:r>
          </a:p>
        </p:txBody>
      </p:sp>
      <p:sp>
        <p:nvSpPr>
          <p:cNvPr id="5" name="文本框 4">
            <a:extLst>
              <a:ext uri="{FF2B5EF4-FFF2-40B4-BE49-F238E27FC236}">
                <a16:creationId xmlns:a16="http://schemas.microsoft.com/office/drawing/2014/main" id="{829D0546-21A7-39D7-846D-A45380A26F8D}"/>
              </a:ext>
            </a:extLst>
          </p:cNvPr>
          <p:cNvSpPr txBox="1"/>
          <p:nvPr/>
        </p:nvSpPr>
        <p:spPr>
          <a:xfrm>
            <a:off x="4447119" y="4548829"/>
            <a:ext cx="3297762" cy="369332"/>
          </a:xfrm>
          <a:prstGeom prst="rect">
            <a:avLst/>
          </a:prstGeom>
          <a:noFill/>
        </p:spPr>
        <p:txBody>
          <a:bodyPr wrap="square">
            <a:spAutoFit/>
          </a:bodyPr>
          <a:lstStyle/>
          <a:p>
            <a:pPr algn="ctr"/>
            <a:r>
              <a:rPr lang="zh-CN" altLang="en-US" sz="1800" dirty="0">
                <a:effectLst/>
                <a:ea typeface="黑体" panose="02010609060101010101" pitchFamily="49" charset="-122"/>
                <a:cs typeface="Times New Roman" panose="02020603050405020304" pitchFamily="18" charset="0"/>
              </a:rPr>
              <a:t>图</a:t>
            </a:r>
            <a:r>
              <a:rPr lang="en-US" altLang="zh-CN" sz="1800" dirty="0">
                <a:effectLst/>
                <a:ea typeface="黑体" panose="02010609060101010101" pitchFamily="49" charset="-122"/>
                <a:cs typeface="Times New Roman" panose="02020603050405020304" pitchFamily="18" charset="0"/>
              </a:rPr>
              <a:t>8-5【</a:t>
            </a:r>
            <a:r>
              <a:rPr lang="zh-CN" altLang="en-US" sz="1800" dirty="0">
                <a:effectLst/>
                <a:ea typeface="黑体" panose="02010609060101010101" pitchFamily="49" charset="-122"/>
                <a:cs typeface="Times New Roman" panose="02020603050405020304" pitchFamily="18" charset="0"/>
              </a:rPr>
              <a:t>元件放置</a:t>
            </a:r>
            <a:r>
              <a:rPr lang="en-US" altLang="zh-CN" sz="1800" dirty="0">
                <a:effectLst/>
                <a:ea typeface="黑体" panose="02010609060101010101" pitchFamily="49" charset="-122"/>
                <a:cs typeface="Times New Roman" panose="02020603050405020304" pitchFamily="18" charset="0"/>
              </a:rPr>
              <a:t>】</a:t>
            </a:r>
            <a:r>
              <a:rPr lang="zh-CN" altLang="en-US" sz="1800" dirty="0">
                <a:effectLst/>
                <a:ea typeface="黑体" panose="02010609060101010101" pitchFamily="49" charset="-122"/>
                <a:cs typeface="Times New Roman" panose="02020603050405020304" pitchFamily="18" charset="0"/>
              </a:rPr>
              <a:t>选项卡</a:t>
            </a:r>
            <a:endParaRPr lang="zh-CN" altLang="en-US" dirty="0"/>
          </a:p>
        </p:txBody>
      </p:sp>
      <p:pic>
        <p:nvPicPr>
          <p:cNvPr id="4" name="图片 3">
            <a:extLst>
              <a:ext uri="{FF2B5EF4-FFF2-40B4-BE49-F238E27FC236}">
                <a16:creationId xmlns:a16="http://schemas.microsoft.com/office/drawing/2014/main" id="{F0865F97-AA41-EACC-B04F-BB5F7B6BC0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61811" y="2567865"/>
            <a:ext cx="9868378" cy="1532652"/>
          </a:xfrm>
          <a:prstGeom prst="rect">
            <a:avLst/>
          </a:prstGeom>
        </p:spPr>
      </p:pic>
    </p:spTree>
    <p:extLst>
      <p:ext uri="{BB962C8B-B14F-4D97-AF65-F5344CB8AC3E}">
        <p14:creationId xmlns:p14="http://schemas.microsoft.com/office/powerpoint/2010/main" val="11330670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3" y="430611"/>
            <a:ext cx="11178206" cy="2417072"/>
          </a:xfrm>
          <a:prstGeom prst="rect">
            <a:avLst/>
          </a:prstGeom>
          <a:noFill/>
        </p:spPr>
        <p:txBody>
          <a:bodyPr wrap="square" rtlCol="0">
            <a:spAutoFit/>
          </a:bodyPr>
          <a:lstStyle/>
          <a:p>
            <a:pPr indent="457200">
              <a:lnSpc>
                <a:spcPct val="150000"/>
              </a:lnSpc>
            </a:pPr>
            <a:r>
              <a:rPr lang="zh-CN" altLang="en-US" sz="2600" dirty="0">
                <a:latin typeface="Times New Roman" pitchFamily="18" charset="0"/>
                <a:ea typeface="宋体" pitchFamily="2" charset="-122"/>
              </a:rPr>
              <a:t>一个模型在空间中存在</a:t>
            </a:r>
            <a:r>
              <a:rPr lang="en-US" altLang="zh-CN" sz="2600" dirty="0">
                <a:latin typeface="Times New Roman" pitchFamily="18" charset="0"/>
                <a:ea typeface="宋体" pitchFamily="2" charset="-122"/>
              </a:rPr>
              <a:t>6</a:t>
            </a:r>
            <a:r>
              <a:rPr lang="zh-CN" altLang="en-US" sz="2600" dirty="0">
                <a:latin typeface="Times New Roman" pitchFamily="18" charset="0"/>
                <a:ea typeface="宋体" pitchFamily="2" charset="-122"/>
              </a:rPr>
              <a:t>个自由度，分别是沿</a:t>
            </a:r>
            <a:r>
              <a:rPr lang="en-US" altLang="zh-CN" sz="2600" dirty="0">
                <a:latin typeface="Times New Roman" pitchFamily="18" charset="0"/>
                <a:ea typeface="宋体" pitchFamily="2" charset="-122"/>
              </a:rPr>
              <a:t>xyz3</a:t>
            </a:r>
            <a:r>
              <a:rPr lang="zh-CN" altLang="en-US" sz="2600" dirty="0">
                <a:latin typeface="Times New Roman" pitchFamily="18" charset="0"/>
                <a:ea typeface="宋体" pitchFamily="2" charset="-122"/>
              </a:rPr>
              <a:t>个方向的平移和绕</a:t>
            </a:r>
            <a:r>
              <a:rPr lang="en-US" altLang="zh-CN" sz="2600" dirty="0">
                <a:latin typeface="Times New Roman" pitchFamily="18" charset="0"/>
                <a:ea typeface="宋体" pitchFamily="2" charset="-122"/>
              </a:rPr>
              <a:t>xyz3</a:t>
            </a:r>
            <a:r>
              <a:rPr lang="zh-CN" altLang="en-US" sz="2600" dirty="0">
                <a:latin typeface="Times New Roman" pitchFamily="18" charset="0"/>
                <a:ea typeface="宋体" pitchFamily="2" charset="-122"/>
              </a:rPr>
              <a:t>个方向的旋转。因此，在模型被调入图形区后会出现如图</a:t>
            </a:r>
            <a:r>
              <a:rPr lang="en-US" altLang="zh-CN" sz="2600" dirty="0">
                <a:latin typeface="Times New Roman" pitchFamily="18" charset="0"/>
                <a:ea typeface="宋体" pitchFamily="2" charset="-122"/>
              </a:rPr>
              <a:t>8-6</a:t>
            </a:r>
            <a:r>
              <a:rPr lang="zh-CN" altLang="en-US" sz="2600" dirty="0">
                <a:latin typeface="Times New Roman" pitchFamily="18" charset="0"/>
                <a:ea typeface="宋体" pitchFamily="2" charset="-122"/>
              </a:rPr>
              <a:t>所示的</a:t>
            </a:r>
            <a:r>
              <a:rPr lang="en-US" altLang="zh-CN" sz="2600" dirty="0">
                <a:latin typeface="Times New Roman" pitchFamily="18" charset="0"/>
                <a:ea typeface="宋体" pitchFamily="2" charset="-122"/>
              </a:rPr>
              <a:t>3D</a:t>
            </a:r>
            <a:r>
              <a:rPr lang="zh-CN" altLang="en-US" sz="2600" dirty="0">
                <a:latin typeface="Times New Roman" pitchFamily="18" charset="0"/>
                <a:ea typeface="宋体" pitchFamily="2" charset="-122"/>
              </a:rPr>
              <a:t>拖动器控件。其中三个环分别控制模型在三个方向上的旋转，三个箭头分别控制模型在三个方向上的平移。</a:t>
            </a:r>
          </a:p>
        </p:txBody>
      </p:sp>
      <p:sp>
        <p:nvSpPr>
          <p:cNvPr id="5" name="文本框 4">
            <a:extLst>
              <a:ext uri="{FF2B5EF4-FFF2-40B4-BE49-F238E27FC236}">
                <a16:creationId xmlns:a16="http://schemas.microsoft.com/office/drawing/2014/main" id="{829D0546-21A7-39D7-846D-A45380A26F8D}"/>
              </a:ext>
            </a:extLst>
          </p:cNvPr>
          <p:cNvSpPr txBox="1"/>
          <p:nvPr/>
        </p:nvSpPr>
        <p:spPr>
          <a:xfrm>
            <a:off x="4397425" y="6113058"/>
            <a:ext cx="3297762" cy="369332"/>
          </a:xfrm>
          <a:prstGeom prst="rect">
            <a:avLst/>
          </a:prstGeom>
          <a:noFill/>
        </p:spPr>
        <p:txBody>
          <a:bodyPr wrap="square">
            <a:spAutoFit/>
          </a:bodyPr>
          <a:lstStyle/>
          <a:p>
            <a:pPr algn="ctr"/>
            <a:r>
              <a:rPr lang="zh-CN" altLang="en-US" sz="1800" dirty="0">
                <a:effectLst/>
                <a:ea typeface="黑体" panose="02010609060101010101" pitchFamily="49" charset="-122"/>
                <a:cs typeface="Times New Roman" panose="02020603050405020304" pitchFamily="18" charset="0"/>
              </a:rPr>
              <a:t>图</a:t>
            </a:r>
            <a:r>
              <a:rPr lang="en-US" altLang="zh-CN" sz="1800" dirty="0">
                <a:effectLst/>
                <a:ea typeface="黑体" panose="02010609060101010101" pitchFamily="49" charset="-122"/>
                <a:cs typeface="Times New Roman" panose="02020603050405020304" pitchFamily="18" charset="0"/>
              </a:rPr>
              <a:t>8-6 </a:t>
            </a:r>
            <a:r>
              <a:rPr lang="zh-CN" altLang="en-US" sz="1800" dirty="0">
                <a:effectLst/>
                <a:ea typeface="黑体" panose="02010609060101010101" pitchFamily="49" charset="-122"/>
                <a:cs typeface="Times New Roman" panose="02020603050405020304" pitchFamily="18" charset="0"/>
              </a:rPr>
              <a:t>拖动器控件</a:t>
            </a:r>
            <a:endParaRPr lang="zh-CN" altLang="en-US" dirty="0"/>
          </a:p>
        </p:txBody>
      </p:sp>
      <p:pic>
        <p:nvPicPr>
          <p:cNvPr id="2" name="图片 1">
            <a:extLst>
              <a:ext uri="{FF2B5EF4-FFF2-40B4-BE49-F238E27FC236}">
                <a16:creationId xmlns:a16="http://schemas.microsoft.com/office/drawing/2014/main" id="{23C7CF2B-A838-D84E-E20B-879F1D3C2A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25632" y="2847683"/>
            <a:ext cx="4940737" cy="3102943"/>
          </a:xfrm>
          <a:prstGeom prst="rect">
            <a:avLst/>
          </a:prstGeom>
        </p:spPr>
      </p:pic>
    </p:spTree>
    <p:extLst>
      <p:ext uri="{BB962C8B-B14F-4D97-AF65-F5344CB8AC3E}">
        <p14:creationId xmlns:p14="http://schemas.microsoft.com/office/powerpoint/2010/main" val="32910290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3" y="642643"/>
            <a:ext cx="11178206" cy="1216743"/>
          </a:xfrm>
          <a:prstGeom prst="rect">
            <a:avLst/>
          </a:prstGeom>
          <a:noFill/>
        </p:spPr>
        <p:txBody>
          <a:bodyPr wrap="square" rtlCol="0">
            <a:spAutoFit/>
          </a:bodyPr>
          <a:lstStyle/>
          <a:p>
            <a:pPr indent="457200">
              <a:lnSpc>
                <a:spcPct val="150000"/>
              </a:lnSpc>
            </a:pPr>
            <a:r>
              <a:rPr lang="en-US" altLang="zh-CN" sz="2600" dirty="0">
                <a:latin typeface="Times New Roman" pitchFamily="18" charset="0"/>
                <a:ea typeface="宋体" pitchFamily="2" charset="-122"/>
              </a:rPr>
              <a:t>6</a:t>
            </a:r>
            <a:r>
              <a:rPr lang="zh-CN" altLang="en-US" sz="2600" dirty="0">
                <a:latin typeface="Times New Roman" pitchFamily="18" charset="0"/>
                <a:ea typeface="宋体" pitchFamily="2" charset="-122"/>
              </a:rPr>
              <a:t>）在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放置元件</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选项卡的</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放置</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下滑面板中添加约束，直到完全约束或约束满足用户需求，单击“确定”按钮，完成本次零件的装配。</a:t>
            </a:r>
          </a:p>
        </p:txBody>
      </p:sp>
    </p:spTree>
    <p:extLst>
      <p:ext uri="{BB962C8B-B14F-4D97-AF65-F5344CB8AC3E}">
        <p14:creationId xmlns:p14="http://schemas.microsoft.com/office/powerpoint/2010/main" val="37966292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0562" y="470647"/>
            <a:ext cx="3565712" cy="737510"/>
          </a:xfrm>
          <a:prstGeom prst="rect">
            <a:avLst/>
          </a:prstGeom>
          <a:solidFill>
            <a:srgbClr val="0000FF"/>
          </a:solidFill>
        </p:spPr>
        <p:txBody>
          <a:bodyPr wrap="square" rtlCol="0">
            <a:spAutoFit/>
          </a:bodyPr>
          <a:lstStyle/>
          <a:p>
            <a:pPr>
              <a:lnSpc>
                <a:spcPct val="150000"/>
              </a:lnSpc>
            </a:pPr>
            <a:r>
              <a:rPr lang="en-US" altLang="zh-CN" sz="3200" dirty="0">
                <a:solidFill>
                  <a:schemeClr val="bg1"/>
                </a:solidFill>
                <a:latin typeface="Times New Roman" pitchFamily="18" charset="0"/>
                <a:ea typeface="黑体" pitchFamily="49" charset="-122"/>
              </a:rPr>
              <a:t>8.2 </a:t>
            </a:r>
            <a:r>
              <a:rPr lang="zh-CN" altLang="en-US" sz="3200" dirty="0">
                <a:solidFill>
                  <a:schemeClr val="bg1"/>
                </a:solidFill>
                <a:latin typeface="Times New Roman" pitchFamily="18" charset="0"/>
                <a:ea typeface="黑体" pitchFamily="49" charset="-122"/>
              </a:rPr>
              <a:t>放置约束</a:t>
            </a:r>
            <a:endParaRPr lang="en-US" altLang="zh-CN" sz="3200" dirty="0">
              <a:solidFill>
                <a:schemeClr val="bg1"/>
              </a:solidFill>
              <a:latin typeface="Times New Roman" pitchFamily="18" charset="0"/>
              <a:ea typeface="黑体" pitchFamily="49" charset="-122"/>
            </a:endParaRPr>
          </a:p>
        </p:txBody>
      </p:sp>
      <p:sp>
        <p:nvSpPr>
          <p:cNvPr id="3" name="TextBox 2"/>
          <p:cNvSpPr txBox="1"/>
          <p:nvPr/>
        </p:nvSpPr>
        <p:spPr>
          <a:xfrm>
            <a:off x="457203" y="1279582"/>
            <a:ext cx="11178206" cy="4217565"/>
          </a:xfrm>
          <a:prstGeom prst="rect">
            <a:avLst/>
          </a:prstGeom>
          <a:noFill/>
        </p:spPr>
        <p:txBody>
          <a:bodyPr wrap="square" rtlCol="0">
            <a:spAutoFit/>
          </a:bodyPr>
          <a:lstStyle/>
          <a:p>
            <a:pPr indent="457200">
              <a:lnSpc>
                <a:spcPct val="150000"/>
              </a:lnSpc>
            </a:pPr>
            <a:r>
              <a:rPr lang="zh-CN" altLang="en-US" sz="2600" dirty="0">
                <a:latin typeface="Times New Roman" pitchFamily="18" charset="0"/>
                <a:ea typeface="宋体" pitchFamily="2" charset="-122"/>
              </a:rPr>
              <a:t>模型的装配实质上就是对模型的</a:t>
            </a:r>
            <a:r>
              <a:rPr lang="en-US" altLang="zh-CN" sz="2600" dirty="0">
                <a:latin typeface="Times New Roman" pitchFamily="18" charset="0"/>
                <a:ea typeface="宋体" pitchFamily="2" charset="-122"/>
              </a:rPr>
              <a:t>6</a:t>
            </a:r>
            <a:r>
              <a:rPr lang="zh-CN" altLang="en-US" sz="2600" dirty="0">
                <a:latin typeface="Times New Roman" pitchFamily="18" charset="0"/>
                <a:ea typeface="宋体" pitchFamily="2" charset="-122"/>
              </a:rPr>
              <a:t>个自由度进行约束控制的过程。在</a:t>
            </a:r>
            <a:r>
              <a:rPr lang="en-US" altLang="zh-CN" sz="2600" dirty="0">
                <a:latin typeface="Times New Roman" pitchFamily="18" charset="0"/>
                <a:ea typeface="宋体" pitchFamily="2" charset="-122"/>
              </a:rPr>
              <a:t>Creo Parametric 8.0</a:t>
            </a:r>
            <a:r>
              <a:rPr lang="zh-CN" altLang="en-US" sz="2600" dirty="0">
                <a:latin typeface="Times New Roman" pitchFamily="18" charset="0"/>
                <a:ea typeface="宋体" pitchFamily="2" charset="-122"/>
              </a:rPr>
              <a:t>中，可以采用两种参数化的装配方法来装配零部件，即使用放置约束和连接装配。</a:t>
            </a:r>
            <a:endParaRPr lang="en-US" altLang="zh-CN" sz="2600" dirty="0">
              <a:latin typeface="Times New Roman" pitchFamily="18" charset="0"/>
              <a:ea typeface="宋体" pitchFamily="2" charset="-122"/>
            </a:endParaRPr>
          </a:p>
          <a:p>
            <a:pPr indent="457200">
              <a:lnSpc>
                <a:spcPct val="150000"/>
              </a:lnSpc>
            </a:pPr>
            <a:r>
              <a:rPr lang="zh-CN" altLang="en-US" sz="2600" dirty="0">
                <a:latin typeface="Times New Roman" pitchFamily="18" charset="0"/>
                <a:ea typeface="宋体" pitchFamily="2" charset="-122"/>
              </a:rPr>
              <a:t>当要装配进来的零件或子组件将作为固定件时，可采用放置约束的方法使其在装配中完全约束；当要装配进来的零件或子装配（子组件）相对于装配（组件）作为活动件时，一般采用连接装配的方法。不管采用哪种装配方法，都是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元件放置</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选项卡中进行选择和设置。</a:t>
            </a:r>
          </a:p>
        </p:txBody>
      </p:sp>
    </p:spTree>
    <p:extLst>
      <p:ext uri="{BB962C8B-B14F-4D97-AF65-F5344CB8AC3E}">
        <p14:creationId xmlns:p14="http://schemas.microsoft.com/office/powerpoint/2010/main" val="27845728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3" y="430611"/>
            <a:ext cx="11178206" cy="2417072"/>
          </a:xfrm>
          <a:prstGeom prst="rect">
            <a:avLst/>
          </a:prstGeom>
          <a:noFill/>
        </p:spPr>
        <p:txBody>
          <a:bodyPr wrap="square" rtlCol="0">
            <a:spAutoFit/>
          </a:bodyPr>
          <a:lstStyle/>
          <a:p>
            <a:pPr indent="457200">
              <a:lnSpc>
                <a:spcPct val="150000"/>
              </a:lnSpc>
            </a:pP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元件放置</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选项卡中的下拉列表框提供适用于选定集的放置约束，当选择用户定义的集时，系统提供的默认约束为“自动”   ，允许用户手动从“约束”下拉列表框中更改约束选项。“约束”下拉列表框提供的约束图标选项如表</a:t>
            </a:r>
            <a:r>
              <a:rPr lang="en-US" altLang="zh-CN" sz="2600" dirty="0">
                <a:latin typeface="Times New Roman" pitchFamily="18" charset="0"/>
                <a:ea typeface="宋体" pitchFamily="2" charset="-122"/>
              </a:rPr>
              <a:t>8-1</a:t>
            </a:r>
            <a:r>
              <a:rPr lang="zh-CN" altLang="en-US" sz="2600" dirty="0">
                <a:latin typeface="Times New Roman" pitchFamily="18" charset="0"/>
                <a:ea typeface="宋体" pitchFamily="2" charset="-122"/>
              </a:rPr>
              <a:t>所示。</a:t>
            </a:r>
          </a:p>
        </p:txBody>
      </p:sp>
      <p:pic>
        <p:nvPicPr>
          <p:cNvPr id="4" name="图片 3">
            <a:extLst>
              <a:ext uri="{FF2B5EF4-FFF2-40B4-BE49-F238E27FC236}">
                <a16:creationId xmlns:a16="http://schemas.microsoft.com/office/drawing/2014/main" id="{17C883F5-8B65-E3F8-4868-010A64DDDD9A}"/>
              </a:ext>
            </a:extLst>
          </p:cNvPr>
          <p:cNvPicPr>
            <a:picLocks noChangeAspect="1"/>
          </p:cNvPicPr>
          <p:nvPr/>
        </p:nvPicPr>
        <p:blipFill>
          <a:blip r:embed="rId2"/>
          <a:stretch>
            <a:fillRect/>
          </a:stretch>
        </p:blipFill>
        <p:spPr>
          <a:xfrm>
            <a:off x="8443912" y="1285877"/>
            <a:ext cx="304800" cy="274320"/>
          </a:xfrm>
          <a:prstGeom prst="rect">
            <a:avLst/>
          </a:prstGeom>
        </p:spPr>
      </p:pic>
    </p:spTree>
    <p:extLst>
      <p:ext uri="{BB962C8B-B14F-4D97-AF65-F5344CB8AC3E}">
        <p14:creationId xmlns:p14="http://schemas.microsoft.com/office/powerpoint/2010/main" val="30791495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a:extLst>
              <a:ext uri="{FF2B5EF4-FFF2-40B4-BE49-F238E27FC236}">
                <a16:creationId xmlns:a16="http://schemas.microsoft.com/office/drawing/2014/main" id="{E88EDA86-ED13-1A9D-7979-7BA0283C51F9}"/>
              </a:ext>
            </a:extLst>
          </p:cNvPr>
          <p:cNvGraphicFramePr>
            <a:graphicFrameLocks noGrp="1"/>
          </p:cNvGraphicFramePr>
          <p:nvPr>
            <p:extLst>
              <p:ext uri="{D42A27DB-BD31-4B8C-83A1-F6EECF244321}">
                <p14:modId xmlns:p14="http://schemas.microsoft.com/office/powerpoint/2010/main" val="412279603"/>
              </p:ext>
            </p:extLst>
          </p:nvPr>
        </p:nvGraphicFramePr>
        <p:xfrm>
          <a:off x="2029324" y="1654560"/>
          <a:ext cx="7772400" cy="3548880"/>
        </p:xfrm>
        <a:graphic>
          <a:graphicData uri="http://schemas.openxmlformats.org/drawingml/2006/table">
            <a:tbl>
              <a:tblPr firstRow="1" firstCol="1" bandRow="1"/>
              <a:tblGrid>
                <a:gridCol w="895350">
                  <a:extLst>
                    <a:ext uri="{9D8B030D-6E8A-4147-A177-3AD203B41FA5}">
                      <a16:colId xmlns:a16="http://schemas.microsoft.com/office/drawing/2014/main" val="4243854555"/>
                    </a:ext>
                  </a:extLst>
                </a:gridCol>
                <a:gridCol w="1019175">
                  <a:extLst>
                    <a:ext uri="{9D8B030D-6E8A-4147-A177-3AD203B41FA5}">
                      <a16:colId xmlns:a16="http://schemas.microsoft.com/office/drawing/2014/main" val="3763244426"/>
                    </a:ext>
                  </a:extLst>
                </a:gridCol>
                <a:gridCol w="895350">
                  <a:extLst>
                    <a:ext uri="{9D8B030D-6E8A-4147-A177-3AD203B41FA5}">
                      <a16:colId xmlns:a16="http://schemas.microsoft.com/office/drawing/2014/main" val="3255197541"/>
                    </a:ext>
                  </a:extLst>
                </a:gridCol>
                <a:gridCol w="4962525">
                  <a:extLst>
                    <a:ext uri="{9D8B030D-6E8A-4147-A177-3AD203B41FA5}">
                      <a16:colId xmlns:a16="http://schemas.microsoft.com/office/drawing/2014/main" val="2674793303"/>
                    </a:ext>
                  </a:extLst>
                </a:gridCol>
              </a:tblGrid>
              <a:tr h="540000">
                <a:tc>
                  <a:txBody>
                    <a:bodyPr/>
                    <a:lstStyle/>
                    <a:p>
                      <a:pPr algn="ctr" fontAlgn="ctr"/>
                      <a:r>
                        <a:rPr lang="zh-CN" sz="2000" b="1" kern="100" dirty="0">
                          <a:effectLst/>
                          <a:latin typeface="等线" panose="02010600030101010101" pitchFamily="2" charset="-122"/>
                          <a:ea typeface="宋体" panose="02010600030101010101" pitchFamily="2" charset="-122"/>
                          <a:cs typeface="Times New Roman" panose="02020603050405020304" pitchFamily="18" charset="0"/>
                        </a:rPr>
                        <a:t>序号</a:t>
                      </a:r>
                      <a:endParaRPr lang="zh-CN" sz="20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zh-CN" sz="2000" b="1" kern="100" dirty="0">
                          <a:effectLst/>
                          <a:latin typeface="等线" panose="02010600030101010101" pitchFamily="2" charset="-122"/>
                          <a:ea typeface="宋体" panose="02010600030101010101" pitchFamily="2" charset="-122"/>
                          <a:cs typeface="Times New Roman" panose="02020603050405020304" pitchFamily="18" charset="0"/>
                        </a:rPr>
                        <a:t>图标</a:t>
                      </a:r>
                      <a:endParaRPr lang="zh-CN" sz="20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zh-CN" sz="2000" b="1" kern="100" dirty="0">
                          <a:effectLst/>
                          <a:latin typeface="等线" panose="02010600030101010101" pitchFamily="2" charset="-122"/>
                          <a:ea typeface="宋体" panose="02010600030101010101" pitchFamily="2" charset="-122"/>
                          <a:cs typeface="Times New Roman" panose="02020603050405020304" pitchFamily="18" charset="0"/>
                        </a:rPr>
                        <a:t>名称</a:t>
                      </a:r>
                      <a:endParaRPr lang="zh-CN" sz="20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zh-CN" sz="2000" b="1" kern="100" dirty="0">
                          <a:effectLst/>
                          <a:latin typeface="等线" panose="02010600030101010101" pitchFamily="2" charset="-122"/>
                          <a:ea typeface="宋体" panose="02010600030101010101" pitchFamily="2" charset="-122"/>
                          <a:cs typeface="Times New Roman" panose="02020603050405020304" pitchFamily="18" charset="0"/>
                        </a:rPr>
                        <a:t>功能用途</a:t>
                      </a:r>
                      <a:endParaRPr lang="zh-CN" sz="20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03390510"/>
                  </a:ext>
                </a:extLst>
              </a:tr>
              <a:tr h="540000">
                <a:tc>
                  <a:txBody>
                    <a:bodyPr/>
                    <a:lstStyle/>
                    <a:p>
                      <a:pPr algn="ctr" fontAlgn="ctr"/>
                      <a:r>
                        <a:rPr lang="en-US" sz="1800" kern="100" dirty="0">
                          <a:effectLst/>
                          <a:latin typeface="宋体" panose="02010600030101010101" pitchFamily="2" charset="-122"/>
                          <a:ea typeface="等线" panose="02010600030101010101" pitchFamily="2" charset="-122"/>
                          <a:cs typeface="Times New Roman" panose="02020603050405020304" pitchFamily="18" charset="0"/>
                        </a:rPr>
                        <a:t>1</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endParaRPr lang="en-US" sz="1800" kern="100" dirty="0">
                        <a:effectLst/>
                        <a:latin typeface="宋体"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zh-CN" sz="1800" kern="100">
                          <a:effectLst/>
                          <a:latin typeface="等线" panose="02010600030101010101" pitchFamily="2" charset="-122"/>
                          <a:ea typeface="宋体" panose="02010600030101010101" pitchFamily="2" charset="-122"/>
                          <a:cs typeface="Times New Roman" panose="02020603050405020304" pitchFamily="18" charset="0"/>
                        </a:rPr>
                        <a:t>自动</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zh-CN" sz="1800" kern="100" dirty="0">
                          <a:effectLst/>
                          <a:latin typeface="等线" panose="02010600030101010101" pitchFamily="2" charset="-122"/>
                          <a:ea typeface="宋体" panose="02010600030101010101" pitchFamily="2" charset="-122"/>
                          <a:cs typeface="Times New Roman" panose="02020603050405020304" pitchFamily="18" charset="0"/>
                        </a:rPr>
                        <a:t>元件参考相对于装配参考自动放置。</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58353090"/>
                  </a:ext>
                </a:extLst>
              </a:tr>
              <a:tr h="540000">
                <a:tc>
                  <a:txBody>
                    <a:bodyPr/>
                    <a:lstStyle/>
                    <a:p>
                      <a:pPr algn="ctr" fontAlgn="ctr"/>
                      <a:r>
                        <a:rPr lang="en-US" sz="1800" kern="100" dirty="0">
                          <a:effectLst/>
                          <a:latin typeface="宋体" panose="02010600030101010101" pitchFamily="2" charset="-122"/>
                          <a:ea typeface="等线" panose="02010600030101010101" pitchFamily="2" charset="-122"/>
                          <a:cs typeface="Times New Roman" panose="02020603050405020304" pitchFamily="18" charset="0"/>
                        </a:rPr>
                        <a:t>2</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endParaRPr lang="en-US" sz="1800" kern="100" dirty="0">
                        <a:effectLst/>
                        <a:latin typeface="宋体"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zh-CN" sz="1800" kern="100" dirty="0">
                          <a:effectLst/>
                          <a:latin typeface="等线" panose="02010600030101010101" pitchFamily="2" charset="-122"/>
                          <a:ea typeface="宋体" panose="02010600030101010101" pitchFamily="2" charset="-122"/>
                          <a:cs typeface="Times New Roman" panose="02020603050405020304" pitchFamily="18" charset="0"/>
                        </a:rPr>
                        <a:t>距离</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zh-CN" sz="1800" kern="100" dirty="0">
                          <a:effectLst/>
                          <a:latin typeface="等线" panose="02010600030101010101" pitchFamily="2" charset="-122"/>
                          <a:ea typeface="宋体" panose="02010600030101010101" pitchFamily="2" charset="-122"/>
                          <a:cs typeface="Times New Roman" panose="02020603050405020304" pitchFamily="18" charset="0"/>
                        </a:rPr>
                        <a:t>元件参考与装配参考以指定距离放置，该约束可以是点、线和面三种参考之间两两的相互关系。</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23303526"/>
                  </a:ext>
                </a:extLst>
              </a:tr>
              <a:tr h="540000">
                <a:tc>
                  <a:txBody>
                    <a:bodyPr/>
                    <a:lstStyle/>
                    <a:p>
                      <a:pPr algn="ctr" fontAlgn="ctr"/>
                      <a:r>
                        <a:rPr lang="en-US" sz="1800" kern="100">
                          <a:effectLst/>
                          <a:latin typeface="宋体" panose="02010600030101010101" pitchFamily="2" charset="-122"/>
                          <a:ea typeface="等线" panose="02010600030101010101" pitchFamily="2" charset="-122"/>
                          <a:cs typeface="Times New Roman" panose="02020603050405020304" pitchFamily="18" charset="0"/>
                        </a:rPr>
                        <a:t>3</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endParaRPr lang="en-US" sz="1800" kern="100" dirty="0">
                        <a:effectLst/>
                        <a:latin typeface="宋体"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zh-CN" sz="1800" kern="100" dirty="0">
                          <a:effectLst/>
                          <a:latin typeface="等线" panose="02010600030101010101" pitchFamily="2" charset="-122"/>
                          <a:ea typeface="宋体" panose="02010600030101010101" pitchFamily="2" charset="-122"/>
                          <a:cs typeface="Times New Roman" panose="02020603050405020304" pitchFamily="18" charset="0"/>
                        </a:rPr>
                        <a:t>角度偏移</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zh-CN" sz="1800" kern="100" dirty="0">
                          <a:effectLst/>
                          <a:latin typeface="等线" panose="02010600030101010101" pitchFamily="2" charset="-122"/>
                          <a:ea typeface="宋体" panose="02010600030101010101" pitchFamily="2" charset="-122"/>
                          <a:cs typeface="Times New Roman" panose="02020603050405020304" pitchFamily="18" charset="0"/>
                        </a:rPr>
                        <a:t>元件参考与装配参考成一定角度，即元件参考与装配参考以指定角度放置，适用的参考对象为线和面。</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68454800"/>
                  </a:ext>
                </a:extLst>
              </a:tr>
              <a:tr h="540000">
                <a:tc>
                  <a:txBody>
                    <a:bodyPr/>
                    <a:lstStyle/>
                    <a:p>
                      <a:pPr algn="ctr" fontAlgn="ctr"/>
                      <a:r>
                        <a:rPr lang="en-US" sz="1800" kern="100">
                          <a:effectLst/>
                          <a:latin typeface="宋体" panose="02010600030101010101" pitchFamily="2" charset="-122"/>
                          <a:ea typeface="等线" panose="02010600030101010101" pitchFamily="2" charset="-122"/>
                          <a:cs typeface="Times New Roman" panose="02020603050405020304" pitchFamily="18" charset="0"/>
                        </a:rPr>
                        <a:t>4</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endParaRPr lang="en-US" sz="1800" kern="100">
                        <a:effectLst/>
                        <a:latin typeface="宋体"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zh-CN" sz="1800" kern="100">
                          <a:effectLst/>
                          <a:latin typeface="等线" panose="02010600030101010101" pitchFamily="2" charset="-122"/>
                          <a:ea typeface="宋体" panose="02010600030101010101" pitchFamily="2" charset="-122"/>
                          <a:cs typeface="Times New Roman" panose="02020603050405020304" pitchFamily="18" charset="0"/>
                        </a:rPr>
                        <a:t>平行</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zh-CN" sz="1800" kern="100" dirty="0">
                          <a:effectLst/>
                          <a:latin typeface="等线" panose="02010600030101010101" pitchFamily="2" charset="-122"/>
                          <a:ea typeface="宋体" panose="02010600030101010101" pitchFamily="2" charset="-122"/>
                          <a:cs typeface="Times New Roman" panose="02020603050405020304" pitchFamily="18" charset="0"/>
                        </a:rPr>
                        <a:t>元件参考定向至装配参考，即元件参考平行于装配参考，适用的参考对象为线和面。</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0036637"/>
                  </a:ext>
                </a:extLst>
              </a:tr>
              <a:tr h="540000">
                <a:tc>
                  <a:txBody>
                    <a:bodyPr/>
                    <a:lstStyle/>
                    <a:p>
                      <a:pPr algn="ctr" fontAlgn="ctr"/>
                      <a:r>
                        <a:rPr lang="en-US" sz="1800" kern="100">
                          <a:effectLst/>
                          <a:latin typeface="宋体" panose="02010600030101010101" pitchFamily="2" charset="-122"/>
                          <a:ea typeface="等线" panose="02010600030101010101" pitchFamily="2" charset="-122"/>
                          <a:cs typeface="Times New Roman" panose="02020603050405020304" pitchFamily="18" charset="0"/>
                        </a:rPr>
                        <a:t>5</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endParaRPr lang="en-US" sz="1800" kern="100">
                        <a:effectLst/>
                        <a:latin typeface="宋体"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zh-CN" sz="1800" kern="100">
                          <a:effectLst/>
                          <a:latin typeface="等线" panose="02010600030101010101" pitchFamily="2" charset="-122"/>
                          <a:ea typeface="宋体" panose="02010600030101010101" pitchFamily="2" charset="-122"/>
                          <a:cs typeface="Times New Roman" panose="02020603050405020304" pitchFamily="18" charset="0"/>
                        </a:rPr>
                        <a:t>重合</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zh-CN" sz="1800" kern="100" dirty="0">
                          <a:effectLst/>
                          <a:latin typeface="等线" panose="02010600030101010101" pitchFamily="2" charset="-122"/>
                          <a:ea typeface="宋体" panose="02010600030101010101" pitchFamily="2" charset="-122"/>
                          <a:cs typeface="Times New Roman" panose="02020603050405020304" pitchFamily="18" charset="0"/>
                        </a:rPr>
                        <a:t>元件参考与装配参考重合，既可选型两组面重合，又可选定两组轴线重合。</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89055901"/>
                  </a:ext>
                </a:extLst>
              </a:tr>
            </a:tbl>
          </a:graphicData>
        </a:graphic>
      </p:graphicFrame>
      <p:pic>
        <p:nvPicPr>
          <p:cNvPr id="3" name="图片 2">
            <a:extLst>
              <a:ext uri="{FF2B5EF4-FFF2-40B4-BE49-F238E27FC236}">
                <a16:creationId xmlns:a16="http://schemas.microsoft.com/office/drawing/2014/main" id="{A4D46B53-285B-5509-0747-FB0C9E64A419}"/>
              </a:ext>
            </a:extLst>
          </p:cNvPr>
          <p:cNvPicPr>
            <a:picLocks noChangeAspect="1"/>
          </p:cNvPicPr>
          <p:nvPr/>
        </p:nvPicPr>
        <p:blipFill>
          <a:blip r:embed="rId2"/>
          <a:stretch>
            <a:fillRect/>
          </a:stretch>
        </p:blipFill>
        <p:spPr>
          <a:xfrm>
            <a:off x="3305671" y="2344652"/>
            <a:ext cx="304800" cy="274320"/>
          </a:xfrm>
          <a:prstGeom prst="rect">
            <a:avLst/>
          </a:prstGeom>
        </p:spPr>
      </p:pic>
      <p:pic>
        <p:nvPicPr>
          <p:cNvPr id="4" name="图片 3">
            <a:extLst>
              <a:ext uri="{FF2B5EF4-FFF2-40B4-BE49-F238E27FC236}">
                <a16:creationId xmlns:a16="http://schemas.microsoft.com/office/drawing/2014/main" id="{E8151B90-8186-F1BB-09F5-581E19D78356}"/>
              </a:ext>
            </a:extLst>
          </p:cNvPr>
          <p:cNvPicPr>
            <a:picLocks noChangeAspect="1"/>
          </p:cNvPicPr>
          <p:nvPr/>
        </p:nvPicPr>
        <p:blipFill>
          <a:blip r:embed="rId3"/>
          <a:stretch>
            <a:fillRect/>
          </a:stretch>
        </p:blipFill>
        <p:spPr>
          <a:xfrm>
            <a:off x="3282811" y="2864519"/>
            <a:ext cx="350520" cy="335280"/>
          </a:xfrm>
          <a:prstGeom prst="rect">
            <a:avLst/>
          </a:prstGeom>
        </p:spPr>
      </p:pic>
      <p:pic>
        <p:nvPicPr>
          <p:cNvPr id="5" name="图片 4">
            <a:extLst>
              <a:ext uri="{FF2B5EF4-FFF2-40B4-BE49-F238E27FC236}">
                <a16:creationId xmlns:a16="http://schemas.microsoft.com/office/drawing/2014/main" id="{390FAB1B-8E90-57F4-780E-55DECABF668D}"/>
              </a:ext>
            </a:extLst>
          </p:cNvPr>
          <p:cNvPicPr>
            <a:picLocks noChangeAspect="1"/>
          </p:cNvPicPr>
          <p:nvPr/>
        </p:nvPicPr>
        <p:blipFill>
          <a:blip r:embed="rId4"/>
          <a:stretch>
            <a:fillRect/>
          </a:stretch>
        </p:blipFill>
        <p:spPr>
          <a:xfrm>
            <a:off x="3313331" y="3524169"/>
            <a:ext cx="320000" cy="304762"/>
          </a:xfrm>
          <a:prstGeom prst="rect">
            <a:avLst/>
          </a:prstGeom>
        </p:spPr>
      </p:pic>
      <p:pic>
        <p:nvPicPr>
          <p:cNvPr id="6" name="图片 5">
            <a:extLst>
              <a:ext uri="{FF2B5EF4-FFF2-40B4-BE49-F238E27FC236}">
                <a16:creationId xmlns:a16="http://schemas.microsoft.com/office/drawing/2014/main" id="{6081E2A5-168F-6230-F7E4-72A735E228F2}"/>
              </a:ext>
            </a:extLst>
          </p:cNvPr>
          <p:cNvPicPr>
            <a:picLocks noChangeAspect="1"/>
          </p:cNvPicPr>
          <p:nvPr/>
        </p:nvPicPr>
        <p:blipFill>
          <a:blip r:embed="rId5"/>
          <a:stretch>
            <a:fillRect/>
          </a:stretch>
        </p:blipFill>
        <p:spPr>
          <a:xfrm>
            <a:off x="3313321" y="4280985"/>
            <a:ext cx="335238" cy="259048"/>
          </a:xfrm>
          <a:prstGeom prst="rect">
            <a:avLst/>
          </a:prstGeom>
        </p:spPr>
      </p:pic>
      <p:pic>
        <p:nvPicPr>
          <p:cNvPr id="7" name="图片 6">
            <a:extLst>
              <a:ext uri="{FF2B5EF4-FFF2-40B4-BE49-F238E27FC236}">
                <a16:creationId xmlns:a16="http://schemas.microsoft.com/office/drawing/2014/main" id="{677C9749-2A19-418C-C8C1-699F193CF41C}"/>
              </a:ext>
            </a:extLst>
          </p:cNvPr>
          <p:cNvPicPr>
            <a:picLocks noChangeAspect="1"/>
          </p:cNvPicPr>
          <p:nvPr/>
        </p:nvPicPr>
        <p:blipFill>
          <a:blip r:embed="rId6"/>
          <a:stretch>
            <a:fillRect/>
          </a:stretch>
        </p:blipFill>
        <p:spPr>
          <a:xfrm>
            <a:off x="3313331" y="4773895"/>
            <a:ext cx="335238" cy="243810"/>
          </a:xfrm>
          <a:prstGeom prst="rect">
            <a:avLst/>
          </a:prstGeom>
        </p:spPr>
      </p:pic>
      <p:sp>
        <p:nvSpPr>
          <p:cNvPr id="8" name="文本框 7">
            <a:extLst>
              <a:ext uri="{FF2B5EF4-FFF2-40B4-BE49-F238E27FC236}">
                <a16:creationId xmlns:a16="http://schemas.microsoft.com/office/drawing/2014/main" id="{AC7DC14E-3D3E-8AE0-029B-BD13E0325D34}"/>
              </a:ext>
            </a:extLst>
          </p:cNvPr>
          <p:cNvSpPr txBox="1"/>
          <p:nvPr/>
        </p:nvSpPr>
        <p:spPr>
          <a:xfrm>
            <a:off x="4447119" y="1123963"/>
            <a:ext cx="3297762" cy="369332"/>
          </a:xfrm>
          <a:prstGeom prst="rect">
            <a:avLst/>
          </a:prstGeom>
          <a:noFill/>
        </p:spPr>
        <p:txBody>
          <a:bodyPr wrap="square">
            <a:spAutoFit/>
          </a:bodyPr>
          <a:lstStyle/>
          <a:p>
            <a:pPr algn="ctr"/>
            <a:r>
              <a:rPr lang="zh-CN" altLang="en-US" sz="1800" dirty="0">
                <a:effectLst/>
                <a:ea typeface="黑体" panose="02010609060101010101" pitchFamily="49" charset="-122"/>
                <a:cs typeface="Times New Roman" panose="02020603050405020304" pitchFamily="18" charset="0"/>
              </a:rPr>
              <a:t>表</a:t>
            </a:r>
            <a:r>
              <a:rPr lang="en-US" altLang="zh-CN" sz="1800" dirty="0">
                <a:effectLst/>
                <a:ea typeface="黑体" panose="02010609060101010101" pitchFamily="49" charset="-122"/>
                <a:cs typeface="Times New Roman" panose="02020603050405020304" pitchFamily="18" charset="0"/>
              </a:rPr>
              <a:t>8-1</a:t>
            </a:r>
            <a:r>
              <a:rPr lang="zh-CN" altLang="en-US" sz="1800" dirty="0">
                <a:effectLst/>
                <a:ea typeface="黑体" panose="02010609060101010101" pitchFamily="49" charset="-122"/>
                <a:cs typeface="Times New Roman" panose="02020603050405020304" pitchFamily="18" charset="0"/>
              </a:rPr>
              <a:t>约束选项一览表</a:t>
            </a:r>
            <a:endParaRPr lang="zh-CN" altLang="en-US" dirty="0"/>
          </a:p>
        </p:txBody>
      </p:sp>
    </p:spTree>
    <p:extLst>
      <p:ext uri="{BB962C8B-B14F-4D97-AF65-F5344CB8AC3E}">
        <p14:creationId xmlns:p14="http://schemas.microsoft.com/office/powerpoint/2010/main" val="20077708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a:extLst>
              <a:ext uri="{FF2B5EF4-FFF2-40B4-BE49-F238E27FC236}">
                <a16:creationId xmlns:a16="http://schemas.microsoft.com/office/drawing/2014/main" id="{E88EDA86-ED13-1A9D-7979-7BA0283C51F9}"/>
              </a:ext>
            </a:extLst>
          </p:cNvPr>
          <p:cNvGraphicFramePr>
            <a:graphicFrameLocks noGrp="1"/>
          </p:cNvGraphicFramePr>
          <p:nvPr>
            <p:extLst>
              <p:ext uri="{D42A27DB-BD31-4B8C-83A1-F6EECF244321}">
                <p14:modId xmlns:p14="http://schemas.microsoft.com/office/powerpoint/2010/main" val="3031804772"/>
              </p:ext>
            </p:extLst>
          </p:nvPr>
        </p:nvGraphicFramePr>
        <p:xfrm>
          <a:off x="1511968" y="1530360"/>
          <a:ext cx="9168065" cy="3797280"/>
        </p:xfrm>
        <a:graphic>
          <a:graphicData uri="http://schemas.openxmlformats.org/drawingml/2006/table">
            <a:tbl>
              <a:tblPr firstRow="1" firstCol="1" bandRow="1"/>
              <a:tblGrid>
                <a:gridCol w="895350">
                  <a:extLst>
                    <a:ext uri="{9D8B030D-6E8A-4147-A177-3AD203B41FA5}">
                      <a16:colId xmlns:a16="http://schemas.microsoft.com/office/drawing/2014/main" val="4243854555"/>
                    </a:ext>
                  </a:extLst>
                </a:gridCol>
                <a:gridCol w="1019175">
                  <a:extLst>
                    <a:ext uri="{9D8B030D-6E8A-4147-A177-3AD203B41FA5}">
                      <a16:colId xmlns:a16="http://schemas.microsoft.com/office/drawing/2014/main" val="3763244426"/>
                    </a:ext>
                  </a:extLst>
                </a:gridCol>
                <a:gridCol w="895350">
                  <a:extLst>
                    <a:ext uri="{9D8B030D-6E8A-4147-A177-3AD203B41FA5}">
                      <a16:colId xmlns:a16="http://schemas.microsoft.com/office/drawing/2014/main" val="3255197541"/>
                    </a:ext>
                  </a:extLst>
                </a:gridCol>
                <a:gridCol w="6358190">
                  <a:extLst>
                    <a:ext uri="{9D8B030D-6E8A-4147-A177-3AD203B41FA5}">
                      <a16:colId xmlns:a16="http://schemas.microsoft.com/office/drawing/2014/main" val="2674793303"/>
                    </a:ext>
                  </a:extLst>
                </a:gridCol>
              </a:tblGrid>
              <a:tr h="540000">
                <a:tc>
                  <a:txBody>
                    <a:bodyPr/>
                    <a:lstStyle/>
                    <a:p>
                      <a:pPr algn="ctr" fontAlgn="ctr"/>
                      <a:r>
                        <a:rPr lang="zh-CN" sz="2000" b="1" kern="100" dirty="0">
                          <a:effectLst/>
                          <a:latin typeface="等线" panose="02010600030101010101" pitchFamily="2" charset="-122"/>
                          <a:ea typeface="宋体" panose="02010600030101010101" pitchFamily="2" charset="-122"/>
                          <a:cs typeface="Times New Roman" panose="02020603050405020304" pitchFamily="18" charset="0"/>
                        </a:rPr>
                        <a:t>序号</a:t>
                      </a:r>
                      <a:endParaRPr lang="zh-CN" sz="20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zh-CN" sz="2000" b="1" kern="100" dirty="0">
                          <a:effectLst/>
                          <a:latin typeface="等线" panose="02010600030101010101" pitchFamily="2" charset="-122"/>
                          <a:ea typeface="宋体" panose="02010600030101010101" pitchFamily="2" charset="-122"/>
                          <a:cs typeface="Times New Roman" panose="02020603050405020304" pitchFamily="18" charset="0"/>
                        </a:rPr>
                        <a:t>图标</a:t>
                      </a:r>
                      <a:endParaRPr lang="zh-CN" sz="20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zh-CN" sz="2000" b="1" kern="100" dirty="0">
                          <a:effectLst/>
                          <a:latin typeface="等线" panose="02010600030101010101" pitchFamily="2" charset="-122"/>
                          <a:ea typeface="宋体" panose="02010600030101010101" pitchFamily="2" charset="-122"/>
                          <a:cs typeface="Times New Roman" panose="02020603050405020304" pitchFamily="18" charset="0"/>
                        </a:rPr>
                        <a:t>名称</a:t>
                      </a:r>
                      <a:endParaRPr lang="zh-CN" sz="20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zh-CN" sz="2000" b="1" kern="100" dirty="0">
                          <a:effectLst/>
                          <a:latin typeface="等线" panose="02010600030101010101" pitchFamily="2" charset="-122"/>
                          <a:ea typeface="宋体" panose="02010600030101010101" pitchFamily="2" charset="-122"/>
                          <a:cs typeface="Times New Roman" panose="02020603050405020304" pitchFamily="18" charset="0"/>
                        </a:rPr>
                        <a:t>功能用途</a:t>
                      </a:r>
                      <a:endParaRPr lang="zh-CN" sz="20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03390510"/>
                  </a:ext>
                </a:extLst>
              </a:tr>
              <a:tr h="540000">
                <a:tc>
                  <a:txBody>
                    <a:bodyPr/>
                    <a:lstStyle/>
                    <a:p>
                      <a:pPr algn="ctr" fontAlgn="ctr"/>
                      <a:r>
                        <a:rPr lang="en-US" sz="1800" kern="100" dirty="0">
                          <a:effectLst/>
                          <a:latin typeface="宋体" panose="02010600030101010101" pitchFamily="2" charset="-122"/>
                          <a:ea typeface="等线" panose="02010600030101010101" pitchFamily="2" charset="-122"/>
                          <a:cs typeface="Times New Roman" panose="02020603050405020304" pitchFamily="18" charset="0"/>
                        </a:rPr>
                        <a:t>6</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endParaRPr lang="en-US" sz="1800" kern="100" dirty="0">
                        <a:effectLst/>
                        <a:latin typeface="宋体"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zh-CN" altLang="en-US" sz="1800" kern="100" dirty="0">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法向</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zh-CN" altLang="en-US" sz="1800" kern="100" dirty="0">
                          <a:effectLst/>
                          <a:latin typeface="等线" panose="02010600030101010101" pitchFamily="2" charset="-122"/>
                          <a:ea typeface="宋体" panose="02010600030101010101" pitchFamily="2" charset="-122"/>
                          <a:cs typeface="Times New Roman" panose="02020603050405020304" pitchFamily="18" charset="0"/>
                        </a:rPr>
                        <a:t>元件参考与装配参考垂直</a:t>
                      </a:r>
                      <a:r>
                        <a:rPr lang="zh-CN" sz="1800" kern="100" dirty="0">
                          <a:effectLst/>
                          <a:latin typeface="等线" panose="02010600030101010101" pitchFamily="2" charset="-122"/>
                          <a:ea typeface="宋体" panose="02010600030101010101" pitchFamily="2" charset="-122"/>
                          <a:cs typeface="Times New Roman" panose="02020603050405020304" pitchFamily="18" charset="0"/>
                        </a:rPr>
                        <a:t>。</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58353090"/>
                  </a:ext>
                </a:extLst>
              </a:tr>
              <a:tr h="540000">
                <a:tc>
                  <a:txBody>
                    <a:bodyPr/>
                    <a:lstStyle/>
                    <a:p>
                      <a:pPr algn="ctr" fontAlgn="ctr"/>
                      <a:r>
                        <a:rPr lang="en-US" sz="1800" kern="100" dirty="0">
                          <a:effectLst/>
                          <a:latin typeface="宋体" panose="02010600030101010101" pitchFamily="2" charset="-122"/>
                          <a:ea typeface="等线" panose="02010600030101010101" pitchFamily="2" charset="-122"/>
                          <a:cs typeface="Times New Roman" panose="02020603050405020304" pitchFamily="18" charset="0"/>
                        </a:rPr>
                        <a:t>7</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endParaRPr lang="en-US" sz="1800" kern="100" dirty="0">
                        <a:effectLst/>
                        <a:latin typeface="宋体"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zh-CN" altLang="en-US" sz="1800" kern="100" dirty="0">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共面</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zh-CN" altLang="en-US" sz="1800" kern="100" dirty="0">
                          <a:effectLst/>
                          <a:latin typeface="等线" panose="02010600030101010101" pitchFamily="2" charset="-122"/>
                          <a:ea typeface="宋体" panose="02010600030101010101" pitchFamily="2" charset="-122"/>
                          <a:cs typeface="Times New Roman" panose="02020603050405020304" pitchFamily="18" charset="0"/>
                        </a:rPr>
                        <a:t>元件参考与装配参考共面</a:t>
                      </a:r>
                      <a:r>
                        <a:rPr lang="zh-CN" sz="1800" kern="100" dirty="0">
                          <a:effectLst/>
                          <a:latin typeface="等线" panose="02010600030101010101" pitchFamily="2" charset="-122"/>
                          <a:ea typeface="宋体" panose="02010600030101010101" pitchFamily="2" charset="-122"/>
                          <a:cs typeface="Times New Roman" panose="02020603050405020304" pitchFamily="18" charset="0"/>
                        </a:rPr>
                        <a:t>。</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23303526"/>
                  </a:ext>
                </a:extLst>
              </a:tr>
              <a:tr h="540000">
                <a:tc>
                  <a:txBody>
                    <a:bodyPr/>
                    <a:lstStyle/>
                    <a:p>
                      <a:pPr algn="ctr" fontAlgn="ctr"/>
                      <a:r>
                        <a:rPr lang="en-US" sz="1800" kern="100" dirty="0">
                          <a:effectLst/>
                          <a:latin typeface="宋体" panose="02010600030101010101" pitchFamily="2" charset="-122"/>
                          <a:ea typeface="等线" panose="02010600030101010101" pitchFamily="2" charset="-122"/>
                          <a:cs typeface="Times New Roman" panose="02020603050405020304" pitchFamily="18" charset="0"/>
                        </a:rPr>
                        <a:t>8</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endParaRPr lang="en-US" sz="1800" kern="100" dirty="0">
                        <a:effectLst/>
                        <a:latin typeface="宋体"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zh-CN" altLang="en-US" sz="1800" kern="100" dirty="0">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居中</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zh-CN" altLang="en-US" sz="1800" kern="100" dirty="0">
                          <a:effectLst/>
                          <a:latin typeface="等线" panose="02010600030101010101" pitchFamily="2" charset="-122"/>
                          <a:ea typeface="宋体" panose="02010600030101010101" pitchFamily="2" charset="-122"/>
                          <a:cs typeface="Times New Roman" panose="02020603050405020304" pitchFamily="18" charset="0"/>
                        </a:rPr>
                        <a:t>元件参考与装配参考同心</a:t>
                      </a:r>
                      <a:r>
                        <a:rPr lang="zh-CN" sz="1800" kern="100" dirty="0">
                          <a:effectLst/>
                          <a:latin typeface="等线" panose="02010600030101010101" pitchFamily="2" charset="-122"/>
                          <a:ea typeface="宋体" panose="02010600030101010101" pitchFamily="2" charset="-122"/>
                          <a:cs typeface="Times New Roman" panose="02020603050405020304" pitchFamily="18" charset="0"/>
                        </a:rPr>
                        <a:t>。</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68454800"/>
                  </a:ext>
                </a:extLst>
              </a:tr>
              <a:tr h="540000">
                <a:tc>
                  <a:txBody>
                    <a:bodyPr/>
                    <a:lstStyle/>
                    <a:p>
                      <a:pPr algn="ctr" fontAlgn="ctr"/>
                      <a:r>
                        <a:rPr lang="en-US" sz="1800" kern="100" dirty="0">
                          <a:effectLst/>
                          <a:latin typeface="宋体" panose="02010600030101010101" pitchFamily="2" charset="-122"/>
                          <a:ea typeface="等线" panose="02010600030101010101" pitchFamily="2" charset="-122"/>
                          <a:cs typeface="Times New Roman" panose="02020603050405020304" pitchFamily="18" charset="0"/>
                        </a:rPr>
                        <a:t>9</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endParaRPr lang="en-US" sz="1800" kern="100">
                        <a:effectLst/>
                        <a:latin typeface="宋体"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zh-CN" altLang="en-US" sz="1800" kern="100" dirty="0">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相切</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zh-CN" altLang="en-US" sz="1800" kern="100" dirty="0">
                          <a:effectLst/>
                          <a:latin typeface="等线" panose="02010600030101010101" pitchFamily="2" charset="-122"/>
                          <a:ea typeface="宋体" panose="02010600030101010101" pitchFamily="2" charset="-122"/>
                          <a:cs typeface="Times New Roman" panose="02020603050405020304" pitchFamily="18" charset="0"/>
                        </a:rPr>
                        <a:t>元件参考与装配参考相切</a:t>
                      </a:r>
                      <a:r>
                        <a:rPr lang="zh-CN" sz="1800" kern="100" dirty="0">
                          <a:effectLst/>
                          <a:latin typeface="等线" panose="02010600030101010101" pitchFamily="2" charset="-122"/>
                          <a:ea typeface="宋体" panose="02010600030101010101" pitchFamily="2" charset="-122"/>
                          <a:cs typeface="Times New Roman" panose="02020603050405020304" pitchFamily="18" charset="0"/>
                        </a:rPr>
                        <a:t>。</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0036637"/>
                  </a:ext>
                </a:extLst>
              </a:tr>
              <a:tr h="540000">
                <a:tc>
                  <a:txBody>
                    <a:bodyPr/>
                    <a:lstStyle/>
                    <a:p>
                      <a:pPr algn="ctr" fontAlgn="ctr"/>
                      <a:r>
                        <a:rPr lang="en-US" sz="1800" kern="100" dirty="0">
                          <a:effectLst/>
                          <a:latin typeface="宋体" panose="02010600030101010101" pitchFamily="2" charset="-122"/>
                          <a:ea typeface="等线" panose="02010600030101010101" pitchFamily="2" charset="-122"/>
                          <a:cs typeface="Times New Roman" panose="02020603050405020304" pitchFamily="18" charset="0"/>
                        </a:rPr>
                        <a:t>10</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endParaRPr lang="en-US" sz="1800" kern="100">
                        <a:effectLst/>
                        <a:latin typeface="宋体"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zh-CN" altLang="en-US" sz="1800" kern="100" dirty="0">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固定</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zh-CN" altLang="en-US" sz="1800" kern="100" dirty="0">
                          <a:effectLst/>
                          <a:latin typeface="等线" panose="02010600030101010101" pitchFamily="2" charset="-122"/>
                          <a:ea typeface="宋体" panose="02010600030101010101" pitchFamily="2" charset="-122"/>
                          <a:cs typeface="Times New Roman" panose="02020603050405020304" pitchFamily="18" charset="0"/>
                        </a:rPr>
                        <a:t>将元件固定到当前位置，该约束完全限制了模型的</a:t>
                      </a:r>
                      <a:r>
                        <a:rPr lang="en-US" altLang="zh-CN" sz="1800" kern="100" dirty="0">
                          <a:effectLst/>
                          <a:latin typeface="等线" panose="02010600030101010101" pitchFamily="2" charset="-122"/>
                          <a:ea typeface="宋体" panose="02010600030101010101" pitchFamily="2" charset="-122"/>
                          <a:cs typeface="Times New Roman" panose="02020603050405020304" pitchFamily="18" charset="0"/>
                        </a:rPr>
                        <a:t>6</a:t>
                      </a:r>
                      <a:r>
                        <a:rPr lang="zh-CN" altLang="en-US" sz="1800" kern="100" dirty="0">
                          <a:effectLst/>
                          <a:latin typeface="等线" panose="02010600030101010101" pitchFamily="2" charset="-122"/>
                          <a:ea typeface="宋体" panose="02010600030101010101" pitchFamily="2" charset="-122"/>
                          <a:cs typeface="Times New Roman" panose="02020603050405020304" pitchFamily="18" charset="0"/>
                        </a:rPr>
                        <a:t>个自由度，因此，被固定约束的元件处于完全约束状态。</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89055901"/>
                  </a:ext>
                </a:extLst>
              </a:tr>
              <a:tr h="173507">
                <a:tc>
                  <a:txBody>
                    <a:bodyPr/>
                    <a:lstStyle/>
                    <a:p>
                      <a:pPr algn="ctr" fontAlgn="ct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11</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endParaRPr lang="en-US" sz="1800" kern="100">
                        <a:effectLst/>
                        <a:latin typeface="宋体"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zh-CN" altLang="en-US" sz="1800" kern="100" dirty="0">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默认</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zh-CN" altLang="en-US" sz="1800" kern="100" dirty="0">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将元件上的默认坐标系与装配环境中的默认坐标系对齐，一般在装配环境中装入第一个元件时使用该约束。</a:t>
                      </a: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9432396"/>
                  </a:ext>
                </a:extLst>
              </a:tr>
            </a:tbl>
          </a:graphicData>
        </a:graphic>
      </p:graphicFrame>
      <p:sp>
        <p:nvSpPr>
          <p:cNvPr id="8" name="文本框 7">
            <a:extLst>
              <a:ext uri="{FF2B5EF4-FFF2-40B4-BE49-F238E27FC236}">
                <a16:creationId xmlns:a16="http://schemas.microsoft.com/office/drawing/2014/main" id="{AC7DC14E-3D3E-8AE0-029B-BD13E0325D34}"/>
              </a:ext>
            </a:extLst>
          </p:cNvPr>
          <p:cNvSpPr txBox="1"/>
          <p:nvPr/>
        </p:nvSpPr>
        <p:spPr>
          <a:xfrm>
            <a:off x="4447119" y="1123963"/>
            <a:ext cx="3297762" cy="369332"/>
          </a:xfrm>
          <a:prstGeom prst="rect">
            <a:avLst/>
          </a:prstGeom>
          <a:noFill/>
        </p:spPr>
        <p:txBody>
          <a:bodyPr wrap="square">
            <a:spAutoFit/>
          </a:bodyPr>
          <a:lstStyle/>
          <a:p>
            <a:pPr algn="ctr"/>
            <a:r>
              <a:rPr lang="zh-CN" altLang="en-US" sz="1800" dirty="0">
                <a:effectLst/>
                <a:ea typeface="黑体" panose="02010609060101010101" pitchFamily="49" charset="-122"/>
                <a:cs typeface="Times New Roman" panose="02020603050405020304" pitchFamily="18" charset="0"/>
              </a:rPr>
              <a:t>表</a:t>
            </a:r>
            <a:r>
              <a:rPr lang="en-US" altLang="zh-CN" sz="1800" dirty="0">
                <a:effectLst/>
                <a:ea typeface="黑体" panose="02010609060101010101" pitchFamily="49" charset="-122"/>
                <a:cs typeface="Times New Roman" panose="02020603050405020304" pitchFamily="18" charset="0"/>
              </a:rPr>
              <a:t>8-1 </a:t>
            </a:r>
            <a:r>
              <a:rPr lang="zh-CN" altLang="en-US" sz="1800" dirty="0">
                <a:effectLst/>
                <a:ea typeface="黑体" panose="02010609060101010101" pitchFamily="49" charset="-122"/>
                <a:cs typeface="Times New Roman" panose="02020603050405020304" pitchFamily="18" charset="0"/>
              </a:rPr>
              <a:t>约束选项一览表</a:t>
            </a:r>
            <a:endParaRPr lang="zh-CN" altLang="en-US" dirty="0"/>
          </a:p>
        </p:txBody>
      </p:sp>
      <p:sp>
        <p:nvSpPr>
          <p:cNvPr id="9" name="文本框 8">
            <a:extLst>
              <a:ext uri="{FF2B5EF4-FFF2-40B4-BE49-F238E27FC236}">
                <a16:creationId xmlns:a16="http://schemas.microsoft.com/office/drawing/2014/main" id="{39E6954F-8E59-EF4B-E59F-F112CAADE3DF}"/>
              </a:ext>
            </a:extLst>
          </p:cNvPr>
          <p:cNvSpPr txBox="1"/>
          <p:nvPr/>
        </p:nvSpPr>
        <p:spPr>
          <a:xfrm>
            <a:off x="9942649" y="1123963"/>
            <a:ext cx="874294" cy="369332"/>
          </a:xfrm>
          <a:prstGeom prst="rect">
            <a:avLst/>
          </a:prstGeom>
          <a:noFill/>
        </p:spPr>
        <p:txBody>
          <a:bodyPr wrap="square">
            <a:spAutoFit/>
          </a:bodyPr>
          <a:lstStyle/>
          <a:p>
            <a:pPr algn="ctr"/>
            <a:r>
              <a:rPr lang="zh-CN" altLang="en-US" dirty="0">
                <a:ea typeface="黑体" panose="02010609060101010101" pitchFamily="49" charset="-122"/>
                <a:cs typeface="Times New Roman" panose="02020603050405020304" pitchFamily="18" charset="0"/>
              </a:rPr>
              <a:t>续表</a:t>
            </a:r>
            <a:endParaRPr lang="zh-CN" altLang="en-US" dirty="0"/>
          </a:p>
        </p:txBody>
      </p:sp>
      <p:pic>
        <p:nvPicPr>
          <p:cNvPr id="10" name="图片 9">
            <a:extLst>
              <a:ext uri="{FF2B5EF4-FFF2-40B4-BE49-F238E27FC236}">
                <a16:creationId xmlns:a16="http://schemas.microsoft.com/office/drawing/2014/main" id="{85FDD811-966F-C4AE-FF18-8BAE4E639592}"/>
              </a:ext>
            </a:extLst>
          </p:cNvPr>
          <p:cNvPicPr>
            <a:picLocks noChangeAspect="1"/>
          </p:cNvPicPr>
          <p:nvPr/>
        </p:nvPicPr>
        <p:blipFill>
          <a:blip r:embed="rId2"/>
          <a:stretch>
            <a:fillRect/>
          </a:stretch>
        </p:blipFill>
        <p:spPr>
          <a:xfrm>
            <a:off x="2739757" y="2162676"/>
            <a:ext cx="335238" cy="320000"/>
          </a:xfrm>
          <a:prstGeom prst="rect">
            <a:avLst/>
          </a:prstGeom>
        </p:spPr>
      </p:pic>
      <p:pic>
        <p:nvPicPr>
          <p:cNvPr id="11" name="图片 10">
            <a:extLst>
              <a:ext uri="{FF2B5EF4-FFF2-40B4-BE49-F238E27FC236}">
                <a16:creationId xmlns:a16="http://schemas.microsoft.com/office/drawing/2014/main" id="{E10B35E3-98CA-E876-20C5-F52E478943EF}"/>
              </a:ext>
            </a:extLst>
          </p:cNvPr>
          <p:cNvPicPr>
            <a:picLocks noChangeAspect="1"/>
          </p:cNvPicPr>
          <p:nvPr/>
        </p:nvPicPr>
        <p:blipFill>
          <a:blip r:embed="rId3"/>
          <a:stretch>
            <a:fillRect/>
          </a:stretch>
        </p:blipFill>
        <p:spPr>
          <a:xfrm>
            <a:off x="2770233" y="2810230"/>
            <a:ext cx="304762" cy="304762"/>
          </a:xfrm>
          <a:prstGeom prst="rect">
            <a:avLst/>
          </a:prstGeom>
        </p:spPr>
      </p:pic>
      <p:pic>
        <p:nvPicPr>
          <p:cNvPr id="12" name="图片 11">
            <a:extLst>
              <a:ext uri="{FF2B5EF4-FFF2-40B4-BE49-F238E27FC236}">
                <a16:creationId xmlns:a16="http://schemas.microsoft.com/office/drawing/2014/main" id="{2FA7E6F4-C142-5214-D129-FCEA3531D0A0}"/>
              </a:ext>
            </a:extLst>
          </p:cNvPr>
          <p:cNvPicPr>
            <a:picLocks noChangeAspect="1"/>
          </p:cNvPicPr>
          <p:nvPr/>
        </p:nvPicPr>
        <p:blipFill>
          <a:blip r:embed="rId4"/>
          <a:stretch>
            <a:fillRect/>
          </a:stretch>
        </p:blipFill>
        <p:spPr>
          <a:xfrm>
            <a:off x="2777852" y="3297784"/>
            <a:ext cx="289523" cy="289523"/>
          </a:xfrm>
          <a:prstGeom prst="rect">
            <a:avLst/>
          </a:prstGeom>
        </p:spPr>
      </p:pic>
      <p:pic>
        <p:nvPicPr>
          <p:cNvPr id="13" name="图片 12">
            <a:extLst>
              <a:ext uri="{FF2B5EF4-FFF2-40B4-BE49-F238E27FC236}">
                <a16:creationId xmlns:a16="http://schemas.microsoft.com/office/drawing/2014/main" id="{14F8E6C9-77AA-A640-22B2-3EE92401F18C}"/>
              </a:ext>
            </a:extLst>
          </p:cNvPr>
          <p:cNvPicPr>
            <a:picLocks noChangeAspect="1"/>
          </p:cNvPicPr>
          <p:nvPr/>
        </p:nvPicPr>
        <p:blipFill>
          <a:blip r:embed="rId5"/>
          <a:stretch>
            <a:fillRect/>
          </a:stretch>
        </p:blipFill>
        <p:spPr>
          <a:xfrm>
            <a:off x="2739757" y="3825158"/>
            <a:ext cx="304762" cy="320000"/>
          </a:xfrm>
          <a:prstGeom prst="rect">
            <a:avLst/>
          </a:prstGeom>
        </p:spPr>
      </p:pic>
      <p:pic>
        <p:nvPicPr>
          <p:cNvPr id="14" name="图片 13">
            <a:extLst>
              <a:ext uri="{FF2B5EF4-FFF2-40B4-BE49-F238E27FC236}">
                <a16:creationId xmlns:a16="http://schemas.microsoft.com/office/drawing/2014/main" id="{BDEBC974-7821-CFEC-4A7F-D3DE2E405790}"/>
              </a:ext>
            </a:extLst>
          </p:cNvPr>
          <p:cNvPicPr>
            <a:picLocks noChangeAspect="1"/>
          </p:cNvPicPr>
          <p:nvPr/>
        </p:nvPicPr>
        <p:blipFill>
          <a:blip r:embed="rId6"/>
          <a:stretch>
            <a:fillRect/>
          </a:stretch>
        </p:blipFill>
        <p:spPr>
          <a:xfrm>
            <a:off x="2724519" y="4431637"/>
            <a:ext cx="320000" cy="304762"/>
          </a:xfrm>
          <a:prstGeom prst="rect">
            <a:avLst/>
          </a:prstGeom>
        </p:spPr>
      </p:pic>
      <p:pic>
        <p:nvPicPr>
          <p:cNvPr id="15" name="图片 14">
            <a:extLst>
              <a:ext uri="{FF2B5EF4-FFF2-40B4-BE49-F238E27FC236}">
                <a16:creationId xmlns:a16="http://schemas.microsoft.com/office/drawing/2014/main" id="{EB11A821-FA63-1669-662A-07A208194078}"/>
              </a:ext>
            </a:extLst>
          </p:cNvPr>
          <p:cNvPicPr>
            <a:picLocks noChangeAspect="1"/>
          </p:cNvPicPr>
          <p:nvPr/>
        </p:nvPicPr>
        <p:blipFill>
          <a:blip r:embed="rId7"/>
          <a:stretch>
            <a:fillRect/>
          </a:stretch>
        </p:blipFill>
        <p:spPr>
          <a:xfrm>
            <a:off x="2739757" y="4887258"/>
            <a:ext cx="304762" cy="289523"/>
          </a:xfrm>
          <a:prstGeom prst="rect">
            <a:avLst/>
          </a:prstGeom>
        </p:spPr>
      </p:pic>
    </p:spTree>
    <p:extLst>
      <p:ext uri="{BB962C8B-B14F-4D97-AF65-F5344CB8AC3E}">
        <p14:creationId xmlns:p14="http://schemas.microsoft.com/office/powerpoint/2010/main" val="24682575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3" y="430611"/>
            <a:ext cx="11178206" cy="1216743"/>
          </a:xfrm>
          <a:prstGeom prst="rect">
            <a:avLst/>
          </a:prstGeom>
          <a:noFill/>
        </p:spPr>
        <p:txBody>
          <a:bodyPr wrap="square" rtlCol="0">
            <a:spAutoFit/>
          </a:bodyPr>
          <a:lstStyle/>
          <a:p>
            <a:pPr indent="457200">
              <a:lnSpc>
                <a:spcPct val="150000"/>
              </a:lnSpc>
            </a:pPr>
            <a:r>
              <a:rPr lang="zh-CN" altLang="en-US" sz="2600" dirty="0">
                <a:latin typeface="Times New Roman" pitchFamily="18" charset="0"/>
                <a:ea typeface="宋体" pitchFamily="2" charset="-122"/>
              </a:rPr>
              <a:t>下面通过一个实例介绍利用放置约束来演示图</a:t>
            </a:r>
            <a:r>
              <a:rPr lang="en-US" altLang="zh-CN" sz="2600" dirty="0">
                <a:latin typeface="Times New Roman" pitchFamily="18" charset="0"/>
                <a:ea typeface="宋体" pitchFamily="2" charset="-122"/>
              </a:rPr>
              <a:t>8-7</a:t>
            </a:r>
            <a:r>
              <a:rPr lang="zh-CN" altLang="en-US" sz="2600" dirty="0">
                <a:latin typeface="Times New Roman" pitchFamily="18" charset="0"/>
                <a:ea typeface="宋体" pitchFamily="2" charset="-122"/>
              </a:rPr>
              <a:t>所示轴承座的装配过程和方法，零件建模方式和部分细节特征就不在此处详细介绍。</a:t>
            </a:r>
          </a:p>
        </p:txBody>
      </p:sp>
      <p:sp>
        <p:nvSpPr>
          <p:cNvPr id="5" name="文本框 4">
            <a:extLst>
              <a:ext uri="{FF2B5EF4-FFF2-40B4-BE49-F238E27FC236}">
                <a16:creationId xmlns:a16="http://schemas.microsoft.com/office/drawing/2014/main" id="{829D0546-21A7-39D7-846D-A45380A26F8D}"/>
              </a:ext>
            </a:extLst>
          </p:cNvPr>
          <p:cNvSpPr txBox="1"/>
          <p:nvPr/>
        </p:nvSpPr>
        <p:spPr>
          <a:xfrm>
            <a:off x="4397425" y="6113058"/>
            <a:ext cx="3297762" cy="369332"/>
          </a:xfrm>
          <a:prstGeom prst="rect">
            <a:avLst/>
          </a:prstGeom>
          <a:noFill/>
        </p:spPr>
        <p:txBody>
          <a:bodyPr wrap="square">
            <a:spAutoFit/>
          </a:bodyPr>
          <a:lstStyle/>
          <a:p>
            <a:pPr algn="ctr"/>
            <a:r>
              <a:rPr lang="zh-CN" altLang="en-US" sz="1800" dirty="0">
                <a:effectLst/>
                <a:ea typeface="黑体" panose="02010609060101010101" pitchFamily="49" charset="-122"/>
                <a:cs typeface="Times New Roman" panose="02020603050405020304" pitchFamily="18" charset="0"/>
              </a:rPr>
              <a:t>图</a:t>
            </a:r>
            <a:r>
              <a:rPr lang="en-US" altLang="zh-CN" sz="1800" dirty="0">
                <a:effectLst/>
                <a:ea typeface="黑体" panose="02010609060101010101" pitchFamily="49" charset="-122"/>
                <a:cs typeface="Times New Roman" panose="02020603050405020304" pitchFamily="18" charset="0"/>
              </a:rPr>
              <a:t>8-7 </a:t>
            </a:r>
            <a:r>
              <a:rPr lang="zh-CN" altLang="en-US" sz="1800" dirty="0">
                <a:effectLst/>
                <a:ea typeface="黑体" panose="02010609060101010101" pitchFamily="49" charset="-122"/>
                <a:cs typeface="Times New Roman" panose="02020603050405020304" pitchFamily="18" charset="0"/>
              </a:rPr>
              <a:t>轴承座组件</a:t>
            </a:r>
            <a:endParaRPr lang="zh-CN" altLang="en-US" dirty="0"/>
          </a:p>
        </p:txBody>
      </p:sp>
      <p:pic>
        <p:nvPicPr>
          <p:cNvPr id="4" name="图片 3">
            <a:extLst>
              <a:ext uri="{FF2B5EF4-FFF2-40B4-BE49-F238E27FC236}">
                <a16:creationId xmlns:a16="http://schemas.microsoft.com/office/drawing/2014/main" id="{F652E554-BDFD-F106-F41A-7F31119ED5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93122" y="1703575"/>
            <a:ext cx="7405756" cy="4313231"/>
          </a:xfrm>
          <a:prstGeom prst="rect">
            <a:avLst/>
          </a:prstGeom>
        </p:spPr>
      </p:pic>
    </p:spTree>
    <p:extLst>
      <p:ext uri="{BB962C8B-B14F-4D97-AF65-F5344CB8AC3E}">
        <p14:creationId xmlns:p14="http://schemas.microsoft.com/office/powerpoint/2010/main" val="38331692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3" y="642643"/>
            <a:ext cx="11178206" cy="3617401"/>
          </a:xfrm>
          <a:prstGeom prst="rect">
            <a:avLst/>
          </a:prstGeom>
          <a:noFill/>
        </p:spPr>
        <p:txBody>
          <a:bodyPr wrap="square" rtlCol="0">
            <a:spAutoFit/>
          </a:bodyPr>
          <a:lstStyle/>
          <a:p>
            <a:pPr indent="457200">
              <a:lnSpc>
                <a:spcPct val="150000"/>
              </a:lnSpc>
            </a:pPr>
            <a:r>
              <a:rPr lang="en-US" altLang="zh-CN" sz="2600" b="1" dirty="0">
                <a:latin typeface="Times New Roman" pitchFamily="18" charset="0"/>
                <a:ea typeface="宋体" pitchFamily="2" charset="-122"/>
              </a:rPr>
              <a:t>1.</a:t>
            </a:r>
            <a:r>
              <a:rPr lang="zh-CN" altLang="en-US" sz="2600" b="1" dirty="0">
                <a:latin typeface="Times New Roman" pitchFamily="18" charset="0"/>
                <a:ea typeface="宋体" pitchFamily="2" charset="-122"/>
              </a:rPr>
              <a:t>新建文件</a:t>
            </a:r>
          </a:p>
          <a:p>
            <a:pPr indent="457200">
              <a:lnSpc>
                <a:spcPct val="150000"/>
              </a:lnSpc>
            </a:pPr>
            <a:r>
              <a:rPr lang="zh-CN" altLang="en-US" sz="2600" dirty="0">
                <a:latin typeface="Times New Roman" pitchFamily="18" charset="0"/>
                <a:ea typeface="宋体" pitchFamily="2" charset="-122"/>
              </a:rPr>
              <a:t>单击快速访问工具栏中的“新建”按钮     ，弹出</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新建</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对话框。在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类型</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选项组中选中“装配”单选按钮，</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子类型</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选项组中选中“设计”单选按钮，在“名称”文本框中输入文件名称“轴承座”，取消勾选“使用默认模板”选项。单击“确定”按钮打开</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新文件选项</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对话框，选择模板为“</a:t>
            </a:r>
            <a:r>
              <a:rPr lang="en-US" altLang="zh-CN" sz="2600" dirty="0" err="1">
                <a:latin typeface="Times New Roman" pitchFamily="18" charset="0"/>
                <a:ea typeface="宋体" pitchFamily="2" charset="-122"/>
              </a:rPr>
              <a:t>mmns_asm_design_abs</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，单击“确定”按钮，进入装配环境。</a:t>
            </a:r>
          </a:p>
        </p:txBody>
      </p:sp>
      <p:pic>
        <p:nvPicPr>
          <p:cNvPr id="2" name="图片 1">
            <a:extLst>
              <a:ext uri="{FF2B5EF4-FFF2-40B4-BE49-F238E27FC236}">
                <a16:creationId xmlns:a16="http://schemas.microsoft.com/office/drawing/2014/main" id="{3DAFE5C9-70AF-B384-F9E4-E847EEA010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74519" y="1488908"/>
            <a:ext cx="304800" cy="304800"/>
          </a:xfrm>
          <a:prstGeom prst="rect">
            <a:avLst/>
          </a:prstGeom>
        </p:spPr>
      </p:pic>
    </p:spTree>
    <p:extLst>
      <p:ext uri="{BB962C8B-B14F-4D97-AF65-F5344CB8AC3E}">
        <p14:creationId xmlns:p14="http://schemas.microsoft.com/office/powerpoint/2010/main" val="14233046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7219884B-64F2-A6AA-1CA5-EB3536F97A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33696" y="3975621"/>
            <a:ext cx="4124609" cy="1977266"/>
          </a:xfrm>
          <a:prstGeom prst="rect">
            <a:avLst/>
          </a:prstGeom>
        </p:spPr>
      </p:pic>
      <p:sp>
        <p:nvSpPr>
          <p:cNvPr id="3" name="TextBox 2"/>
          <p:cNvSpPr txBox="1"/>
          <p:nvPr/>
        </p:nvSpPr>
        <p:spPr>
          <a:xfrm>
            <a:off x="457203" y="418055"/>
            <a:ext cx="11178206" cy="4217565"/>
          </a:xfrm>
          <a:prstGeom prst="rect">
            <a:avLst/>
          </a:prstGeom>
          <a:noFill/>
        </p:spPr>
        <p:txBody>
          <a:bodyPr wrap="square" rtlCol="0">
            <a:spAutoFit/>
          </a:bodyPr>
          <a:lstStyle/>
          <a:p>
            <a:pPr indent="457200">
              <a:lnSpc>
                <a:spcPct val="150000"/>
              </a:lnSpc>
            </a:pPr>
            <a:r>
              <a:rPr lang="en-US" altLang="zh-CN" sz="2600" b="1" dirty="0">
                <a:latin typeface="Times New Roman" pitchFamily="18" charset="0"/>
                <a:ea typeface="宋体" pitchFamily="2" charset="-122"/>
              </a:rPr>
              <a:t>2.</a:t>
            </a:r>
            <a:r>
              <a:rPr lang="zh-CN" altLang="en-US" sz="2600" b="1" dirty="0">
                <a:latin typeface="Times New Roman" pitchFamily="18" charset="0"/>
                <a:ea typeface="宋体" pitchFamily="2" charset="-122"/>
              </a:rPr>
              <a:t>装配轴承底座</a:t>
            </a:r>
            <a:endParaRPr lang="en-US" altLang="zh-CN" sz="2600" b="1" dirty="0">
              <a:latin typeface="Times New Roman" pitchFamily="18" charset="0"/>
              <a:ea typeface="宋体" pitchFamily="2" charset="-122"/>
            </a:endParaRPr>
          </a:p>
          <a:p>
            <a:pPr indent="457200">
              <a:lnSpc>
                <a:spcPct val="150000"/>
              </a:lnSpc>
            </a:pPr>
            <a:r>
              <a:rPr lang="zh-CN" altLang="en-US" sz="2600" dirty="0">
                <a:latin typeface="Times New Roman" pitchFamily="18" charset="0"/>
                <a:ea typeface="宋体" pitchFamily="2" charset="-122"/>
              </a:rPr>
              <a:t>单击</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模型</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元件</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组中的“组装”按钮    ，弹出</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打开</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对话框，选择“</a:t>
            </a:r>
            <a:r>
              <a:rPr lang="en-US" altLang="zh-CN" sz="2600" dirty="0">
                <a:latin typeface="Times New Roman" pitchFamily="18" charset="0"/>
                <a:ea typeface="宋体" pitchFamily="2" charset="-122"/>
              </a:rPr>
              <a:t>\DATA\ch8\</a:t>
            </a:r>
            <a:r>
              <a:rPr lang="zh-CN" altLang="en-US" sz="2600" dirty="0">
                <a:latin typeface="Times New Roman" pitchFamily="18" charset="0"/>
                <a:ea typeface="宋体" pitchFamily="2" charset="-122"/>
              </a:rPr>
              <a:t>轴承底座”文件夹，选中其中的“轴承底座</a:t>
            </a:r>
            <a:r>
              <a:rPr lang="en-US" altLang="zh-CN" sz="2600" dirty="0">
                <a:latin typeface="Times New Roman" pitchFamily="18" charset="0"/>
                <a:ea typeface="宋体" pitchFamily="2" charset="-122"/>
              </a:rPr>
              <a:t>.</a:t>
            </a:r>
            <a:r>
              <a:rPr lang="en-US" altLang="zh-CN" sz="2600" dirty="0" err="1">
                <a:latin typeface="Times New Roman" pitchFamily="18" charset="0"/>
                <a:ea typeface="宋体" pitchFamily="2" charset="-122"/>
              </a:rPr>
              <a:t>prt</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，单击“打开”按钮或直接双击该文件，调入装配环境中。界面顶部弹出</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元件放置</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操控板，在操控板</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放置</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下滑面板中单击</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约束类型</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下拉列表框，选择    默认。单击操控板中的“确定”按钮，完成轴承底座的装配，结果如图</a:t>
            </a:r>
            <a:r>
              <a:rPr lang="en-US" altLang="zh-CN" sz="2600" dirty="0">
                <a:latin typeface="Times New Roman" pitchFamily="18" charset="0"/>
                <a:ea typeface="宋体" pitchFamily="2" charset="-122"/>
              </a:rPr>
              <a:t>8-8</a:t>
            </a:r>
            <a:r>
              <a:rPr lang="zh-CN" altLang="en-US" sz="2600" dirty="0">
                <a:latin typeface="Times New Roman" pitchFamily="18" charset="0"/>
                <a:ea typeface="宋体" pitchFamily="2" charset="-122"/>
              </a:rPr>
              <a:t>所示。</a:t>
            </a:r>
          </a:p>
        </p:txBody>
      </p:sp>
      <p:pic>
        <p:nvPicPr>
          <p:cNvPr id="4" name="图片 3">
            <a:extLst>
              <a:ext uri="{FF2B5EF4-FFF2-40B4-BE49-F238E27FC236}">
                <a16:creationId xmlns:a16="http://schemas.microsoft.com/office/drawing/2014/main" id="{56E92DCE-88D7-5F03-19D7-0E7C7696C475}"/>
              </a:ext>
            </a:extLst>
          </p:cNvPr>
          <p:cNvPicPr>
            <a:picLocks noChangeAspect="1"/>
          </p:cNvPicPr>
          <p:nvPr/>
        </p:nvPicPr>
        <p:blipFill>
          <a:blip r:embed="rId3"/>
          <a:stretch>
            <a:fillRect/>
          </a:stretch>
        </p:blipFill>
        <p:spPr>
          <a:xfrm>
            <a:off x="8286031" y="1216192"/>
            <a:ext cx="314325" cy="342900"/>
          </a:xfrm>
          <a:prstGeom prst="rect">
            <a:avLst/>
          </a:prstGeom>
        </p:spPr>
      </p:pic>
      <p:pic>
        <p:nvPicPr>
          <p:cNvPr id="5" name="图片 4">
            <a:extLst>
              <a:ext uri="{FF2B5EF4-FFF2-40B4-BE49-F238E27FC236}">
                <a16:creationId xmlns:a16="http://schemas.microsoft.com/office/drawing/2014/main" id="{58335A31-CEDC-C372-4062-CFC28E15B756}"/>
              </a:ext>
            </a:extLst>
          </p:cNvPr>
          <p:cNvPicPr>
            <a:picLocks noChangeAspect="1"/>
          </p:cNvPicPr>
          <p:nvPr/>
        </p:nvPicPr>
        <p:blipFill>
          <a:blip r:embed="rId4"/>
          <a:stretch>
            <a:fillRect/>
          </a:stretch>
        </p:blipFill>
        <p:spPr>
          <a:xfrm>
            <a:off x="1862203" y="3627588"/>
            <a:ext cx="304762" cy="289523"/>
          </a:xfrm>
          <a:prstGeom prst="rect">
            <a:avLst/>
          </a:prstGeom>
        </p:spPr>
      </p:pic>
      <p:sp>
        <p:nvSpPr>
          <p:cNvPr id="7" name="文本框 6">
            <a:extLst>
              <a:ext uri="{FF2B5EF4-FFF2-40B4-BE49-F238E27FC236}">
                <a16:creationId xmlns:a16="http://schemas.microsoft.com/office/drawing/2014/main" id="{790EA25C-469E-216B-4DBD-5E2E90FD0EAB}"/>
              </a:ext>
            </a:extLst>
          </p:cNvPr>
          <p:cNvSpPr txBox="1"/>
          <p:nvPr/>
        </p:nvSpPr>
        <p:spPr>
          <a:xfrm>
            <a:off x="4397425" y="5968679"/>
            <a:ext cx="3297762" cy="369332"/>
          </a:xfrm>
          <a:prstGeom prst="rect">
            <a:avLst/>
          </a:prstGeom>
          <a:noFill/>
        </p:spPr>
        <p:txBody>
          <a:bodyPr wrap="square">
            <a:spAutoFit/>
          </a:bodyPr>
          <a:lstStyle/>
          <a:p>
            <a:pPr algn="ctr"/>
            <a:r>
              <a:rPr lang="zh-CN" altLang="en-US" sz="1800" dirty="0">
                <a:effectLst/>
                <a:ea typeface="黑体" panose="02010609060101010101" pitchFamily="49" charset="-122"/>
                <a:cs typeface="Times New Roman" panose="02020603050405020304" pitchFamily="18" charset="0"/>
              </a:rPr>
              <a:t>图</a:t>
            </a:r>
            <a:r>
              <a:rPr lang="en-US" altLang="zh-CN" sz="1800" dirty="0">
                <a:effectLst/>
                <a:ea typeface="黑体" panose="02010609060101010101" pitchFamily="49" charset="-122"/>
                <a:cs typeface="Times New Roman" panose="02020603050405020304" pitchFamily="18" charset="0"/>
              </a:rPr>
              <a:t>8-8 </a:t>
            </a:r>
            <a:r>
              <a:rPr lang="zh-CN" altLang="en-US" sz="1800" dirty="0">
                <a:effectLst/>
                <a:ea typeface="黑体" panose="02010609060101010101" pitchFamily="49" charset="-122"/>
                <a:cs typeface="Times New Roman" panose="02020603050405020304" pitchFamily="18" charset="0"/>
              </a:rPr>
              <a:t>装配轴承底座</a:t>
            </a:r>
            <a:endParaRPr lang="zh-CN" altLang="en-US" dirty="0"/>
          </a:p>
        </p:txBody>
      </p:sp>
    </p:spTree>
    <p:extLst>
      <p:ext uri="{BB962C8B-B14F-4D97-AF65-F5344CB8AC3E}">
        <p14:creationId xmlns:p14="http://schemas.microsoft.com/office/powerpoint/2010/main" val="37341391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2">
            <a:extLst>
              <a:ext uri="{FF2B5EF4-FFF2-40B4-BE49-F238E27FC236}">
                <a16:creationId xmlns:a16="http://schemas.microsoft.com/office/drawing/2014/main" id="{42EC4191-EEBB-D386-CFD8-3827A370F1B9}"/>
              </a:ext>
            </a:extLst>
          </p:cNvPr>
          <p:cNvSpPr txBox="1"/>
          <p:nvPr/>
        </p:nvSpPr>
        <p:spPr>
          <a:xfrm>
            <a:off x="457203" y="418055"/>
            <a:ext cx="11178206" cy="3617401"/>
          </a:xfrm>
          <a:prstGeom prst="rect">
            <a:avLst/>
          </a:prstGeom>
          <a:noFill/>
        </p:spPr>
        <p:txBody>
          <a:bodyPr wrap="square" rtlCol="0">
            <a:spAutoFit/>
          </a:bodyPr>
          <a:lstStyle/>
          <a:p>
            <a:pPr indent="457200">
              <a:lnSpc>
                <a:spcPct val="150000"/>
              </a:lnSpc>
            </a:pPr>
            <a:r>
              <a:rPr lang="en-US" altLang="zh-CN" sz="2600" b="1" dirty="0">
                <a:latin typeface="Times New Roman" pitchFamily="18" charset="0"/>
                <a:ea typeface="宋体" pitchFamily="2" charset="-122"/>
              </a:rPr>
              <a:t>3</a:t>
            </a:r>
            <a:r>
              <a:rPr lang="zh-CN" altLang="en-US" sz="2600" b="1" dirty="0">
                <a:latin typeface="Times New Roman" pitchFamily="18" charset="0"/>
                <a:ea typeface="宋体" pitchFamily="2" charset="-122"/>
              </a:rPr>
              <a:t>．装配下轴瓦</a:t>
            </a:r>
            <a:endParaRPr lang="en-US" altLang="zh-CN" sz="2600" b="1" dirty="0">
              <a:latin typeface="Times New Roman" pitchFamily="18" charset="0"/>
              <a:ea typeface="宋体" pitchFamily="2" charset="-122"/>
            </a:endParaRPr>
          </a:p>
          <a:p>
            <a:pPr indent="457200">
              <a:lnSpc>
                <a:spcPct val="150000"/>
              </a:lnSpc>
            </a:pPr>
            <a:r>
              <a:rPr lang="en-US" altLang="zh-CN" sz="2600" dirty="0">
                <a:latin typeface="Times New Roman" pitchFamily="18" charset="0"/>
                <a:ea typeface="宋体" pitchFamily="2" charset="-122"/>
              </a:rPr>
              <a:t>1</a:t>
            </a:r>
            <a:r>
              <a:rPr lang="zh-CN" altLang="en-US" sz="2600" dirty="0">
                <a:latin typeface="Times New Roman" pitchFamily="18" charset="0"/>
                <a:ea typeface="宋体" pitchFamily="2" charset="-122"/>
              </a:rPr>
              <a:t>）单击</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模型</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元件</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组中的“组装”按钮    ，调入“下轴瓦</a:t>
            </a:r>
            <a:r>
              <a:rPr lang="en-US" altLang="zh-CN" sz="2600" dirty="0">
                <a:latin typeface="Times New Roman" pitchFamily="18" charset="0"/>
                <a:ea typeface="宋体" pitchFamily="2" charset="-122"/>
              </a:rPr>
              <a:t>.</a:t>
            </a:r>
            <a:r>
              <a:rPr lang="en-US" altLang="zh-CN" sz="2600" dirty="0" err="1">
                <a:latin typeface="Times New Roman" pitchFamily="18" charset="0"/>
                <a:ea typeface="宋体" pitchFamily="2" charset="-122"/>
              </a:rPr>
              <a:t>prt</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 单击</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元件放置</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操控板上“单独窗口显示”按钮     ，弹出一个单独控制调入模型的显示窗口，通过此窗口可以方便选取零件的细节。</a:t>
            </a:r>
          </a:p>
          <a:p>
            <a:pPr indent="457200">
              <a:lnSpc>
                <a:spcPct val="150000"/>
              </a:lnSpc>
            </a:pPr>
            <a:r>
              <a:rPr lang="en-US" altLang="zh-CN" sz="2600" dirty="0">
                <a:latin typeface="Times New Roman" pitchFamily="18" charset="0"/>
                <a:ea typeface="宋体" pitchFamily="2" charset="-122"/>
              </a:rPr>
              <a:t>2</a:t>
            </a:r>
            <a:r>
              <a:rPr lang="zh-CN" altLang="en-US" sz="2600" dirty="0">
                <a:latin typeface="Times New Roman" pitchFamily="18" charset="0"/>
                <a:ea typeface="宋体" pitchFamily="2" charset="-122"/>
              </a:rPr>
              <a:t>）添加约束关系</a:t>
            </a:r>
            <a:r>
              <a:rPr lang="en-US" altLang="zh-CN" sz="2600" dirty="0">
                <a:latin typeface="Times New Roman" pitchFamily="18" charset="0"/>
                <a:ea typeface="宋体" pitchFamily="2" charset="-122"/>
              </a:rPr>
              <a:t>1</a:t>
            </a:r>
            <a:r>
              <a:rPr lang="zh-CN" altLang="en-US" sz="2600" dirty="0">
                <a:latin typeface="Times New Roman" pitchFamily="18" charset="0"/>
                <a:ea typeface="宋体" pitchFamily="2" charset="-122"/>
              </a:rPr>
              <a:t>。依次选中如图</a:t>
            </a:r>
            <a:r>
              <a:rPr lang="en-US" altLang="zh-CN" sz="2600" dirty="0">
                <a:latin typeface="Times New Roman" pitchFamily="18" charset="0"/>
                <a:ea typeface="宋体" pitchFamily="2" charset="-122"/>
              </a:rPr>
              <a:t>8-9</a:t>
            </a:r>
            <a:r>
              <a:rPr lang="zh-CN" altLang="en-US" sz="2600" dirty="0">
                <a:latin typeface="Times New Roman" pitchFamily="18" charset="0"/>
                <a:ea typeface="宋体" pitchFamily="2" charset="-122"/>
              </a:rPr>
              <a:t>所示下轴瓦的内侧端面和轴承座端面，在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放置</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下滑面板中将</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约束类型</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改为“重合”。</a:t>
            </a:r>
          </a:p>
        </p:txBody>
      </p:sp>
      <p:pic>
        <p:nvPicPr>
          <p:cNvPr id="5" name="图片 4">
            <a:extLst>
              <a:ext uri="{FF2B5EF4-FFF2-40B4-BE49-F238E27FC236}">
                <a16:creationId xmlns:a16="http://schemas.microsoft.com/office/drawing/2014/main" id="{D93B26ED-164F-D70D-1477-44DE84820DFF}"/>
              </a:ext>
            </a:extLst>
          </p:cNvPr>
          <p:cNvPicPr>
            <a:picLocks noChangeAspect="1"/>
          </p:cNvPicPr>
          <p:nvPr/>
        </p:nvPicPr>
        <p:blipFill>
          <a:blip r:embed="rId2"/>
          <a:stretch>
            <a:fillRect/>
          </a:stretch>
        </p:blipFill>
        <p:spPr>
          <a:xfrm>
            <a:off x="8783337" y="1216192"/>
            <a:ext cx="314325" cy="342900"/>
          </a:xfrm>
          <a:prstGeom prst="rect">
            <a:avLst/>
          </a:prstGeom>
        </p:spPr>
      </p:pic>
      <p:pic>
        <p:nvPicPr>
          <p:cNvPr id="6" name="图片 5">
            <a:extLst>
              <a:ext uri="{FF2B5EF4-FFF2-40B4-BE49-F238E27FC236}">
                <a16:creationId xmlns:a16="http://schemas.microsoft.com/office/drawing/2014/main" id="{72C935D2-421D-7599-2043-4663DABAF207}"/>
              </a:ext>
            </a:extLst>
          </p:cNvPr>
          <p:cNvPicPr>
            <a:picLocks noChangeAspect="1"/>
          </p:cNvPicPr>
          <p:nvPr/>
        </p:nvPicPr>
        <p:blipFill>
          <a:blip r:embed="rId3"/>
          <a:stretch>
            <a:fillRect/>
          </a:stretch>
        </p:blipFill>
        <p:spPr>
          <a:xfrm>
            <a:off x="9113704" y="1806216"/>
            <a:ext cx="350520" cy="335280"/>
          </a:xfrm>
          <a:prstGeom prst="rect">
            <a:avLst/>
          </a:prstGeom>
        </p:spPr>
      </p:pic>
    </p:spTree>
    <p:extLst>
      <p:ext uri="{BB962C8B-B14F-4D97-AF65-F5344CB8AC3E}">
        <p14:creationId xmlns:p14="http://schemas.microsoft.com/office/powerpoint/2010/main" val="20330065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CF3878C-2753-B288-80A1-C7963127C7CA}"/>
              </a:ext>
            </a:extLst>
          </p:cNvPr>
          <p:cNvSpPr txBox="1"/>
          <p:nvPr/>
        </p:nvSpPr>
        <p:spPr>
          <a:xfrm>
            <a:off x="4447119" y="5728049"/>
            <a:ext cx="3297762" cy="369332"/>
          </a:xfrm>
          <a:prstGeom prst="rect">
            <a:avLst/>
          </a:prstGeom>
          <a:noFill/>
        </p:spPr>
        <p:txBody>
          <a:bodyPr wrap="square">
            <a:spAutoFit/>
          </a:bodyPr>
          <a:lstStyle/>
          <a:p>
            <a:pPr algn="ctr"/>
            <a:r>
              <a:rPr lang="zh-CN" altLang="en-US" sz="1800" dirty="0">
                <a:effectLst/>
                <a:ea typeface="黑体" panose="02010609060101010101" pitchFamily="49" charset="-122"/>
                <a:cs typeface="Times New Roman" panose="02020603050405020304" pitchFamily="18" charset="0"/>
              </a:rPr>
              <a:t>图</a:t>
            </a:r>
            <a:r>
              <a:rPr lang="en-US" altLang="zh-CN" sz="1800" dirty="0">
                <a:effectLst/>
                <a:ea typeface="黑体" panose="02010609060101010101" pitchFamily="49" charset="-122"/>
                <a:cs typeface="Times New Roman" panose="02020603050405020304" pitchFamily="18" charset="0"/>
              </a:rPr>
              <a:t>8-9 </a:t>
            </a:r>
            <a:r>
              <a:rPr lang="zh-CN" altLang="en-US" sz="1800" dirty="0">
                <a:effectLst/>
                <a:ea typeface="黑体" panose="02010609060101010101" pitchFamily="49" charset="-122"/>
                <a:cs typeface="Times New Roman" panose="02020603050405020304" pitchFamily="18" charset="0"/>
              </a:rPr>
              <a:t>约束</a:t>
            </a:r>
            <a:r>
              <a:rPr lang="en-US" altLang="zh-CN" sz="1800" dirty="0">
                <a:effectLst/>
                <a:ea typeface="黑体" panose="02010609060101010101" pitchFamily="49" charset="-122"/>
                <a:cs typeface="Times New Roman" panose="02020603050405020304" pitchFamily="18" charset="0"/>
              </a:rPr>
              <a:t>1</a:t>
            </a:r>
            <a:r>
              <a:rPr lang="zh-CN" altLang="en-US" sz="1800" dirty="0">
                <a:effectLst/>
                <a:ea typeface="黑体" panose="02010609060101010101" pitchFamily="49" charset="-122"/>
                <a:cs typeface="Times New Roman" panose="02020603050405020304" pitchFamily="18" charset="0"/>
              </a:rPr>
              <a:t>参考</a:t>
            </a:r>
            <a:endParaRPr lang="zh-CN" altLang="en-US" dirty="0"/>
          </a:p>
        </p:txBody>
      </p:sp>
      <p:pic>
        <p:nvPicPr>
          <p:cNvPr id="7" name="图片 6">
            <a:extLst>
              <a:ext uri="{FF2B5EF4-FFF2-40B4-BE49-F238E27FC236}">
                <a16:creationId xmlns:a16="http://schemas.microsoft.com/office/drawing/2014/main" id="{655E4666-5EEC-9D0C-F66B-A0A0B57A371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464636" y="1347089"/>
            <a:ext cx="5262729" cy="4139312"/>
          </a:xfrm>
          <a:prstGeom prst="rect">
            <a:avLst/>
          </a:prstGeom>
        </p:spPr>
      </p:pic>
    </p:spTree>
    <p:extLst>
      <p:ext uri="{BB962C8B-B14F-4D97-AF65-F5344CB8AC3E}">
        <p14:creationId xmlns:p14="http://schemas.microsoft.com/office/powerpoint/2010/main" val="4357529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3" y="418055"/>
            <a:ext cx="11178206" cy="1816908"/>
          </a:xfrm>
          <a:prstGeom prst="rect">
            <a:avLst/>
          </a:prstGeom>
          <a:noFill/>
        </p:spPr>
        <p:txBody>
          <a:bodyPr wrap="square" rtlCol="0">
            <a:spAutoFit/>
          </a:bodyPr>
          <a:lstStyle/>
          <a:p>
            <a:pPr indent="457200">
              <a:lnSpc>
                <a:spcPct val="150000"/>
              </a:lnSpc>
            </a:pPr>
            <a:r>
              <a:rPr lang="en-US" altLang="zh-CN" sz="2600" dirty="0">
                <a:latin typeface="Times New Roman" pitchFamily="18" charset="0"/>
                <a:ea typeface="宋体" pitchFamily="2" charset="-122"/>
              </a:rPr>
              <a:t>3</a:t>
            </a:r>
            <a:r>
              <a:rPr lang="zh-CN" altLang="en-US" sz="2600" dirty="0">
                <a:latin typeface="Times New Roman" pitchFamily="18" charset="0"/>
                <a:ea typeface="宋体" pitchFamily="2" charset="-122"/>
              </a:rPr>
              <a:t>）添加约束关系</a:t>
            </a:r>
            <a:r>
              <a:rPr lang="en-US" altLang="zh-CN" sz="2600" dirty="0">
                <a:latin typeface="Times New Roman" pitchFamily="18" charset="0"/>
                <a:ea typeface="宋体" pitchFamily="2" charset="-122"/>
              </a:rPr>
              <a:t>2</a:t>
            </a:r>
            <a:r>
              <a:rPr lang="zh-CN" altLang="en-US" sz="2600" dirty="0">
                <a:latin typeface="Times New Roman" pitchFamily="18" charset="0"/>
                <a:ea typeface="宋体" pitchFamily="2" charset="-122"/>
              </a:rPr>
              <a:t>。单击</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放置</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下滑面板中的</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新建约束</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，依次选中如图</a:t>
            </a:r>
            <a:r>
              <a:rPr lang="en-US" altLang="zh-CN" sz="2600" dirty="0">
                <a:latin typeface="Times New Roman" pitchFamily="18" charset="0"/>
                <a:ea typeface="宋体" pitchFamily="2" charset="-122"/>
              </a:rPr>
              <a:t>8-10</a:t>
            </a:r>
            <a:r>
              <a:rPr lang="zh-CN" altLang="en-US" sz="2600" dirty="0">
                <a:latin typeface="Times New Roman" pitchFamily="18" charset="0"/>
                <a:ea typeface="宋体" pitchFamily="2" charset="-122"/>
              </a:rPr>
              <a:t>所示的下轴瓦平面和轴承座平面，在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放置</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下滑面板中将</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约束类型</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改为“重合”。</a:t>
            </a:r>
          </a:p>
        </p:txBody>
      </p:sp>
      <p:sp>
        <p:nvSpPr>
          <p:cNvPr id="7" name="文本框 6">
            <a:extLst>
              <a:ext uri="{FF2B5EF4-FFF2-40B4-BE49-F238E27FC236}">
                <a16:creationId xmlns:a16="http://schemas.microsoft.com/office/drawing/2014/main" id="{790EA25C-469E-216B-4DBD-5E2E90FD0EAB}"/>
              </a:ext>
            </a:extLst>
          </p:cNvPr>
          <p:cNvSpPr txBox="1"/>
          <p:nvPr/>
        </p:nvSpPr>
        <p:spPr>
          <a:xfrm>
            <a:off x="4397425" y="5968679"/>
            <a:ext cx="3297762" cy="369332"/>
          </a:xfrm>
          <a:prstGeom prst="rect">
            <a:avLst/>
          </a:prstGeom>
          <a:noFill/>
        </p:spPr>
        <p:txBody>
          <a:bodyPr wrap="square">
            <a:spAutoFit/>
          </a:bodyPr>
          <a:lstStyle/>
          <a:p>
            <a:pPr algn="ctr"/>
            <a:r>
              <a:rPr lang="zh-CN" altLang="en-US" sz="1800" dirty="0">
                <a:effectLst/>
                <a:ea typeface="黑体" panose="02010609060101010101" pitchFamily="49" charset="-122"/>
                <a:cs typeface="Times New Roman" panose="02020603050405020304" pitchFamily="18" charset="0"/>
              </a:rPr>
              <a:t>图</a:t>
            </a:r>
            <a:r>
              <a:rPr lang="en-US" altLang="zh-CN" sz="1800" dirty="0">
                <a:effectLst/>
                <a:ea typeface="黑体" panose="02010609060101010101" pitchFamily="49" charset="-122"/>
                <a:cs typeface="Times New Roman" panose="02020603050405020304" pitchFamily="18" charset="0"/>
              </a:rPr>
              <a:t>8-10 </a:t>
            </a:r>
            <a:r>
              <a:rPr lang="zh-CN" altLang="en-US" sz="1800" dirty="0">
                <a:effectLst/>
                <a:ea typeface="黑体" panose="02010609060101010101" pitchFamily="49" charset="-122"/>
                <a:cs typeface="Times New Roman" panose="02020603050405020304" pitchFamily="18" charset="0"/>
              </a:rPr>
              <a:t>约束</a:t>
            </a:r>
            <a:r>
              <a:rPr lang="en-US" altLang="zh-CN" sz="1800" dirty="0">
                <a:effectLst/>
                <a:ea typeface="黑体" panose="02010609060101010101" pitchFamily="49" charset="-122"/>
                <a:cs typeface="Times New Roman" panose="02020603050405020304" pitchFamily="18" charset="0"/>
              </a:rPr>
              <a:t>2</a:t>
            </a:r>
            <a:r>
              <a:rPr lang="zh-CN" altLang="en-US" sz="1800" dirty="0">
                <a:effectLst/>
                <a:ea typeface="黑体" panose="02010609060101010101" pitchFamily="49" charset="-122"/>
                <a:cs typeface="Times New Roman" panose="02020603050405020304" pitchFamily="18" charset="0"/>
              </a:rPr>
              <a:t>参考</a:t>
            </a:r>
            <a:endParaRPr lang="zh-CN" altLang="en-US" dirty="0"/>
          </a:p>
        </p:txBody>
      </p:sp>
      <p:pic>
        <p:nvPicPr>
          <p:cNvPr id="2" name="图片 1">
            <a:extLst>
              <a:ext uri="{FF2B5EF4-FFF2-40B4-BE49-F238E27FC236}">
                <a16:creationId xmlns:a16="http://schemas.microsoft.com/office/drawing/2014/main" id="{1124F4F2-57F0-5911-2CF2-EB312E9AB85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631542" y="2548221"/>
            <a:ext cx="4928917" cy="3194853"/>
          </a:xfrm>
          <a:prstGeom prst="rect">
            <a:avLst/>
          </a:prstGeom>
        </p:spPr>
      </p:pic>
    </p:spTree>
    <p:extLst>
      <p:ext uri="{BB962C8B-B14F-4D97-AF65-F5344CB8AC3E}">
        <p14:creationId xmlns:p14="http://schemas.microsoft.com/office/powerpoint/2010/main" val="24232206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3" y="418055"/>
            <a:ext cx="11178206" cy="1816908"/>
          </a:xfrm>
          <a:prstGeom prst="rect">
            <a:avLst/>
          </a:prstGeom>
          <a:noFill/>
        </p:spPr>
        <p:txBody>
          <a:bodyPr wrap="square" rtlCol="0">
            <a:spAutoFit/>
          </a:bodyPr>
          <a:lstStyle/>
          <a:p>
            <a:pPr indent="457200">
              <a:lnSpc>
                <a:spcPct val="150000"/>
              </a:lnSpc>
            </a:pPr>
            <a:r>
              <a:rPr lang="en-US" altLang="zh-CN" sz="2600" dirty="0">
                <a:latin typeface="Times New Roman" pitchFamily="18" charset="0"/>
                <a:ea typeface="宋体" pitchFamily="2" charset="-122"/>
              </a:rPr>
              <a:t>4</a:t>
            </a:r>
            <a:r>
              <a:rPr lang="zh-CN" altLang="en-US" sz="2600" dirty="0">
                <a:latin typeface="Times New Roman" pitchFamily="18" charset="0"/>
                <a:ea typeface="宋体" pitchFamily="2" charset="-122"/>
              </a:rPr>
              <a:t>）添加约束关系</a:t>
            </a:r>
            <a:r>
              <a:rPr lang="en-US" altLang="zh-CN" sz="2600" dirty="0">
                <a:latin typeface="Times New Roman" pitchFamily="18" charset="0"/>
                <a:ea typeface="宋体" pitchFamily="2" charset="-122"/>
              </a:rPr>
              <a:t>3</a:t>
            </a:r>
            <a:r>
              <a:rPr lang="zh-CN" altLang="en-US" sz="2600" dirty="0">
                <a:latin typeface="Times New Roman" pitchFamily="18" charset="0"/>
                <a:ea typeface="宋体" pitchFamily="2" charset="-122"/>
              </a:rPr>
              <a:t>。单击</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放置</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下滑面板中的</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新建约束</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，依次选中如图</a:t>
            </a:r>
            <a:r>
              <a:rPr lang="en-US" altLang="zh-CN" sz="2600" dirty="0">
                <a:latin typeface="Times New Roman" pitchFamily="18" charset="0"/>
                <a:ea typeface="宋体" pitchFamily="2" charset="-122"/>
              </a:rPr>
              <a:t>8-11</a:t>
            </a:r>
            <a:r>
              <a:rPr lang="zh-CN" altLang="en-US" sz="2600" dirty="0">
                <a:latin typeface="Times New Roman" pitchFamily="18" charset="0"/>
                <a:ea typeface="宋体" pitchFamily="2" charset="-122"/>
              </a:rPr>
              <a:t>所示下轴瓦的中心轴和轴承座的中心轴，在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放置</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下滑面板中将</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约束类型</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改为</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重合</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a:t>
            </a:r>
          </a:p>
        </p:txBody>
      </p:sp>
      <p:sp>
        <p:nvSpPr>
          <p:cNvPr id="7" name="文本框 6">
            <a:extLst>
              <a:ext uri="{FF2B5EF4-FFF2-40B4-BE49-F238E27FC236}">
                <a16:creationId xmlns:a16="http://schemas.microsoft.com/office/drawing/2014/main" id="{790EA25C-469E-216B-4DBD-5E2E90FD0EAB}"/>
              </a:ext>
            </a:extLst>
          </p:cNvPr>
          <p:cNvSpPr txBox="1"/>
          <p:nvPr/>
        </p:nvSpPr>
        <p:spPr>
          <a:xfrm>
            <a:off x="4397425" y="5968679"/>
            <a:ext cx="3297762" cy="369332"/>
          </a:xfrm>
          <a:prstGeom prst="rect">
            <a:avLst/>
          </a:prstGeom>
          <a:noFill/>
        </p:spPr>
        <p:txBody>
          <a:bodyPr wrap="square">
            <a:spAutoFit/>
          </a:bodyPr>
          <a:lstStyle/>
          <a:p>
            <a:pPr algn="ctr"/>
            <a:r>
              <a:rPr lang="zh-CN" altLang="en-US" sz="1800" dirty="0">
                <a:effectLst/>
                <a:ea typeface="黑体" panose="02010609060101010101" pitchFamily="49" charset="-122"/>
                <a:cs typeface="Times New Roman" panose="02020603050405020304" pitchFamily="18" charset="0"/>
              </a:rPr>
              <a:t>图</a:t>
            </a:r>
            <a:r>
              <a:rPr lang="en-US" altLang="zh-CN" sz="1800" dirty="0">
                <a:effectLst/>
                <a:ea typeface="黑体" panose="02010609060101010101" pitchFamily="49" charset="-122"/>
                <a:cs typeface="Times New Roman" panose="02020603050405020304" pitchFamily="18" charset="0"/>
              </a:rPr>
              <a:t>8-11 </a:t>
            </a:r>
            <a:r>
              <a:rPr lang="zh-CN" altLang="en-US" sz="1800" dirty="0">
                <a:effectLst/>
                <a:ea typeface="黑体" panose="02010609060101010101" pitchFamily="49" charset="-122"/>
                <a:cs typeface="Times New Roman" panose="02020603050405020304" pitchFamily="18" charset="0"/>
              </a:rPr>
              <a:t>约束</a:t>
            </a:r>
            <a:r>
              <a:rPr lang="en-US" altLang="zh-CN" sz="1800" dirty="0">
                <a:effectLst/>
                <a:ea typeface="黑体" panose="02010609060101010101" pitchFamily="49" charset="-122"/>
                <a:cs typeface="Times New Roman" panose="02020603050405020304" pitchFamily="18" charset="0"/>
              </a:rPr>
              <a:t>3</a:t>
            </a:r>
            <a:r>
              <a:rPr lang="zh-CN" altLang="en-US" sz="1800" dirty="0">
                <a:effectLst/>
                <a:ea typeface="黑体" panose="02010609060101010101" pitchFamily="49" charset="-122"/>
                <a:cs typeface="Times New Roman" panose="02020603050405020304" pitchFamily="18" charset="0"/>
              </a:rPr>
              <a:t>参考</a:t>
            </a:r>
            <a:endParaRPr lang="zh-CN" altLang="en-US" dirty="0"/>
          </a:p>
        </p:txBody>
      </p:sp>
      <p:pic>
        <p:nvPicPr>
          <p:cNvPr id="4" name="图片 3">
            <a:extLst>
              <a:ext uri="{FF2B5EF4-FFF2-40B4-BE49-F238E27FC236}">
                <a16:creationId xmlns:a16="http://schemas.microsoft.com/office/drawing/2014/main" id="{2B3397AC-F2F4-48E6-A989-0334990AF4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28685" y="2613660"/>
            <a:ext cx="4934631" cy="3193582"/>
          </a:xfrm>
          <a:prstGeom prst="rect">
            <a:avLst/>
          </a:prstGeom>
        </p:spPr>
      </p:pic>
    </p:spTree>
    <p:extLst>
      <p:ext uri="{BB962C8B-B14F-4D97-AF65-F5344CB8AC3E}">
        <p14:creationId xmlns:p14="http://schemas.microsoft.com/office/powerpoint/2010/main" val="26125484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3" y="466181"/>
            <a:ext cx="11178206" cy="1216743"/>
          </a:xfrm>
          <a:prstGeom prst="rect">
            <a:avLst/>
          </a:prstGeom>
          <a:noFill/>
        </p:spPr>
        <p:txBody>
          <a:bodyPr wrap="square" rtlCol="0">
            <a:spAutoFit/>
          </a:bodyPr>
          <a:lstStyle/>
          <a:p>
            <a:pPr indent="457200">
              <a:lnSpc>
                <a:spcPct val="150000"/>
              </a:lnSpc>
            </a:pPr>
            <a:r>
              <a:rPr lang="en-US" altLang="zh-CN" sz="2600" dirty="0">
                <a:latin typeface="Times New Roman" pitchFamily="18" charset="0"/>
                <a:ea typeface="宋体" pitchFamily="2" charset="-122"/>
              </a:rPr>
              <a:t>5</a:t>
            </a:r>
            <a:r>
              <a:rPr lang="zh-CN" altLang="en-US" sz="2600" dirty="0">
                <a:latin typeface="Times New Roman" pitchFamily="18" charset="0"/>
                <a:ea typeface="宋体" pitchFamily="2" charset="-122"/>
              </a:rPr>
              <a:t>）单击</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元件放置</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操控板上的“确定”按钮，完成下轴瓦的装配，结果如图</a:t>
            </a:r>
            <a:r>
              <a:rPr lang="en-US" altLang="zh-CN" sz="2600" dirty="0">
                <a:latin typeface="Times New Roman" pitchFamily="18" charset="0"/>
                <a:ea typeface="宋体" pitchFamily="2" charset="-122"/>
              </a:rPr>
              <a:t>8-12</a:t>
            </a:r>
            <a:r>
              <a:rPr lang="zh-CN" altLang="en-US" sz="2600" dirty="0">
                <a:latin typeface="Times New Roman" pitchFamily="18" charset="0"/>
                <a:ea typeface="宋体" pitchFamily="2" charset="-122"/>
              </a:rPr>
              <a:t>所示。</a:t>
            </a:r>
          </a:p>
        </p:txBody>
      </p:sp>
      <p:sp>
        <p:nvSpPr>
          <p:cNvPr id="7" name="文本框 6">
            <a:extLst>
              <a:ext uri="{FF2B5EF4-FFF2-40B4-BE49-F238E27FC236}">
                <a16:creationId xmlns:a16="http://schemas.microsoft.com/office/drawing/2014/main" id="{790EA25C-469E-216B-4DBD-5E2E90FD0EAB}"/>
              </a:ext>
            </a:extLst>
          </p:cNvPr>
          <p:cNvSpPr txBox="1"/>
          <p:nvPr/>
        </p:nvSpPr>
        <p:spPr>
          <a:xfrm>
            <a:off x="4397425" y="5968679"/>
            <a:ext cx="3297762" cy="369332"/>
          </a:xfrm>
          <a:prstGeom prst="rect">
            <a:avLst/>
          </a:prstGeom>
          <a:noFill/>
        </p:spPr>
        <p:txBody>
          <a:bodyPr wrap="square">
            <a:spAutoFit/>
          </a:bodyPr>
          <a:lstStyle/>
          <a:p>
            <a:pPr algn="ctr"/>
            <a:r>
              <a:rPr lang="zh-CN" altLang="en-US" sz="1800" dirty="0">
                <a:effectLst/>
                <a:ea typeface="黑体" panose="02010609060101010101" pitchFamily="49" charset="-122"/>
                <a:cs typeface="Times New Roman" panose="02020603050405020304" pitchFamily="18" charset="0"/>
              </a:rPr>
              <a:t>图</a:t>
            </a:r>
            <a:r>
              <a:rPr lang="en-US" altLang="zh-CN" sz="1800" dirty="0">
                <a:effectLst/>
                <a:ea typeface="黑体" panose="02010609060101010101" pitchFamily="49" charset="-122"/>
                <a:cs typeface="Times New Roman" panose="02020603050405020304" pitchFamily="18" charset="0"/>
              </a:rPr>
              <a:t>8-12 </a:t>
            </a:r>
            <a:r>
              <a:rPr lang="zh-CN" altLang="en-US" sz="1800" dirty="0">
                <a:effectLst/>
                <a:ea typeface="黑体" panose="02010609060101010101" pitchFamily="49" charset="-122"/>
                <a:cs typeface="Times New Roman" panose="02020603050405020304" pitchFamily="18" charset="0"/>
              </a:rPr>
              <a:t>下轴瓦装配效果</a:t>
            </a:r>
            <a:endParaRPr lang="zh-CN" altLang="en-US" dirty="0"/>
          </a:p>
        </p:txBody>
      </p:sp>
      <p:pic>
        <p:nvPicPr>
          <p:cNvPr id="2" name="图片 1">
            <a:extLst>
              <a:ext uri="{FF2B5EF4-FFF2-40B4-BE49-F238E27FC236}">
                <a16:creationId xmlns:a16="http://schemas.microsoft.com/office/drawing/2014/main" id="{A1765C0E-B4DC-163A-FAE9-E1FBF2244A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06040" y="1907512"/>
            <a:ext cx="6579920" cy="3787434"/>
          </a:xfrm>
          <a:prstGeom prst="rect">
            <a:avLst/>
          </a:prstGeom>
        </p:spPr>
      </p:pic>
    </p:spTree>
    <p:extLst>
      <p:ext uri="{BB962C8B-B14F-4D97-AF65-F5344CB8AC3E}">
        <p14:creationId xmlns:p14="http://schemas.microsoft.com/office/powerpoint/2010/main" val="19892218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3" y="466181"/>
            <a:ext cx="11178206" cy="3017236"/>
          </a:xfrm>
          <a:prstGeom prst="rect">
            <a:avLst/>
          </a:prstGeom>
          <a:noFill/>
        </p:spPr>
        <p:txBody>
          <a:bodyPr wrap="square" rtlCol="0">
            <a:spAutoFit/>
          </a:bodyPr>
          <a:lstStyle/>
          <a:p>
            <a:pPr indent="457200">
              <a:lnSpc>
                <a:spcPct val="150000"/>
              </a:lnSpc>
            </a:pPr>
            <a:r>
              <a:rPr lang="en-US" altLang="zh-CN" sz="2600" b="1" dirty="0">
                <a:latin typeface="Times New Roman" pitchFamily="18" charset="0"/>
                <a:ea typeface="宋体" pitchFamily="2" charset="-122"/>
              </a:rPr>
              <a:t>4</a:t>
            </a:r>
            <a:r>
              <a:rPr lang="zh-CN" altLang="en-US" sz="2600" b="1" dirty="0">
                <a:latin typeface="Times New Roman" pitchFamily="18" charset="0"/>
                <a:ea typeface="宋体" pitchFamily="2" charset="-122"/>
              </a:rPr>
              <a:t>．装配上轴瓦</a:t>
            </a:r>
          </a:p>
          <a:p>
            <a:pPr indent="457200">
              <a:lnSpc>
                <a:spcPct val="150000"/>
              </a:lnSpc>
            </a:pPr>
            <a:r>
              <a:rPr lang="en-US" altLang="zh-CN" sz="2600" dirty="0">
                <a:latin typeface="Times New Roman" pitchFamily="18" charset="0"/>
                <a:ea typeface="宋体" pitchFamily="2" charset="-122"/>
              </a:rPr>
              <a:t>1</a:t>
            </a:r>
            <a:r>
              <a:rPr lang="zh-CN" altLang="en-US" sz="2600" dirty="0">
                <a:latin typeface="Times New Roman" pitchFamily="18" charset="0"/>
                <a:ea typeface="宋体" pitchFamily="2" charset="-122"/>
              </a:rPr>
              <a:t>）调入模型。单击</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模型</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元件</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区域中的“组装”按钮     ，调入“上轴瓦</a:t>
            </a:r>
            <a:r>
              <a:rPr lang="en-US" altLang="zh-CN" sz="2600" dirty="0">
                <a:latin typeface="Times New Roman" pitchFamily="18" charset="0"/>
                <a:ea typeface="宋体" pitchFamily="2" charset="-122"/>
              </a:rPr>
              <a:t>.</a:t>
            </a:r>
            <a:r>
              <a:rPr lang="en-US" altLang="zh-CN" sz="2600" dirty="0" err="1">
                <a:latin typeface="Times New Roman" pitchFamily="18" charset="0"/>
                <a:ea typeface="宋体" pitchFamily="2" charset="-122"/>
              </a:rPr>
              <a:t>prt</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a:t>
            </a:r>
          </a:p>
          <a:p>
            <a:pPr indent="457200">
              <a:lnSpc>
                <a:spcPct val="150000"/>
              </a:lnSpc>
            </a:pPr>
            <a:r>
              <a:rPr lang="en-US" altLang="zh-CN" sz="2600" dirty="0">
                <a:latin typeface="Times New Roman" pitchFamily="18" charset="0"/>
                <a:ea typeface="宋体" pitchFamily="2" charset="-122"/>
              </a:rPr>
              <a:t>2</a:t>
            </a:r>
            <a:r>
              <a:rPr lang="zh-CN" altLang="en-US" sz="2600" dirty="0">
                <a:latin typeface="Times New Roman" pitchFamily="18" charset="0"/>
                <a:ea typeface="宋体" pitchFamily="2" charset="-122"/>
              </a:rPr>
              <a:t>）添加约束关系</a:t>
            </a:r>
            <a:r>
              <a:rPr lang="en-US" altLang="zh-CN" sz="2600" dirty="0">
                <a:latin typeface="Times New Roman" pitchFamily="18" charset="0"/>
                <a:ea typeface="宋体" pitchFamily="2" charset="-122"/>
              </a:rPr>
              <a:t>1</a:t>
            </a:r>
            <a:r>
              <a:rPr lang="zh-CN" altLang="en-US" sz="2600" dirty="0">
                <a:latin typeface="Times New Roman" pitchFamily="18" charset="0"/>
                <a:ea typeface="宋体" pitchFamily="2" charset="-122"/>
              </a:rPr>
              <a:t>。依次选中如图</a:t>
            </a:r>
            <a:r>
              <a:rPr lang="en-US" altLang="zh-CN" sz="2600" dirty="0">
                <a:latin typeface="Times New Roman" pitchFamily="18" charset="0"/>
                <a:ea typeface="宋体" pitchFamily="2" charset="-122"/>
              </a:rPr>
              <a:t>8-13</a:t>
            </a:r>
            <a:r>
              <a:rPr lang="zh-CN" altLang="en-US" sz="2600" dirty="0">
                <a:latin typeface="Times New Roman" pitchFamily="18" charset="0"/>
                <a:ea typeface="宋体" pitchFamily="2" charset="-122"/>
              </a:rPr>
              <a:t>所示上轴瓦的外侧端面和下轴瓦外侧端面，在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放置</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下滑面板中将</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约束类型</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改为“重合”。</a:t>
            </a:r>
          </a:p>
        </p:txBody>
      </p:sp>
      <p:sp>
        <p:nvSpPr>
          <p:cNvPr id="7" name="文本框 6">
            <a:extLst>
              <a:ext uri="{FF2B5EF4-FFF2-40B4-BE49-F238E27FC236}">
                <a16:creationId xmlns:a16="http://schemas.microsoft.com/office/drawing/2014/main" id="{790EA25C-469E-216B-4DBD-5E2E90FD0EAB}"/>
              </a:ext>
            </a:extLst>
          </p:cNvPr>
          <p:cNvSpPr txBox="1"/>
          <p:nvPr/>
        </p:nvSpPr>
        <p:spPr>
          <a:xfrm>
            <a:off x="4397425" y="6016805"/>
            <a:ext cx="3297762" cy="369332"/>
          </a:xfrm>
          <a:prstGeom prst="rect">
            <a:avLst/>
          </a:prstGeom>
          <a:noFill/>
        </p:spPr>
        <p:txBody>
          <a:bodyPr wrap="square">
            <a:spAutoFit/>
          </a:bodyPr>
          <a:lstStyle/>
          <a:p>
            <a:pPr algn="ctr"/>
            <a:r>
              <a:rPr lang="zh-CN" altLang="en-US" sz="1800" dirty="0">
                <a:effectLst/>
                <a:ea typeface="黑体" panose="02010609060101010101" pitchFamily="49" charset="-122"/>
                <a:cs typeface="Times New Roman" panose="02020603050405020304" pitchFamily="18" charset="0"/>
              </a:rPr>
              <a:t>图</a:t>
            </a:r>
            <a:r>
              <a:rPr lang="en-US" altLang="zh-CN" sz="1800" dirty="0">
                <a:effectLst/>
                <a:ea typeface="黑体" panose="02010609060101010101" pitchFamily="49" charset="-122"/>
                <a:cs typeface="Times New Roman" panose="02020603050405020304" pitchFamily="18" charset="0"/>
              </a:rPr>
              <a:t>8-13 </a:t>
            </a:r>
            <a:r>
              <a:rPr lang="zh-CN" altLang="en-US" sz="1800" dirty="0">
                <a:effectLst/>
                <a:ea typeface="黑体" panose="02010609060101010101" pitchFamily="49" charset="-122"/>
                <a:cs typeface="Times New Roman" panose="02020603050405020304" pitchFamily="18" charset="0"/>
              </a:rPr>
              <a:t>约束</a:t>
            </a:r>
            <a:r>
              <a:rPr lang="en-US" altLang="zh-CN" sz="1800" dirty="0">
                <a:effectLst/>
                <a:ea typeface="黑体" panose="02010609060101010101" pitchFamily="49" charset="-122"/>
                <a:cs typeface="Times New Roman" panose="02020603050405020304" pitchFamily="18" charset="0"/>
              </a:rPr>
              <a:t>1</a:t>
            </a:r>
            <a:r>
              <a:rPr lang="zh-CN" altLang="en-US" sz="1800" dirty="0">
                <a:effectLst/>
                <a:ea typeface="黑体" panose="02010609060101010101" pitchFamily="49" charset="-122"/>
                <a:cs typeface="Times New Roman" panose="02020603050405020304" pitchFamily="18" charset="0"/>
              </a:rPr>
              <a:t>参考</a:t>
            </a:r>
            <a:endParaRPr lang="zh-CN" altLang="en-US" dirty="0"/>
          </a:p>
        </p:txBody>
      </p:sp>
      <p:pic>
        <p:nvPicPr>
          <p:cNvPr id="4" name="图片 3">
            <a:extLst>
              <a:ext uri="{FF2B5EF4-FFF2-40B4-BE49-F238E27FC236}">
                <a16:creationId xmlns:a16="http://schemas.microsoft.com/office/drawing/2014/main" id="{615B6653-CBBE-86BD-5631-0008795B48B3}"/>
              </a:ext>
            </a:extLst>
          </p:cNvPr>
          <p:cNvPicPr>
            <a:picLocks noChangeAspect="1"/>
          </p:cNvPicPr>
          <p:nvPr/>
        </p:nvPicPr>
        <p:blipFill>
          <a:blip r:embed="rId2"/>
          <a:stretch>
            <a:fillRect/>
          </a:stretch>
        </p:blipFill>
        <p:spPr>
          <a:xfrm>
            <a:off x="10804642" y="1248276"/>
            <a:ext cx="314325" cy="342900"/>
          </a:xfrm>
          <a:prstGeom prst="rect">
            <a:avLst/>
          </a:prstGeom>
        </p:spPr>
      </p:pic>
      <p:pic>
        <p:nvPicPr>
          <p:cNvPr id="5" name="图片 4">
            <a:extLst>
              <a:ext uri="{FF2B5EF4-FFF2-40B4-BE49-F238E27FC236}">
                <a16:creationId xmlns:a16="http://schemas.microsoft.com/office/drawing/2014/main" id="{275A03D0-13C2-3F61-5568-41A96F089E7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47836" y="3429000"/>
            <a:ext cx="4496329" cy="2539679"/>
          </a:xfrm>
          <a:prstGeom prst="rect">
            <a:avLst/>
          </a:prstGeom>
        </p:spPr>
      </p:pic>
    </p:spTree>
    <p:extLst>
      <p:ext uri="{BB962C8B-B14F-4D97-AF65-F5344CB8AC3E}">
        <p14:creationId xmlns:p14="http://schemas.microsoft.com/office/powerpoint/2010/main" val="38256884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3" y="466181"/>
            <a:ext cx="11178206" cy="1816908"/>
          </a:xfrm>
          <a:prstGeom prst="rect">
            <a:avLst/>
          </a:prstGeom>
          <a:noFill/>
        </p:spPr>
        <p:txBody>
          <a:bodyPr wrap="square" rtlCol="0">
            <a:spAutoFit/>
          </a:bodyPr>
          <a:lstStyle/>
          <a:p>
            <a:pPr indent="457200">
              <a:lnSpc>
                <a:spcPct val="150000"/>
              </a:lnSpc>
            </a:pPr>
            <a:r>
              <a:rPr lang="en-US" altLang="zh-CN" sz="2600" dirty="0">
                <a:latin typeface="Times New Roman" pitchFamily="18" charset="0"/>
                <a:ea typeface="宋体" pitchFamily="2" charset="-122"/>
              </a:rPr>
              <a:t>3</a:t>
            </a:r>
            <a:r>
              <a:rPr lang="zh-CN" altLang="en-US" sz="2600" dirty="0">
                <a:latin typeface="Times New Roman" pitchFamily="18" charset="0"/>
                <a:ea typeface="宋体" pitchFamily="2" charset="-122"/>
              </a:rPr>
              <a:t>）添加约束关系</a:t>
            </a:r>
            <a:r>
              <a:rPr lang="en-US" altLang="zh-CN" sz="2600" dirty="0">
                <a:latin typeface="Times New Roman" pitchFamily="18" charset="0"/>
                <a:ea typeface="宋体" pitchFamily="2" charset="-122"/>
              </a:rPr>
              <a:t>2</a:t>
            </a:r>
            <a:r>
              <a:rPr lang="zh-CN" altLang="en-US" sz="2600" dirty="0">
                <a:latin typeface="Times New Roman" pitchFamily="18" charset="0"/>
                <a:ea typeface="宋体" pitchFamily="2" charset="-122"/>
              </a:rPr>
              <a:t>。单击</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放置</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下滑面板中的</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新建约束</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，依次选中如图</a:t>
            </a:r>
            <a:r>
              <a:rPr lang="en-US" altLang="zh-CN" sz="2600" dirty="0">
                <a:latin typeface="Times New Roman" pitchFamily="18" charset="0"/>
                <a:ea typeface="宋体" pitchFamily="2" charset="-122"/>
              </a:rPr>
              <a:t>8-14</a:t>
            </a:r>
            <a:r>
              <a:rPr lang="zh-CN" altLang="en-US" sz="2600" dirty="0">
                <a:latin typeface="Times New Roman" pitchFamily="18" charset="0"/>
                <a:ea typeface="宋体" pitchFamily="2" charset="-122"/>
              </a:rPr>
              <a:t>所示上轴瓦和下轴瓦对应的一对平面，在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放置</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下滑面板中将</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约束类型</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改为“重合”，然后单击“反向”按钮以调整装配方向。</a:t>
            </a:r>
          </a:p>
        </p:txBody>
      </p:sp>
      <p:sp>
        <p:nvSpPr>
          <p:cNvPr id="7" name="文本框 6">
            <a:extLst>
              <a:ext uri="{FF2B5EF4-FFF2-40B4-BE49-F238E27FC236}">
                <a16:creationId xmlns:a16="http://schemas.microsoft.com/office/drawing/2014/main" id="{790EA25C-469E-216B-4DBD-5E2E90FD0EAB}"/>
              </a:ext>
            </a:extLst>
          </p:cNvPr>
          <p:cNvSpPr txBox="1"/>
          <p:nvPr/>
        </p:nvSpPr>
        <p:spPr>
          <a:xfrm>
            <a:off x="4397425" y="6016805"/>
            <a:ext cx="3297762" cy="369332"/>
          </a:xfrm>
          <a:prstGeom prst="rect">
            <a:avLst/>
          </a:prstGeom>
          <a:noFill/>
        </p:spPr>
        <p:txBody>
          <a:bodyPr wrap="square">
            <a:spAutoFit/>
          </a:bodyPr>
          <a:lstStyle/>
          <a:p>
            <a:pPr algn="ctr"/>
            <a:r>
              <a:rPr lang="zh-CN" altLang="en-US" sz="1800" dirty="0">
                <a:effectLst/>
                <a:ea typeface="黑体" panose="02010609060101010101" pitchFamily="49" charset="-122"/>
                <a:cs typeface="Times New Roman" panose="02020603050405020304" pitchFamily="18" charset="0"/>
              </a:rPr>
              <a:t>图</a:t>
            </a:r>
            <a:r>
              <a:rPr lang="en-US" altLang="zh-CN" sz="1800" dirty="0">
                <a:effectLst/>
                <a:ea typeface="黑体" panose="02010609060101010101" pitchFamily="49" charset="-122"/>
                <a:cs typeface="Times New Roman" panose="02020603050405020304" pitchFamily="18" charset="0"/>
              </a:rPr>
              <a:t>8-14</a:t>
            </a:r>
            <a:r>
              <a:rPr lang="zh-CN" altLang="en-US" sz="1800" dirty="0">
                <a:effectLst/>
                <a:ea typeface="黑体" panose="02010609060101010101" pitchFamily="49" charset="-122"/>
                <a:cs typeface="Times New Roman" panose="02020603050405020304" pitchFamily="18" charset="0"/>
              </a:rPr>
              <a:t>约束</a:t>
            </a:r>
            <a:r>
              <a:rPr lang="en-US" altLang="zh-CN" sz="1800" dirty="0">
                <a:effectLst/>
                <a:ea typeface="黑体" panose="02010609060101010101" pitchFamily="49" charset="-122"/>
                <a:cs typeface="Times New Roman" panose="02020603050405020304" pitchFamily="18" charset="0"/>
              </a:rPr>
              <a:t>2</a:t>
            </a:r>
            <a:r>
              <a:rPr lang="zh-CN" altLang="en-US" sz="1800" dirty="0">
                <a:effectLst/>
                <a:ea typeface="黑体" panose="02010609060101010101" pitchFamily="49" charset="-122"/>
                <a:cs typeface="Times New Roman" panose="02020603050405020304" pitchFamily="18" charset="0"/>
              </a:rPr>
              <a:t>参考</a:t>
            </a:r>
            <a:endParaRPr lang="zh-CN" altLang="en-US" dirty="0"/>
          </a:p>
        </p:txBody>
      </p:sp>
      <p:pic>
        <p:nvPicPr>
          <p:cNvPr id="2" name="图片 1">
            <a:extLst>
              <a:ext uri="{FF2B5EF4-FFF2-40B4-BE49-F238E27FC236}">
                <a16:creationId xmlns:a16="http://schemas.microsoft.com/office/drawing/2014/main" id="{5965CF59-CB70-E89D-E66B-0BF1CD6A06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90853" y="2407555"/>
            <a:ext cx="5810295" cy="3303434"/>
          </a:xfrm>
          <a:prstGeom prst="rect">
            <a:avLst/>
          </a:prstGeom>
        </p:spPr>
      </p:pic>
    </p:spTree>
    <p:extLst>
      <p:ext uri="{BB962C8B-B14F-4D97-AF65-F5344CB8AC3E}">
        <p14:creationId xmlns:p14="http://schemas.microsoft.com/office/powerpoint/2010/main" val="35903335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3" y="466181"/>
            <a:ext cx="11178206" cy="1816908"/>
          </a:xfrm>
          <a:prstGeom prst="rect">
            <a:avLst/>
          </a:prstGeom>
          <a:noFill/>
        </p:spPr>
        <p:txBody>
          <a:bodyPr wrap="square" rtlCol="0">
            <a:spAutoFit/>
          </a:bodyPr>
          <a:lstStyle/>
          <a:p>
            <a:pPr indent="457200">
              <a:lnSpc>
                <a:spcPct val="150000"/>
              </a:lnSpc>
            </a:pPr>
            <a:r>
              <a:rPr lang="en-US" altLang="zh-CN" sz="2600" dirty="0">
                <a:latin typeface="Times New Roman" pitchFamily="18" charset="0"/>
                <a:ea typeface="宋体" pitchFamily="2" charset="-122"/>
              </a:rPr>
              <a:t>4</a:t>
            </a:r>
            <a:r>
              <a:rPr lang="zh-CN" altLang="en-US" sz="2600" dirty="0">
                <a:latin typeface="Times New Roman" pitchFamily="18" charset="0"/>
                <a:ea typeface="宋体" pitchFamily="2" charset="-122"/>
              </a:rPr>
              <a:t>）添加约束关系</a:t>
            </a:r>
            <a:r>
              <a:rPr lang="en-US" altLang="zh-CN" sz="2600" dirty="0">
                <a:latin typeface="Times New Roman" pitchFamily="18" charset="0"/>
                <a:ea typeface="宋体" pitchFamily="2" charset="-122"/>
              </a:rPr>
              <a:t>3</a:t>
            </a:r>
            <a:r>
              <a:rPr lang="zh-CN" altLang="en-US" sz="2600" dirty="0">
                <a:latin typeface="Times New Roman" pitchFamily="18" charset="0"/>
                <a:ea typeface="宋体" pitchFamily="2" charset="-122"/>
              </a:rPr>
              <a:t>。单击</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放置</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下滑面板中的</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新建约束</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，依次选中如图</a:t>
            </a:r>
            <a:r>
              <a:rPr lang="en-US" altLang="zh-CN" sz="2600" dirty="0">
                <a:latin typeface="Times New Roman" pitchFamily="18" charset="0"/>
                <a:ea typeface="宋体" pitchFamily="2" charset="-122"/>
              </a:rPr>
              <a:t>8-15</a:t>
            </a:r>
            <a:r>
              <a:rPr lang="zh-CN" altLang="en-US" sz="2600" dirty="0">
                <a:latin typeface="Times New Roman" pitchFamily="18" charset="0"/>
                <a:ea typeface="宋体" pitchFamily="2" charset="-122"/>
              </a:rPr>
              <a:t>所示下轴瓦和上轴瓦的中心轴，在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放置</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下滑面板中将</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约束类型</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改为</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重合</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a:t>
            </a:r>
          </a:p>
        </p:txBody>
      </p:sp>
      <p:sp>
        <p:nvSpPr>
          <p:cNvPr id="7" name="文本框 6">
            <a:extLst>
              <a:ext uri="{FF2B5EF4-FFF2-40B4-BE49-F238E27FC236}">
                <a16:creationId xmlns:a16="http://schemas.microsoft.com/office/drawing/2014/main" id="{790EA25C-469E-216B-4DBD-5E2E90FD0EAB}"/>
              </a:ext>
            </a:extLst>
          </p:cNvPr>
          <p:cNvSpPr txBox="1"/>
          <p:nvPr/>
        </p:nvSpPr>
        <p:spPr>
          <a:xfrm>
            <a:off x="4397425" y="5952637"/>
            <a:ext cx="3297762" cy="369332"/>
          </a:xfrm>
          <a:prstGeom prst="rect">
            <a:avLst/>
          </a:prstGeom>
          <a:noFill/>
        </p:spPr>
        <p:txBody>
          <a:bodyPr wrap="square">
            <a:spAutoFit/>
          </a:bodyPr>
          <a:lstStyle/>
          <a:p>
            <a:pPr algn="ctr"/>
            <a:r>
              <a:rPr lang="zh-CN" altLang="en-US" sz="1800" dirty="0">
                <a:effectLst/>
                <a:ea typeface="黑体" panose="02010609060101010101" pitchFamily="49" charset="-122"/>
                <a:cs typeface="Times New Roman" panose="02020603050405020304" pitchFamily="18" charset="0"/>
              </a:rPr>
              <a:t>图</a:t>
            </a:r>
            <a:r>
              <a:rPr lang="en-US" altLang="zh-CN" sz="1800" dirty="0">
                <a:effectLst/>
                <a:ea typeface="黑体" panose="02010609060101010101" pitchFamily="49" charset="-122"/>
                <a:cs typeface="Times New Roman" panose="02020603050405020304" pitchFamily="18" charset="0"/>
              </a:rPr>
              <a:t>8-15 </a:t>
            </a:r>
            <a:r>
              <a:rPr lang="zh-CN" altLang="en-US" sz="1800" dirty="0">
                <a:effectLst/>
                <a:ea typeface="黑体" panose="02010609060101010101" pitchFamily="49" charset="-122"/>
                <a:cs typeface="Times New Roman" panose="02020603050405020304" pitchFamily="18" charset="0"/>
              </a:rPr>
              <a:t>约束</a:t>
            </a:r>
            <a:r>
              <a:rPr lang="en-US" altLang="zh-CN" sz="1800" dirty="0">
                <a:effectLst/>
                <a:ea typeface="黑体" panose="02010609060101010101" pitchFamily="49" charset="-122"/>
                <a:cs typeface="Times New Roman" panose="02020603050405020304" pitchFamily="18" charset="0"/>
              </a:rPr>
              <a:t>3</a:t>
            </a:r>
            <a:r>
              <a:rPr lang="zh-CN" altLang="en-US" sz="1800" dirty="0">
                <a:effectLst/>
                <a:ea typeface="黑体" panose="02010609060101010101" pitchFamily="49" charset="-122"/>
                <a:cs typeface="Times New Roman" panose="02020603050405020304" pitchFamily="18" charset="0"/>
              </a:rPr>
              <a:t>参考</a:t>
            </a:r>
            <a:endParaRPr lang="zh-CN" altLang="en-US" dirty="0"/>
          </a:p>
        </p:txBody>
      </p:sp>
      <p:pic>
        <p:nvPicPr>
          <p:cNvPr id="4" name="图片 3">
            <a:extLst>
              <a:ext uri="{FF2B5EF4-FFF2-40B4-BE49-F238E27FC236}">
                <a16:creationId xmlns:a16="http://schemas.microsoft.com/office/drawing/2014/main" id="{1E0EAB5F-B0D3-11A4-BEA8-5C97E1F6D4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99661" y="2798127"/>
            <a:ext cx="5592679" cy="2800568"/>
          </a:xfrm>
          <a:prstGeom prst="rect">
            <a:avLst/>
          </a:prstGeom>
        </p:spPr>
      </p:pic>
    </p:spTree>
    <p:extLst>
      <p:ext uri="{BB962C8B-B14F-4D97-AF65-F5344CB8AC3E}">
        <p14:creationId xmlns:p14="http://schemas.microsoft.com/office/powerpoint/2010/main" val="849731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3" y="530349"/>
            <a:ext cx="11178206" cy="1216743"/>
          </a:xfrm>
          <a:prstGeom prst="rect">
            <a:avLst/>
          </a:prstGeom>
          <a:noFill/>
        </p:spPr>
        <p:txBody>
          <a:bodyPr wrap="square" rtlCol="0">
            <a:spAutoFit/>
          </a:bodyPr>
          <a:lstStyle/>
          <a:p>
            <a:pPr indent="457200">
              <a:lnSpc>
                <a:spcPct val="150000"/>
              </a:lnSpc>
            </a:pPr>
            <a:r>
              <a:rPr lang="en-US" altLang="zh-CN" sz="2600" dirty="0">
                <a:latin typeface="Times New Roman" pitchFamily="18" charset="0"/>
                <a:ea typeface="宋体" pitchFamily="2" charset="-122"/>
              </a:rPr>
              <a:t>5</a:t>
            </a:r>
            <a:r>
              <a:rPr lang="zh-CN" altLang="en-US" sz="2600" dirty="0">
                <a:latin typeface="Times New Roman" pitchFamily="18" charset="0"/>
                <a:ea typeface="宋体" pitchFamily="2" charset="-122"/>
              </a:rPr>
              <a:t>）单击</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元件放置</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操控板上的“确定”按钮，完成上轴瓦的装配，结果如图</a:t>
            </a:r>
            <a:r>
              <a:rPr lang="en-US" altLang="zh-CN" sz="2600" dirty="0">
                <a:latin typeface="Times New Roman" pitchFamily="18" charset="0"/>
                <a:ea typeface="宋体" pitchFamily="2" charset="-122"/>
              </a:rPr>
              <a:t>8-16</a:t>
            </a:r>
            <a:r>
              <a:rPr lang="zh-CN" altLang="en-US" sz="2600" dirty="0">
                <a:latin typeface="Times New Roman" pitchFamily="18" charset="0"/>
                <a:ea typeface="宋体" pitchFamily="2" charset="-122"/>
              </a:rPr>
              <a:t>所示。</a:t>
            </a:r>
          </a:p>
        </p:txBody>
      </p:sp>
      <p:sp>
        <p:nvSpPr>
          <p:cNvPr id="7" name="文本框 6">
            <a:extLst>
              <a:ext uri="{FF2B5EF4-FFF2-40B4-BE49-F238E27FC236}">
                <a16:creationId xmlns:a16="http://schemas.microsoft.com/office/drawing/2014/main" id="{790EA25C-469E-216B-4DBD-5E2E90FD0EAB}"/>
              </a:ext>
            </a:extLst>
          </p:cNvPr>
          <p:cNvSpPr txBox="1"/>
          <p:nvPr/>
        </p:nvSpPr>
        <p:spPr>
          <a:xfrm>
            <a:off x="4397425" y="5824301"/>
            <a:ext cx="3297762" cy="369332"/>
          </a:xfrm>
          <a:prstGeom prst="rect">
            <a:avLst/>
          </a:prstGeom>
          <a:noFill/>
        </p:spPr>
        <p:txBody>
          <a:bodyPr wrap="square">
            <a:spAutoFit/>
          </a:bodyPr>
          <a:lstStyle/>
          <a:p>
            <a:pPr algn="ctr"/>
            <a:r>
              <a:rPr lang="zh-CN" altLang="en-US" sz="1800" dirty="0">
                <a:effectLst/>
                <a:ea typeface="黑体" panose="02010609060101010101" pitchFamily="49" charset="-122"/>
                <a:cs typeface="Times New Roman" panose="02020603050405020304" pitchFamily="18" charset="0"/>
              </a:rPr>
              <a:t>图</a:t>
            </a:r>
            <a:r>
              <a:rPr lang="en-US" altLang="zh-CN" sz="1800" dirty="0">
                <a:effectLst/>
                <a:ea typeface="黑体" panose="02010609060101010101" pitchFamily="49" charset="-122"/>
                <a:cs typeface="Times New Roman" panose="02020603050405020304" pitchFamily="18" charset="0"/>
              </a:rPr>
              <a:t>8-16</a:t>
            </a:r>
            <a:r>
              <a:rPr lang="zh-CN" altLang="en-US" sz="1800" dirty="0">
                <a:effectLst/>
                <a:ea typeface="黑体" panose="02010609060101010101" pitchFamily="49" charset="-122"/>
                <a:cs typeface="Times New Roman" panose="02020603050405020304" pitchFamily="18" charset="0"/>
              </a:rPr>
              <a:t>上轴瓦装配效果</a:t>
            </a:r>
            <a:endParaRPr lang="zh-CN" altLang="en-US" dirty="0"/>
          </a:p>
        </p:txBody>
      </p:sp>
      <p:pic>
        <p:nvPicPr>
          <p:cNvPr id="2" name="图片 1">
            <a:extLst>
              <a:ext uri="{FF2B5EF4-FFF2-40B4-BE49-F238E27FC236}">
                <a16:creationId xmlns:a16="http://schemas.microsoft.com/office/drawing/2014/main" id="{F87C2E73-8BB5-4F8F-1AB0-D59E507C2E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81859" y="2135353"/>
            <a:ext cx="5828283" cy="3238751"/>
          </a:xfrm>
          <a:prstGeom prst="rect">
            <a:avLst/>
          </a:prstGeom>
        </p:spPr>
      </p:pic>
    </p:spTree>
    <p:extLst>
      <p:ext uri="{BB962C8B-B14F-4D97-AF65-F5344CB8AC3E}">
        <p14:creationId xmlns:p14="http://schemas.microsoft.com/office/powerpoint/2010/main" val="30377336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17954AE0-4FFE-1C8B-E97A-540A77B562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47119" y="3306955"/>
            <a:ext cx="3297762" cy="2797324"/>
          </a:xfrm>
          <a:prstGeom prst="rect">
            <a:avLst/>
          </a:prstGeom>
        </p:spPr>
      </p:pic>
      <p:sp>
        <p:nvSpPr>
          <p:cNvPr id="3" name="TextBox 2"/>
          <p:cNvSpPr txBox="1"/>
          <p:nvPr/>
        </p:nvSpPr>
        <p:spPr>
          <a:xfrm>
            <a:off x="457203" y="353887"/>
            <a:ext cx="11178206" cy="3017236"/>
          </a:xfrm>
          <a:prstGeom prst="rect">
            <a:avLst/>
          </a:prstGeom>
          <a:noFill/>
        </p:spPr>
        <p:txBody>
          <a:bodyPr wrap="square" rtlCol="0">
            <a:spAutoFit/>
          </a:bodyPr>
          <a:lstStyle/>
          <a:p>
            <a:pPr indent="457200">
              <a:lnSpc>
                <a:spcPct val="150000"/>
              </a:lnSpc>
            </a:pPr>
            <a:r>
              <a:rPr lang="en-US" altLang="zh-CN" sz="2600" b="1" dirty="0">
                <a:latin typeface="Times New Roman" pitchFamily="18" charset="0"/>
                <a:ea typeface="宋体" pitchFamily="2" charset="-122"/>
              </a:rPr>
              <a:t>5</a:t>
            </a:r>
            <a:r>
              <a:rPr lang="zh-CN" altLang="en-US" sz="2600" b="1" dirty="0">
                <a:latin typeface="Times New Roman" pitchFamily="18" charset="0"/>
                <a:ea typeface="宋体" pitchFamily="2" charset="-122"/>
              </a:rPr>
              <a:t>．装配轴承盖</a:t>
            </a:r>
            <a:endParaRPr lang="en-US" altLang="zh-CN" sz="2600" b="1" dirty="0">
              <a:latin typeface="Times New Roman" pitchFamily="18" charset="0"/>
              <a:ea typeface="宋体" pitchFamily="2" charset="-122"/>
            </a:endParaRPr>
          </a:p>
          <a:p>
            <a:pPr indent="457200">
              <a:lnSpc>
                <a:spcPct val="150000"/>
              </a:lnSpc>
            </a:pPr>
            <a:r>
              <a:rPr lang="en-US" altLang="zh-CN" sz="2600" dirty="0">
                <a:latin typeface="Times New Roman" pitchFamily="18" charset="0"/>
                <a:ea typeface="宋体" pitchFamily="2" charset="-122"/>
              </a:rPr>
              <a:t>1</a:t>
            </a:r>
            <a:r>
              <a:rPr lang="zh-CN" altLang="en-US" sz="2600" dirty="0">
                <a:latin typeface="Times New Roman" pitchFamily="18" charset="0"/>
                <a:ea typeface="宋体" pitchFamily="2" charset="-122"/>
              </a:rPr>
              <a:t>）调入模型。单击</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模型</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元件</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区域中的“组装”按钮      ，调入“轴承盖</a:t>
            </a:r>
            <a:r>
              <a:rPr lang="en-US" altLang="zh-CN" sz="2600" dirty="0">
                <a:latin typeface="Times New Roman" pitchFamily="18" charset="0"/>
                <a:ea typeface="宋体" pitchFamily="2" charset="-122"/>
              </a:rPr>
              <a:t>.</a:t>
            </a:r>
            <a:r>
              <a:rPr lang="en-US" altLang="zh-CN" sz="2600" dirty="0" err="1">
                <a:latin typeface="Times New Roman" pitchFamily="18" charset="0"/>
                <a:ea typeface="宋体" pitchFamily="2" charset="-122"/>
              </a:rPr>
              <a:t>prt</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a:t>
            </a:r>
          </a:p>
          <a:p>
            <a:pPr indent="457200">
              <a:lnSpc>
                <a:spcPct val="150000"/>
              </a:lnSpc>
            </a:pPr>
            <a:r>
              <a:rPr lang="en-US" altLang="zh-CN" sz="2600" dirty="0">
                <a:latin typeface="Times New Roman" pitchFamily="18" charset="0"/>
                <a:ea typeface="宋体" pitchFamily="2" charset="-122"/>
              </a:rPr>
              <a:t>2</a:t>
            </a:r>
            <a:r>
              <a:rPr lang="zh-CN" altLang="en-US" sz="2600" dirty="0">
                <a:latin typeface="Times New Roman" pitchFamily="18" charset="0"/>
                <a:ea typeface="宋体" pitchFamily="2" charset="-122"/>
              </a:rPr>
              <a:t>）添加约束关系</a:t>
            </a:r>
            <a:r>
              <a:rPr lang="en-US" altLang="zh-CN" sz="2600" dirty="0">
                <a:latin typeface="Times New Roman" pitchFamily="18" charset="0"/>
                <a:ea typeface="宋体" pitchFamily="2" charset="-122"/>
              </a:rPr>
              <a:t>1</a:t>
            </a:r>
            <a:r>
              <a:rPr lang="zh-CN" altLang="en-US" sz="2600" dirty="0">
                <a:latin typeface="Times New Roman" pitchFamily="18" charset="0"/>
                <a:ea typeface="宋体" pitchFamily="2" charset="-122"/>
              </a:rPr>
              <a:t>。依次选中如图</a:t>
            </a:r>
            <a:r>
              <a:rPr lang="en-US" altLang="zh-CN" sz="2600" dirty="0">
                <a:latin typeface="Times New Roman" pitchFamily="18" charset="0"/>
                <a:ea typeface="宋体" pitchFamily="2" charset="-122"/>
              </a:rPr>
              <a:t>8-17</a:t>
            </a:r>
            <a:r>
              <a:rPr lang="zh-CN" altLang="en-US" sz="2600" dirty="0">
                <a:latin typeface="Times New Roman" pitchFamily="18" charset="0"/>
                <a:ea typeface="宋体" pitchFamily="2" charset="-122"/>
              </a:rPr>
              <a:t>所示轴承盖和轴承底座的一对配合平面，在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放置</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下滑面板中将</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约束类型</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改为“重合”。</a:t>
            </a:r>
          </a:p>
        </p:txBody>
      </p:sp>
      <p:pic>
        <p:nvPicPr>
          <p:cNvPr id="4" name="图片 3">
            <a:extLst>
              <a:ext uri="{FF2B5EF4-FFF2-40B4-BE49-F238E27FC236}">
                <a16:creationId xmlns:a16="http://schemas.microsoft.com/office/drawing/2014/main" id="{56E92DCE-88D7-5F03-19D7-0E7C7696C475}"/>
              </a:ext>
            </a:extLst>
          </p:cNvPr>
          <p:cNvPicPr>
            <a:picLocks noChangeAspect="1"/>
          </p:cNvPicPr>
          <p:nvPr/>
        </p:nvPicPr>
        <p:blipFill>
          <a:blip r:embed="rId3"/>
          <a:stretch>
            <a:fillRect/>
          </a:stretch>
        </p:blipFill>
        <p:spPr>
          <a:xfrm>
            <a:off x="10820684" y="1152024"/>
            <a:ext cx="314325" cy="342900"/>
          </a:xfrm>
          <a:prstGeom prst="rect">
            <a:avLst/>
          </a:prstGeom>
        </p:spPr>
      </p:pic>
      <p:sp>
        <p:nvSpPr>
          <p:cNvPr id="7" name="文本框 6">
            <a:extLst>
              <a:ext uri="{FF2B5EF4-FFF2-40B4-BE49-F238E27FC236}">
                <a16:creationId xmlns:a16="http://schemas.microsoft.com/office/drawing/2014/main" id="{790EA25C-469E-216B-4DBD-5E2E90FD0EAB}"/>
              </a:ext>
            </a:extLst>
          </p:cNvPr>
          <p:cNvSpPr txBox="1"/>
          <p:nvPr/>
        </p:nvSpPr>
        <p:spPr>
          <a:xfrm>
            <a:off x="4397425" y="6097015"/>
            <a:ext cx="3297762" cy="369332"/>
          </a:xfrm>
          <a:prstGeom prst="rect">
            <a:avLst/>
          </a:prstGeom>
          <a:noFill/>
        </p:spPr>
        <p:txBody>
          <a:bodyPr wrap="square">
            <a:spAutoFit/>
          </a:bodyPr>
          <a:lstStyle/>
          <a:p>
            <a:pPr algn="ctr"/>
            <a:r>
              <a:rPr lang="zh-CN" altLang="en-US" sz="1800" dirty="0">
                <a:effectLst/>
                <a:ea typeface="黑体" panose="02010609060101010101" pitchFamily="49" charset="-122"/>
                <a:cs typeface="Times New Roman" panose="02020603050405020304" pitchFamily="18" charset="0"/>
              </a:rPr>
              <a:t>图</a:t>
            </a:r>
            <a:r>
              <a:rPr lang="en-US" altLang="zh-CN" sz="1800" dirty="0">
                <a:effectLst/>
                <a:ea typeface="黑体" panose="02010609060101010101" pitchFamily="49" charset="-122"/>
                <a:cs typeface="Times New Roman" panose="02020603050405020304" pitchFamily="18" charset="0"/>
              </a:rPr>
              <a:t>8-17 </a:t>
            </a:r>
            <a:r>
              <a:rPr lang="zh-CN" altLang="en-US" sz="1800" dirty="0">
                <a:effectLst/>
                <a:ea typeface="黑体" panose="02010609060101010101" pitchFamily="49" charset="-122"/>
                <a:cs typeface="Times New Roman" panose="02020603050405020304" pitchFamily="18" charset="0"/>
              </a:rPr>
              <a:t>约束</a:t>
            </a:r>
            <a:r>
              <a:rPr lang="en-US" altLang="zh-CN" sz="1800" dirty="0">
                <a:effectLst/>
                <a:ea typeface="黑体" panose="02010609060101010101" pitchFamily="49" charset="-122"/>
                <a:cs typeface="Times New Roman" panose="02020603050405020304" pitchFamily="18" charset="0"/>
              </a:rPr>
              <a:t>1</a:t>
            </a:r>
            <a:r>
              <a:rPr lang="zh-CN" altLang="en-US" sz="1800" dirty="0">
                <a:effectLst/>
                <a:ea typeface="黑体" panose="02010609060101010101" pitchFamily="49" charset="-122"/>
                <a:cs typeface="Times New Roman" panose="02020603050405020304" pitchFamily="18" charset="0"/>
              </a:rPr>
              <a:t>参考</a:t>
            </a:r>
            <a:endParaRPr lang="zh-CN" altLang="en-US" dirty="0"/>
          </a:p>
        </p:txBody>
      </p:sp>
    </p:spTree>
    <p:extLst>
      <p:ext uri="{BB962C8B-B14F-4D97-AF65-F5344CB8AC3E}">
        <p14:creationId xmlns:p14="http://schemas.microsoft.com/office/powerpoint/2010/main" val="7699432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3" y="466181"/>
            <a:ext cx="11178206" cy="1816908"/>
          </a:xfrm>
          <a:prstGeom prst="rect">
            <a:avLst/>
          </a:prstGeom>
          <a:noFill/>
        </p:spPr>
        <p:txBody>
          <a:bodyPr wrap="square" rtlCol="0">
            <a:spAutoFit/>
          </a:bodyPr>
          <a:lstStyle/>
          <a:p>
            <a:pPr indent="457200">
              <a:lnSpc>
                <a:spcPct val="150000"/>
              </a:lnSpc>
            </a:pPr>
            <a:r>
              <a:rPr lang="en-US" altLang="zh-CN" sz="2600" dirty="0">
                <a:latin typeface="Times New Roman" pitchFamily="18" charset="0"/>
                <a:ea typeface="宋体" pitchFamily="2" charset="-122"/>
              </a:rPr>
              <a:t>3</a:t>
            </a:r>
            <a:r>
              <a:rPr lang="zh-CN" altLang="en-US" sz="2600" dirty="0">
                <a:latin typeface="Times New Roman" pitchFamily="18" charset="0"/>
                <a:ea typeface="宋体" pitchFamily="2" charset="-122"/>
              </a:rPr>
              <a:t>）添加约束关系</a:t>
            </a:r>
            <a:r>
              <a:rPr lang="en-US" altLang="zh-CN" sz="2600" dirty="0">
                <a:latin typeface="Times New Roman" pitchFamily="18" charset="0"/>
                <a:ea typeface="宋体" pitchFamily="2" charset="-122"/>
              </a:rPr>
              <a:t>2</a:t>
            </a:r>
            <a:r>
              <a:rPr lang="zh-CN" altLang="en-US" sz="2600" dirty="0">
                <a:latin typeface="Times New Roman" pitchFamily="18" charset="0"/>
                <a:ea typeface="宋体" pitchFamily="2" charset="-122"/>
              </a:rPr>
              <a:t>。单击</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放置</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下滑面板中的</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新建约束</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，依次选中如图</a:t>
            </a:r>
            <a:r>
              <a:rPr lang="en-US" altLang="zh-CN" sz="2600" dirty="0">
                <a:latin typeface="Times New Roman" pitchFamily="18" charset="0"/>
                <a:ea typeface="宋体" pitchFamily="2" charset="-122"/>
              </a:rPr>
              <a:t>8-18</a:t>
            </a:r>
            <a:r>
              <a:rPr lang="zh-CN" altLang="en-US" sz="2600" dirty="0">
                <a:latin typeface="Times New Roman" pitchFamily="18" charset="0"/>
                <a:ea typeface="宋体" pitchFamily="2" charset="-122"/>
              </a:rPr>
              <a:t>所示轴承盖和轴承底座对应的一对中心轴，在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放置</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下滑面板中将</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约束类型</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改为“重合”。</a:t>
            </a:r>
          </a:p>
        </p:txBody>
      </p:sp>
      <p:sp>
        <p:nvSpPr>
          <p:cNvPr id="7" name="文本框 6">
            <a:extLst>
              <a:ext uri="{FF2B5EF4-FFF2-40B4-BE49-F238E27FC236}">
                <a16:creationId xmlns:a16="http://schemas.microsoft.com/office/drawing/2014/main" id="{790EA25C-469E-216B-4DBD-5E2E90FD0EAB}"/>
              </a:ext>
            </a:extLst>
          </p:cNvPr>
          <p:cNvSpPr txBox="1"/>
          <p:nvPr/>
        </p:nvSpPr>
        <p:spPr>
          <a:xfrm>
            <a:off x="4397425" y="5599713"/>
            <a:ext cx="3297762" cy="369332"/>
          </a:xfrm>
          <a:prstGeom prst="rect">
            <a:avLst/>
          </a:prstGeom>
          <a:noFill/>
        </p:spPr>
        <p:txBody>
          <a:bodyPr wrap="square">
            <a:spAutoFit/>
          </a:bodyPr>
          <a:lstStyle/>
          <a:p>
            <a:pPr algn="ctr"/>
            <a:r>
              <a:rPr lang="zh-CN" altLang="en-US" sz="1800" dirty="0">
                <a:effectLst/>
                <a:ea typeface="黑体" panose="02010609060101010101" pitchFamily="49" charset="-122"/>
                <a:cs typeface="Times New Roman" panose="02020603050405020304" pitchFamily="18" charset="0"/>
              </a:rPr>
              <a:t>图</a:t>
            </a:r>
            <a:r>
              <a:rPr lang="en-US" altLang="zh-CN" sz="1800" dirty="0">
                <a:effectLst/>
                <a:ea typeface="黑体" panose="02010609060101010101" pitchFamily="49" charset="-122"/>
                <a:cs typeface="Times New Roman" panose="02020603050405020304" pitchFamily="18" charset="0"/>
              </a:rPr>
              <a:t>8-18 </a:t>
            </a:r>
            <a:r>
              <a:rPr lang="zh-CN" altLang="en-US" sz="1800" dirty="0">
                <a:effectLst/>
                <a:ea typeface="黑体" panose="02010609060101010101" pitchFamily="49" charset="-122"/>
                <a:cs typeface="Times New Roman" panose="02020603050405020304" pitchFamily="18" charset="0"/>
              </a:rPr>
              <a:t>约束</a:t>
            </a:r>
            <a:r>
              <a:rPr lang="en-US" altLang="zh-CN" sz="1800" dirty="0">
                <a:effectLst/>
                <a:ea typeface="黑体" panose="02010609060101010101" pitchFamily="49" charset="-122"/>
                <a:cs typeface="Times New Roman" panose="02020603050405020304" pitchFamily="18" charset="0"/>
              </a:rPr>
              <a:t>2</a:t>
            </a:r>
            <a:r>
              <a:rPr lang="zh-CN" altLang="en-US" sz="1800" dirty="0">
                <a:effectLst/>
                <a:ea typeface="黑体" panose="02010609060101010101" pitchFamily="49" charset="-122"/>
                <a:cs typeface="Times New Roman" panose="02020603050405020304" pitchFamily="18" charset="0"/>
              </a:rPr>
              <a:t>参考</a:t>
            </a:r>
            <a:endParaRPr lang="zh-CN" altLang="en-US" dirty="0"/>
          </a:p>
        </p:txBody>
      </p:sp>
      <p:pic>
        <p:nvPicPr>
          <p:cNvPr id="5" name="图片 4">
            <a:extLst>
              <a:ext uri="{FF2B5EF4-FFF2-40B4-BE49-F238E27FC236}">
                <a16:creationId xmlns:a16="http://schemas.microsoft.com/office/drawing/2014/main" id="{199A583D-9F7E-A6FE-984C-6B9D7A08C5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35408" y="2347258"/>
            <a:ext cx="4721185" cy="2994764"/>
          </a:xfrm>
          <a:prstGeom prst="rect">
            <a:avLst/>
          </a:prstGeom>
        </p:spPr>
      </p:pic>
    </p:spTree>
    <p:extLst>
      <p:ext uri="{BB962C8B-B14F-4D97-AF65-F5344CB8AC3E}">
        <p14:creationId xmlns:p14="http://schemas.microsoft.com/office/powerpoint/2010/main" val="13294837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3" y="466181"/>
            <a:ext cx="11178206" cy="1816908"/>
          </a:xfrm>
          <a:prstGeom prst="rect">
            <a:avLst/>
          </a:prstGeom>
          <a:noFill/>
        </p:spPr>
        <p:txBody>
          <a:bodyPr wrap="square" rtlCol="0">
            <a:spAutoFit/>
          </a:bodyPr>
          <a:lstStyle/>
          <a:p>
            <a:pPr indent="457200">
              <a:lnSpc>
                <a:spcPct val="150000"/>
              </a:lnSpc>
            </a:pPr>
            <a:r>
              <a:rPr lang="en-US" altLang="zh-CN" sz="2600" dirty="0">
                <a:latin typeface="Times New Roman" pitchFamily="18" charset="0"/>
                <a:ea typeface="宋体" pitchFamily="2" charset="-122"/>
              </a:rPr>
              <a:t>4</a:t>
            </a:r>
            <a:r>
              <a:rPr lang="zh-CN" altLang="en-US" sz="2600" dirty="0">
                <a:latin typeface="Times New Roman" pitchFamily="18" charset="0"/>
                <a:ea typeface="宋体" pitchFamily="2" charset="-122"/>
              </a:rPr>
              <a:t>）添加约束关系</a:t>
            </a:r>
            <a:r>
              <a:rPr lang="en-US" altLang="zh-CN" sz="2600" dirty="0">
                <a:latin typeface="Times New Roman" pitchFamily="18" charset="0"/>
                <a:ea typeface="宋体" pitchFamily="2" charset="-122"/>
              </a:rPr>
              <a:t>3</a:t>
            </a:r>
            <a:r>
              <a:rPr lang="zh-CN" altLang="en-US" sz="2600" dirty="0">
                <a:latin typeface="Times New Roman" pitchFamily="18" charset="0"/>
                <a:ea typeface="宋体" pitchFamily="2" charset="-122"/>
              </a:rPr>
              <a:t>。单击</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放置</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下滑面板中的</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新建约束</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，依次选中如图</a:t>
            </a:r>
            <a:r>
              <a:rPr lang="en-US" altLang="zh-CN" sz="2600" dirty="0">
                <a:latin typeface="Times New Roman" pitchFamily="18" charset="0"/>
                <a:ea typeface="宋体" pitchFamily="2" charset="-122"/>
              </a:rPr>
              <a:t>8-19</a:t>
            </a:r>
            <a:r>
              <a:rPr lang="zh-CN" altLang="en-US" sz="2600" dirty="0">
                <a:latin typeface="Times New Roman" pitchFamily="18" charset="0"/>
                <a:ea typeface="宋体" pitchFamily="2" charset="-122"/>
              </a:rPr>
              <a:t>所示轴承盖和轴承底座的安装孔中心轴，在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放置</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下滑面板中将</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约束类型</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改为</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重合</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a:t>
            </a:r>
          </a:p>
        </p:txBody>
      </p:sp>
      <p:sp>
        <p:nvSpPr>
          <p:cNvPr id="7" name="文本框 6">
            <a:extLst>
              <a:ext uri="{FF2B5EF4-FFF2-40B4-BE49-F238E27FC236}">
                <a16:creationId xmlns:a16="http://schemas.microsoft.com/office/drawing/2014/main" id="{790EA25C-469E-216B-4DBD-5E2E90FD0EAB}"/>
              </a:ext>
            </a:extLst>
          </p:cNvPr>
          <p:cNvSpPr txBox="1"/>
          <p:nvPr/>
        </p:nvSpPr>
        <p:spPr>
          <a:xfrm>
            <a:off x="4397425" y="5679923"/>
            <a:ext cx="3297762" cy="369332"/>
          </a:xfrm>
          <a:prstGeom prst="rect">
            <a:avLst/>
          </a:prstGeom>
          <a:noFill/>
        </p:spPr>
        <p:txBody>
          <a:bodyPr wrap="square">
            <a:spAutoFit/>
          </a:bodyPr>
          <a:lstStyle/>
          <a:p>
            <a:pPr algn="ctr"/>
            <a:r>
              <a:rPr lang="zh-CN" altLang="en-US" sz="1800" dirty="0">
                <a:effectLst/>
                <a:ea typeface="黑体" panose="02010609060101010101" pitchFamily="49" charset="-122"/>
                <a:cs typeface="Times New Roman" panose="02020603050405020304" pitchFamily="18" charset="0"/>
              </a:rPr>
              <a:t>图</a:t>
            </a:r>
            <a:r>
              <a:rPr lang="en-US" altLang="zh-CN" sz="1800" dirty="0">
                <a:effectLst/>
                <a:ea typeface="黑体" panose="02010609060101010101" pitchFamily="49" charset="-122"/>
                <a:cs typeface="Times New Roman" panose="02020603050405020304" pitchFamily="18" charset="0"/>
              </a:rPr>
              <a:t>8-19 </a:t>
            </a:r>
            <a:r>
              <a:rPr lang="zh-CN" altLang="en-US" sz="1800" dirty="0">
                <a:effectLst/>
                <a:ea typeface="黑体" panose="02010609060101010101" pitchFamily="49" charset="-122"/>
                <a:cs typeface="Times New Roman" panose="02020603050405020304" pitchFamily="18" charset="0"/>
              </a:rPr>
              <a:t>约束</a:t>
            </a:r>
            <a:r>
              <a:rPr lang="en-US" altLang="zh-CN" sz="1800" dirty="0">
                <a:effectLst/>
                <a:ea typeface="黑体" panose="02010609060101010101" pitchFamily="49" charset="-122"/>
                <a:cs typeface="Times New Roman" panose="02020603050405020304" pitchFamily="18" charset="0"/>
              </a:rPr>
              <a:t>3</a:t>
            </a:r>
            <a:r>
              <a:rPr lang="zh-CN" altLang="en-US" sz="1800" dirty="0">
                <a:effectLst/>
                <a:ea typeface="黑体" panose="02010609060101010101" pitchFamily="49" charset="-122"/>
                <a:cs typeface="Times New Roman" panose="02020603050405020304" pitchFamily="18" charset="0"/>
              </a:rPr>
              <a:t>参考</a:t>
            </a:r>
            <a:endParaRPr lang="zh-CN" altLang="en-US" dirty="0"/>
          </a:p>
        </p:txBody>
      </p:sp>
      <p:pic>
        <p:nvPicPr>
          <p:cNvPr id="2" name="图片 1">
            <a:extLst>
              <a:ext uri="{FF2B5EF4-FFF2-40B4-BE49-F238E27FC236}">
                <a16:creationId xmlns:a16="http://schemas.microsoft.com/office/drawing/2014/main" id="{71CA40D8-A7AC-900F-C2AB-4F4EBF1464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27064" y="2283089"/>
            <a:ext cx="4137872" cy="3316624"/>
          </a:xfrm>
          <a:prstGeom prst="rect">
            <a:avLst/>
          </a:prstGeom>
        </p:spPr>
      </p:pic>
    </p:spTree>
    <p:extLst>
      <p:ext uri="{BB962C8B-B14F-4D97-AF65-F5344CB8AC3E}">
        <p14:creationId xmlns:p14="http://schemas.microsoft.com/office/powerpoint/2010/main" val="8791837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3" y="466181"/>
            <a:ext cx="11178206" cy="1216743"/>
          </a:xfrm>
          <a:prstGeom prst="rect">
            <a:avLst/>
          </a:prstGeom>
          <a:noFill/>
        </p:spPr>
        <p:txBody>
          <a:bodyPr wrap="square" rtlCol="0">
            <a:spAutoFit/>
          </a:bodyPr>
          <a:lstStyle/>
          <a:p>
            <a:pPr indent="457200">
              <a:lnSpc>
                <a:spcPct val="150000"/>
              </a:lnSpc>
            </a:pPr>
            <a:r>
              <a:rPr lang="en-US" altLang="zh-CN" sz="2600" dirty="0">
                <a:latin typeface="Times New Roman" pitchFamily="18" charset="0"/>
                <a:ea typeface="宋体" pitchFamily="2" charset="-122"/>
              </a:rPr>
              <a:t>5</a:t>
            </a:r>
            <a:r>
              <a:rPr lang="zh-CN" altLang="en-US" sz="2600" dirty="0">
                <a:latin typeface="Times New Roman" pitchFamily="18" charset="0"/>
                <a:ea typeface="宋体" pitchFamily="2" charset="-122"/>
              </a:rPr>
              <a:t>）单击</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元件放置</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操控板上的“确定”按钮，完成轴承盖的装配，结果如图</a:t>
            </a:r>
            <a:r>
              <a:rPr lang="en-US" altLang="zh-CN" sz="2600" dirty="0">
                <a:latin typeface="Times New Roman" pitchFamily="18" charset="0"/>
                <a:ea typeface="宋体" pitchFamily="2" charset="-122"/>
              </a:rPr>
              <a:t>8-20</a:t>
            </a:r>
            <a:r>
              <a:rPr lang="zh-CN" altLang="en-US" sz="2600" dirty="0">
                <a:latin typeface="Times New Roman" pitchFamily="18" charset="0"/>
                <a:ea typeface="宋体" pitchFamily="2" charset="-122"/>
              </a:rPr>
              <a:t>所示。</a:t>
            </a:r>
          </a:p>
        </p:txBody>
      </p:sp>
      <p:sp>
        <p:nvSpPr>
          <p:cNvPr id="7" name="文本框 6">
            <a:extLst>
              <a:ext uri="{FF2B5EF4-FFF2-40B4-BE49-F238E27FC236}">
                <a16:creationId xmlns:a16="http://schemas.microsoft.com/office/drawing/2014/main" id="{790EA25C-469E-216B-4DBD-5E2E90FD0EAB}"/>
              </a:ext>
            </a:extLst>
          </p:cNvPr>
          <p:cNvSpPr txBox="1"/>
          <p:nvPr/>
        </p:nvSpPr>
        <p:spPr>
          <a:xfrm>
            <a:off x="4397425" y="5679923"/>
            <a:ext cx="3297762" cy="369332"/>
          </a:xfrm>
          <a:prstGeom prst="rect">
            <a:avLst/>
          </a:prstGeom>
          <a:noFill/>
        </p:spPr>
        <p:txBody>
          <a:bodyPr wrap="square">
            <a:spAutoFit/>
          </a:bodyPr>
          <a:lstStyle/>
          <a:p>
            <a:pPr algn="ctr"/>
            <a:r>
              <a:rPr lang="zh-CN" altLang="en-US" sz="1800" dirty="0">
                <a:effectLst/>
                <a:ea typeface="黑体" panose="02010609060101010101" pitchFamily="49" charset="-122"/>
                <a:cs typeface="Times New Roman" panose="02020603050405020304" pitchFamily="18" charset="0"/>
              </a:rPr>
              <a:t>图</a:t>
            </a:r>
            <a:r>
              <a:rPr lang="en-US" altLang="zh-CN" sz="1800" dirty="0">
                <a:effectLst/>
                <a:ea typeface="黑体" panose="02010609060101010101" pitchFamily="49" charset="-122"/>
                <a:cs typeface="Times New Roman" panose="02020603050405020304" pitchFamily="18" charset="0"/>
              </a:rPr>
              <a:t>8-20 </a:t>
            </a:r>
            <a:r>
              <a:rPr lang="zh-CN" altLang="en-US" sz="1800" dirty="0">
                <a:effectLst/>
                <a:ea typeface="黑体" panose="02010609060101010101" pitchFamily="49" charset="-122"/>
                <a:cs typeface="Times New Roman" panose="02020603050405020304" pitchFamily="18" charset="0"/>
              </a:rPr>
              <a:t>轴承盖装配效果</a:t>
            </a:r>
            <a:endParaRPr lang="zh-CN" altLang="en-US" dirty="0"/>
          </a:p>
        </p:txBody>
      </p:sp>
      <p:pic>
        <p:nvPicPr>
          <p:cNvPr id="4" name="图片 3">
            <a:extLst>
              <a:ext uri="{FF2B5EF4-FFF2-40B4-BE49-F238E27FC236}">
                <a16:creationId xmlns:a16="http://schemas.microsoft.com/office/drawing/2014/main" id="{1A7FDDF2-707A-62BC-3D71-922C59D470F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254049" y="1955896"/>
            <a:ext cx="5683902" cy="3502928"/>
          </a:xfrm>
          <a:prstGeom prst="rect">
            <a:avLst/>
          </a:prstGeom>
        </p:spPr>
      </p:pic>
    </p:spTree>
    <p:extLst>
      <p:ext uri="{BB962C8B-B14F-4D97-AF65-F5344CB8AC3E}">
        <p14:creationId xmlns:p14="http://schemas.microsoft.com/office/powerpoint/2010/main" val="24288359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3" y="353887"/>
            <a:ext cx="11178206" cy="3617401"/>
          </a:xfrm>
          <a:prstGeom prst="rect">
            <a:avLst/>
          </a:prstGeom>
          <a:noFill/>
        </p:spPr>
        <p:txBody>
          <a:bodyPr wrap="square" rtlCol="0">
            <a:spAutoFit/>
          </a:bodyPr>
          <a:lstStyle/>
          <a:p>
            <a:pPr indent="457200">
              <a:lnSpc>
                <a:spcPct val="150000"/>
              </a:lnSpc>
            </a:pPr>
            <a:r>
              <a:rPr lang="en-US" altLang="zh-CN" sz="2600" b="1" dirty="0">
                <a:latin typeface="Times New Roman" pitchFamily="18" charset="0"/>
                <a:ea typeface="宋体" pitchFamily="2" charset="-122"/>
              </a:rPr>
              <a:t>6</a:t>
            </a:r>
            <a:r>
              <a:rPr lang="zh-CN" altLang="en-US" sz="2600" b="1" dirty="0">
                <a:latin typeface="Times New Roman" pitchFamily="18" charset="0"/>
                <a:ea typeface="宋体" pitchFamily="2" charset="-122"/>
              </a:rPr>
              <a:t>．装配漏油塞</a:t>
            </a:r>
            <a:endParaRPr lang="en-US" altLang="zh-CN" sz="2600" b="1" dirty="0">
              <a:latin typeface="Times New Roman" pitchFamily="18" charset="0"/>
              <a:ea typeface="宋体" pitchFamily="2" charset="-122"/>
            </a:endParaRPr>
          </a:p>
          <a:p>
            <a:pPr indent="457200">
              <a:lnSpc>
                <a:spcPct val="150000"/>
              </a:lnSpc>
            </a:pPr>
            <a:r>
              <a:rPr lang="en-US" altLang="zh-CN" sz="2600" dirty="0">
                <a:latin typeface="Times New Roman" pitchFamily="18" charset="0"/>
                <a:ea typeface="宋体" pitchFamily="2" charset="-122"/>
              </a:rPr>
              <a:t>1</a:t>
            </a:r>
            <a:r>
              <a:rPr lang="zh-CN" altLang="en-US" sz="2600" dirty="0">
                <a:latin typeface="Times New Roman" pitchFamily="18" charset="0"/>
                <a:ea typeface="宋体" pitchFamily="2" charset="-122"/>
              </a:rPr>
              <a:t>）调入模型。单击</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模型</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元件</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区域中的“组装”按钮 ，调入“漏油塞</a:t>
            </a:r>
            <a:r>
              <a:rPr lang="en-US" altLang="zh-CN" sz="2600" dirty="0">
                <a:latin typeface="Times New Roman" pitchFamily="18" charset="0"/>
                <a:ea typeface="宋体" pitchFamily="2" charset="-122"/>
              </a:rPr>
              <a:t>.</a:t>
            </a:r>
            <a:r>
              <a:rPr lang="en-US" altLang="zh-CN" sz="2600" dirty="0" err="1">
                <a:latin typeface="Times New Roman" pitchFamily="18" charset="0"/>
                <a:ea typeface="宋体" pitchFamily="2" charset="-122"/>
              </a:rPr>
              <a:t>prt</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a:t>
            </a:r>
          </a:p>
          <a:p>
            <a:pPr indent="457200">
              <a:lnSpc>
                <a:spcPct val="150000"/>
              </a:lnSpc>
            </a:pPr>
            <a:r>
              <a:rPr lang="en-US" altLang="zh-CN" sz="2600" dirty="0">
                <a:latin typeface="Times New Roman" pitchFamily="18" charset="0"/>
                <a:ea typeface="宋体" pitchFamily="2" charset="-122"/>
              </a:rPr>
              <a:t>2</a:t>
            </a:r>
            <a:r>
              <a:rPr lang="zh-CN" altLang="en-US" sz="2600" dirty="0">
                <a:latin typeface="Times New Roman" pitchFamily="18" charset="0"/>
                <a:ea typeface="宋体" pitchFamily="2" charset="-122"/>
              </a:rPr>
              <a:t>）添加约束关系</a:t>
            </a:r>
            <a:r>
              <a:rPr lang="en-US" altLang="zh-CN" sz="2600" dirty="0">
                <a:latin typeface="Times New Roman" pitchFamily="18" charset="0"/>
                <a:ea typeface="宋体" pitchFamily="2" charset="-122"/>
              </a:rPr>
              <a:t>1</a:t>
            </a:r>
            <a:r>
              <a:rPr lang="zh-CN" altLang="en-US" sz="2600" dirty="0">
                <a:latin typeface="Times New Roman" pitchFamily="18" charset="0"/>
                <a:ea typeface="宋体" pitchFamily="2" charset="-122"/>
              </a:rPr>
              <a:t>。单击</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放置</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下滑面板中的</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新建约束</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，依次选中如图</a:t>
            </a:r>
            <a:r>
              <a:rPr lang="en-US" altLang="zh-CN" sz="2600" dirty="0">
                <a:latin typeface="Times New Roman" pitchFamily="18" charset="0"/>
                <a:ea typeface="宋体" pitchFamily="2" charset="-122"/>
              </a:rPr>
              <a:t>8-21</a:t>
            </a:r>
            <a:r>
              <a:rPr lang="zh-CN" altLang="en-US" sz="2600" dirty="0">
                <a:latin typeface="Times New Roman" pitchFamily="18" charset="0"/>
                <a:ea typeface="宋体" pitchFamily="2" charset="-122"/>
              </a:rPr>
              <a:t>所示漏油塞和轴承盖对应的一对安装配合面，在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放置</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下滑面板中将</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约束类型</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改为“重合”。</a:t>
            </a:r>
          </a:p>
        </p:txBody>
      </p:sp>
      <p:pic>
        <p:nvPicPr>
          <p:cNvPr id="4" name="图片 3">
            <a:extLst>
              <a:ext uri="{FF2B5EF4-FFF2-40B4-BE49-F238E27FC236}">
                <a16:creationId xmlns:a16="http://schemas.microsoft.com/office/drawing/2014/main" id="{56E92DCE-88D7-5F03-19D7-0E7C7696C475}"/>
              </a:ext>
            </a:extLst>
          </p:cNvPr>
          <p:cNvPicPr>
            <a:picLocks noChangeAspect="1"/>
          </p:cNvPicPr>
          <p:nvPr/>
        </p:nvPicPr>
        <p:blipFill>
          <a:blip r:embed="rId2"/>
          <a:stretch>
            <a:fillRect/>
          </a:stretch>
        </p:blipFill>
        <p:spPr>
          <a:xfrm>
            <a:off x="10820684" y="1152024"/>
            <a:ext cx="314325" cy="342900"/>
          </a:xfrm>
          <a:prstGeom prst="rect">
            <a:avLst/>
          </a:prstGeom>
        </p:spPr>
      </p:pic>
    </p:spTree>
    <p:extLst>
      <p:ext uri="{BB962C8B-B14F-4D97-AF65-F5344CB8AC3E}">
        <p14:creationId xmlns:p14="http://schemas.microsoft.com/office/powerpoint/2010/main" val="29342889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826ED735-B252-5F13-C223-9F70B79192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62597" y="678981"/>
            <a:ext cx="5266807" cy="4571483"/>
          </a:xfrm>
          <a:prstGeom prst="rect">
            <a:avLst/>
          </a:prstGeom>
        </p:spPr>
      </p:pic>
      <p:sp>
        <p:nvSpPr>
          <p:cNvPr id="3" name="文本框 2">
            <a:extLst>
              <a:ext uri="{FF2B5EF4-FFF2-40B4-BE49-F238E27FC236}">
                <a16:creationId xmlns:a16="http://schemas.microsoft.com/office/drawing/2014/main" id="{6A5580DD-729D-10D9-CE85-860C88CA0C56}"/>
              </a:ext>
            </a:extLst>
          </p:cNvPr>
          <p:cNvSpPr txBox="1"/>
          <p:nvPr/>
        </p:nvSpPr>
        <p:spPr>
          <a:xfrm>
            <a:off x="4397425" y="5679923"/>
            <a:ext cx="3297762" cy="369332"/>
          </a:xfrm>
          <a:prstGeom prst="rect">
            <a:avLst/>
          </a:prstGeom>
          <a:noFill/>
        </p:spPr>
        <p:txBody>
          <a:bodyPr wrap="square">
            <a:spAutoFit/>
          </a:bodyPr>
          <a:lstStyle/>
          <a:p>
            <a:pPr algn="ctr"/>
            <a:r>
              <a:rPr lang="zh-CN" altLang="en-US" sz="1800" dirty="0">
                <a:effectLst/>
                <a:ea typeface="黑体" panose="02010609060101010101" pitchFamily="49" charset="-122"/>
                <a:cs typeface="Times New Roman" panose="02020603050405020304" pitchFamily="18" charset="0"/>
              </a:rPr>
              <a:t>图</a:t>
            </a:r>
            <a:r>
              <a:rPr lang="en-US" altLang="zh-CN" sz="1800" dirty="0">
                <a:effectLst/>
                <a:ea typeface="黑体" panose="02010609060101010101" pitchFamily="49" charset="-122"/>
                <a:cs typeface="Times New Roman" panose="02020603050405020304" pitchFamily="18" charset="0"/>
              </a:rPr>
              <a:t>8-21 </a:t>
            </a:r>
            <a:r>
              <a:rPr lang="zh-CN" altLang="en-US" sz="1800" dirty="0">
                <a:effectLst/>
                <a:ea typeface="黑体" panose="02010609060101010101" pitchFamily="49" charset="-122"/>
                <a:cs typeface="Times New Roman" panose="02020603050405020304" pitchFamily="18" charset="0"/>
              </a:rPr>
              <a:t>约束</a:t>
            </a:r>
            <a:r>
              <a:rPr lang="en-US" altLang="zh-CN" sz="1800" dirty="0">
                <a:effectLst/>
                <a:ea typeface="黑体" panose="02010609060101010101" pitchFamily="49" charset="-122"/>
                <a:cs typeface="Times New Roman" panose="02020603050405020304" pitchFamily="18" charset="0"/>
              </a:rPr>
              <a:t>1</a:t>
            </a:r>
            <a:r>
              <a:rPr lang="zh-CN" altLang="en-US" sz="1800" dirty="0">
                <a:effectLst/>
                <a:ea typeface="黑体" panose="02010609060101010101" pitchFamily="49" charset="-122"/>
                <a:cs typeface="Times New Roman" panose="02020603050405020304" pitchFamily="18" charset="0"/>
              </a:rPr>
              <a:t>参考</a:t>
            </a:r>
            <a:endParaRPr lang="zh-CN" altLang="en-US" dirty="0"/>
          </a:p>
        </p:txBody>
      </p:sp>
    </p:spTree>
    <p:extLst>
      <p:ext uri="{BB962C8B-B14F-4D97-AF65-F5344CB8AC3E}">
        <p14:creationId xmlns:p14="http://schemas.microsoft.com/office/powerpoint/2010/main" val="21527988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3" y="482223"/>
            <a:ext cx="11178206" cy="1216743"/>
          </a:xfrm>
          <a:prstGeom prst="rect">
            <a:avLst/>
          </a:prstGeom>
          <a:noFill/>
        </p:spPr>
        <p:txBody>
          <a:bodyPr wrap="square" rtlCol="0">
            <a:spAutoFit/>
          </a:bodyPr>
          <a:lstStyle/>
          <a:p>
            <a:pPr indent="457200">
              <a:lnSpc>
                <a:spcPct val="150000"/>
              </a:lnSpc>
            </a:pPr>
            <a:r>
              <a:rPr lang="en-US" altLang="zh-CN" sz="2600" dirty="0">
                <a:latin typeface="Times New Roman" pitchFamily="18" charset="0"/>
                <a:ea typeface="宋体" pitchFamily="2" charset="-122"/>
              </a:rPr>
              <a:t>3</a:t>
            </a:r>
            <a:r>
              <a:rPr lang="zh-CN" altLang="en-US" sz="2600" dirty="0">
                <a:latin typeface="Times New Roman" pitchFamily="18" charset="0"/>
                <a:ea typeface="宋体" pitchFamily="2" charset="-122"/>
              </a:rPr>
              <a:t>）添加约束关系</a:t>
            </a:r>
            <a:r>
              <a:rPr lang="en-US" altLang="zh-CN" sz="2600" dirty="0">
                <a:latin typeface="Times New Roman" pitchFamily="18" charset="0"/>
                <a:ea typeface="宋体" pitchFamily="2" charset="-122"/>
              </a:rPr>
              <a:t>2</a:t>
            </a:r>
            <a:r>
              <a:rPr lang="zh-CN" altLang="en-US" sz="2600" dirty="0">
                <a:latin typeface="Times New Roman" pitchFamily="18" charset="0"/>
                <a:ea typeface="宋体" pitchFamily="2" charset="-122"/>
              </a:rPr>
              <a:t>。依次选中如图</a:t>
            </a:r>
            <a:r>
              <a:rPr lang="en-US" altLang="zh-CN" sz="2600" dirty="0">
                <a:latin typeface="Times New Roman" pitchFamily="18" charset="0"/>
                <a:ea typeface="宋体" pitchFamily="2" charset="-122"/>
              </a:rPr>
              <a:t>8-22</a:t>
            </a:r>
            <a:r>
              <a:rPr lang="zh-CN" altLang="en-US" sz="2600" dirty="0">
                <a:latin typeface="Times New Roman" pitchFamily="18" charset="0"/>
                <a:ea typeface="宋体" pitchFamily="2" charset="-122"/>
              </a:rPr>
              <a:t>所示漏油塞和轴承盖相配合的的一对中心轴，在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放置</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下滑面板中将</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约束类型</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改为“重合”。</a:t>
            </a:r>
          </a:p>
        </p:txBody>
      </p:sp>
      <p:sp>
        <p:nvSpPr>
          <p:cNvPr id="7" name="文本框 6">
            <a:extLst>
              <a:ext uri="{FF2B5EF4-FFF2-40B4-BE49-F238E27FC236}">
                <a16:creationId xmlns:a16="http://schemas.microsoft.com/office/drawing/2014/main" id="{790EA25C-469E-216B-4DBD-5E2E90FD0EAB}"/>
              </a:ext>
            </a:extLst>
          </p:cNvPr>
          <p:cNvSpPr txBox="1"/>
          <p:nvPr/>
        </p:nvSpPr>
        <p:spPr>
          <a:xfrm>
            <a:off x="4397425" y="5760133"/>
            <a:ext cx="3297762" cy="369332"/>
          </a:xfrm>
          <a:prstGeom prst="rect">
            <a:avLst/>
          </a:prstGeom>
          <a:noFill/>
        </p:spPr>
        <p:txBody>
          <a:bodyPr wrap="square">
            <a:spAutoFit/>
          </a:bodyPr>
          <a:lstStyle/>
          <a:p>
            <a:pPr algn="ctr"/>
            <a:r>
              <a:rPr lang="zh-CN" altLang="en-US" sz="1800" dirty="0">
                <a:effectLst/>
                <a:ea typeface="黑体" panose="02010609060101010101" pitchFamily="49" charset="-122"/>
                <a:cs typeface="Times New Roman" panose="02020603050405020304" pitchFamily="18" charset="0"/>
              </a:rPr>
              <a:t>图</a:t>
            </a:r>
            <a:r>
              <a:rPr lang="en-US" altLang="zh-CN" sz="1800" dirty="0">
                <a:effectLst/>
                <a:ea typeface="黑体" panose="02010609060101010101" pitchFamily="49" charset="-122"/>
                <a:cs typeface="Times New Roman" panose="02020603050405020304" pitchFamily="18" charset="0"/>
              </a:rPr>
              <a:t>8-22 </a:t>
            </a:r>
            <a:r>
              <a:rPr lang="zh-CN" altLang="en-US" sz="1800" dirty="0">
                <a:effectLst/>
                <a:ea typeface="黑体" panose="02010609060101010101" pitchFamily="49" charset="-122"/>
                <a:cs typeface="Times New Roman" panose="02020603050405020304" pitchFamily="18" charset="0"/>
              </a:rPr>
              <a:t>约束</a:t>
            </a:r>
            <a:r>
              <a:rPr lang="en-US" altLang="zh-CN" sz="1800" dirty="0">
                <a:effectLst/>
                <a:ea typeface="黑体" panose="02010609060101010101" pitchFamily="49" charset="-122"/>
                <a:cs typeface="Times New Roman" panose="02020603050405020304" pitchFamily="18" charset="0"/>
              </a:rPr>
              <a:t>2</a:t>
            </a:r>
            <a:r>
              <a:rPr lang="zh-CN" altLang="en-US" sz="1800" dirty="0">
                <a:effectLst/>
                <a:ea typeface="黑体" panose="02010609060101010101" pitchFamily="49" charset="-122"/>
                <a:cs typeface="Times New Roman" panose="02020603050405020304" pitchFamily="18" charset="0"/>
              </a:rPr>
              <a:t>参考</a:t>
            </a:r>
            <a:endParaRPr lang="zh-CN" altLang="en-US" dirty="0"/>
          </a:p>
        </p:txBody>
      </p:sp>
      <p:pic>
        <p:nvPicPr>
          <p:cNvPr id="2" name="图片 1">
            <a:extLst>
              <a:ext uri="{FF2B5EF4-FFF2-40B4-BE49-F238E27FC236}">
                <a16:creationId xmlns:a16="http://schemas.microsoft.com/office/drawing/2014/main" id="{75AADCFA-0F20-1071-0E6F-6393F22E862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342298" y="1616220"/>
            <a:ext cx="5507405" cy="4143913"/>
          </a:xfrm>
          <a:prstGeom prst="rect">
            <a:avLst/>
          </a:prstGeom>
        </p:spPr>
      </p:pic>
    </p:spTree>
    <p:extLst>
      <p:ext uri="{BB962C8B-B14F-4D97-AF65-F5344CB8AC3E}">
        <p14:creationId xmlns:p14="http://schemas.microsoft.com/office/powerpoint/2010/main" val="21824887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3" y="482223"/>
            <a:ext cx="11178206" cy="1216743"/>
          </a:xfrm>
          <a:prstGeom prst="rect">
            <a:avLst/>
          </a:prstGeom>
          <a:noFill/>
        </p:spPr>
        <p:txBody>
          <a:bodyPr wrap="square" rtlCol="0">
            <a:spAutoFit/>
          </a:bodyPr>
          <a:lstStyle/>
          <a:p>
            <a:pPr indent="457200">
              <a:lnSpc>
                <a:spcPct val="150000"/>
              </a:lnSpc>
            </a:pPr>
            <a:r>
              <a:rPr lang="en-US" altLang="zh-CN" sz="2600" dirty="0">
                <a:latin typeface="Times New Roman" pitchFamily="18" charset="0"/>
                <a:ea typeface="宋体" pitchFamily="2" charset="-122"/>
              </a:rPr>
              <a:t>4</a:t>
            </a:r>
            <a:r>
              <a:rPr lang="zh-CN" altLang="en-US" sz="2600" dirty="0">
                <a:latin typeface="Times New Roman" pitchFamily="18" charset="0"/>
                <a:ea typeface="宋体" pitchFamily="2" charset="-122"/>
              </a:rPr>
              <a:t>）单击</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元件放置</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操控板上的“确定”按钮，完成漏油塞的装配，结果如图</a:t>
            </a:r>
            <a:r>
              <a:rPr lang="en-US" altLang="zh-CN" sz="2600" dirty="0">
                <a:latin typeface="Times New Roman" pitchFamily="18" charset="0"/>
                <a:ea typeface="宋体" pitchFamily="2" charset="-122"/>
              </a:rPr>
              <a:t>8-23</a:t>
            </a:r>
            <a:r>
              <a:rPr lang="zh-CN" altLang="en-US" sz="2600" dirty="0">
                <a:latin typeface="Times New Roman" pitchFamily="18" charset="0"/>
                <a:ea typeface="宋体" pitchFamily="2" charset="-122"/>
              </a:rPr>
              <a:t>所示。</a:t>
            </a:r>
          </a:p>
        </p:txBody>
      </p:sp>
      <p:sp>
        <p:nvSpPr>
          <p:cNvPr id="7" name="文本框 6">
            <a:extLst>
              <a:ext uri="{FF2B5EF4-FFF2-40B4-BE49-F238E27FC236}">
                <a16:creationId xmlns:a16="http://schemas.microsoft.com/office/drawing/2014/main" id="{790EA25C-469E-216B-4DBD-5E2E90FD0EAB}"/>
              </a:ext>
            </a:extLst>
          </p:cNvPr>
          <p:cNvSpPr txBox="1"/>
          <p:nvPr/>
        </p:nvSpPr>
        <p:spPr>
          <a:xfrm>
            <a:off x="4397425" y="5647839"/>
            <a:ext cx="3297762" cy="369332"/>
          </a:xfrm>
          <a:prstGeom prst="rect">
            <a:avLst/>
          </a:prstGeom>
          <a:noFill/>
        </p:spPr>
        <p:txBody>
          <a:bodyPr wrap="square">
            <a:spAutoFit/>
          </a:bodyPr>
          <a:lstStyle/>
          <a:p>
            <a:pPr algn="ctr"/>
            <a:r>
              <a:rPr lang="zh-CN" altLang="en-US" sz="1800" dirty="0">
                <a:effectLst/>
                <a:ea typeface="黑体" panose="02010609060101010101" pitchFamily="49" charset="-122"/>
                <a:cs typeface="Times New Roman" panose="02020603050405020304" pitchFamily="18" charset="0"/>
              </a:rPr>
              <a:t>图</a:t>
            </a:r>
            <a:r>
              <a:rPr lang="en-US" altLang="zh-CN" sz="1800" dirty="0">
                <a:effectLst/>
                <a:ea typeface="黑体" panose="02010609060101010101" pitchFamily="49" charset="-122"/>
                <a:cs typeface="Times New Roman" panose="02020603050405020304" pitchFamily="18" charset="0"/>
              </a:rPr>
              <a:t>8-23</a:t>
            </a:r>
            <a:r>
              <a:rPr lang="zh-CN" altLang="en-US" sz="1800" dirty="0">
                <a:effectLst/>
                <a:ea typeface="黑体" panose="02010609060101010101" pitchFamily="49" charset="-122"/>
                <a:cs typeface="Times New Roman" panose="02020603050405020304" pitchFamily="18" charset="0"/>
              </a:rPr>
              <a:t>漏油塞的装配效果</a:t>
            </a:r>
            <a:endParaRPr lang="zh-CN" altLang="en-US" dirty="0"/>
          </a:p>
        </p:txBody>
      </p:sp>
      <p:pic>
        <p:nvPicPr>
          <p:cNvPr id="4" name="图片 3">
            <a:extLst>
              <a:ext uri="{FF2B5EF4-FFF2-40B4-BE49-F238E27FC236}">
                <a16:creationId xmlns:a16="http://schemas.microsoft.com/office/drawing/2014/main" id="{0D30E154-AB5B-C735-B420-01ACF0A00A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3424" y="2083994"/>
            <a:ext cx="8745153" cy="3161774"/>
          </a:xfrm>
          <a:prstGeom prst="rect">
            <a:avLst/>
          </a:prstGeom>
        </p:spPr>
      </p:pic>
    </p:spTree>
    <p:extLst>
      <p:ext uri="{BB962C8B-B14F-4D97-AF65-F5344CB8AC3E}">
        <p14:creationId xmlns:p14="http://schemas.microsoft.com/office/powerpoint/2010/main" val="34959645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3" y="353887"/>
            <a:ext cx="11178206" cy="3617401"/>
          </a:xfrm>
          <a:prstGeom prst="rect">
            <a:avLst/>
          </a:prstGeom>
          <a:noFill/>
        </p:spPr>
        <p:txBody>
          <a:bodyPr wrap="square" rtlCol="0">
            <a:spAutoFit/>
          </a:bodyPr>
          <a:lstStyle/>
          <a:p>
            <a:pPr indent="457200">
              <a:lnSpc>
                <a:spcPct val="150000"/>
              </a:lnSpc>
            </a:pPr>
            <a:r>
              <a:rPr lang="en-US" altLang="zh-CN" sz="2600" b="1" dirty="0">
                <a:latin typeface="Times New Roman" pitchFamily="18" charset="0"/>
                <a:ea typeface="宋体" pitchFamily="2" charset="-122"/>
              </a:rPr>
              <a:t>7.</a:t>
            </a:r>
            <a:r>
              <a:rPr lang="zh-CN" altLang="en-US" sz="2600" b="1" dirty="0">
                <a:latin typeface="Times New Roman" pitchFamily="18" charset="0"/>
                <a:ea typeface="宋体" pitchFamily="2" charset="-122"/>
              </a:rPr>
              <a:t>装配盖体</a:t>
            </a:r>
            <a:endParaRPr lang="en-US" altLang="zh-CN" sz="2600" b="1" dirty="0">
              <a:latin typeface="Times New Roman" pitchFamily="18" charset="0"/>
              <a:ea typeface="宋体" pitchFamily="2" charset="-122"/>
            </a:endParaRPr>
          </a:p>
          <a:p>
            <a:pPr indent="457200">
              <a:lnSpc>
                <a:spcPct val="150000"/>
              </a:lnSpc>
            </a:pPr>
            <a:r>
              <a:rPr lang="en-US" altLang="zh-CN" sz="2600" dirty="0">
                <a:latin typeface="Times New Roman" pitchFamily="18" charset="0"/>
                <a:ea typeface="宋体" pitchFamily="2" charset="-122"/>
              </a:rPr>
              <a:t>1</a:t>
            </a:r>
            <a:r>
              <a:rPr lang="zh-CN" altLang="en-US" sz="2600" dirty="0">
                <a:latin typeface="Times New Roman" pitchFamily="18" charset="0"/>
                <a:ea typeface="宋体" pitchFamily="2" charset="-122"/>
              </a:rPr>
              <a:t>）调入模型。单击</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模型</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元件</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区域中的“组装”按钮 ，调入“盖体</a:t>
            </a:r>
            <a:r>
              <a:rPr lang="en-US" altLang="zh-CN" sz="2600" dirty="0">
                <a:latin typeface="Times New Roman" pitchFamily="18" charset="0"/>
                <a:ea typeface="宋体" pitchFamily="2" charset="-122"/>
              </a:rPr>
              <a:t>.</a:t>
            </a:r>
            <a:r>
              <a:rPr lang="en-US" altLang="zh-CN" sz="2600" dirty="0" err="1">
                <a:latin typeface="Times New Roman" pitchFamily="18" charset="0"/>
                <a:ea typeface="宋体" pitchFamily="2" charset="-122"/>
              </a:rPr>
              <a:t>prt</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a:t>
            </a:r>
          </a:p>
          <a:p>
            <a:pPr indent="457200">
              <a:lnSpc>
                <a:spcPct val="150000"/>
              </a:lnSpc>
            </a:pPr>
            <a:r>
              <a:rPr lang="en-US" altLang="zh-CN" sz="2600" dirty="0">
                <a:latin typeface="Times New Roman" pitchFamily="18" charset="0"/>
                <a:ea typeface="宋体" pitchFamily="2" charset="-122"/>
              </a:rPr>
              <a:t>2</a:t>
            </a:r>
            <a:r>
              <a:rPr lang="zh-CN" altLang="en-US" sz="2600" dirty="0">
                <a:latin typeface="Times New Roman" pitchFamily="18" charset="0"/>
                <a:ea typeface="宋体" pitchFamily="2" charset="-122"/>
              </a:rPr>
              <a:t>）添加约束。依次选中图</a:t>
            </a:r>
            <a:r>
              <a:rPr lang="en-US" altLang="zh-CN" sz="2600" dirty="0">
                <a:latin typeface="Times New Roman" pitchFamily="18" charset="0"/>
                <a:ea typeface="宋体" pitchFamily="2" charset="-122"/>
              </a:rPr>
              <a:t>8-24</a:t>
            </a:r>
            <a:r>
              <a:rPr lang="zh-CN" altLang="en-US" sz="2600" dirty="0">
                <a:latin typeface="Times New Roman" pitchFamily="18" charset="0"/>
                <a:ea typeface="宋体" pitchFamily="2" charset="-122"/>
              </a:rPr>
              <a:t>和图</a:t>
            </a:r>
            <a:r>
              <a:rPr lang="en-US" altLang="zh-CN" sz="2600" dirty="0">
                <a:latin typeface="Times New Roman" pitchFamily="18" charset="0"/>
                <a:ea typeface="宋体" pitchFamily="2" charset="-122"/>
              </a:rPr>
              <a:t>8-25</a:t>
            </a:r>
            <a:r>
              <a:rPr lang="zh-CN" altLang="en-US" sz="2600" dirty="0">
                <a:latin typeface="Times New Roman" pitchFamily="18" charset="0"/>
                <a:ea typeface="宋体" pitchFamily="2" charset="-122"/>
              </a:rPr>
              <a:t>中指定的参考（一对端面和一对中心轴）作为匹配对象进行两个约束。</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约束类型</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均为</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重合</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，如果方向不对可通过单击</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放置</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下滑面板中的</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反向</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按钮调整。</a:t>
            </a:r>
          </a:p>
        </p:txBody>
      </p:sp>
      <p:pic>
        <p:nvPicPr>
          <p:cNvPr id="4" name="图片 3">
            <a:extLst>
              <a:ext uri="{FF2B5EF4-FFF2-40B4-BE49-F238E27FC236}">
                <a16:creationId xmlns:a16="http://schemas.microsoft.com/office/drawing/2014/main" id="{56E92DCE-88D7-5F03-19D7-0E7C7696C475}"/>
              </a:ext>
            </a:extLst>
          </p:cNvPr>
          <p:cNvPicPr>
            <a:picLocks noChangeAspect="1"/>
          </p:cNvPicPr>
          <p:nvPr/>
        </p:nvPicPr>
        <p:blipFill>
          <a:blip r:embed="rId2"/>
          <a:stretch>
            <a:fillRect/>
          </a:stretch>
        </p:blipFill>
        <p:spPr>
          <a:xfrm>
            <a:off x="10820684" y="1152024"/>
            <a:ext cx="314325" cy="342900"/>
          </a:xfrm>
          <a:prstGeom prst="rect">
            <a:avLst/>
          </a:prstGeom>
        </p:spPr>
      </p:pic>
    </p:spTree>
    <p:extLst>
      <p:ext uri="{BB962C8B-B14F-4D97-AF65-F5344CB8AC3E}">
        <p14:creationId xmlns:p14="http://schemas.microsoft.com/office/powerpoint/2010/main" val="33686720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6A5580DD-729D-10D9-CE85-860C88CA0C56}"/>
              </a:ext>
            </a:extLst>
          </p:cNvPr>
          <p:cNvSpPr txBox="1"/>
          <p:nvPr/>
        </p:nvSpPr>
        <p:spPr>
          <a:xfrm>
            <a:off x="1648595" y="5038238"/>
            <a:ext cx="3297762" cy="369332"/>
          </a:xfrm>
          <a:prstGeom prst="rect">
            <a:avLst/>
          </a:prstGeom>
          <a:noFill/>
        </p:spPr>
        <p:txBody>
          <a:bodyPr wrap="square">
            <a:spAutoFit/>
          </a:bodyPr>
          <a:lstStyle/>
          <a:p>
            <a:pPr algn="ctr"/>
            <a:r>
              <a:rPr lang="zh-CN" altLang="en-US" sz="1800" dirty="0">
                <a:effectLst/>
                <a:ea typeface="黑体" panose="02010609060101010101" pitchFamily="49" charset="-122"/>
                <a:cs typeface="Times New Roman" panose="02020603050405020304" pitchFamily="18" charset="0"/>
              </a:rPr>
              <a:t>图</a:t>
            </a:r>
            <a:r>
              <a:rPr lang="en-US" altLang="zh-CN" sz="1800" dirty="0">
                <a:effectLst/>
                <a:ea typeface="黑体" panose="02010609060101010101" pitchFamily="49" charset="-122"/>
                <a:cs typeface="Times New Roman" panose="02020603050405020304" pitchFamily="18" charset="0"/>
              </a:rPr>
              <a:t>8-24 </a:t>
            </a:r>
            <a:r>
              <a:rPr lang="zh-CN" altLang="en-US" sz="1800" dirty="0">
                <a:effectLst/>
                <a:ea typeface="黑体" panose="02010609060101010101" pitchFamily="49" charset="-122"/>
                <a:cs typeface="Times New Roman" panose="02020603050405020304" pitchFamily="18" charset="0"/>
              </a:rPr>
              <a:t>盖体约束参考</a:t>
            </a:r>
            <a:endParaRPr lang="zh-CN" altLang="en-US" dirty="0"/>
          </a:p>
        </p:txBody>
      </p:sp>
      <p:pic>
        <p:nvPicPr>
          <p:cNvPr id="4" name="图片 3">
            <a:extLst>
              <a:ext uri="{FF2B5EF4-FFF2-40B4-BE49-F238E27FC236}">
                <a16:creationId xmlns:a16="http://schemas.microsoft.com/office/drawing/2014/main" id="{32FF5E31-A392-FA56-5770-304BD42D10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0321" y="1791761"/>
            <a:ext cx="4854311" cy="2790408"/>
          </a:xfrm>
          <a:prstGeom prst="rect">
            <a:avLst/>
          </a:prstGeom>
        </p:spPr>
      </p:pic>
      <p:pic>
        <p:nvPicPr>
          <p:cNvPr id="5" name="图片 4">
            <a:extLst>
              <a:ext uri="{FF2B5EF4-FFF2-40B4-BE49-F238E27FC236}">
                <a16:creationId xmlns:a16="http://schemas.microsoft.com/office/drawing/2014/main" id="{558C160B-65D3-F421-D388-5F8F17582D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93081" y="1791761"/>
            <a:ext cx="4127845" cy="2861940"/>
          </a:xfrm>
          <a:prstGeom prst="rect">
            <a:avLst/>
          </a:prstGeom>
        </p:spPr>
      </p:pic>
      <p:sp>
        <p:nvSpPr>
          <p:cNvPr id="6" name="文本框 5">
            <a:extLst>
              <a:ext uri="{FF2B5EF4-FFF2-40B4-BE49-F238E27FC236}">
                <a16:creationId xmlns:a16="http://schemas.microsoft.com/office/drawing/2014/main" id="{CAF57E22-4D8E-E7B4-BF89-F8281D57C396}"/>
              </a:ext>
            </a:extLst>
          </p:cNvPr>
          <p:cNvSpPr txBox="1"/>
          <p:nvPr/>
        </p:nvSpPr>
        <p:spPr>
          <a:xfrm>
            <a:off x="7245643" y="5038238"/>
            <a:ext cx="3297762" cy="369332"/>
          </a:xfrm>
          <a:prstGeom prst="rect">
            <a:avLst/>
          </a:prstGeom>
          <a:noFill/>
        </p:spPr>
        <p:txBody>
          <a:bodyPr wrap="square">
            <a:spAutoFit/>
          </a:bodyPr>
          <a:lstStyle/>
          <a:p>
            <a:pPr algn="ctr"/>
            <a:r>
              <a:rPr lang="zh-CN" altLang="en-US" sz="1800" dirty="0">
                <a:effectLst/>
                <a:ea typeface="黑体" panose="02010609060101010101" pitchFamily="49" charset="-122"/>
                <a:cs typeface="Times New Roman" panose="02020603050405020304" pitchFamily="18" charset="0"/>
              </a:rPr>
              <a:t>图</a:t>
            </a:r>
            <a:r>
              <a:rPr lang="en-US" altLang="zh-CN" sz="1800" dirty="0">
                <a:effectLst/>
                <a:ea typeface="黑体" panose="02010609060101010101" pitchFamily="49" charset="-122"/>
                <a:cs typeface="Times New Roman" panose="02020603050405020304" pitchFamily="18" charset="0"/>
              </a:rPr>
              <a:t>8-25 </a:t>
            </a:r>
            <a:r>
              <a:rPr lang="zh-CN" altLang="en-US" sz="1800" dirty="0">
                <a:effectLst/>
                <a:ea typeface="黑体" panose="02010609060101010101" pitchFamily="49" charset="-122"/>
                <a:cs typeface="Times New Roman" panose="02020603050405020304" pitchFamily="18" charset="0"/>
              </a:rPr>
              <a:t>装配约束参考</a:t>
            </a:r>
            <a:endParaRPr lang="zh-CN" altLang="en-US" dirty="0"/>
          </a:p>
        </p:txBody>
      </p:sp>
    </p:spTree>
    <p:extLst>
      <p:ext uri="{BB962C8B-B14F-4D97-AF65-F5344CB8AC3E}">
        <p14:creationId xmlns:p14="http://schemas.microsoft.com/office/powerpoint/2010/main" val="19256563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3" y="482223"/>
            <a:ext cx="11178206" cy="1216743"/>
          </a:xfrm>
          <a:prstGeom prst="rect">
            <a:avLst/>
          </a:prstGeom>
          <a:noFill/>
        </p:spPr>
        <p:txBody>
          <a:bodyPr wrap="square" rtlCol="0">
            <a:spAutoFit/>
          </a:bodyPr>
          <a:lstStyle/>
          <a:p>
            <a:pPr indent="457200">
              <a:lnSpc>
                <a:spcPct val="150000"/>
              </a:lnSpc>
            </a:pPr>
            <a:r>
              <a:rPr lang="en-US" altLang="zh-CN" sz="2600" dirty="0">
                <a:latin typeface="Times New Roman" pitchFamily="18" charset="0"/>
                <a:ea typeface="宋体" pitchFamily="2" charset="-122"/>
              </a:rPr>
              <a:t>3</a:t>
            </a:r>
            <a:r>
              <a:rPr lang="zh-CN" altLang="en-US" sz="2600" dirty="0">
                <a:latin typeface="Times New Roman" pitchFamily="18" charset="0"/>
                <a:ea typeface="宋体" pitchFamily="2" charset="-122"/>
              </a:rPr>
              <a:t>）单击</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元件放置</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操控板上的“确定”按钮，完成盖体的装配，结果如图</a:t>
            </a:r>
            <a:r>
              <a:rPr lang="en-US" altLang="zh-CN" sz="2600" dirty="0">
                <a:latin typeface="Times New Roman" pitchFamily="18" charset="0"/>
                <a:ea typeface="宋体" pitchFamily="2" charset="-122"/>
              </a:rPr>
              <a:t>8-26</a:t>
            </a:r>
            <a:r>
              <a:rPr lang="zh-CN" altLang="en-US" sz="2600" dirty="0">
                <a:latin typeface="Times New Roman" pitchFamily="18" charset="0"/>
                <a:ea typeface="宋体" pitchFamily="2" charset="-122"/>
              </a:rPr>
              <a:t>所示。</a:t>
            </a:r>
          </a:p>
        </p:txBody>
      </p:sp>
      <p:sp>
        <p:nvSpPr>
          <p:cNvPr id="7" name="文本框 6">
            <a:extLst>
              <a:ext uri="{FF2B5EF4-FFF2-40B4-BE49-F238E27FC236}">
                <a16:creationId xmlns:a16="http://schemas.microsoft.com/office/drawing/2014/main" id="{790EA25C-469E-216B-4DBD-5E2E90FD0EAB}"/>
              </a:ext>
            </a:extLst>
          </p:cNvPr>
          <p:cNvSpPr txBox="1"/>
          <p:nvPr/>
        </p:nvSpPr>
        <p:spPr>
          <a:xfrm>
            <a:off x="4397425" y="5760133"/>
            <a:ext cx="3297762" cy="369332"/>
          </a:xfrm>
          <a:prstGeom prst="rect">
            <a:avLst/>
          </a:prstGeom>
          <a:noFill/>
        </p:spPr>
        <p:txBody>
          <a:bodyPr wrap="square">
            <a:spAutoFit/>
          </a:bodyPr>
          <a:lstStyle/>
          <a:p>
            <a:pPr algn="ctr"/>
            <a:r>
              <a:rPr lang="zh-CN" altLang="en-US" sz="1800" dirty="0">
                <a:effectLst/>
                <a:ea typeface="黑体" panose="02010609060101010101" pitchFamily="49" charset="-122"/>
                <a:cs typeface="Times New Roman" panose="02020603050405020304" pitchFamily="18" charset="0"/>
              </a:rPr>
              <a:t>图</a:t>
            </a:r>
            <a:r>
              <a:rPr lang="en-US" altLang="zh-CN" sz="1800" dirty="0">
                <a:effectLst/>
                <a:ea typeface="黑体" panose="02010609060101010101" pitchFamily="49" charset="-122"/>
                <a:cs typeface="Times New Roman" panose="02020603050405020304" pitchFamily="18" charset="0"/>
              </a:rPr>
              <a:t>8-26 </a:t>
            </a:r>
            <a:r>
              <a:rPr lang="zh-CN" altLang="en-US" sz="1800" dirty="0">
                <a:effectLst/>
                <a:ea typeface="黑体" panose="02010609060101010101" pitchFamily="49" charset="-122"/>
                <a:cs typeface="Times New Roman" panose="02020603050405020304" pitchFamily="18" charset="0"/>
              </a:rPr>
              <a:t>盖体的装配效果</a:t>
            </a:r>
            <a:endParaRPr lang="zh-CN" altLang="en-US" dirty="0"/>
          </a:p>
        </p:txBody>
      </p:sp>
      <p:pic>
        <p:nvPicPr>
          <p:cNvPr id="4" name="图片 3">
            <a:extLst>
              <a:ext uri="{FF2B5EF4-FFF2-40B4-BE49-F238E27FC236}">
                <a16:creationId xmlns:a16="http://schemas.microsoft.com/office/drawing/2014/main" id="{C34E59EF-1401-8CB2-9DDC-4273640C58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13160" y="1698966"/>
            <a:ext cx="5165681" cy="3855554"/>
          </a:xfrm>
          <a:prstGeom prst="rect">
            <a:avLst/>
          </a:prstGeom>
        </p:spPr>
      </p:pic>
    </p:spTree>
    <p:extLst>
      <p:ext uri="{BB962C8B-B14F-4D97-AF65-F5344CB8AC3E}">
        <p14:creationId xmlns:p14="http://schemas.microsoft.com/office/powerpoint/2010/main" val="70264561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3" y="353887"/>
            <a:ext cx="11178206" cy="4817729"/>
          </a:xfrm>
          <a:prstGeom prst="rect">
            <a:avLst/>
          </a:prstGeom>
          <a:noFill/>
        </p:spPr>
        <p:txBody>
          <a:bodyPr wrap="square" rtlCol="0">
            <a:spAutoFit/>
          </a:bodyPr>
          <a:lstStyle/>
          <a:p>
            <a:pPr indent="457200">
              <a:lnSpc>
                <a:spcPct val="150000"/>
              </a:lnSpc>
            </a:pPr>
            <a:r>
              <a:rPr lang="en-US" altLang="zh-CN" sz="2600" b="1" dirty="0">
                <a:latin typeface="Times New Roman" pitchFamily="18" charset="0"/>
                <a:ea typeface="宋体" pitchFamily="2" charset="-122"/>
              </a:rPr>
              <a:t>8.</a:t>
            </a:r>
            <a:r>
              <a:rPr lang="zh-CN" altLang="en-US" sz="2600" b="1" dirty="0">
                <a:latin typeface="Times New Roman" pitchFamily="18" charset="0"/>
                <a:ea typeface="宋体" pitchFamily="2" charset="-122"/>
              </a:rPr>
              <a:t>装配双头螺栓</a:t>
            </a:r>
            <a:endParaRPr lang="en-US" altLang="zh-CN" sz="2600" b="1" dirty="0">
              <a:latin typeface="Times New Roman" pitchFamily="18" charset="0"/>
              <a:ea typeface="宋体" pitchFamily="2" charset="-122"/>
            </a:endParaRPr>
          </a:p>
          <a:p>
            <a:pPr indent="457200">
              <a:lnSpc>
                <a:spcPct val="150000"/>
              </a:lnSpc>
            </a:pPr>
            <a:r>
              <a:rPr lang="en-US" altLang="zh-CN" sz="2600" dirty="0">
                <a:latin typeface="Times New Roman" pitchFamily="18" charset="0"/>
                <a:ea typeface="宋体" pitchFamily="2" charset="-122"/>
              </a:rPr>
              <a:t>1</a:t>
            </a:r>
            <a:r>
              <a:rPr lang="zh-CN" altLang="en-US" sz="2600" dirty="0">
                <a:latin typeface="Times New Roman" pitchFamily="18" charset="0"/>
                <a:ea typeface="宋体" pitchFamily="2" charset="-122"/>
              </a:rPr>
              <a:t>）调入模型。单击</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模型</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元件</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区域中的“组装”按钮 ，调入“双头螺栓</a:t>
            </a:r>
            <a:r>
              <a:rPr lang="en-US" altLang="zh-CN" sz="2600" dirty="0">
                <a:latin typeface="Times New Roman" pitchFamily="18" charset="0"/>
                <a:ea typeface="宋体" pitchFamily="2" charset="-122"/>
              </a:rPr>
              <a:t>.</a:t>
            </a:r>
            <a:r>
              <a:rPr lang="en-US" altLang="zh-CN" sz="2600" dirty="0" err="1">
                <a:latin typeface="Times New Roman" pitchFamily="18" charset="0"/>
                <a:ea typeface="宋体" pitchFamily="2" charset="-122"/>
              </a:rPr>
              <a:t>prt</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a:t>
            </a:r>
          </a:p>
          <a:p>
            <a:pPr indent="457200">
              <a:lnSpc>
                <a:spcPct val="150000"/>
              </a:lnSpc>
            </a:pPr>
            <a:r>
              <a:rPr lang="en-US" altLang="zh-CN" sz="2600" dirty="0">
                <a:latin typeface="Times New Roman" pitchFamily="18" charset="0"/>
                <a:ea typeface="宋体" pitchFamily="2" charset="-122"/>
              </a:rPr>
              <a:t>2</a:t>
            </a:r>
            <a:r>
              <a:rPr lang="zh-CN" altLang="en-US" sz="2600" dirty="0">
                <a:latin typeface="Times New Roman" pitchFamily="18" charset="0"/>
                <a:ea typeface="宋体" pitchFamily="2" charset="-122"/>
              </a:rPr>
              <a:t>）添加约束。选中模型树中的轴承盖，在弹出的浮动工具栏中选中“隐藏”按钮     ，将轴承盖隐藏。选用图</a:t>
            </a:r>
            <a:r>
              <a:rPr lang="en-US" altLang="zh-CN" sz="2600" dirty="0">
                <a:latin typeface="Times New Roman" pitchFamily="18" charset="0"/>
                <a:ea typeface="宋体" pitchFamily="2" charset="-122"/>
              </a:rPr>
              <a:t>8-27</a:t>
            </a:r>
            <a:r>
              <a:rPr lang="zh-CN" altLang="en-US" sz="2600" dirty="0">
                <a:latin typeface="Times New Roman" pitchFamily="18" charset="0"/>
                <a:ea typeface="宋体" pitchFamily="2" charset="-122"/>
              </a:rPr>
              <a:t>所示的元件参考和图</a:t>
            </a:r>
            <a:r>
              <a:rPr lang="en-US" altLang="zh-CN" sz="2600" dirty="0">
                <a:latin typeface="Times New Roman" pitchFamily="18" charset="0"/>
                <a:ea typeface="宋体" pitchFamily="2" charset="-122"/>
              </a:rPr>
              <a:t>8-28</a:t>
            </a:r>
            <a:r>
              <a:rPr lang="zh-CN" altLang="en-US" sz="2600" dirty="0">
                <a:latin typeface="Times New Roman" pitchFamily="18" charset="0"/>
                <a:ea typeface="宋体" pitchFamily="2" charset="-122"/>
              </a:rPr>
              <a:t>所示的装配参考作为匹配对象：双头螺栓上为基准平面和中心轴，已装配模型上为轴承底座上平面和中心轴，进行两个约束。</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约束类型</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均为</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重合</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，如果方向不对可通过单击</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放置</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下滑面板中的</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反向</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按钮调整。</a:t>
            </a:r>
          </a:p>
        </p:txBody>
      </p:sp>
      <p:pic>
        <p:nvPicPr>
          <p:cNvPr id="4" name="图片 3">
            <a:extLst>
              <a:ext uri="{FF2B5EF4-FFF2-40B4-BE49-F238E27FC236}">
                <a16:creationId xmlns:a16="http://schemas.microsoft.com/office/drawing/2014/main" id="{56E92DCE-88D7-5F03-19D7-0E7C7696C475}"/>
              </a:ext>
            </a:extLst>
          </p:cNvPr>
          <p:cNvPicPr>
            <a:picLocks noChangeAspect="1"/>
          </p:cNvPicPr>
          <p:nvPr/>
        </p:nvPicPr>
        <p:blipFill>
          <a:blip r:embed="rId2"/>
          <a:stretch>
            <a:fillRect/>
          </a:stretch>
        </p:blipFill>
        <p:spPr>
          <a:xfrm>
            <a:off x="10820684" y="1152024"/>
            <a:ext cx="314325" cy="342900"/>
          </a:xfrm>
          <a:prstGeom prst="rect">
            <a:avLst/>
          </a:prstGeom>
        </p:spPr>
      </p:pic>
      <p:pic>
        <p:nvPicPr>
          <p:cNvPr id="2" name="图片 1">
            <a:extLst>
              <a:ext uri="{FF2B5EF4-FFF2-40B4-BE49-F238E27FC236}">
                <a16:creationId xmlns:a16="http://schemas.microsoft.com/office/drawing/2014/main" id="{C69FC236-27A5-143A-EC3E-F724DD616FB3}"/>
              </a:ext>
            </a:extLst>
          </p:cNvPr>
          <p:cNvPicPr>
            <a:picLocks noChangeAspect="1"/>
          </p:cNvPicPr>
          <p:nvPr/>
        </p:nvPicPr>
        <p:blipFill>
          <a:blip r:embed="rId3"/>
          <a:stretch>
            <a:fillRect/>
          </a:stretch>
        </p:blipFill>
        <p:spPr>
          <a:xfrm>
            <a:off x="1881420" y="2915653"/>
            <a:ext cx="381000" cy="396240"/>
          </a:xfrm>
          <a:prstGeom prst="rect">
            <a:avLst/>
          </a:prstGeom>
        </p:spPr>
      </p:pic>
    </p:spTree>
    <p:extLst>
      <p:ext uri="{BB962C8B-B14F-4D97-AF65-F5344CB8AC3E}">
        <p14:creationId xmlns:p14="http://schemas.microsoft.com/office/powerpoint/2010/main" val="37594796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6A5580DD-729D-10D9-CE85-860C88CA0C56}"/>
              </a:ext>
            </a:extLst>
          </p:cNvPr>
          <p:cNvSpPr txBox="1"/>
          <p:nvPr/>
        </p:nvSpPr>
        <p:spPr>
          <a:xfrm>
            <a:off x="1648595" y="5038238"/>
            <a:ext cx="3297762" cy="369332"/>
          </a:xfrm>
          <a:prstGeom prst="rect">
            <a:avLst/>
          </a:prstGeom>
          <a:noFill/>
        </p:spPr>
        <p:txBody>
          <a:bodyPr wrap="square">
            <a:spAutoFit/>
          </a:bodyPr>
          <a:lstStyle/>
          <a:p>
            <a:pPr algn="ctr"/>
            <a:r>
              <a:rPr lang="zh-CN" altLang="en-US" sz="1800" dirty="0">
                <a:effectLst/>
                <a:ea typeface="黑体" panose="02010609060101010101" pitchFamily="49" charset="-122"/>
                <a:cs typeface="Times New Roman" panose="02020603050405020304" pitchFamily="18" charset="0"/>
              </a:rPr>
              <a:t>图</a:t>
            </a:r>
            <a:r>
              <a:rPr lang="en-US" altLang="zh-CN" sz="1800" dirty="0">
                <a:effectLst/>
                <a:ea typeface="黑体" panose="02010609060101010101" pitchFamily="49" charset="-122"/>
                <a:cs typeface="Times New Roman" panose="02020603050405020304" pitchFamily="18" charset="0"/>
              </a:rPr>
              <a:t>8-27 </a:t>
            </a:r>
            <a:r>
              <a:rPr lang="zh-CN" altLang="en-US" sz="1800" dirty="0">
                <a:effectLst/>
                <a:ea typeface="黑体" panose="02010609060101010101" pitchFamily="49" charset="-122"/>
                <a:cs typeface="Times New Roman" panose="02020603050405020304" pitchFamily="18" charset="0"/>
              </a:rPr>
              <a:t>元件约束参考</a:t>
            </a:r>
            <a:endParaRPr lang="zh-CN" altLang="en-US" dirty="0"/>
          </a:p>
        </p:txBody>
      </p:sp>
      <p:sp>
        <p:nvSpPr>
          <p:cNvPr id="6" name="文本框 5">
            <a:extLst>
              <a:ext uri="{FF2B5EF4-FFF2-40B4-BE49-F238E27FC236}">
                <a16:creationId xmlns:a16="http://schemas.microsoft.com/office/drawing/2014/main" id="{CAF57E22-4D8E-E7B4-BF89-F8281D57C396}"/>
              </a:ext>
            </a:extLst>
          </p:cNvPr>
          <p:cNvSpPr txBox="1"/>
          <p:nvPr/>
        </p:nvSpPr>
        <p:spPr>
          <a:xfrm>
            <a:off x="7245643" y="5038238"/>
            <a:ext cx="3297762" cy="369332"/>
          </a:xfrm>
          <a:prstGeom prst="rect">
            <a:avLst/>
          </a:prstGeom>
          <a:noFill/>
        </p:spPr>
        <p:txBody>
          <a:bodyPr wrap="square">
            <a:spAutoFit/>
          </a:bodyPr>
          <a:lstStyle/>
          <a:p>
            <a:pPr algn="ctr"/>
            <a:r>
              <a:rPr lang="zh-CN" altLang="en-US" sz="1800" dirty="0">
                <a:effectLst/>
                <a:ea typeface="黑体" panose="02010609060101010101" pitchFamily="49" charset="-122"/>
                <a:cs typeface="Times New Roman" panose="02020603050405020304" pitchFamily="18" charset="0"/>
              </a:rPr>
              <a:t>图</a:t>
            </a:r>
            <a:r>
              <a:rPr lang="en-US" altLang="zh-CN" sz="1800" dirty="0">
                <a:effectLst/>
                <a:ea typeface="黑体" panose="02010609060101010101" pitchFamily="49" charset="-122"/>
                <a:cs typeface="Times New Roman" panose="02020603050405020304" pitchFamily="18" charset="0"/>
              </a:rPr>
              <a:t>8-28 </a:t>
            </a:r>
            <a:r>
              <a:rPr lang="zh-CN" altLang="en-US" sz="1800" dirty="0">
                <a:effectLst/>
                <a:ea typeface="黑体" panose="02010609060101010101" pitchFamily="49" charset="-122"/>
                <a:cs typeface="Times New Roman" panose="02020603050405020304" pitchFamily="18" charset="0"/>
              </a:rPr>
              <a:t>装配约束参考</a:t>
            </a:r>
            <a:endParaRPr lang="zh-CN" altLang="en-US" dirty="0"/>
          </a:p>
        </p:txBody>
      </p:sp>
      <p:pic>
        <p:nvPicPr>
          <p:cNvPr id="2" name="图片 1">
            <a:extLst>
              <a:ext uri="{FF2B5EF4-FFF2-40B4-BE49-F238E27FC236}">
                <a16:creationId xmlns:a16="http://schemas.microsoft.com/office/drawing/2014/main" id="{F124AF85-55C6-8ED8-E741-0C8A2D9D1F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18494" y="1928701"/>
            <a:ext cx="3498768" cy="2739552"/>
          </a:xfrm>
          <a:prstGeom prst="rect">
            <a:avLst/>
          </a:prstGeom>
        </p:spPr>
      </p:pic>
      <p:pic>
        <p:nvPicPr>
          <p:cNvPr id="7" name="图片 6">
            <a:extLst>
              <a:ext uri="{FF2B5EF4-FFF2-40B4-BE49-F238E27FC236}">
                <a16:creationId xmlns:a16="http://schemas.microsoft.com/office/drawing/2014/main" id="{8C1188C2-DEF1-CAA2-0226-FCB36CDD934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73734" y="1928701"/>
            <a:ext cx="3737546" cy="2848491"/>
          </a:xfrm>
          <a:prstGeom prst="rect">
            <a:avLst/>
          </a:prstGeom>
        </p:spPr>
      </p:pic>
    </p:spTree>
    <p:extLst>
      <p:ext uri="{BB962C8B-B14F-4D97-AF65-F5344CB8AC3E}">
        <p14:creationId xmlns:p14="http://schemas.microsoft.com/office/powerpoint/2010/main" val="34951026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3" y="482223"/>
            <a:ext cx="11178206" cy="1816908"/>
          </a:xfrm>
          <a:prstGeom prst="rect">
            <a:avLst/>
          </a:prstGeom>
          <a:noFill/>
        </p:spPr>
        <p:txBody>
          <a:bodyPr wrap="square" rtlCol="0">
            <a:spAutoFit/>
          </a:bodyPr>
          <a:lstStyle/>
          <a:p>
            <a:pPr indent="457200">
              <a:lnSpc>
                <a:spcPct val="150000"/>
              </a:lnSpc>
            </a:pPr>
            <a:r>
              <a:rPr lang="en-US" altLang="zh-CN" sz="2600" dirty="0">
                <a:latin typeface="Times New Roman" pitchFamily="18" charset="0"/>
                <a:ea typeface="宋体" pitchFamily="2" charset="-122"/>
              </a:rPr>
              <a:t>3</a:t>
            </a:r>
            <a:r>
              <a:rPr lang="zh-CN" altLang="en-US" sz="2600" dirty="0">
                <a:latin typeface="Times New Roman" pitchFamily="18" charset="0"/>
                <a:ea typeface="宋体" pitchFamily="2" charset="-122"/>
              </a:rPr>
              <a:t>）单击</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元件放置</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操控板上的“确定”按钮，完成双头螺栓的装配，按上述方式装配另一端的双头螺栓，取消轴承盖的隐藏后的模型如图</a:t>
            </a:r>
            <a:r>
              <a:rPr lang="en-US" altLang="zh-CN" sz="2600" dirty="0">
                <a:latin typeface="Times New Roman" pitchFamily="18" charset="0"/>
                <a:ea typeface="宋体" pitchFamily="2" charset="-122"/>
              </a:rPr>
              <a:t>8-29</a:t>
            </a:r>
            <a:r>
              <a:rPr lang="zh-CN" altLang="en-US" sz="2600" dirty="0">
                <a:latin typeface="Times New Roman" pitchFamily="18" charset="0"/>
                <a:ea typeface="宋体" pitchFamily="2" charset="-122"/>
              </a:rPr>
              <a:t>所示。</a:t>
            </a:r>
          </a:p>
        </p:txBody>
      </p:sp>
      <p:sp>
        <p:nvSpPr>
          <p:cNvPr id="7" name="文本框 6">
            <a:extLst>
              <a:ext uri="{FF2B5EF4-FFF2-40B4-BE49-F238E27FC236}">
                <a16:creationId xmlns:a16="http://schemas.microsoft.com/office/drawing/2014/main" id="{790EA25C-469E-216B-4DBD-5E2E90FD0EAB}"/>
              </a:ext>
            </a:extLst>
          </p:cNvPr>
          <p:cNvSpPr txBox="1"/>
          <p:nvPr/>
        </p:nvSpPr>
        <p:spPr>
          <a:xfrm>
            <a:off x="4397425" y="5760133"/>
            <a:ext cx="3297762" cy="369332"/>
          </a:xfrm>
          <a:prstGeom prst="rect">
            <a:avLst/>
          </a:prstGeom>
          <a:noFill/>
        </p:spPr>
        <p:txBody>
          <a:bodyPr wrap="square">
            <a:spAutoFit/>
          </a:bodyPr>
          <a:lstStyle/>
          <a:p>
            <a:pPr algn="ctr"/>
            <a:r>
              <a:rPr lang="zh-CN" altLang="en-US" sz="1800" dirty="0">
                <a:effectLst/>
                <a:ea typeface="黑体" panose="02010609060101010101" pitchFamily="49" charset="-122"/>
                <a:cs typeface="Times New Roman" panose="02020603050405020304" pitchFamily="18" charset="0"/>
              </a:rPr>
              <a:t>图</a:t>
            </a:r>
            <a:r>
              <a:rPr lang="en-US" altLang="zh-CN" sz="1800" dirty="0">
                <a:effectLst/>
                <a:ea typeface="黑体" panose="02010609060101010101" pitchFamily="49" charset="-122"/>
                <a:cs typeface="Times New Roman" panose="02020603050405020304" pitchFamily="18" charset="0"/>
              </a:rPr>
              <a:t>8-29 </a:t>
            </a:r>
            <a:r>
              <a:rPr lang="zh-CN" altLang="en-US" sz="1800" dirty="0">
                <a:effectLst/>
                <a:ea typeface="黑体" panose="02010609060101010101" pitchFamily="49" charset="-122"/>
                <a:cs typeface="Times New Roman" panose="02020603050405020304" pitchFamily="18" charset="0"/>
              </a:rPr>
              <a:t>双头螺栓装配效果</a:t>
            </a:r>
            <a:endParaRPr lang="zh-CN" altLang="en-US" dirty="0"/>
          </a:p>
        </p:txBody>
      </p:sp>
      <p:pic>
        <p:nvPicPr>
          <p:cNvPr id="2" name="图片 1">
            <a:extLst>
              <a:ext uri="{FF2B5EF4-FFF2-40B4-BE49-F238E27FC236}">
                <a16:creationId xmlns:a16="http://schemas.microsoft.com/office/drawing/2014/main" id="{6568FFC3-A47F-28CD-D327-DF3E43BAA1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26319" y="1929760"/>
            <a:ext cx="4739362" cy="3604765"/>
          </a:xfrm>
          <a:prstGeom prst="rect">
            <a:avLst/>
          </a:prstGeom>
        </p:spPr>
      </p:pic>
    </p:spTree>
    <p:extLst>
      <p:ext uri="{BB962C8B-B14F-4D97-AF65-F5344CB8AC3E}">
        <p14:creationId xmlns:p14="http://schemas.microsoft.com/office/powerpoint/2010/main" val="24504388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3" y="353887"/>
            <a:ext cx="11178206" cy="4217565"/>
          </a:xfrm>
          <a:prstGeom prst="rect">
            <a:avLst/>
          </a:prstGeom>
          <a:noFill/>
        </p:spPr>
        <p:txBody>
          <a:bodyPr wrap="square" rtlCol="0">
            <a:spAutoFit/>
          </a:bodyPr>
          <a:lstStyle/>
          <a:p>
            <a:pPr indent="457200">
              <a:lnSpc>
                <a:spcPct val="150000"/>
              </a:lnSpc>
            </a:pPr>
            <a:r>
              <a:rPr lang="en-US" altLang="zh-CN" sz="2600" b="1" dirty="0">
                <a:latin typeface="Times New Roman" pitchFamily="18" charset="0"/>
                <a:ea typeface="宋体" pitchFamily="2" charset="-122"/>
              </a:rPr>
              <a:t>9.</a:t>
            </a:r>
            <a:r>
              <a:rPr lang="zh-CN" altLang="en-US" sz="2600" b="1" dirty="0">
                <a:latin typeface="Times New Roman" pitchFamily="18" charset="0"/>
                <a:ea typeface="宋体" pitchFamily="2" charset="-122"/>
              </a:rPr>
              <a:t>装配螺母</a:t>
            </a:r>
            <a:endParaRPr lang="en-US" altLang="zh-CN" sz="2600" b="1" dirty="0">
              <a:latin typeface="Times New Roman" pitchFamily="18" charset="0"/>
              <a:ea typeface="宋体" pitchFamily="2" charset="-122"/>
            </a:endParaRPr>
          </a:p>
          <a:p>
            <a:pPr indent="457200">
              <a:lnSpc>
                <a:spcPct val="150000"/>
              </a:lnSpc>
            </a:pPr>
            <a:r>
              <a:rPr lang="en-US" altLang="zh-CN" sz="2600" dirty="0">
                <a:latin typeface="Times New Roman" pitchFamily="18" charset="0"/>
                <a:ea typeface="宋体" pitchFamily="2" charset="-122"/>
              </a:rPr>
              <a:t>1</a:t>
            </a:r>
            <a:r>
              <a:rPr lang="zh-CN" altLang="en-US" sz="2600" dirty="0">
                <a:latin typeface="Times New Roman" pitchFamily="18" charset="0"/>
                <a:ea typeface="宋体" pitchFamily="2" charset="-122"/>
              </a:rPr>
              <a:t>）调入模型。单击</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模型</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元件</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区域中的“组装”按钮 ，调入“螺母</a:t>
            </a:r>
            <a:r>
              <a:rPr lang="en-US" altLang="zh-CN" sz="2600" dirty="0">
                <a:latin typeface="Times New Roman" pitchFamily="18" charset="0"/>
                <a:ea typeface="宋体" pitchFamily="2" charset="-122"/>
              </a:rPr>
              <a:t>.</a:t>
            </a:r>
            <a:r>
              <a:rPr lang="en-US" altLang="zh-CN" sz="2600" dirty="0" err="1">
                <a:latin typeface="Times New Roman" pitchFamily="18" charset="0"/>
                <a:ea typeface="宋体" pitchFamily="2" charset="-122"/>
              </a:rPr>
              <a:t>prt</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a:t>
            </a:r>
          </a:p>
          <a:p>
            <a:pPr indent="457200">
              <a:lnSpc>
                <a:spcPct val="150000"/>
              </a:lnSpc>
            </a:pPr>
            <a:r>
              <a:rPr lang="en-US" altLang="zh-CN" sz="2600" dirty="0">
                <a:latin typeface="Times New Roman" pitchFamily="18" charset="0"/>
                <a:ea typeface="宋体" pitchFamily="2" charset="-122"/>
              </a:rPr>
              <a:t>2</a:t>
            </a:r>
            <a:r>
              <a:rPr lang="zh-CN" altLang="en-US" sz="2600" dirty="0">
                <a:latin typeface="Times New Roman" pitchFamily="18" charset="0"/>
                <a:ea typeface="宋体" pitchFamily="2" charset="-122"/>
              </a:rPr>
              <a:t>）添加约束。选用图</a:t>
            </a:r>
            <a:r>
              <a:rPr lang="en-US" altLang="zh-CN" sz="2600" dirty="0">
                <a:latin typeface="Times New Roman" pitchFamily="18" charset="0"/>
                <a:ea typeface="宋体" pitchFamily="2" charset="-122"/>
              </a:rPr>
              <a:t>8-30</a:t>
            </a:r>
            <a:r>
              <a:rPr lang="zh-CN" altLang="en-US" sz="2600" dirty="0">
                <a:latin typeface="Times New Roman" pitchFamily="18" charset="0"/>
                <a:ea typeface="宋体" pitchFamily="2" charset="-122"/>
              </a:rPr>
              <a:t>和图</a:t>
            </a:r>
            <a:r>
              <a:rPr lang="en-US" altLang="zh-CN" sz="2600" dirty="0">
                <a:latin typeface="Times New Roman" pitchFamily="18" charset="0"/>
                <a:ea typeface="宋体" pitchFamily="2" charset="-122"/>
              </a:rPr>
              <a:t>8-31</a:t>
            </a:r>
            <a:r>
              <a:rPr lang="zh-CN" altLang="en-US" sz="2600" dirty="0">
                <a:latin typeface="Times New Roman" pitchFamily="18" charset="0"/>
                <a:ea typeface="宋体" pitchFamily="2" charset="-122"/>
              </a:rPr>
              <a:t>中指定的参考作为匹配对象：螺母上为底部端面和中心轴，已装配模型上为轴承盖上部平面和中心轴，进行两个约束。</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约束类型</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均为</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重合</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，如果方向不对，可通过单击</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放置</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下滑面板中的</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反向</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按钮调整。</a:t>
            </a:r>
          </a:p>
        </p:txBody>
      </p:sp>
      <p:pic>
        <p:nvPicPr>
          <p:cNvPr id="4" name="图片 3">
            <a:extLst>
              <a:ext uri="{FF2B5EF4-FFF2-40B4-BE49-F238E27FC236}">
                <a16:creationId xmlns:a16="http://schemas.microsoft.com/office/drawing/2014/main" id="{56E92DCE-88D7-5F03-19D7-0E7C7696C475}"/>
              </a:ext>
            </a:extLst>
          </p:cNvPr>
          <p:cNvPicPr>
            <a:picLocks noChangeAspect="1"/>
          </p:cNvPicPr>
          <p:nvPr/>
        </p:nvPicPr>
        <p:blipFill>
          <a:blip r:embed="rId2"/>
          <a:stretch>
            <a:fillRect/>
          </a:stretch>
        </p:blipFill>
        <p:spPr>
          <a:xfrm>
            <a:off x="10820684" y="1152024"/>
            <a:ext cx="314325" cy="342900"/>
          </a:xfrm>
          <a:prstGeom prst="rect">
            <a:avLst/>
          </a:prstGeom>
        </p:spPr>
      </p:pic>
    </p:spTree>
    <p:extLst>
      <p:ext uri="{BB962C8B-B14F-4D97-AF65-F5344CB8AC3E}">
        <p14:creationId xmlns:p14="http://schemas.microsoft.com/office/powerpoint/2010/main" val="64898201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6A5580DD-729D-10D9-CE85-860C88CA0C56}"/>
              </a:ext>
            </a:extLst>
          </p:cNvPr>
          <p:cNvSpPr txBox="1"/>
          <p:nvPr/>
        </p:nvSpPr>
        <p:spPr>
          <a:xfrm>
            <a:off x="1648595" y="5038238"/>
            <a:ext cx="3297762" cy="369332"/>
          </a:xfrm>
          <a:prstGeom prst="rect">
            <a:avLst/>
          </a:prstGeom>
          <a:noFill/>
        </p:spPr>
        <p:txBody>
          <a:bodyPr wrap="square">
            <a:spAutoFit/>
          </a:bodyPr>
          <a:lstStyle/>
          <a:p>
            <a:pPr algn="ctr"/>
            <a:r>
              <a:rPr lang="zh-CN" altLang="en-US" sz="1800" dirty="0">
                <a:effectLst/>
                <a:ea typeface="黑体" panose="02010609060101010101" pitchFamily="49" charset="-122"/>
                <a:cs typeface="Times New Roman" panose="02020603050405020304" pitchFamily="18" charset="0"/>
              </a:rPr>
              <a:t>图</a:t>
            </a:r>
            <a:r>
              <a:rPr lang="en-US" altLang="zh-CN" sz="1800" dirty="0">
                <a:effectLst/>
                <a:ea typeface="黑体" panose="02010609060101010101" pitchFamily="49" charset="-122"/>
                <a:cs typeface="Times New Roman" panose="02020603050405020304" pitchFamily="18" charset="0"/>
              </a:rPr>
              <a:t>8-30 </a:t>
            </a:r>
            <a:r>
              <a:rPr lang="zh-CN" altLang="en-US" sz="1800" dirty="0">
                <a:effectLst/>
                <a:ea typeface="黑体" panose="02010609060101010101" pitchFamily="49" charset="-122"/>
                <a:cs typeface="Times New Roman" panose="02020603050405020304" pitchFamily="18" charset="0"/>
              </a:rPr>
              <a:t>元件约束参考</a:t>
            </a:r>
            <a:endParaRPr lang="zh-CN" altLang="en-US" dirty="0"/>
          </a:p>
        </p:txBody>
      </p:sp>
      <p:sp>
        <p:nvSpPr>
          <p:cNvPr id="6" name="文本框 5">
            <a:extLst>
              <a:ext uri="{FF2B5EF4-FFF2-40B4-BE49-F238E27FC236}">
                <a16:creationId xmlns:a16="http://schemas.microsoft.com/office/drawing/2014/main" id="{CAF57E22-4D8E-E7B4-BF89-F8281D57C396}"/>
              </a:ext>
            </a:extLst>
          </p:cNvPr>
          <p:cNvSpPr txBox="1"/>
          <p:nvPr/>
        </p:nvSpPr>
        <p:spPr>
          <a:xfrm>
            <a:off x="7245643" y="5038238"/>
            <a:ext cx="3297762" cy="369332"/>
          </a:xfrm>
          <a:prstGeom prst="rect">
            <a:avLst/>
          </a:prstGeom>
          <a:noFill/>
        </p:spPr>
        <p:txBody>
          <a:bodyPr wrap="square">
            <a:spAutoFit/>
          </a:bodyPr>
          <a:lstStyle/>
          <a:p>
            <a:pPr algn="ctr"/>
            <a:r>
              <a:rPr lang="zh-CN" altLang="en-US" sz="1800" dirty="0">
                <a:effectLst/>
                <a:ea typeface="黑体" panose="02010609060101010101" pitchFamily="49" charset="-122"/>
                <a:cs typeface="Times New Roman" panose="02020603050405020304" pitchFamily="18" charset="0"/>
              </a:rPr>
              <a:t>图</a:t>
            </a:r>
            <a:r>
              <a:rPr lang="en-US" altLang="zh-CN" sz="1800" dirty="0">
                <a:effectLst/>
                <a:ea typeface="黑体" panose="02010609060101010101" pitchFamily="49" charset="-122"/>
                <a:cs typeface="Times New Roman" panose="02020603050405020304" pitchFamily="18" charset="0"/>
              </a:rPr>
              <a:t>8-31 </a:t>
            </a:r>
            <a:r>
              <a:rPr lang="zh-CN" altLang="en-US" sz="1800" dirty="0">
                <a:effectLst/>
                <a:ea typeface="黑体" panose="02010609060101010101" pitchFamily="49" charset="-122"/>
                <a:cs typeface="Times New Roman" panose="02020603050405020304" pitchFamily="18" charset="0"/>
              </a:rPr>
              <a:t>装配约束参考</a:t>
            </a:r>
            <a:endParaRPr lang="zh-CN" altLang="en-US" dirty="0"/>
          </a:p>
        </p:txBody>
      </p:sp>
      <p:pic>
        <p:nvPicPr>
          <p:cNvPr id="4" name="图片 3">
            <a:extLst>
              <a:ext uri="{FF2B5EF4-FFF2-40B4-BE49-F238E27FC236}">
                <a16:creationId xmlns:a16="http://schemas.microsoft.com/office/drawing/2014/main" id="{48DB296F-5E45-65D1-3428-B264749917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76926" y="1819762"/>
            <a:ext cx="2411704" cy="2692974"/>
          </a:xfrm>
          <a:prstGeom prst="rect">
            <a:avLst/>
          </a:prstGeom>
        </p:spPr>
      </p:pic>
      <p:pic>
        <p:nvPicPr>
          <p:cNvPr id="5" name="图片 4">
            <a:extLst>
              <a:ext uri="{FF2B5EF4-FFF2-40B4-BE49-F238E27FC236}">
                <a16:creationId xmlns:a16="http://schemas.microsoft.com/office/drawing/2014/main" id="{F837A741-F7D6-9010-4DA7-A2DE34B9F9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09267" y="1794850"/>
            <a:ext cx="3434138" cy="3017782"/>
          </a:xfrm>
          <a:prstGeom prst="rect">
            <a:avLst/>
          </a:prstGeom>
        </p:spPr>
      </p:pic>
    </p:spTree>
    <p:extLst>
      <p:ext uri="{BB962C8B-B14F-4D97-AF65-F5344CB8AC3E}">
        <p14:creationId xmlns:p14="http://schemas.microsoft.com/office/powerpoint/2010/main" val="1959216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3" y="482223"/>
            <a:ext cx="11178206" cy="1816908"/>
          </a:xfrm>
          <a:prstGeom prst="rect">
            <a:avLst/>
          </a:prstGeom>
          <a:noFill/>
        </p:spPr>
        <p:txBody>
          <a:bodyPr wrap="square" rtlCol="0">
            <a:spAutoFit/>
          </a:bodyPr>
          <a:lstStyle/>
          <a:p>
            <a:pPr indent="457200">
              <a:lnSpc>
                <a:spcPct val="150000"/>
              </a:lnSpc>
            </a:pPr>
            <a:r>
              <a:rPr lang="en-US" altLang="zh-CN" sz="2600" dirty="0">
                <a:latin typeface="Times New Roman" pitchFamily="18" charset="0"/>
                <a:ea typeface="宋体" pitchFamily="2" charset="-122"/>
              </a:rPr>
              <a:t>3</a:t>
            </a:r>
            <a:r>
              <a:rPr lang="zh-CN" altLang="en-US" sz="2600" dirty="0">
                <a:latin typeface="Times New Roman" pitchFamily="18" charset="0"/>
                <a:ea typeface="宋体" pitchFamily="2" charset="-122"/>
              </a:rPr>
              <a:t>）单击</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元件放置</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操控板上的“确定”按钮，完成螺母装配，结果如图</a:t>
            </a:r>
            <a:r>
              <a:rPr lang="en-US" altLang="zh-CN" sz="2600" dirty="0">
                <a:latin typeface="Times New Roman" pitchFamily="18" charset="0"/>
                <a:ea typeface="宋体" pitchFamily="2" charset="-122"/>
              </a:rPr>
              <a:t>8-32</a:t>
            </a:r>
            <a:r>
              <a:rPr lang="zh-CN" altLang="en-US" sz="2600" dirty="0">
                <a:latin typeface="Times New Roman" pitchFamily="18" charset="0"/>
                <a:ea typeface="宋体" pitchFamily="2" charset="-122"/>
              </a:rPr>
              <a:t>所示。按上述方法装配另外三个螺母，轴承座装配完成效果如图</a:t>
            </a:r>
            <a:r>
              <a:rPr lang="en-US" altLang="zh-CN" sz="2600" dirty="0">
                <a:latin typeface="Times New Roman" pitchFamily="18" charset="0"/>
                <a:ea typeface="宋体" pitchFamily="2" charset="-122"/>
              </a:rPr>
              <a:t>8-33</a:t>
            </a:r>
            <a:r>
              <a:rPr lang="zh-CN" altLang="en-US" sz="2600" dirty="0">
                <a:latin typeface="Times New Roman" pitchFamily="18" charset="0"/>
                <a:ea typeface="宋体" pitchFamily="2" charset="-122"/>
              </a:rPr>
              <a:t>所示。</a:t>
            </a:r>
          </a:p>
        </p:txBody>
      </p:sp>
      <p:sp>
        <p:nvSpPr>
          <p:cNvPr id="7" name="文本框 6">
            <a:extLst>
              <a:ext uri="{FF2B5EF4-FFF2-40B4-BE49-F238E27FC236}">
                <a16:creationId xmlns:a16="http://schemas.microsoft.com/office/drawing/2014/main" id="{790EA25C-469E-216B-4DBD-5E2E90FD0EAB}"/>
              </a:ext>
            </a:extLst>
          </p:cNvPr>
          <p:cNvSpPr txBox="1"/>
          <p:nvPr/>
        </p:nvSpPr>
        <p:spPr>
          <a:xfrm>
            <a:off x="1124836" y="5776175"/>
            <a:ext cx="3297762" cy="369332"/>
          </a:xfrm>
          <a:prstGeom prst="rect">
            <a:avLst/>
          </a:prstGeom>
          <a:noFill/>
        </p:spPr>
        <p:txBody>
          <a:bodyPr wrap="square">
            <a:spAutoFit/>
          </a:bodyPr>
          <a:lstStyle/>
          <a:p>
            <a:pPr algn="ctr"/>
            <a:r>
              <a:rPr lang="zh-CN" altLang="en-US" sz="1800" dirty="0">
                <a:effectLst/>
                <a:ea typeface="黑体" panose="02010609060101010101" pitchFamily="49" charset="-122"/>
                <a:cs typeface="Times New Roman" panose="02020603050405020304" pitchFamily="18" charset="0"/>
              </a:rPr>
              <a:t>图</a:t>
            </a:r>
            <a:r>
              <a:rPr lang="en-US" altLang="zh-CN" sz="1800" dirty="0">
                <a:effectLst/>
                <a:ea typeface="黑体" panose="02010609060101010101" pitchFamily="49" charset="-122"/>
                <a:cs typeface="Times New Roman" panose="02020603050405020304" pitchFamily="18" charset="0"/>
              </a:rPr>
              <a:t>8-32 </a:t>
            </a:r>
            <a:r>
              <a:rPr lang="zh-CN" altLang="en-US" sz="1800" dirty="0">
                <a:effectLst/>
                <a:ea typeface="黑体" panose="02010609060101010101" pitchFamily="49" charset="-122"/>
                <a:cs typeface="Times New Roman" panose="02020603050405020304" pitchFamily="18" charset="0"/>
              </a:rPr>
              <a:t>螺母装配效果</a:t>
            </a:r>
            <a:endParaRPr lang="zh-CN" altLang="en-US" dirty="0"/>
          </a:p>
        </p:txBody>
      </p:sp>
      <p:pic>
        <p:nvPicPr>
          <p:cNvPr id="4" name="图片 3">
            <a:extLst>
              <a:ext uri="{FF2B5EF4-FFF2-40B4-BE49-F238E27FC236}">
                <a16:creationId xmlns:a16="http://schemas.microsoft.com/office/drawing/2014/main" id="{1C01868E-C230-8CAF-16BB-CE0A5E0C25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5546" y="2213418"/>
            <a:ext cx="4178546" cy="3289023"/>
          </a:xfrm>
          <a:prstGeom prst="rect">
            <a:avLst/>
          </a:prstGeom>
        </p:spPr>
      </p:pic>
      <p:pic>
        <p:nvPicPr>
          <p:cNvPr id="5" name="图片 4">
            <a:extLst>
              <a:ext uri="{FF2B5EF4-FFF2-40B4-BE49-F238E27FC236}">
                <a16:creationId xmlns:a16="http://schemas.microsoft.com/office/drawing/2014/main" id="{49DB73A4-AE2A-21C6-AFB2-EA3AB1B0F8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47677" y="2313285"/>
            <a:ext cx="4338526" cy="3189155"/>
          </a:xfrm>
          <a:prstGeom prst="rect">
            <a:avLst/>
          </a:prstGeom>
        </p:spPr>
      </p:pic>
      <p:sp>
        <p:nvSpPr>
          <p:cNvPr id="6" name="文本框 5">
            <a:extLst>
              <a:ext uri="{FF2B5EF4-FFF2-40B4-BE49-F238E27FC236}">
                <a16:creationId xmlns:a16="http://schemas.microsoft.com/office/drawing/2014/main" id="{9A624757-B780-64B8-363C-71F2716676F1}"/>
              </a:ext>
            </a:extLst>
          </p:cNvPr>
          <p:cNvSpPr txBox="1"/>
          <p:nvPr/>
        </p:nvSpPr>
        <p:spPr>
          <a:xfrm>
            <a:off x="7036352" y="5769535"/>
            <a:ext cx="3297762" cy="369332"/>
          </a:xfrm>
          <a:prstGeom prst="rect">
            <a:avLst/>
          </a:prstGeom>
          <a:noFill/>
        </p:spPr>
        <p:txBody>
          <a:bodyPr wrap="square">
            <a:spAutoFit/>
          </a:bodyPr>
          <a:lstStyle/>
          <a:p>
            <a:pPr algn="ctr"/>
            <a:r>
              <a:rPr lang="zh-CN" altLang="en-US" sz="1800" dirty="0">
                <a:effectLst/>
                <a:ea typeface="黑体" panose="02010609060101010101" pitchFamily="49" charset="-122"/>
                <a:cs typeface="Times New Roman" panose="02020603050405020304" pitchFamily="18" charset="0"/>
              </a:rPr>
              <a:t>图</a:t>
            </a:r>
            <a:r>
              <a:rPr lang="en-US" altLang="zh-CN" sz="1800" dirty="0">
                <a:effectLst/>
                <a:ea typeface="黑体" panose="02010609060101010101" pitchFamily="49" charset="-122"/>
                <a:cs typeface="Times New Roman" panose="02020603050405020304" pitchFamily="18" charset="0"/>
              </a:rPr>
              <a:t>8-33 </a:t>
            </a:r>
            <a:r>
              <a:rPr lang="zh-CN" altLang="en-US" sz="1800" dirty="0">
                <a:effectLst/>
                <a:ea typeface="黑体" panose="02010609060101010101" pitchFamily="49" charset="-122"/>
                <a:cs typeface="Times New Roman" panose="02020603050405020304" pitchFamily="18" charset="0"/>
              </a:rPr>
              <a:t>轴承座装配完成效果</a:t>
            </a:r>
            <a:endParaRPr lang="zh-CN" altLang="en-US" dirty="0"/>
          </a:p>
        </p:txBody>
      </p:sp>
    </p:spTree>
    <p:extLst>
      <p:ext uri="{BB962C8B-B14F-4D97-AF65-F5344CB8AC3E}">
        <p14:creationId xmlns:p14="http://schemas.microsoft.com/office/powerpoint/2010/main" val="162065504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0562" y="470647"/>
            <a:ext cx="3565712" cy="737510"/>
          </a:xfrm>
          <a:prstGeom prst="rect">
            <a:avLst/>
          </a:prstGeom>
          <a:solidFill>
            <a:srgbClr val="0000FF"/>
          </a:solidFill>
        </p:spPr>
        <p:txBody>
          <a:bodyPr wrap="square" rtlCol="0">
            <a:spAutoFit/>
          </a:bodyPr>
          <a:lstStyle/>
          <a:p>
            <a:pPr>
              <a:lnSpc>
                <a:spcPct val="150000"/>
              </a:lnSpc>
            </a:pPr>
            <a:r>
              <a:rPr lang="en-US" altLang="zh-CN" sz="3200" dirty="0">
                <a:solidFill>
                  <a:schemeClr val="bg1"/>
                </a:solidFill>
                <a:latin typeface="Times New Roman" pitchFamily="18" charset="0"/>
                <a:ea typeface="黑体" pitchFamily="49" charset="-122"/>
              </a:rPr>
              <a:t>8.3 </a:t>
            </a:r>
            <a:r>
              <a:rPr lang="zh-CN" altLang="en-US" sz="3200" dirty="0">
                <a:solidFill>
                  <a:schemeClr val="bg1"/>
                </a:solidFill>
                <a:latin typeface="Times New Roman" pitchFamily="18" charset="0"/>
                <a:ea typeface="黑体" pitchFamily="49" charset="-122"/>
              </a:rPr>
              <a:t>连接装配</a:t>
            </a:r>
            <a:endParaRPr lang="en-US" altLang="zh-CN" sz="3200" dirty="0">
              <a:solidFill>
                <a:schemeClr val="bg1"/>
              </a:solidFill>
              <a:latin typeface="Times New Roman" pitchFamily="18" charset="0"/>
              <a:ea typeface="黑体" pitchFamily="49" charset="-122"/>
            </a:endParaRPr>
          </a:p>
        </p:txBody>
      </p:sp>
      <p:sp>
        <p:nvSpPr>
          <p:cNvPr id="3" name="TextBox 2"/>
          <p:cNvSpPr txBox="1"/>
          <p:nvPr/>
        </p:nvSpPr>
        <p:spPr>
          <a:xfrm>
            <a:off x="457203" y="1279582"/>
            <a:ext cx="11178206" cy="3617401"/>
          </a:xfrm>
          <a:prstGeom prst="rect">
            <a:avLst/>
          </a:prstGeom>
          <a:noFill/>
        </p:spPr>
        <p:txBody>
          <a:bodyPr wrap="square" rtlCol="0">
            <a:spAutoFit/>
          </a:bodyPr>
          <a:lstStyle/>
          <a:p>
            <a:pPr indent="457200">
              <a:lnSpc>
                <a:spcPct val="150000"/>
              </a:lnSpc>
            </a:pPr>
            <a:r>
              <a:rPr lang="zh-CN" altLang="en-US" sz="2600" dirty="0">
                <a:latin typeface="Times New Roman" pitchFamily="18" charset="0"/>
                <a:ea typeface="宋体" pitchFamily="2" charset="-122"/>
              </a:rPr>
              <a:t>连接装配主要考虑了机构运动的要素，它是使用预定义约束集来定义元件在组件中的运动。在</a:t>
            </a:r>
            <a:r>
              <a:rPr lang="en-US" altLang="zh-CN" sz="2600" dirty="0">
                <a:latin typeface="Times New Roman" pitchFamily="18" charset="0"/>
                <a:ea typeface="宋体" pitchFamily="2" charset="-122"/>
              </a:rPr>
              <a:t>Creo Parametric 8.0</a:t>
            </a:r>
            <a:r>
              <a:rPr lang="zh-CN" altLang="en-US" sz="2600" dirty="0">
                <a:latin typeface="Times New Roman" pitchFamily="18" charset="0"/>
                <a:ea typeface="宋体" pitchFamily="2" charset="-122"/>
              </a:rPr>
              <a:t>中，连接装配是对产品结构进行运动仿真和动力学分析的前提。</a:t>
            </a:r>
            <a:endParaRPr lang="en-US" altLang="zh-CN" sz="2600" dirty="0">
              <a:latin typeface="Times New Roman" pitchFamily="18" charset="0"/>
              <a:ea typeface="宋体" pitchFamily="2" charset="-122"/>
            </a:endParaRPr>
          </a:p>
          <a:p>
            <a:pPr indent="457200">
              <a:lnSpc>
                <a:spcPct val="150000"/>
              </a:lnSpc>
            </a:pPr>
            <a:r>
              <a:rPr lang="zh-CN" altLang="en-US" sz="2600" dirty="0">
                <a:latin typeface="Times New Roman" pitchFamily="18" charset="0"/>
                <a:ea typeface="宋体" pitchFamily="2" charset="-122"/>
              </a:rPr>
              <a:t>连接装配的定义和放置约束的定义非常相似，即在功能区出现的</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元件放置</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选项卡中，从“预定义约束集”下拉列表框中选择所需要的连接类型选项，如图</a:t>
            </a:r>
            <a:r>
              <a:rPr lang="en-US" altLang="zh-CN" sz="2600" dirty="0">
                <a:latin typeface="Times New Roman" pitchFamily="18" charset="0"/>
                <a:ea typeface="宋体" pitchFamily="2" charset="-122"/>
              </a:rPr>
              <a:t>8-34</a:t>
            </a:r>
            <a:r>
              <a:rPr lang="zh-CN" altLang="en-US" sz="2600" dirty="0">
                <a:latin typeface="Times New Roman" pitchFamily="18" charset="0"/>
                <a:ea typeface="宋体" pitchFamily="2" charset="-122"/>
              </a:rPr>
              <a:t>所示。</a:t>
            </a:r>
          </a:p>
        </p:txBody>
      </p:sp>
    </p:spTree>
    <p:extLst>
      <p:ext uri="{BB962C8B-B14F-4D97-AF65-F5344CB8AC3E}">
        <p14:creationId xmlns:p14="http://schemas.microsoft.com/office/powerpoint/2010/main" val="64681909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6A5580DD-729D-10D9-CE85-860C88CA0C56}"/>
              </a:ext>
            </a:extLst>
          </p:cNvPr>
          <p:cNvSpPr txBox="1"/>
          <p:nvPr/>
        </p:nvSpPr>
        <p:spPr>
          <a:xfrm>
            <a:off x="4447119" y="5389930"/>
            <a:ext cx="3297762" cy="369332"/>
          </a:xfrm>
          <a:prstGeom prst="rect">
            <a:avLst/>
          </a:prstGeom>
          <a:noFill/>
        </p:spPr>
        <p:txBody>
          <a:bodyPr wrap="square">
            <a:spAutoFit/>
          </a:bodyPr>
          <a:lstStyle/>
          <a:p>
            <a:pPr algn="ctr"/>
            <a:r>
              <a:rPr lang="zh-CN" altLang="en-US" sz="1800" dirty="0">
                <a:effectLst/>
                <a:ea typeface="黑体" panose="02010609060101010101" pitchFamily="49" charset="-122"/>
                <a:cs typeface="Times New Roman" panose="02020603050405020304" pitchFamily="18" charset="0"/>
              </a:rPr>
              <a:t>图</a:t>
            </a:r>
            <a:r>
              <a:rPr lang="en-US" altLang="zh-CN" sz="1800" dirty="0">
                <a:effectLst/>
                <a:ea typeface="黑体" panose="02010609060101010101" pitchFamily="49" charset="-122"/>
                <a:cs typeface="Times New Roman" panose="02020603050405020304" pitchFamily="18" charset="0"/>
              </a:rPr>
              <a:t>8-30 </a:t>
            </a:r>
            <a:r>
              <a:rPr lang="zh-CN" altLang="en-US" sz="1800" dirty="0">
                <a:effectLst/>
                <a:ea typeface="黑体" panose="02010609060101010101" pitchFamily="49" charset="-122"/>
                <a:cs typeface="Times New Roman" panose="02020603050405020304" pitchFamily="18" charset="0"/>
              </a:rPr>
              <a:t>元件约束参考</a:t>
            </a:r>
            <a:endParaRPr lang="zh-CN" altLang="en-US" dirty="0"/>
          </a:p>
        </p:txBody>
      </p:sp>
      <p:pic>
        <p:nvPicPr>
          <p:cNvPr id="2" name="图片 1">
            <a:extLst>
              <a:ext uri="{FF2B5EF4-FFF2-40B4-BE49-F238E27FC236}">
                <a16:creationId xmlns:a16="http://schemas.microsoft.com/office/drawing/2014/main" id="{9A89CC0E-645D-08D2-EF46-321A3A4798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80085" y="1098738"/>
            <a:ext cx="3831831" cy="4090414"/>
          </a:xfrm>
          <a:prstGeom prst="rect">
            <a:avLst/>
          </a:prstGeom>
        </p:spPr>
      </p:pic>
    </p:spTree>
    <p:extLst>
      <p:ext uri="{BB962C8B-B14F-4D97-AF65-F5344CB8AC3E}">
        <p14:creationId xmlns:p14="http://schemas.microsoft.com/office/powerpoint/2010/main" val="398125506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6A5580DD-729D-10D9-CE85-860C88CA0C56}"/>
              </a:ext>
            </a:extLst>
          </p:cNvPr>
          <p:cNvSpPr txBox="1"/>
          <p:nvPr/>
        </p:nvSpPr>
        <p:spPr>
          <a:xfrm>
            <a:off x="4447119" y="910699"/>
            <a:ext cx="3297762" cy="369332"/>
          </a:xfrm>
          <a:prstGeom prst="rect">
            <a:avLst/>
          </a:prstGeom>
          <a:noFill/>
        </p:spPr>
        <p:txBody>
          <a:bodyPr wrap="square">
            <a:spAutoFit/>
          </a:bodyPr>
          <a:lstStyle/>
          <a:p>
            <a:pPr algn="ctr"/>
            <a:r>
              <a:rPr lang="zh-CN" altLang="en-US" sz="1800" dirty="0">
                <a:effectLst/>
                <a:ea typeface="黑体" panose="02010609060101010101" pitchFamily="49" charset="-122"/>
                <a:cs typeface="Times New Roman" panose="02020603050405020304" pitchFamily="18" charset="0"/>
              </a:rPr>
              <a:t>表</a:t>
            </a:r>
            <a:r>
              <a:rPr lang="en-US" altLang="zh-CN" sz="1800" dirty="0">
                <a:effectLst/>
                <a:ea typeface="黑体" panose="02010609060101010101" pitchFamily="49" charset="-122"/>
                <a:cs typeface="Times New Roman" panose="02020603050405020304" pitchFamily="18" charset="0"/>
              </a:rPr>
              <a:t>8-2</a:t>
            </a:r>
            <a:r>
              <a:rPr lang="zh-CN" altLang="en-US" sz="1800" dirty="0">
                <a:effectLst/>
                <a:ea typeface="黑体" panose="02010609060101010101" pitchFamily="49" charset="-122"/>
                <a:cs typeface="Times New Roman" panose="02020603050405020304" pitchFamily="18" charset="0"/>
              </a:rPr>
              <a:t>主要连接方式及其自由度</a:t>
            </a:r>
            <a:endParaRPr lang="zh-CN" altLang="en-US" dirty="0"/>
          </a:p>
        </p:txBody>
      </p:sp>
      <p:graphicFrame>
        <p:nvGraphicFramePr>
          <p:cNvPr id="5" name="表格 4">
            <a:extLst>
              <a:ext uri="{FF2B5EF4-FFF2-40B4-BE49-F238E27FC236}">
                <a16:creationId xmlns:a16="http://schemas.microsoft.com/office/drawing/2014/main" id="{E3BE53BB-133C-F419-0ED3-C52EE5D8618D}"/>
              </a:ext>
            </a:extLst>
          </p:cNvPr>
          <p:cNvGraphicFramePr>
            <a:graphicFrameLocks noGrp="1"/>
          </p:cNvGraphicFramePr>
          <p:nvPr>
            <p:extLst>
              <p:ext uri="{D42A27DB-BD31-4B8C-83A1-F6EECF244321}">
                <p14:modId xmlns:p14="http://schemas.microsoft.com/office/powerpoint/2010/main" val="2226627698"/>
              </p:ext>
            </p:extLst>
          </p:nvPr>
        </p:nvGraphicFramePr>
        <p:xfrm>
          <a:off x="1934817" y="1357653"/>
          <a:ext cx="8322366" cy="4731840"/>
        </p:xfrm>
        <a:graphic>
          <a:graphicData uri="http://schemas.openxmlformats.org/drawingml/2006/table">
            <a:tbl>
              <a:tblPr firstRow="1" firstCol="1" bandRow="1"/>
              <a:tblGrid>
                <a:gridCol w="1417982">
                  <a:extLst>
                    <a:ext uri="{9D8B030D-6E8A-4147-A177-3AD203B41FA5}">
                      <a16:colId xmlns:a16="http://schemas.microsoft.com/office/drawing/2014/main" val="2331894217"/>
                    </a:ext>
                  </a:extLst>
                </a:gridCol>
                <a:gridCol w="1316107">
                  <a:extLst>
                    <a:ext uri="{9D8B030D-6E8A-4147-A177-3AD203B41FA5}">
                      <a16:colId xmlns:a16="http://schemas.microsoft.com/office/drawing/2014/main" val="2556445402"/>
                    </a:ext>
                  </a:extLst>
                </a:gridCol>
                <a:gridCol w="1135546">
                  <a:extLst>
                    <a:ext uri="{9D8B030D-6E8A-4147-A177-3AD203B41FA5}">
                      <a16:colId xmlns:a16="http://schemas.microsoft.com/office/drawing/2014/main" val="4133613014"/>
                    </a:ext>
                  </a:extLst>
                </a:gridCol>
                <a:gridCol w="4452731">
                  <a:extLst>
                    <a:ext uri="{9D8B030D-6E8A-4147-A177-3AD203B41FA5}">
                      <a16:colId xmlns:a16="http://schemas.microsoft.com/office/drawing/2014/main" val="999116630"/>
                    </a:ext>
                  </a:extLst>
                </a:gridCol>
              </a:tblGrid>
              <a:tr h="720000">
                <a:tc>
                  <a:txBody>
                    <a:bodyPr/>
                    <a:lstStyle/>
                    <a:p>
                      <a:pPr algn="ctr" fontAlgn="ctr"/>
                      <a:r>
                        <a:rPr lang="zh-CN" sz="2000" b="1" kern="100" dirty="0">
                          <a:effectLst/>
                          <a:latin typeface="等线" panose="02010600030101010101" pitchFamily="2" charset="-122"/>
                          <a:ea typeface="宋体" panose="02010600030101010101" pitchFamily="2" charset="-122"/>
                          <a:cs typeface="Times New Roman" panose="02020603050405020304" pitchFamily="18" charset="0"/>
                        </a:rPr>
                        <a:t>连接类型</a:t>
                      </a:r>
                      <a:endParaRPr lang="zh-CN" sz="20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zh-CN" sz="2000" b="1" kern="100" dirty="0">
                          <a:effectLst/>
                          <a:latin typeface="等线" panose="02010600030101010101" pitchFamily="2" charset="-122"/>
                          <a:ea typeface="宋体" panose="02010600030101010101" pitchFamily="2" charset="-122"/>
                          <a:cs typeface="Times New Roman" panose="02020603050405020304" pitchFamily="18" charset="0"/>
                        </a:rPr>
                        <a:t>平移 自由度</a:t>
                      </a:r>
                      <a:endParaRPr lang="zh-CN" sz="20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zh-CN" sz="2000" b="1" kern="100" dirty="0">
                          <a:effectLst/>
                          <a:latin typeface="等线" panose="02010600030101010101" pitchFamily="2" charset="-122"/>
                          <a:ea typeface="宋体" panose="02010600030101010101" pitchFamily="2" charset="-122"/>
                          <a:cs typeface="Times New Roman" panose="02020603050405020304" pitchFamily="18" charset="0"/>
                        </a:rPr>
                        <a:t>旋转 自由度</a:t>
                      </a:r>
                      <a:endParaRPr lang="zh-CN" sz="20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zh-CN" sz="2000" b="1" kern="100" dirty="0">
                          <a:effectLst/>
                          <a:latin typeface="等线" panose="02010600030101010101" pitchFamily="2" charset="-122"/>
                          <a:ea typeface="宋体" panose="02010600030101010101" pitchFamily="2" charset="-122"/>
                          <a:cs typeface="Times New Roman" panose="02020603050405020304" pitchFamily="18" charset="0"/>
                        </a:rPr>
                        <a:t>说明</a:t>
                      </a:r>
                      <a:endParaRPr lang="zh-CN" sz="20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35042644"/>
                  </a:ext>
                </a:extLst>
              </a:tr>
              <a:tr h="720000">
                <a:tc>
                  <a:txBody>
                    <a:bodyPr/>
                    <a:lstStyle/>
                    <a:p>
                      <a:pPr algn="ctr" fontAlgn="ctr"/>
                      <a:r>
                        <a:rPr lang="zh-CN" sz="1800" kern="100" dirty="0">
                          <a:effectLst/>
                          <a:latin typeface="等线" panose="02010600030101010101" pitchFamily="2" charset="-122"/>
                          <a:ea typeface="宋体" panose="02010600030101010101" pitchFamily="2" charset="-122"/>
                          <a:cs typeface="Times New Roman" panose="02020603050405020304" pitchFamily="18" charset="0"/>
                        </a:rPr>
                        <a:t>刚性</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800" kern="100" dirty="0">
                          <a:effectLst/>
                          <a:latin typeface="宋体" panose="02010600030101010101" pitchFamily="2" charset="-122"/>
                          <a:ea typeface="等线" panose="02010600030101010101" pitchFamily="2" charset="-122"/>
                          <a:cs typeface="Times New Roman" panose="02020603050405020304" pitchFamily="18" charset="0"/>
                        </a:rPr>
                        <a:t>0</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800" kern="100" dirty="0">
                          <a:effectLst/>
                          <a:latin typeface="宋体" panose="02010600030101010101" pitchFamily="2" charset="-122"/>
                          <a:ea typeface="等线" panose="02010600030101010101" pitchFamily="2" charset="-122"/>
                          <a:cs typeface="Times New Roman" panose="02020603050405020304" pitchFamily="18" charset="0"/>
                        </a:rPr>
                        <a:t>0</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ctr"/>
                      <a:r>
                        <a:rPr lang="zh-CN" sz="1800" kern="100" dirty="0">
                          <a:effectLst/>
                          <a:latin typeface="等线" panose="02010600030101010101" pitchFamily="2" charset="-122"/>
                          <a:ea typeface="宋体" panose="02010600030101010101" pitchFamily="2" charset="-122"/>
                          <a:cs typeface="Times New Roman" panose="02020603050405020304" pitchFamily="18" charset="0"/>
                        </a:rPr>
                        <a:t>连接定义：使用约束方式放置元件</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l" fontAlgn="ctr"/>
                      <a:r>
                        <a:rPr lang="zh-CN" sz="1800" kern="100" dirty="0">
                          <a:effectLst/>
                          <a:latin typeface="等线" panose="02010600030101010101" pitchFamily="2" charset="-122"/>
                          <a:ea typeface="宋体" panose="02010600030101010101" pitchFamily="2" charset="-122"/>
                          <a:cs typeface="Times New Roman" panose="02020603050405020304" pitchFamily="18" charset="0"/>
                        </a:rPr>
                        <a:t>作用：将两个主体定义为刚体，无相对运动</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68765949"/>
                  </a:ext>
                </a:extLst>
              </a:tr>
              <a:tr h="720000">
                <a:tc>
                  <a:txBody>
                    <a:bodyPr/>
                    <a:lstStyle/>
                    <a:p>
                      <a:pPr algn="ctr" fontAlgn="ctr"/>
                      <a:r>
                        <a:rPr lang="zh-CN" sz="1800" kern="100" dirty="0">
                          <a:effectLst/>
                          <a:latin typeface="等线" panose="02010600030101010101" pitchFamily="2" charset="-122"/>
                          <a:ea typeface="宋体" panose="02010600030101010101" pitchFamily="2" charset="-122"/>
                          <a:cs typeface="Times New Roman" panose="02020603050405020304" pitchFamily="18" charset="0"/>
                        </a:rPr>
                        <a:t>销</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800" kern="100" dirty="0">
                          <a:effectLst/>
                          <a:latin typeface="宋体" panose="02010600030101010101" pitchFamily="2" charset="-122"/>
                          <a:ea typeface="等线" panose="02010600030101010101" pitchFamily="2" charset="-122"/>
                          <a:cs typeface="Times New Roman" panose="02020603050405020304" pitchFamily="18" charset="0"/>
                        </a:rPr>
                        <a:t>0</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800" kern="100" dirty="0">
                          <a:effectLst/>
                          <a:latin typeface="宋体" panose="02010600030101010101" pitchFamily="2" charset="-122"/>
                          <a:ea typeface="等线" panose="02010600030101010101" pitchFamily="2" charset="-122"/>
                          <a:cs typeface="Times New Roman" panose="02020603050405020304" pitchFamily="18" charset="0"/>
                        </a:rPr>
                        <a:t>1</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ctr"/>
                      <a:r>
                        <a:rPr lang="zh-CN" sz="1800" kern="100" dirty="0">
                          <a:effectLst/>
                          <a:latin typeface="等线" panose="02010600030101010101" pitchFamily="2" charset="-122"/>
                          <a:ea typeface="宋体" panose="02010600030101010101" pitchFamily="2" charset="-122"/>
                          <a:cs typeface="Times New Roman" panose="02020603050405020304" pitchFamily="18" charset="0"/>
                        </a:rPr>
                        <a:t>连接定义：轴对齐；平面与平面配对</a:t>
                      </a:r>
                      <a:r>
                        <a:rPr lang="en-US" sz="1800" kern="100" dirty="0">
                          <a:effectLst/>
                          <a:latin typeface="等线" panose="02010600030101010101" pitchFamily="2" charset="-122"/>
                          <a:ea typeface="宋体" panose="02010600030101010101" pitchFamily="2" charset="-122"/>
                          <a:cs typeface="Times New Roman" panose="02020603050405020304" pitchFamily="18" charset="0"/>
                        </a:rPr>
                        <a:t>/</a:t>
                      </a:r>
                      <a:r>
                        <a:rPr lang="zh-CN" sz="1800" kern="100" dirty="0">
                          <a:effectLst/>
                          <a:latin typeface="等线" panose="02010600030101010101" pitchFamily="2" charset="-122"/>
                          <a:ea typeface="宋体" panose="02010600030101010101" pitchFamily="2" charset="-122"/>
                          <a:cs typeface="Times New Roman" panose="02020603050405020304" pitchFamily="18" charset="0"/>
                        </a:rPr>
                        <a:t>偏距，限制沿轴向平移</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l" fontAlgn="ctr"/>
                      <a:r>
                        <a:rPr lang="zh-CN" sz="1800" kern="100" dirty="0">
                          <a:effectLst/>
                          <a:latin typeface="等线" panose="02010600030101010101" pitchFamily="2" charset="-122"/>
                          <a:ea typeface="宋体" panose="02010600030101010101" pitchFamily="2" charset="-122"/>
                          <a:cs typeface="Times New Roman" panose="02020603050405020304" pitchFamily="18" charset="0"/>
                        </a:rPr>
                        <a:t>作用：使主体绕轴转动，限制沿轴向平移</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92411107"/>
                  </a:ext>
                </a:extLst>
              </a:tr>
              <a:tr h="720000">
                <a:tc>
                  <a:txBody>
                    <a:bodyPr/>
                    <a:lstStyle/>
                    <a:p>
                      <a:pPr algn="ctr" fontAlgn="ctr"/>
                      <a:r>
                        <a:rPr lang="zh-CN" sz="1800" kern="100">
                          <a:effectLst/>
                          <a:latin typeface="等线" panose="02010600030101010101" pitchFamily="2" charset="-122"/>
                          <a:ea typeface="宋体" panose="02010600030101010101" pitchFamily="2" charset="-122"/>
                          <a:cs typeface="Times New Roman" panose="02020603050405020304" pitchFamily="18" charset="0"/>
                        </a:rPr>
                        <a:t>滑块</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800" kern="100">
                          <a:effectLst/>
                          <a:latin typeface="宋体" panose="02010600030101010101" pitchFamily="2" charset="-122"/>
                          <a:ea typeface="等线" panose="02010600030101010101" pitchFamily="2" charset="-122"/>
                          <a:cs typeface="Times New Roman" panose="02020603050405020304" pitchFamily="18" charset="0"/>
                        </a:rPr>
                        <a:t>1</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800" kern="100" dirty="0">
                          <a:effectLst/>
                          <a:latin typeface="宋体" panose="02010600030101010101" pitchFamily="2" charset="-122"/>
                          <a:ea typeface="等线" panose="02010600030101010101" pitchFamily="2" charset="-122"/>
                          <a:cs typeface="Times New Roman" panose="02020603050405020304" pitchFamily="18" charset="0"/>
                        </a:rPr>
                        <a:t>0</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ctr"/>
                      <a:r>
                        <a:rPr lang="zh-CN" sz="1800" kern="100" dirty="0">
                          <a:effectLst/>
                          <a:latin typeface="等线" panose="02010600030101010101" pitchFamily="2" charset="-122"/>
                          <a:ea typeface="宋体" panose="02010600030101010101" pitchFamily="2" charset="-122"/>
                          <a:cs typeface="Times New Roman" panose="02020603050405020304" pitchFamily="18" charset="0"/>
                        </a:rPr>
                        <a:t>连接定义：轴对齐；平面与平面配对</a:t>
                      </a:r>
                      <a:r>
                        <a:rPr lang="en-US" sz="1800" kern="100" dirty="0">
                          <a:effectLst/>
                          <a:latin typeface="等线" panose="02010600030101010101" pitchFamily="2" charset="-122"/>
                          <a:ea typeface="宋体" panose="02010600030101010101" pitchFamily="2" charset="-122"/>
                          <a:cs typeface="Times New Roman" panose="02020603050405020304" pitchFamily="18" charset="0"/>
                        </a:rPr>
                        <a:t>/</a:t>
                      </a:r>
                      <a:r>
                        <a:rPr lang="zh-CN" sz="1800" kern="100" dirty="0">
                          <a:effectLst/>
                          <a:latin typeface="等线" panose="02010600030101010101" pitchFamily="2" charset="-122"/>
                          <a:ea typeface="宋体" panose="02010600030101010101" pitchFamily="2" charset="-122"/>
                          <a:cs typeface="Times New Roman" panose="02020603050405020304" pitchFamily="18" charset="0"/>
                        </a:rPr>
                        <a:t>偏距，限制绕轴转动</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l" fontAlgn="ctr"/>
                      <a:r>
                        <a:rPr lang="zh-CN" sz="1800" kern="100" dirty="0">
                          <a:effectLst/>
                          <a:latin typeface="等线" panose="02010600030101010101" pitchFamily="2" charset="-122"/>
                          <a:ea typeface="宋体" panose="02010600030101010101" pitchFamily="2" charset="-122"/>
                          <a:cs typeface="Times New Roman" panose="02020603050405020304" pitchFamily="18" charset="0"/>
                        </a:rPr>
                        <a:t>作用：使主体沿轴向平移，限制绕轴转动</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28969960"/>
                  </a:ext>
                </a:extLst>
              </a:tr>
              <a:tr h="720000">
                <a:tc>
                  <a:txBody>
                    <a:bodyPr/>
                    <a:lstStyle/>
                    <a:p>
                      <a:pPr algn="ctr" fontAlgn="ctr"/>
                      <a:r>
                        <a:rPr lang="zh-CN" sz="1800" kern="100">
                          <a:effectLst/>
                          <a:latin typeface="等线" panose="02010600030101010101" pitchFamily="2" charset="-122"/>
                          <a:ea typeface="宋体" panose="02010600030101010101" pitchFamily="2" charset="-122"/>
                          <a:cs typeface="Times New Roman" panose="02020603050405020304" pitchFamily="18" charset="0"/>
                        </a:rPr>
                        <a:t>圆柱</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800" kern="100">
                          <a:effectLst/>
                          <a:latin typeface="宋体" panose="02010600030101010101" pitchFamily="2" charset="-122"/>
                          <a:ea typeface="等线" panose="02010600030101010101" pitchFamily="2" charset="-122"/>
                          <a:cs typeface="Times New Roman" panose="02020603050405020304" pitchFamily="18" charset="0"/>
                        </a:rPr>
                        <a:t>1</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800" kern="100">
                          <a:effectLst/>
                          <a:latin typeface="宋体" panose="02010600030101010101" pitchFamily="2" charset="-122"/>
                          <a:ea typeface="等线" panose="02010600030101010101" pitchFamily="2" charset="-122"/>
                          <a:cs typeface="Times New Roman" panose="02020603050405020304" pitchFamily="18" charset="0"/>
                        </a:rPr>
                        <a:t>1</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ctr"/>
                      <a:r>
                        <a:rPr lang="zh-CN" sz="1800" kern="100" dirty="0">
                          <a:effectLst/>
                          <a:latin typeface="等线" panose="02010600030101010101" pitchFamily="2" charset="-122"/>
                          <a:ea typeface="宋体" panose="02010600030101010101" pitchFamily="2" charset="-122"/>
                          <a:cs typeface="Times New Roman" panose="02020603050405020304" pitchFamily="18" charset="0"/>
                        </a:rPr>
                        <a:t>连接定义：轴对齐</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l" fontAlgn="ctr"/>
                      <a:r>
                        <a:rPr lang="zh-CN" sz="1800" kern="100" dirty="0">
                          <a:effectLst/>
                          <a:latin typeface="等线" panose="02010600030101010101" pitchFamily="2" charset="-122"/>
                          <a:ea typeface="宋体" panose="02010600030101010101" pitchFamily="2" charset="-122"/>
                          <a:cs typeface="Times New Roman" panose="02020603050405020304" pitchFamily="18" charset="0"/>
                        </a:rPr>
                        <a:t>作用：使主体能够绕轴转动，沿轴向平移</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80266642"/>
                  </a:ext>
                </a:extLst>
              </a:tr>
              <a:tr h="720000">
                <a:tc>
                  <a:txBody>
                    <a:bodyPr/>
                    <a:lstStyle/>
                    <a:p>
                      <a:pPr algn="ctr" fontAlgn="ctr"/>
                      <a:r>
                        <a:rPr lang="zh-CN" sz="1800" kern="100">
                          <a:effectLst/>
                          <a:latin typeface="等线" panose="02010600030101010101" pitchFamily="2" charset="-122"/>
                          <a:ea typeface="宋体" panose="02010600030101010101" pitchFamily="2" charset="-122"/>
                          <a:cs typeface="Times New Roman" panose="02020603050405020304" pitchFamily="18" charset="0"/>
                        </a:rPr>
                        <a:t>平面</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800" kern="100">
                          <a:effectLst/>
                          <a:latin typeface="宋体" panose="02010600030101010101" pitchFamily="2" charset="-122"/>
                          <a:ea typeface="等线" panose="02010600030101010101" pitchFamily="2" charset="-122"/>
                          <a:cs typeface="Times New Roman" panose="02020603050405020304" pitchFamily="18" charset="0"/>
                        </a:rPr>
                        <a:t>2</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800" kern="100">
                          <a:effectLst/>
                          <a:latin typeface="宋体" panose="02010600030101010101" pitchFamily="2" charset="-122"/>
                          <a:ea typeface="等线" panose="02010600030101010101" pitchFamily="2" charset="-122"/>
                          <a:cs typeface="Times New Roman" panose="02020603050405020304" pitchFamily="18" charset="0"/>
                        </a:rPr>
                        <a:t>1</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ctr"/>
                      <a:r>
                        <a:rPr lang="zh-CN" sz="1800" kern="100" dirty="0">
                          <a:effectLst/>
                          <a:latin typeface="等线" panose="02010600030101010101" pitchFamily="2" charset="-122"/>
                          <a:ea typeface="宋体" panose="02010600030101010101" pitchFamily="2" charset="-122"/>
                          <a:cs typeface="Times New Roman" panose="02020603050405020304" pitchFamily="18" charset="0"/>
                        </a:rPr>
                        <a:t>连接定义：平面与平面对齐</a:t>
                      </a:r>
                      <a:r>
                        <a:rPr lang="en-US" sz="1800" kern="100" dirty="0">
                          <a:effectLst/>
                          <a:latin typeface="等线" panose="02010600030101010101" pitchFamily="2" charset="-122"/>
                          <a:ea typeface="宋体" panose="02010600030101010101" pitchFamily="2" charset="-122"/>
                          <a:cs typeface="Times New Roman" panose="02020603050405020304" pitchFamily="18" charset="0"/>
                        </a:rPr>
                        <a:t>/</a:t>
                      </a:r>
                      <a:r>
                        <a:rPr lang="zh-CN" sz="1800" kern="100" dirty="0">
                          <a:effectLst/>
                          <a:latin typeface="等线" panose="02010600030101010101" pitchFamily="2" charset="-122"/>
                          <a:ea typeface="宋体" panose="02010600030101010101" pitchFamily="2" charset="-122"/>
                          <a:cs typeface="Times New Roman" panose="02020603050405020304" pitchFamily="18" charset="0"/>
                        </a:rPr>
                        <a:t>匹配</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l" fontAlgn="ctr"/>
                      <a:r>
                        <a:rPr lang="zh-CN" sz="1800" kern="100" dirty="0">
                          <a:effectLst/>
                          <a:latin typeface="等线" panose="02010600030101010101" pitchFamily="2" charset="-122"/>
                          <a:ea typeface="宋体" panose="02010600030101010101" pitchFamily="2" charset="-122"/>
                          <a:cs typeface="Times New Roman" panose="02020603050405020304" pitchFamily="18" charset="0"/>
                        </a:rPr>
                        <a:t>作用：使主体在平面内运动，绕垂直于该平面的轴转动</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12910322"/>
                  </a:ext>
                </a:extLst>
              </a:tr>
            </a:tbl>
          </a:graphicData>
        </a:graphic>
      </p:graphicFrame>
    </p:spTree>
    <p:extLst>
      <p:ext uri="{BB962C8B-B14F-4D97-AF65-F5344CB8AC3E}">
        <p14:creationId xmlns:p14="http://schemas.microsoft.com/office/powerpoint/2010/main" val="174906192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6A5580DD-729D-10D9-CE85-860C88CA0C56}"/>
              </a:ext>
            </a:extLst>
          </p:cNvPr>
          <p:cNvSpPr txBox="1"/>
          <p:nvPr/>
        </p:nvSpPr>
        <p:spPr>
          <a:xfrm>
            <a:off x="4447119" y="910699"/>
            <a:ext cx="3297762" cy="369332"/>
          </a:xfrm>
          <a:prstGeom prst="rect">
            <a:avLst/>
          </a:prstGeom>
          <a:noFill/>
        </p:spPr>
        <p:txBody>
          <a:bodyPr wrap="square">
            <a:spAutoFit/>
          </a:bodyPr>
          <a:lstStyle/>
          <a:p>
            <a:pPr algn="ctr"/>
            <a:r>
              <a:rPr lang="zh-CN" altLang="en-US" sz="1800" dirty="0">
                <a:effectLst/>
                <a:ea typeface="黑体" panose="02010609060101010101" pitchFamily="49" charset="-122"/>
                <a:cs typeface="Times New Roman" panose="02020603050405020304" pitchFamily="18" charset="0"/>
              </a:rPr>
              <a:t>表</a:t>
            </a:r>
            <a:r>
              <a:rPr lang="en-US" altLang="zh-CN" sz="1800" dirty="0">
                <a:effectLst/>
                <a:ea typeface="黑体" panose="02010609060101010101" pitchFamily="49" charset="-122"/>
                <a:cs typeface="Times New Roman" panose="02020603050405020304" pitchFamily="18" charset="0"/>
              </a:rPr>
              <a:t>8-2</a:t>
            </a:r>
            <a:r>
              <a:rPr lang="zh-CN" altLang="en-US" sz="1800" dirty="0">
                <a:effectLst/>
                <a:ea typeface="黑体" panose="02010609060101010101" pitchFamily="49" charset="-122"/>
                <a:cs typeface="Times New Roman" panose="02020603050405020304" pitchFamily="18" charset="0"/>
              </a:rPr>
              <a:t>主要连接方式及其自由度</a:t>
            </a:r>
            <a:endParaRPr lang="zh-CN" altLang="en-US" dirty="0"/>
          </a:p>
        </p:txBody>
      </p:sp>
      <p:graphicFrame>
        <p:nvGraphicFramePr>
          <p:cNvPr id="5" name="表格 4">
            <a:extLst>
              <a:ext uri="{FF2B5EF4-FFF2-40B4-BE49-F238E27FC236}">
                <a16:creationId xmlns:a16="http://schemas.microsoft.com/office/drawing/2014/main" id="{E3BE53BB-133C-F419-0ED3-C52EE5D8618D}"/>
              </a:ext>
            </a:extLst>
          </p:cNvPr>
          <p:cNvGraphicFramePr>
            <a:graphicFrameLocks noGrp="1"/>
          </p:cNvGraphicFramePr>
          <p:nvPr>
            <p:extLst>
              <p:ext uri="{D42A27DB-BD31-4B8C-83A1-F6EECF244321}">
                <p14:modId xmlns:p14="http://schemas.microsoft.com/office/powerpoint/2010/main" val="4257128820"/>
              </p:ext>
            </p:extLst>
          </p:nvPr>
        </p:nvGraphicFramePr>
        <p:xfrm>
          <a:off x="1934817" y="1357653"/>
          <a:ext cx="8322366" cy="3908880"/>
        </p:xfrm>
        <a:graphic>
          <a:graphicData uri="http://schemas.openxmlformats.org/drawingml/2006/table">
            <a:tbl>
              <a:tblPr firstRow="1" firstCol="1" bandRow="1"/>
              <a:tblGrid>
                <a:gridCol w="1417982">
                  <a:extLst>
                    <a:ext uri="{9D8B030D-6E8A-4147-A177-3AD203B41FA5}">
                      <a16:colId xmlns:a16="http://schemas.microsoft.com/office/drawing/2014/main" val="2331894217"/>
                    </a:ext>
                  </a:extLst>
                </a:gridCol>
                <a:gridCol w="1316107">
                  <a:extLst>
                    <a:ext uri="{9D8B030D-6E8A-4147-A177-3AD203B41FA5}">
                      <a16:colId xmlns:a16="http://schemas.microsoft.com/office/drawing/2014/main" val="2556445402"/>
                    </a:ext>
                  </a:extLst>
                </a:gridCol>
                <a:gridCol w="1135546">
                  <a:extLst>
                    <a:ext uri="{9D8B030D-6E8A-4147-A177-3AD203B41FA5}">
                      <a16:colId xmlns:a16="http://schemas.microsoft.com/office/drawing/2014/main" val="4133613014"/>
                    </a:ext>
                  </a:extLst>
                </a:gridCol>
                <a:gridCol w="4452731">
                  <a:extLst>
                    <a:ext uri="{9D8B030D-6E8A-4147-A177-3AD203B41FA5}">
                      <a16:colId xmlns:a16="http://schemas.microsoft.com/office/drawing/2014/main" val="999116630"/>
                    </a:ext>
                  </a:extLst>
                </a:gridCol>
              </a:tblGrid>
              <a:tr h="720000">
                <a:tc>
                  <a:txBody>
                    <a:bodyPr/>
                    <a:lstStyle/>
                    <a:p>
                      <a:pPr algn="ctr" fontAlgn="ctr"/>
                      <a:r>
                        <a:rPr lang="zh-CN" sz="2000" b="1" kern="100" dirty="0">
                          <a:effectLst/>
                          <a:latin typeface="等线" panose="02010600030101010101" pitchFamily="2" charset="-122"/>
                          <a:ea typeface="宋体" panose="02010600030101010101" pitchFamily="2" charset="-122"/>
                          <a:cs typeface="Times New Roman" panose="02020603050405020304" pitchFamily="18" charset="0"/>
                        </a:rPr>
                        <a:t>连接类型</a:t>
                      </a:r>
                      <a:endParaRPr lang="zh-CN" sz="20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zh-CN" sz="2000" b="1" kern="100" dirty="0">
                          <a:effectLst/>
                          <a:latin typeface="等线" panose="02010600030101010101" pitchFamily="2" charset="-122"/>
                          <a:ea typeface="宋体" panose="02010600030101010101" pitchFamily="2" charset="-122"/>
                          <a:cs typeface="Times New Roman" panose="02020603050405020304" pitchFamily="18" charset="0"/>
                        </a:rPr>
                        <a:t>平移 自由度</a:t>
                      </a:r>
                      <a:endParaRPr lang="zh-CN" sz="20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zh-CN" sz="2000" b="1" kern="100" dirty="0">
                          <a:effectLst/>
                          <a:latin typeface="等线" panose="02010600030101010101" pitchFamily="2" charset="-122"/>
                          <a:ea typeface="宋体" panose="02010600030101010101" pitchFamily="2" charset="-122"/>
                          <a:cs typeface="Times New Roman" panose="02020603050405020304" pitchFamily="18" charset="0"/>
                        </a:rPr>
                        <a:t>旋转 自由度</a:t>
                      </a:r>
                      <a:endParaRPr lang="zh-CN" sz="20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zh-CN" sz="2000" b="1" kern="100" dirty="0">
                          <a:effectLst/>
                          <a:latin typeface="等线" panose="02010600030101010101" pitchFamily="2" charset="-122"/>
                          <a:ea typeface="宋体" panose="02010600030101010101" pitchFamily="2" charset="-122"/>
                          <a:cs typeface="Times New Roman" panose="02020603050405020304" pitchFamily="18" charset="0"/>
                        </a:rPr>
                        <a:t>说明</a:t>
                      </a:r>
                      <a:endParaRPr lang="zh-CN" sz="20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35042644"/>
                  </a:ext>
                </a:extLst>
              </a:tr>
              <a:tr h="720000">
                <a:tc>
                  <a:txBody>
                    <a:bodyPr/>
                    <a:lstStyle/>
                    <a:p>
                      <a:pPr algn="ctr" fontAlgn="ctr"/>
                      <a:r>
                        <a:rPr lang="zh-CN" sz="1800" kern="100" dirty="0">
                          <a:effectLst/>
                          <a:latin typeface="等线" panose="02010600030101010101" pitchFamily="2" charset="-122"/>
                          <a:ea typeface="宋体" panose="02010600030101010101" pitchFamily="2" charset="-122"/>
                          <a:cs typeface="Times New Roman" panose="02020603050405020304" pitchFamily="18" charset="0"/>
                        </a:rPr>
                        <a:t>球</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800" kern="100" dirty="0">
                          <a:effectLst/>
                          <a:latin typeface="宋体" panose="02010600030101010101" pitchFamily="2" charset="-122"/>
                          <a:ea typeface="等线" panose="02010600030101010101" pitchFamily="2" charset="-122"/>
                          <a:cs typeface="Times New Roman" panose="02020603050405020304" pitchFamily="18" charset="0"/>
                        </a:rPr>
                        <a:t>0</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800" kern="100" dirty="0">
                          <a:effectLst/>
                          <a:latin typeface="宋体" panose="02010600030101010101" pitchFamily="2" charset="-122"/>
                          <a:ea typeface="等线" panose="02010600030101010101" pitchFamily="2" charset="-122"/>
                          <a:cs typeface="Times New Roman" panose="02020603050405020304" pitchFamily="18" charset="0"/>
                        </a:rPr>
                        <a:t>3</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ctr"/>
                      <a:r>
                        <a:rPr lang="zh-CN" sz="1800" kern="100" dirty="0">
                          <a:effectLst/>
                          <a:latin typeface="等线" panose="02010600030101010101" pitchFamily="2" charset="-122"/>
                          <a:ea typeface="宋体" panose="02010600030101010101" pitchFamily="2" charset="-122"/>
                          <a:cs typeface="Times New Roman" panose="02020603050405020304" pitchFamily="18" charset="0"/>
                        </a:rPr>
                        <a:t>连接定义：使用约束方式放置元件</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l" fontAlgn="ctr"/>
                      <a:r>
                        <a:rPr lang="zh-CN" sz="1800" kern="100" dirty="0">
                          <a:effectLst/>
                          <a:latin typeface="等线" panose="02010600030101010101" pitchFamily="2" charset="-122"/>
                          <a:ea typeface="宋体" panose="02010600030101010101" pitchFamily="2" charset="-122"/>
                          <a:cs typeface="Times New Roman" panose="02020603050405020304" pitchFamily="18" charset="0"/>
                        </a:rPr>
                        <a:t>作用：将两个主体定义为刚体，无相对运动</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68765949"/>
                  </a:ext>
                </a:extLst>
              </a:tr>
              <a:tr h="720000">
                <a:tc>
                  <a:txBody>
                    <a:bodyPr/>
                    <a:lstStyle/>
                    <a:p>
                      <a:pPr algn="ctr" fontAlgn="ctr"/>
                      <a:r>
                        <a:rPr lang="zh-CN" sz="1800" kern="100" dirty="0">
                          <a:effectLst/>
                          <a:latin typeface="等线" panose="02010600030101010101" pitchFamily="2" charset="-122"/>
                          <a:ea typeface="宋体" panose="02010600030101010101" pitchFamily="2" charset="-122"/>
                          <a:cs typeface="Times New Roman" panose="02020603050405020304" pitchFamily="18" charset="0"/>
                        </a:rPr>
                        <a:t>焊缝</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800" kern="100" dirty="0">
                          <a:effectLst/>
                          <a:latin typeface="宋体" panose="02010600030101010101" pitchFamily="2" charset="-122"/>
                          <a:ea typeface="等线" panose="02010600030101010101" pitchFamily="2" charset="-122"/>
                          <a:cs typeface="Times New Roman" panose="02020603050405020304" pitchFamily="18" charset="0"/>
                        </a:rPr>
                        <a:t>0</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800" kern="100" dirty="0">
                          <a:effectLst/>
                          <a:latin typeface="宋体" panose="02010600030101010101" pitchFamily="2" charset="-122"/>
                          <a:ea typeface="等线" panose="02010600030101010101" pitchFamily="2" charset="-122"/>
                          <a:cs typeface="Times New Roman" panose="02020603050405020304" pitchFamily="18" charset="0"/>
                        </a:rPr>
                        <a:t>0</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ctr"/>
                      <a:r>
                        <a:rPr lang="zh-CN" sz="1800" kern="100" dirty="0">
                          <a:effectLst/>
                          <a:latin typeface="等线" panose="02010600030101010101" pitchFamily="2" charset="-122"/>
                          <a:ea typeface="宋体" panose="02010600030101010101" pitchFamily="2" charset="-122"/>
                          <a:cs typeface="Times New Roman" panose="02020603050405020304" pitchFamily="18" charset="0"/>
                        </a:rPr>
                        <a:t>连接定义：轴对齐；平面与平面配对</a:t>
                      </a:r>
                      <a:r>
                        <a:rPr lang="en-US" sz="1800" kern="100" dirty="0">
                          <a:effectLst/>
                          <a:latin typeface="等线" panose="02010600030101010101" pitchFamily="2" charset="-122"/>
                          <a:ea typeface="宋体" panose="02010600030101010101" pitchFamily="2" charset="-122"/>
                          <a:cs typeface="Times New Roman" panose="02020603050405020304" pitchFamily="18" charset="0"/>
                        </a:rPr>
                        <a:t>/</a:t>
                      </a:r>
                      <a:r>
                        <a:rPr lang="zh-CN" sz="1800" kern="100" dirty="0">
                          <a:effectLst/>
                          <a:latin typeface="等线" panose="02010600030101010101" pitchFamily="2" charset="-122"/>
                          <a:ea typeface="宋体" panose="02010600030101010101" pitchFamily="2" charset="-122"/>
                          <a:cs typeface="Times New Roman" panose="02020603050405020304" pitchFamily="18" charset="0"/>
                        </a:rPr>
                        <a:t>偏距，限制沿轴向平移</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l" fontAlgn="ctr"/>
                      <a:r>
                        <a:rPr lang="zh-CN" sz="1800" kern="100" dirty="0">
                          <a:effectLst/>
                          <a:latin typeface="等线" panose="02010600030101010101" pitchFamily="2" charset="-122"/>
                          <a:ea typeface="宋体" panose="02010600030101010101" pitchFamily="2" charset="-122"/>
                          <a:cs typeface="Times New Roman" panose="02020603050405020304" pitchFamily="18" charset="0"/>
                        </a:rPr>
                        <a:t>作用：使主体绕轴转动，限制沿轴向平移</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92411107"/>
                  </a:ext>
                </a:extLst>
              </a:tr>
              <a:tr h="720000">
                <a:tc>
                  <a:txBody>
                    <a:bodyPr/>
                    <a:lstStyle/>
                    <a:p>
                      <a:pPr algn="ctr" fontAlgn="ctr"/>
                      <a:r>
                        <a:rPr lang="zh-CN" sz="1800" kern="100" dirty="0">
                          <a:effectLst/>
                          <a:latin typeface="等线" panose="02010600030101010101" pitchFamily="2" charset="-122"/>
                          <a:ea typeface="宋体" panose="02010600030101010101" pitchFamily="2" charset="-122"/>
                          <a:cs typeface="Times New Roman" panose="02020603050405020304" pitchFamily="18" charset="0"/>
                        </a:rPr>
                        <a:t>轴承</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800" kern="100">
                          <a:effectLst/>
                          <a:latin typeface="宋体" panose="02010600030101010101" pitchFamily="2" charset="-122"/>
                          <a:ea typeface="等线" panose="02010600030101010101" pitchFamily="2" charset="-122"/>
                          <a:cs typeface="Times New Roman" panose="02020603050405020304" pitchFamily="18" charset="0"/>
                        </a:rPr>
                        <a:t>1</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800" kern="100" dirty="0">
                          <a:effectLst/>
                          <a:latin typeface="宋体" panose="02010600030101010101" pitchFamily="2" charset="-122"/>
                          <a:ea typeface="等线" panose="02010600030101010101" pitchFamily="2" charset="-122"/>
                          <a:cs typeface="Times New Roman" panose="02020603050405020304" pitchFamily="18" charset="0"/>
                        </a:rPr>
                        <a:t>3</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ctr"/>
                      <a:r>
                        <a:rPr lang="zh-CN" sz="1800" kern="100" dirty="0">
                          <a:effectLst/>
                          <a:latin typeface="等线" panose="02010600030101010101" pitchFamily="2" charset="-122"/>
                          <a:ea typeface="宋体" panose="02010600030101010101" pitchFamily="2" charset="-122"/>
                          <a:cs typeface="Times New Roman" panose="02020603050405020304" pitchFamily="18" charset="0"/>
                        </a:rPr>
                        <a:t>连接定义：轴对齐；平面与平面配对</a:t>
                      </a:r>
                      <a:r>
                        <a:rPr lang="en-US" sz="1800" kern="100" dirty="0">
                          <a:effectLst/>
                          <a:latin typeface="等线" panose="02010600030101010101" pitchFamily="2" charset="-122"/>
                          <a:ea typeface="宋体" panose="02010600030101010101" pitchFamily="2" charset="-122"/>
                          <a:cs typeface="Times New Roman" panose="02020603050405020304" pitchFamily="18" charset="0"/>
                        </a:rPr>
                        <a:t>/</a:t>
                      </a:r>
                      <a:r>
                        <a:rPr lang="zh-CN" sz="1800" kern="100" dirty="0">
                          <a:effectLst/>
                          <a:latin typeface="等线" panose="02010600030101010101" pitchFamily="2" charset="-122"/>
                          <a:ea typeface="宋体" panose="02010600030101010101" pitchFamily="2" charset="-122"/>
                          <a:cs typeface="Times New Roman" panose="02020603050405020304" pitchFamily="18" charset="0"/>
                        </a:rPr>
                        <a:t>偏距，限制绕轴转动</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l" fontAlgn="ctr"/>
                      <a:r>
                        <a:rPr lang="zh-CN" sz="1800" kern="100" dirty="0">
                          <a:effectLst/>
                          <a:latin typeface="等线" panose="02010600030101010101" pitchFamily="2" charset="-122"/>
                          <a:ea typeface="宋体" panose="02010600030101010101" pitchFamily="2" charset="-122"/>
                          <a:cs typeface="Times New Roman" panose="02020603050405020304" pitchFamily="18" charset="0"/>
                        </a:rPr>
                        <a:t>作用：使主体沿轴向平移，限制绕轴转动</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28969960"/>
                  </a:ext>
                </a:extLst>
              </a:tr>
              <a:tr h="720000">
                <a:tc>
                  <a:txBody>
                    <a:bodyPr/>
                    <a:lstStyle/>
                    <a:p>
                      <a:pPr algn="ctr" fontAlgn="ctr"/>
                      <a:r>
                        <a:rPr lang="en-US" sz="1800" kern="100" dirty="0">
                          <a:effectLst/>
                          <a:latin typeface="宋体" panose="02010600030101010101" pitchFamily="2" charset="-122"/>
                          <a:ea typeface="等线" panose="02010600030101010101" pitchFamily="2" charset="-122"/>
                          <a:cs typeface="Times New Roman" panose="02020603050405020304" pitchFamily="18" charset="0"/>
                        </a:rPr>
                        <a:t>6DOF</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800" kern="100" dirty="0">
                          <a:effectLst/>
                          <a:latin typeface="宋体" panose="02010600030101010101" pitchFamily="2" charset="-122"/>
                          <a:ea typeface="等线" panose="02010600030101010101" pitchFamily="2" charset="-122"/>
                          <a:cs typeface="Times New Roman" panose="02020603050405020304" pitchFamily="18" charset="0"/>
                        </a:rPr>
                        <a:t>3</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800" kern="100" dirty="0">
                          <a:effectLst/>
                          <a:latin typeface="宋体" panose="02010600030101010101" pitchFamily="2" charset="-122"/>
                          <a:ea typeface="等线" panose="02010600030101010101" pitchFamily="2" charset="-122"/>
                          <a:cs typeface="Times New Roman" panose="02020603050405020304" pitchFamily="18" charset="0"/>
                        </a:rPr>
                        <a:t>3</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ctr"/>
                      <a:r>
                        <a:rPr lang="zh-CN" sz="1800" kern="100" dirty="0">
                          <a:effectLst/>
                          <a:latin typeface="等线" panose="02010600030101010101" pitchFamily="2" charset="-122"/>
                          <a:ea typeface="宋体" panose="02010600030101010101" pitchFamily="2" charset="-122"/>
                          <a:cs typeface="Times New Roman" panose="02020603050405020304" pitchFamily="18" charset="0"/>
                        </a:rPr>
                        <a:t>连接定义：轴对齐</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l" fontAlgn="ctr"/>
                      <a:r>
                        <a:rPr lang="zh-CN" sz="1800" kern="100" dirty="0">
                          <a:effectLst/>
                          <a:latin typeface="等线" panose="02010600030101010101" pitchFamily="2" charset="-122"/>
                          <a:ea typeface="宋体" panose="02010600030101010101" pitchFamily="2" charset="-122"/>
                          <a:cs typeface="Times New Roman" panose="02020603050405020304" pitchFamily="18" charset="0"/>
                        </a:rPr>
                        <a:t>作用：使主体能够绕轴转动，沿轴向平移</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80266642"/>
                  </a:ext>
                </a:extLst>
              </a:tr>
            </a:tbl>
          </a:graphicData>
        </a:graphic>
      </p:graphicFrame>
      <p:sp>
        <p:nvSpPr>
          <p:cNvPr id="2" name="文本框 1">
            <a:extLst>
              <a:ext uri="{FF2B5EF4-FFF2-40B4-BE49-F238E27FC236}">
                <a16:creationId xmlns:a16="http://schemas.microsoft.com/office/drawing/2014/main" id="{3576ECF3-63D8-1F1A-4740-4A443D2446AD}"/>
              </a:ext>
            </a:extLst>
          </p:cNvPr>
          <p:cNvSpPr txBox="1"/>
          <p:nvPr/>
        </p:nvSpPr>
        <p:spPr>
          <a:xfrm>
            <a:off x="9462052" y="910699"/>
            <a:ext cx="689113" cy="369332"/>
          </a:xfrm>
          <a:prstGeom prst="rect">
            <a:avLst/>
          </a:prstGeom>
          <a:noFill/>
        </p:spPr>
        <p:txBody>
          <a:bodyPr wrap="square">
            <a:spAutoFit/>
          </a:bodyPr>
          <a:lstStyle/>
          <a:p>
            <a:pPr algn="ctr"/>
            <a:r>
              <a:rPr lang="zh-CN" altLang="en-US" sz="1800" dirty="0">
                <a:effectLst/>
                <a:ea typeface="黑体" panose="02010609060101010101" pitchFamily="49" charset="-122"/>
                <a:cs typeface="Times New Roman" panose="02020603050405020304" pitchFamily="18" charset="0"/>
              </a:rPr>
              <a:t>续表</a:t>
            </a:r>
            <a:endParaRPr lang="zh-CN" altLang="en-US" dirty="0"/>
          </a:p>
        </p:txBody>
      </p:sp>
    </p:spTree>
    <p:extLst>
      <p:ext uri="{BB962C8B-B14F-4D97-AF65-F5344CB8AC3E}">
        <p14:creationId xmlns:p14="http://schemas.microsoft.com/office/powerpoint/2010/main" val="264242456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3" y="482223"/>
            <a:ext cx="11178206" cy="4217565"/>
          </a:xfrm>
          <a:prstGeom prst="rect">
            <a:avLst/>
          </a:prstGeom>
          <a:noFill/>
        </p:spPr>
        <p:txBody>
          <a:bodyPr wrap="square" rtlCol="0">
            <a:spAutoFit/>
          </a:bodyPr>
          <a:lstStyle/>
          <a:p>
            <a:pPr indent="457200">
              <a:lnSpc>
                <a:spcPct val="150000"/>
              </a:lnSpc>
            </a:pPr>
            <a:r>
              <a:rPr lang="zh-CN" altLang="en-US" sz="2600" dirty="0">
                <a:latin typeface="Times New Roman" pitchFamily="18" charset="0"/>
                <a:ea typeface="宋体" pitchFamily="2" charset="-122"/>
              </a:rPr>
              <a:t>下面以曲柄连杆机构的装配为实例来介绍连接装配的一般应用方法和步骤。</a:t>
            </a:r>
          </a:p>
          <a:p>
            <a:pPr indent="457200">
              <a:lnSpc>
                <a:spcPct val="150000"/>
              </a:lnSpc>
            </a:pPr>
            <a:r>
              <a:rPr lang="en-US" altLang="zh-CN" sz="2600" b="1" dirty="0">
                <a:latin typeface="Times New Roman" pitchFamily="18" charset="0"/>
                <a:ea typeface="宋体" pitchFamily="2" charset="-122"/>
              </a:rPr>
              <a:t>1.</a:t>
            </a:r>
            <a:r>
              <a:rPr lang="zh-CN" altLang="en-US" sz="2600" b="1" dirty="0">
                <a:latin typeface="Times New Roman" pitchFamily="18" charset="0"/>
                <a:ea typeface="宋体" pitchFamily="2" charset="-122"/>
              </a:rPr>
              <a:t>新建文件</a:t>
            </a:r>
          </a:p>
          <a:p>
            <a:pPr indent="457200">
              <a:lnSpc>
                <a:spcPct val="150000"/>
              </a:lnSpc>
            </a:pPr>
            <a:r>
              <a:rPr lang="zh-CN" altLang="en-US" sz="2600" dirty="0">
                <a:latin typeface="Times New Roman" pitchFamily="18" charset="0"/>
                <a:ea typeface="宋体" pitchFamily="2" charset="-122"/>
              </a:rPr>
              <a:t>参照</a:t>
            </a:r>
            <a:r>
              <a:rPr lang="en-US" altLang="zh-CN" sz="2600" dirty="0">
                <a:latin typeface="Times New Roman" pitchFamily="18" charset="0"/>
                <a:ea typeface="宋体" pitchFamily="2" charset="-122"/>
              </a:rPr>
              <a:t>8.2</a:t>
            </a:r>
            <a:r>
              <a:rPr lang="zh-CN" altLang="en-US" sz="2600" dirty="0">
                <a:latin typeface="Times New Roman" pitchFamily="18" charset="0"/>
                <a:ea typeface="宋体" pitchFamily="2" charset="-122"/>
              </a:rPr>
              <a:t>节新建装配文件，其中输入文件名称为“曲柄连杆”。</a:t>
            </a:r>
          </a:p>
          <a:p>
            <a:pPr indent="457200">
              <a:lnSpc>
                <a:spcPct val="150000"/>
              </a:lnSpc>
            </a:pPr>
            <a:r>
              <a:rPr lang="en-US" altLang="zh-CN" sz="2600" b="1" dirty="0">
                <a:latin typeface="Times New Roman" pitchFamily="18" charset="0"/>
                <a:ea typeface="宋体" pitchFamily="2" charset="-122"/>
              </a:rPr>
              <a:t>2.</a:t>
            </a:r>
            <a:r>
              <a:rPr lang="zh-CN" altLang="en-US" sz="2600" b="1" dirty="0">
                <a:latin typeface="Times New Roman" pitchFamily="18" charset="0"/>
                <a:ea typeface="宋体" pitchFamily="2" charset="-122"/>
              </a:rPr>
              <a:t>创建基准轴</a:t>
            </a:r>
          </a:p>
          <a:p>
            <a:pPr indent="457200">
              <a:lnSpc>
                <a:spcPct val="150000"/>
              </a:lnSpc>
            </a:pPr>
            <a:r>
              <a:rPr lang="zh-CN" altLang="en-US" sz="2600" dirty="0">
                <a:latin typeface="Times New Roman" pitchFamily="18" charset="0"/>
                <a:ea typeface="宋体" pitchFamily="2" charset="-122"/>
              </a:rPr>
              <a:t>单击功能区</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模型</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基准</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组中的“轴”按钮      ，以基准平面</a:t>
            </a:r>
            <a:r>
              <a:rPr lang="en-US" altLang="zh-CN" sz="2600" dirty="0">
                <a:latin typeface="Times New Roman" pitchFamily="18" charset="0"/>
                <a:ea typeface="宋体" pitchFamily="2" charset="-122"/>
              </a:rPr>
              <a:t>TOP</a:t>
            </a:r>
            <a:r>
              <a:rPr lang="zh-CN" altLang="en-US" sz="2600" dirty="0">
                <a:latin typeface="Times New Roman" pitchFamily="18" charset="0"/>
                <a:ea typeface="宋体" pitchFamily="2" charset="-122"/>
              </a:rPr>
              <a:t>面和</a:t>
            </a:r>
            <a:r>
              <a:rPr lang="en-US" altLang="zh-CN" sz="2600" dirty="0">
                <a:latin typeface="Times New Roman" pitchFamily="18" charset="0"/>
                <a:ea typeface="宋体" pitchFamily="2" charset="-122"/>
              </a:rPr>
              <a:t>FRONT</a:t>
            </a:r>
            <a:r>
              <a:rPr lang="zh-CN" altLang="en-US" sz="2600" dirty="0">
                <a:latin typeface="Times New Roman" pitchFamily="18" charset="0"/>
                <a:ea typeface="宋体" pitchFamily="2" charset="-122"/>
              </a:rPr>
              <a:t>面为</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参考</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创建基准轴</a:t>
            </a:r>
            <a:r>
              <a:rPr lang="en-US" altLang="zh-CN" sz="2600" dirty="0">
                <a:latin typeface="Times New Roman" pitchFamily="18" charset="0"/>
                <a:ea typeface="宋体" pitchFamily="2" charset="-122"/>
              </a:rPr>
              <a:t>AA_1</a:t>
            </a:r>
            <a:r>
              <a:rPr lang="zh-CN" altLang="en-US" sz="2600" dirty="0">
                <a:latin typeface="Times New Roman" pitchFamily="18" charset="0"/>
                <a:ea typeface="宋体" pitchFamily="2" charset="-122"/>
              </a:rPr>
              <a:t>。</a:t>
            </a:r>
          </a:p>
        </p:txBody>
      </p:sp>
      <p:pic>
        <p:nvPicPr>
          <p:cNvPr id="2" name="图片 1">
            <a:extLst>
              <a:ext uri="{FF2B5EF4-FFF2-40B4-BE49-F238E27FC236}">
                <a16:creationId xmlns:a16="http://schemas.microsoft.com/office/drawing/2014/main" id="{E03CA2B8-784A-903D-BCA2-22685F72DF69}"/>
              </a:ext>
            </a:extLst>
          </p:cNvPr>
          <p:cNvPicPr>
            <a:picLocks noChangeAspect="1"/>
          </p:cNvPicPr>
          <p:nvPr/>
        </p:nvPicPr>
        <p:blipFill>
          <a:blip r:embed="rId2"/>
          <a:stretch>
            <a:fillRect/>
          </a:stretch>
        </p:blipFill>
        <p:spPr>
          <a:xfrm>
            <a:off x="9054781" y="3676650"/>
            <a:ext cx="320040" cy="306705"/>
          </a:xfrm>
          <a:prstGeom prst="rect">
            <a:avLst/>
          </a:prstGeom>
        </p:spPr>
      </p:pic>
    </p:spTree>
    <p:extLst>
      <p:ext uri="{BB962C8B-B14F-4D97-AF65-F5344CB8AC3E}">
        <p14:creationId xmlns:p14="http://schemas.microsoft.com/office/powerpoint/2010/main" val="8358535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3" y="482223"/>
            <a:ext cx="11178206" cy="3017236"/>
          </a:xfrm>
          <a:prstGeom prst="rect">
            <a:avLst/>
          </a:prstGeom>
          <a:noFill/>
        </p:spPr>
        <p:txBody>
          <a:bodyPr wrap="square" rtlCol="0">
            <a:spAutoFit/>
          </a:bodyPr>
          <a:lstStyle/>
          <a:p>
            <a:pPr indent="457200">
              <a:lnSpc>
                <a:spcPct val="150000"/>
              </a:lnSpc>
            </a:pPr>
            <a:r>
              <a:rPr lang="en-US" altLang="zh-CN" sz="2600" b="1" dirty="0">
                <a:latin typeface="Times New Roman" pitchFamily="18" charset="0"/>
                <a:ea typeface="宋体" pitchFamily="2" charset="-122"/>
              </a:rPr>
              <a:t>3.</a:t>
            </a:r>
            <a:r>
              <a:rPr lang="zh-CN" altLang="en-US" sz="2600" b="1" dirty="0">
                <a:latin typeface="Times New Roman" pitchFamily="18" charset="0"/>
                <a:ea typeface="宋体" pitchFamily="2" charset="-122"/>
              </a:rPr>
              <a:t>装配曲轴</a:t>
            </a:r>
            <a:endParaRPr lang="en-US" altLang="zh-CN" sz="2600" b="1" dirty="0">
              <a:latin typeface="Times New Roman" pitchFamily="18" charset="0"/>
              <a:ea typeface="宋体" pitchFamily="2" charset="-122"/>
            </a:endParaRPr>
          </a:p>
          <a:p>
            <a:pPr indent="457200">
              <a:lnSpc>
                <a:spcPct val="150000"/>
              </a:lnSpc>
            </a:pPr>
            <a:r>
              <a:rPr lang="en-US" altLang="zh-CN" sz="2600" dirty="0">
                <a:latin typeface="Times New Roman" pitchFamily="18" charset="0"/>
                <a:ea typeface="宋体" pitchFamily="2" charset="-122"/>
              </a:rPr>
              <a:t>1</a:t>
            </a:r>
            <a:r>
              <a:rPr lang="zh-CN" altLang="en-US" sz="2600" dirty="0">
                <a:latin typeface="Times New Roman" pitchFamily="18" charset="0"/>
                <a:ea typeface="宋体" pitchFamily="2" charset="-122"/>
              </a:rPr>
              <a:t>）调入模型。单击功能区</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模型</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元件</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区域中的“组装”按钮     ，弹出</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打开</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对话框，选择“</a:t>
            </a:r>
            <a:r>
              <a:rPr lang="en-US" altLang="zh-CN" sz="2600" dirty="0">
                <a:latin typeface="Times New Roman" pitchFamily="18" charset="0"/>
                <a:ea typeface="宋体" pitchFamily="2" charset="-122"/>
              </a:rPr>
              <a:t>\DATA\ch8\</a:t>
            </a:r>
            <a:r>
              <a:rPr lang="zh-CN" altLang="en-US" sz="2600" dirty="0">
                <a:latin typeface="Times New Roman" pitchFamily="18" charset="0"/>
                <a:ea typeface="宋体" pitchFamily="2" charset="-122"/>
              </a:rPr>
              <a:t>曲柄连杆机构”文件夹，选中其中的“曲轴</a:t>
            </a:r>
            <a:r>
              <a:rPr lang="en-US" altLang="zh-CN" sz="2600" dirty="0">
                <a:latin typeface="Times New Roman" pitchFamily="18" charset="0"/>
                <a:ea typeface="宋体" pitchFamily="2" charset="-122"/>
              </a:rPr>
              <a:t>.</a:t>
            </a:r>
            <a:r>
              <a:rPr lang="en-US" altLang="zh-CN" sz="2600" dirty="0" err="1">
                <a:latin typeface="Times New Roman" pitchFamily="18" charset="0"/>
                <a:ea typeface="宋体" pitchFamily="2" charset="-122"/>
              </a:rPr>
              <a:t>prt</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，单击“打开”按钮或直接双击该文件，调入装配环境中。</a:t>
            </a:r>
            <a:endParaRPr lang="en-US" altLang="zh-CN" sz="2600" dirty="0">
              <a:latin typeface="Times New Roman" pitchFamily="18" charset="0"/>
              <a:ea typeface="宋体" pitchFamily="2" charset="-122"/>
            </a:endParaRPr>
          </a:p>
        </p:txBody>
      </p:sp>
      <p:pic>
        <p:nvPicPr>
          <p:cNvPr id="4" name="图片 3">
            <a:extLst>
              <a:ext uri="{FF2B5EF4-FFF2-40B4-BE49-F238E27FC236}">
                <a16:creationId xmlns:a16="http://schemas.microsoft.com/office/drawing/2014/main" id="{44C4AF5C-329E-0D57-7B2E-A75E4F1B9976}"/>
              </a:ext>
            </a:extLst>
          </p:cNvPr>
          <p:cNvPicPr>
            <a:picLocks noChangeAspect="1"/>
          </p:cNvPicPr>
          <p:nvPr/>
        </p:nvPicPr>
        <p:blipFill>
          <a:blip r:embed="rId2"/>
          <a:stretch>
            <a:fillRect/>
          </a:stretch>
        </p:blipFill>
        <p:spPr>
          <a:xfrm>
            <a:off x="935990" y="1847967"/>
            <a:ext cx="314325" cy="342900"/>
          </a:xfrm>
          <a:prstGeom prst="rect">
            <a:avLst/>
          </a:prstGeom>
        </p:spPr>
      </p:pic>
    </p:spTree>
    <p:extLst>
      <p:ext uri="{BB962C8B-B14F-4D97-AF65-F5344CB8AC3E}">
        <p14:creationId xmlns:p14="http://schemas.microsoft.com/office/powerpoint/2010/main" val="189655150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3" y="482223"/>
            <a:ext cx="11178206" cy="3617401"/>
          </a:xfrm>
          <a:prstGeom prst="rect">
            <a:avLst/>
          </a:prstGeom>
          <a:noFill/>
        </p:spPr>
        <p:txBody>
          <a:bodyPr wrap="square" rtlCol="0">
            <a:spAutoFit/>
          </a:bodyPr>
          <a:lstStyle/>
          <a:p>
            <a:pPr indent="457200">
              <a:lnSpc>
                <a:spcPct val="150000"/>
              </a:lnSpc>
            </a:pPr>
            <a:r>
              <a:rPr lang="en-US" altLang="zh-CN" sz="2600" dirty="0">
                <a:latin typeface="Times New Roman" pitchFamily="18" charset="0"/>
                <a:ea typeface="宋体" pitchFamily="2" charset="-122"/>
              </a:rPr>
              <a:t>2</a:t>
            </a:r>
            <a:r>
              <a:rPr lang="zh-CN" altLang="en-US" sz="2600" dirty="0">
                <a:latin typeface="Times New Roman" pitchFamily="18" charset="0"/>
                <a:ea typeface="宋体" pitchFamily="2" charset="-122"/>
              </a:rPr>
              <a:t>）创建连接。单击操控板中的</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用户定义</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下拉列表框，选择连接类型为“销链接”    。在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放置</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下滑面板，单击</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轴对齐</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下方选框，分别选取如图</a:t>
            </a:r>
            <a:r>
              <a:rPr lang="en-US" altLang="zh-CN" sz="2600" dirty="0">
                <a:latin typeface="Times New Roman" pitchFamily="18" charset="0"/>
                <a:ea typeface="宋体" pitchFamily="2" charset="-122"/>
              </a:rPr>
              <a:t>8-35</a:t>
            </a:r>
            <a:r>
              <a:rPr lang="zh-CN" altLang="en-US" sz="2600" dirty="0">
                <a:latin typeface="Times New Roman" pitchFamily="18" charset="0"/>
                <a:ea typeface="宋体" pitchFamily="2" charset="-122"/>
              </a:rPr>
              <a:t>所示的曲轴中部圆柱的轴线和基准轴</a:t>
            </a:r>
            <a:r>
              <a:rPr lang="en-US" altLang="zh-CN" sz="2600" dirty="0">
                <a:latin typeface="Times New Roman" pitchFamily="18" charset="0"/>
                <a:ea typeface="宋体" pitchFamily="2" charset="-122"/>
              </a:rPr>
              <a:t>AA_1</a:t>
            </a:r>
            <a:r>
              <a:rPr lang="zh-CN" altLang="en-US" sz="2600" dirty="0">
                <a:latin typeface="Times New Roman" pitchFamily="18" charset="0"/>
                <a:ea typeface="宋体" pitchFamily="2" charset="-122"/>
              </a:rPr>
              <a:t>，设置</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约束类型</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为重合；单击</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平移</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下方选框，分别选取如图</a:t>
            </a:r>
            <a:r>
              <a:rPr lang="en-US" altLang="zh-CN" sz="2600" dirty="0">
                <a:latin typeface="Times New Roman" pitchFamily="18" charset="0"/>
                <a:ea typeface="宋体" pitchFamily="2" charset="-122"/>
              </a:rPr>
              <a:t>8-36</a:t>
            </a:r>
            <a:r>
              <a:rPr lang="zh-CN" altLang="en-US" sz="2600" dirty="0">
                <a:latin typeface="Times New Roman" pitchFamily="18" charset="0"/>
                <a:ea typeface="宋体" pitchFamily="2" charset="-122"/>
              </a:rPr>
              <a:t>所示的曲轴中间基准平面</a:t>
            </a:r>
            <a:r>
              <a:rPr lang="en-US" altLang="zh-CN" sz="2600" dirty="0">
                <a:latin typeface="Times New Roman" pitchFamily="18" charset="0"/>
                <a:ea typeface="宋体" pitchFamily="2" charset="-122"/>
              </a:rPr>
              <a:t>DTM2</a:t>
            </a:r>
            <a:r>
              <a:rPr lang="zh-CN" altLang="en-US" sz="2600" dirty="0">
                <a:latin typeface="Times New Roman" pitchFamily="18" charset="0"/>
                <a:ea typeface="宋体" pitchFamily="2" charset="-122"/>
              </a:rPr>
              <a:t>和装配组件基准平面</a:t>
            </a:r>
            <a:r>
              <a:rPr lang="en-US" altLang="zh-CN" sz="2600" dirty="0">
                <a:latin typeface="Times New Roman" pitchFamily="18" charset="0"/>
                <a:ea typeface="宋体" pitchFamily="2" charset="-122"/>
              </a:rPr>
              <a:t>ASM_RIGHT</a:t>
            </a:r>
            <a:r>
              <a:rPr lang="zh-CN" altLang="en-US" sz="2600" dirty="0">
                <a:latin typeface="Times New Roman" pitchFamily="18" charset="0"/>
                <a:ea typeface="宋体" pitchFamily="2" charset="-122"/>
              </a:rPr>
              <a:t>面为参考平面，设置</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约束类型</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为重合，可通过</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反向</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按钮调整方向。</a:t>
            </a:r>
            <a:endParaRPr lang="en-US" altLang="zh-CN" sz="2600" dirty="0">
              <a:latin typeface="Times New Roman" pitchFamily="18" charset="0"/>
              <a:ea typeface="宋体" pitchFamily="2" charset="-122"/>
            </a:endParaRPr>
          </a:p>
        </p:txBody>
      </p:sp>
      <p:pic>
        <p:nvPicPr>
          <p:cNvPr id="2" name="图片 1">
            <a:extLst>
              <a:ext uri="{FF2B5EF4-FFF2-40B4-BE49-F238E27FC236}">
                <a16:creationId xmlns:a16="http://schemas.microsoft.com/office/drawing/2014/main" id="{5BEB1785-CE53-1349-30D8-A243BFD3D38E}"/>
              </a:ext>
            </a:extLst>
          </p:cNvPr>
          <p:cNvPicPr>
            <a:picLocks noChangeAspect="1"/>
          </p:cNvPicPr>
          <p:nvPr/>
        </p:nvPicPr>
        <p:blipFill>
          <a:blip r:embed="rId2"/>
          <a:stretch>
            <a:fillRect/>
          </a:stretch>
        </p:blipFill>
        <p:spPr>
          <a:xfrm>
            <a:off x="2467294" y="1304924"/>
            <a:ext cx="335280" cy="320040"/>
          </a:xfrm>
          <a:prstGeom prst="rect">
            <a:avLst/>
          </a:prstGeom>
        </p:spPr>
      </p:pic>
    </p:spTree>
    <p:extLst>
      <p:ext uri="{BB962C8B-B14F-4D97-AF65-F5344CB8AC3E}">
        <p14:creationId xmlns:p14="http://schemas.microsoft.com/office/powerpoint/2010/main" val="61792070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6A5580DD-729D-10D9-CE85-860C88CA0C56}"/>
              </a:ext>
            </a:extLst>
          </p:cNvPr>
          <p:cNvSpPr txBox="1"/>
          <p:nvPr/>
        </p:nvSpPr>
        <p:spPr>
          <a:xfrm>
            <a:off x="2032532" y="4932730"/>
            <a:ext cx="3297762" cy="369332"/>
          </a:xfrm>
          <a:prstGeom prst="rect">
            <a:avLst/>
          </a:prstGeom>
          <a:noFill/>
        </p:spPr>
        <p:txBody>
          <a:bodyPr wrap="square">
            <a:spAutoFit/>
          </a:bodyPr>
          <a:lstStyle/>
          <a:p>
            <a:pPr algn="ctr"/>
            <a:r>
              <a:rPr lang="zh-CN" altLang="en-US" sz="1800" dirty="0">
                <a:effectLst/>
                <a:ea typeface="黑体" panose="02010609060101010101" pitchFamily="49" charset="-122"/>
                <a:cs typeface="Times New Roman" panose="02020603050405020304" pitchFamily="18" charset="0"/>
              </a:rPr>
              <a:t>图</a:t>
            </a:r>
            <a:r>
              <a:rPr lang="en-US" altLang="zh-CN" sz="1800" dirty="0">
                <a:effectLst/>
                <a:ea typeface="黑体" panose="02010609060101010101" pitchFamily="49" charset="-122"/>
                <a:cs typeface="Times New Roman" panose="02020603050405020304" pitchFamily="18" charset="0"/>
              </a:rPr>
              <a:t>8-35 </a:t>
            </a:r>
            <a:r>
              <a:rPr lang="zh-CN" altLang="en-US" sz="1800" dirty="0">
                <a:effectLst/>
                <a:ea typeface="黑体" panose="02010609060101010101" pitchFamily="49" charset="-122"/>
                <a:cs typeface="Times New Roman" panose="02020603050405020304" pitchFamily="18" charset="0"/>
              </a:rPr>
              <a:t>曲轴参考轴线</a:t>
            </a:r>
            <a:endParaRPr lang="zh-CN" altLang="en-US" dirty="0"/>
          </a:p>
        </p:txBody>
      </p:sp>
      <p:pic>
        <p:nvPicPr>
          <p:cNvPr id="4" name="图片 3">
            <a:extLst>
              <a:ext uri="{FF2B5EF4-FFF2-40B4-BE49-F238E27FC236}">
                <a16:creationId xmlns:a16="http://schemas.microsoft.com/office/drawing/2014/main" id="{D18007B4-FC53-813C-BB96-90DC8BB6BD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90501" y="1751863"/>
            <a:ext cx="4693726" cy="2620112"/>
          </a:xfrm>
          <a:prstGeom prst="rect">
            <a:avLst/>
          </a:prstGeom>
        </p:spPr>
      </p:pic>
      <p:pic>
        <p:nvPicPr>
          <p:cNvPr id="5" name="图片 4">
            <a:extLst>
              <a:ext uri="{FF2B5EF4-FFF2-40B4-BE49-F238E27FC236}">
                <a16:creationId xmlns:a16="http://schemas.microsoft.com/office/drawing/2014/main" id="{00DD9FC6-8755-5229-49F7-F54D19EC63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86601" y="1475147"/>
            <a:ext cx="3698240" cy="2896828"/>
          </a:xfrm>
          <a:prstGeom prst="rect">
            <a:avLst/>
          </a:prstGeom>
        </p:spPr>
      </p:pic>
      <p:sp>
        <p:nvSpPr>
          <p:cNvPr id="6" name="文本框 5">
            <a:extLst>
              <a:ext uri="{FF2B5EF4-FFF2-40B4-BE49-F238E27FC236}">
                <a16:creationId xmlns:a16="http://schemas.microsoft.com/office/drawing/2014/main" id="{687F8FA3-92A1-A1BA-6A79-2DE376B2D397}"/>
              </a:ext>
            </a:extLst>
          </p:cNvPr>
          <p:cNvSpPr txBox="1"/>
          <p:nvPr/>
        </p:nvSpPr>
        <p:spPr>
          <a:xfrm>
            <a:off x="7286840" y="4932730"/>
            <a:ext cx="3297762" cy="369332"/>
          </a:xfrm>
          <a:prstGeom prst="rect">
            <a:avLst/>
          </a:prstGeom>
          <a:noFill/>
        </p:spPr>
        <p:txBody>
          <a:bodyPr wrap="square">
            <a:spAutoFit/>
          </a:bodyPr>
          <a:lstStyle/>
          <a:p>
            <a:pPr algn="ctr"/>
            <a:r>
              <a:rPr lang="zh-CN" altLang="en-US" sz="1800" dirty="0">
                <a:effectLst/>
                <a:ea typeface="黑体" panose="02010609060101010101" pitchFamily="49" charset="-122"/>
                <a:cs typeface="Times New Roman" panose="02020603050405020304" pitchFamily="18" charset="0"/>
              </a:rPr>
              <a:t>图</a:t>
            </a:r>
            <a:r>
              <a:rPr lang="en-US" altLang="zh-CN" sz="1800" dirty="0">
                <a:effectLst/>
                <a:ea typeface="黑体" panose="02010609060101010101" pitchFamily="49" charset="-122"/>
                <a:cs typeface="Times New Roman" panose="02020603050405020304" pitchFamily="18" charset="0"/>
              </a:rPr>
              <a:t>8-36 </a:t>
            </a:r>
            <a:r>
              <a:rPr lang="zh-CN" altLang="en-US" sz="1800" dirty="0">
                <a:effectLst/>
                <a:ea typeface="黑体" panose="02010609060101010101" pitchFamily="49" charset="-122"/>
                <a:cs typeface="Times New Roman" panose="02020603050405020304" pitchFamily="18" charset="0"/>
              </a:rPr>
              <a:t>曲轴参考平面</a:t>
            </a:r>
            <a:endParaRPr lang="zh-CN" altLang="en-US" dirty="0"/>
          </a:p>
        </p:txBody>
      </p:sp>
    </p:spTree>
    <p:extLst>
      <p:ext uri="{BB962C8B-B14F-4D97-AF65-F5344CB8AC3E}">
        <p14:creationId xmlns:p14="http://schemas.microsoft.com/office/powerpoint/2010/main" val="406850539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3" y="482223"/>
            <a:ext cx="11178206" cy="6022098"/>
          </a:xfrm>
          <a:prstGeom prst="rect">
            <a:avLst/>
          </a:prstGeom>
          <a:noFill/>
        </p:spPr>
        <p:txBody>
          <a:bodyPr wrap="square" rtlCol="0">
            <a:spAutoFit/>
          </a:bodyPr>
          <a:lstStyle/>
          <a:p>
            <a:pPr indent="457200">
              <a:lnSpc>
                <a:spcPct val="150000"/>
              </a:lnSpc>
            </a:pPr>
            <a:r>
              <a:rPr lang="en-US" altLang="zh-CN" sz="2600" b="1" dirty="0">
                <a:latin typeface="Times New Roman" pitchFamily="18" charset="0"/>
                <a:ea typeface="宋体" pitchFamily="2" charset="-122"/>
              </a:rPr>
              <a:t>4.</a:t>
            </a:r>
            <a:r>
              <a:rPr lang="zh-CN" altLang="en-US" sz="2600" b="1" dirty="0">
                <a:latin typeface="Times New Roman" pitchFamily="18" charset="0"/>
                <a:ea typeface="宋体" pitchFamily="2" charset="-122"/>
              </a:rPr>
              <a:t>装配连杆</a:t>
            </a:r>
            <a:endParaRPr lang="en-US" altLang="zh-CN" sz="2600" b="1" dirty="0">
              <a:latin typeface="Times New Roman" pitchFamily="18" charset="0"/>
              <a:ea typeface="宋体" pitchFamily="2" charset="-122"/>
            </a:endParaRPr>
          </a:p>
          <a:p>
            <a:pPr indent="457200">
              <a:lnSpc>
                <a:spcPct val="150000"/>
              </a:lnSpc>
            </a:pPr>
            <a:r>
              <a:rPr lang="en-US" altLang="zh-CN" sz="2600" dirty="0">
                <a:latin typeface="Times New Roman" pitchFamily="18" charset="0"/>
                <a:ea typeface="宋体" pitchFamily="2" charset="-122"/>
              </a:rPr>
              <a:t>1</a:t>
            </a:r>
            <a:r>
              <a:rPr lang="zh-CN" altLang="en-US" sz="2600" dirty="0">
                <a:latin typeface="Times New Roman" pitchFamily="18" charset="0"/>
                <a:ea typeface="宋体" pitchFamily="2" charset="-122"/>
              </a:rPr>
              <a:t>）调入模型。单击功能区</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模型</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元件</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区域中的“组装”按钮 ，在弹出的</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打开</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对话框中选择模型“连杆</a:t>
            </a:r>
            <a:r>
              <a:rPr lang="en-US" altLang="zh-CN" sz="2600" dirty="0">
                <a:latin typeface="Times New Roman" pitchFamily="18" charset="0"/>
                <a:ea typeface="宋体" pitchFamily="2" charset="-122"/>
              </a:rPr>
              <a:t>.</a:t>
            </a:r>
            <a:r>
              <a:rPr lang="en-US" altLang="zh-CN" sz="2600" dirty="0" err="1">
                <a:latin typeface="Times New Roman" pitchFamily="18" charset="0"/>
                <a:ea typeface="宋体" pitchFamily="2" charset="-122"/>
              </a:rPr>
              <a:t>prt</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a:t>
            </a:r>
          </a:p>
          <a:p>
            <a:pPr indent="457200">
              <a:lnSpc>
                <a:spcPct val="150000"/>
              </a:lnSpc>
            </a:pPr>
            <a:r>
              <a:rPr lang="en-US" altLang="zh-CN" sz="2600" dirty="0">
                <a:latin typeface="Times New Roman" pitchFamily="18" charset="0"/>
                <a:ea typeface="宋体" pitchFamily="2" charset="-122"/>
              </a:rPr>
              <a:t>2</a:t>
            </a:r>
            <a:r>
              <a:rPr lang="zh-CN" altLang="en-US" sz="2600" dirty="0">
                <a:latin typeface="Times New Roman" pitchFamily="18" charset="0"/>
                <a:ea typeface="宋体" pitchFamily="2" charset="-122"/>
              </a:rPr>
              <a:t>）创建连接。单击操控板中的</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用户定义</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下拉列表框，选择连接类型为“销链接”  。在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放置</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下滑面板，单击</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轴对齐</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下方选框，分别选取如图</a:t>
            </a:r>
            <a:r>
              <a:rPr lang="en-US" altLang="zh-CN" sz="2600" dirty="0">
                <a:latin typeface="Times New Roman" pitchFamily="18" charset="0"/>
                <a:ea typeface="宋体" pitchFamily="2" charset="-122"/>
              </a:rPr>
              <a:t>8-37</a:t>
            </a:r>
            <a:r>
              <a:rPr lang="zh-CN" altLang="en-US" sz="2600" dirty="0">
                <a:latin typeface="Times New Roman" pitchFamily="18" charset="0"/>
                <a:ea typeface="宋体" pitchFamily="2" charset="-122"/>
              </a:rPr>
              <a:t>所示的连杆大端圆孔的轴线，再选取图</a:t>
            </a:r>
            <a:r>
              <a:rPr lang="en-US" altLang="zh-CN" sz="2600" dirty="0">
                <a:latin typeface="Times New Roman" pitchFamily="18" charset="0"/>
                <a:ea typeface="宋体" pitchFamily="2" charset="-122"/>
              </a:rPr>
              <a:t>8-38</a:t>
            </a:r>
            <a:r>
              <a:rPr lang="zh-CN" altLang="en-US" sz="2600" dirty="0">
                <a:latin typeface="Times New Roman" pitchFamily="18" charset="0"/>
                <a:ea typeface="宋体" pitchFamily="2" charset="-122"/>
              </a:rPr>
              <a:t>所示的曲轴参考轴线，设置</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约束类型</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为重合；单击</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平移</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下方选框，分别选取图</a:t>
            </a:r>
            <a:r>
              <a:rPr lang="en-US" altLang="zh-CN" sz="2600" dirty="0">
                <a:latin typeface="Times New Roman" pitchFamily="18" charset="0"/>
                <a:ea typeface="宋体" pitchFamily="2" charset="-122"/>
              </a:rPr>
              <a:t>8-39</a:t>
            </a:r>
            <a:r>
              <a:rPr lang="zh-CN" altLang="en-US" sz="2600" dirty="0">
                <a:latin typeface="Times New Roman" pitchFamily="18" charset="0"/>
                <a:ea typeface="宋体" pitchFamily="2" charset="-122"/>
              </a:rPr>
              <a:t>所示的连杆中间基准平面</a:t>
            </a:r>
            <a:r>
              <a:rPr lang="en-US" altLang="zh-CN" sz="2600" dirty="0">
                <a:latin typeface="Times New Roman" pitchFamily="18" charset="0"/>
                <a:ea typeface="宋体" pitchFamily="2" charset="-122"/>
              </a:rPr>
              <a:t>RIGHT</a:t>
            </a:r>
            <a:r>
              <a:rPr lang="zh-CN" altLang="en-US" sz="2600" dirty="0">
                <a:latin typeface="Times New Roman" pitchFamily="18" charset="0"/>
                <a:ea typeface="宋体" pitchFamily="2" charset="-122"/>
              </a:rPr>
              <a:t>和图</a:t>
            </a:r>
            <a:r>
              <a:rPr lang="en-US" altLang="zh-CN" sz="2600" dirty="0">
                <a:latin typeface="Times New Roman" pitchFamily="18" charset="0"/>
                <a:ea typeface="宋体" pitchFamily="2" charset="-122"/>
              </a:rPr>
              <a:t>8-36</a:t>
            </a:r>
            <a:r>
              <a:rPr lang="zh-CN" altLang="en-US" sz="2600" dirty="0">
                <a:latin typeface="Times New Roman" pitchFamily="18" charset="0"/>
                <a:ea typeface="宋体" pitchFamily="2" charset="-122"/>
              </a:rPr>
              <a:t>所示的曲轴中间基准平面</a:t>
            </a:r>
            <a:r>
              <a:rPr lang="en-US" altLang="zh-CN" sz="2600" dirty="0">
                <a:latin typeface="Times New Roman" pitchFamily="18" charset="0"/>
                <a:ea typeface="宋体" pitchFamily="2" charset="-122"/>
              </a:rPr>
              <a:t>DTM2</a:t>
            </a:r>
            <a:r>
              <a:rPr lang="zh-CN" altLang="en-US" sz="2600" dirty="0">
                <a:latin typeface="Times New Roman" pitchFamily="18" charset="0"/>
                <a:ea typeface="宋体" pitchFamily="2" charset="-122"/>
              </a:rPr>
              <a:t>为参考平面，设置</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约束类型</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为重合，可通过</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反向</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按钮调整方向。</a:t>
            </a:r>
            <a:endParaRPr lang="en-US" altLang="zh-CN" sz="2600" dirty="0">
              <a:latin typeface="Times New Roman" pitchFamily="18" charset="0"/>
              <a:ea typeface="宋体" pitchFamily="2" charset="-122"/>
            </a:endParaRPr>
          </a:p>
          <a:p>
            <a:pPr indent="457200">
              <a:lnSpc>
                <a:spcPct val="150000"/>
              </a:lnSpc>
            </a:pPr>
            <a:r>
              <a:rPr lang="en-US" altLang="zh-CN" sz="2600" dirty="0">
                <a:latin typeface="Times New Roman" pitchFamily="18" charset="0"/>
                <a:ea typeface="宋体" pitchFamily="2" charset="-122"/>
              </a:rPr>
              <a:t>3</a:t>
            </a:r>
            <a:r>
              <a:rPr lang="zh-CN" altLang="en-US" sz="2600" dirty="0">
                <a:latin typeface="Times New Roman" pitchFamily="18" charset="0"/>
                <a:ea typeface="宋体" pitchFamily="2" charset="-122"/>
              </a:rPr>
              <a:t>）单击操控板中的“确定”按钮，完成连杆的组装。</a:t>
            </a:r>
          </a:p>
        </p:txBody>
      </p:sp>
      <p:pic>
        <p:nvPicPr>
          <p:cNvPr id="4" name="图片 3">
            <a:extLst>
              <a:ext uri="{FF2B5EF4-FFF2-40B4-BE49-F238E27FC236}">
                <a16:creationId xmlns:a16="http://schemas.microsoft.com/office/drawing/2014/main" id="{44C4AF5C-329E-0D57-7B2E-A75E4F1B9976}"/>
              </a:ext>
            </a:extLst>
          </p:cNvPr>
          <p:cNvPicPr>
            <a:picLocks noChangeAspect="1"/>
          </p:cNvPicPr>
          <p:nvPr/>
        </p:nvPicPr>
        <p:blipFill>
          <a:blip r:embed="rId2"/>
          <a:stretch>
            <a:fillRect/>
          </a:stretch>
        </p:blipFill>
        <p:spPr>
          <a:xfrm>
            <a:off x="950278" y="1862255"/>
            <a:ext cx="314325" cy="342900"/>
          </a:xfrm>
          <a:prstGeom prst="rect">
            <a:avLst/>
          </a:prstGeom>
        </p:spPr>
      </p:pic>
      <p:pic>
        <p:nvPicPr>
          <p:cNvPr id="2" name="图片 1">
            <a:extLst>
              <a:ext uri="{FF2B5EF4-FFF2-40B4-BE49-F238E27FC236}">
                <a16:creationId xmlns:a16="http://schemas.microsoft.com/office/drawing/2014/main" id="{5FD74563-C7D6-A086-323D-41773120CF63}"/>
              </a:ext>
            </a:extLst>
          </p:cNvPr>
          <p:cNvPicPr>
            <a:picLocks noChangeAspect="1"/>
          </p:cNvPicPr>
          <p:nvPr/>
        </p:nvPicPr>
        <p:blipFill>
          <a:blip r:embed="rId3"/>
          <a:stretch>
            <a:fillRect/>
          </a:stretch>
        </p:blipFill>
        <p:spPr>
          <a:xfrm>
            <a:off x="2381569" y="3059430"/>
            <a:ext cx="335280" cy="320040"/>
          </a:xfrm>
          <a:prstGeom prst="rect">
            <a:avLst/>
          </a:prstGeom>
        </p:spPr>
      </p:pic>
    </p:spTree>
    <p:extLst>
      <p:ext uri="{BB962C8B-B14F-4D97-AF65-F5344CB8AC3E}">
        <p14:creationId xmlns:p14="http://schemas.microsoft.com/office/powerpoint/2010/main" val="394878956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6A5580DD-729D-10D9-CE85-860C88CA0C56}"/>
              </a:ext>
            </a:extLst>
          </p:cNvPr>
          <p:cNvSpPr txBox="1"/>
          <p:nvPr/>
        </p:nvSpPr>
        <p:spPr>
          <a:xfrm>
            <a:off x="918101" y="3246798"/>
            <a:ext cx="3297762" cy="369332"/>
          </a:xfrm>
          <a:prstGeom prst="rect">
            <a:avLst/>
          </a:prstGeom>
          <a:noFill/>
        </p:spPr>
        <p:txBody>
          <a:bodyPr wrap="square">
            <a:spAutoFit/>
          </a:bodyPr>
          <a:lstStyle/>
          <a:p>
            <a:pPr algn="ctr"/>
            <a:r>
              <a:rPr lang="zh-CN" altLang="en-US" sz="1800" dirty="0">
                <a:effectLst/>
                <a:ea typeface="黑体" panose="02010609060101010101" pitchFamily="49" charset="-122"/>
                <a:cs typeface="Times New Roman" panose="02020603050405020304" pitchFamily="18" charset="0"/>
              </a:rPr>
              <a:t>图</a:t>
            </a:r>
            <a:r>
              <a:rPr lang="en-US" altLang="zh-CN" sz="1800" dirty="0">
                <a:effectLst/>
                <a:ea typeface="黑体" panose="02010609060101010101" pitchFamily="49" charset="-122"/>
                <a:cs typeface="Times New Roman" panose="02020603050405020304" pitchFamily="18" charset="0"/>
              </a:rPr>
              <a:t>8-37 </a:t>
            </a:r>
            <a:r>
              <a:rPr lang="zh-CN" altLang="en-US" sz="1800" dirty="0">
                <a:effectLst/>
                <a:ea typeface="黑体" panose="02010609060101010101" pitchFamily="49" charset="-122"/>
                <a:cs typeface="Times New Roman" panose="02020603050405020304" pitchFamily="18" charset="0"/>
              </a:rPr>
              <a:t>连杆参考孔轴线</a:t>
            </a:r>
            <a:endParaRPr lang="zh-CN" altLang="en-US" dirty="0"/>
          </a:p>
        </p:txBody>
      </p:sp>
      <p:sp>
        <p:nvSpPr>
          <p:cNvPr id="6" name="文本框 5">
            <a:extLst>
              <a:ext uri="{FF2B5EF4-FFF2-40B4-BE49-F238E27FC236}">
                <a16:creationId xmlns:a16="http://schemas.microsoft.com/office/drawing/2014/main" id="{687F8FA3-92A1-A1BA-6A79-2DE376B2D397}"/>
              </a:ext>
            </a:extLst>
          </p:cNvPr>
          <p:cNvSpPr txBox="1"/>
          <p:nvPr/>
        </p:nvSpPr>
        <p:spPr>
          <a:xfrm>
            <a:off x="8115520" y="3232506"/>
            <a:ext cx="3297762" cy="369332"/>
          </a:xfrm>
          <a:prstGeom prst="rect">
            <a:avLst/>
          </a:prstGeom>
          <a:noFill/>
        </p:spPr>
        <p:txBody>
          <a:bodyPr wrap="square">
            <a:spAutoFit/>
          </a:bodyPr>
          <a:lstStyle/>
          <a:p>
            <a:pPr algn="ctr"/>
            <a:r>
              <a:rPr lang="zh-CN" altLang="en-US" sz="1800" dirty="0">
                <a:effectLst/>
                <a:ea typeface="黑体" panose="02010609060101010101" pitchFamily="49" charset="-122"/>
                <a:cs typeface="Times New Roman" panose="02020603050405020304" pitchFamily="18" charset="0"/>
              </a:rPr>
              <a:t>图</a:t>
            </a:r>
            <a:r>
              <a:rPr lang="en-US" altLang="zh-CN" sz="1800" dirty="0">
                <a:effectLst/>
                <a:ea typeface="黑体" panose="02010609060101010101" pitchFamily="49" charset="-122"/>
                <a:cs typeface="Times New Roman" panose="02020603050405020304" pitchFamily="18" charset="0"/>
              </a:rPr>
              <a:t>8-38 </a:t>
            </a:r>
            <a:r>
              <a:rPr lang="zh-CN" altLang="en-US" sz="1800" dirty="0">
                <a:effectLst/>
                <a:ea typeface="黑体" panose="02010609060101010101" pitchFamily="49" charset="-122"/>
                <a:cs typeface="Times New Roman" panose="02020603050405020304" pitchFamily="18" charset="0"/>
              </a:rPr>
              <a:t>曲轴参考轴线</a:t>
            </a:r>
            <a:endParaRPr lang="zh-CN" altLang="en-US" dirty="0"/>
          </a:p>
        </p:txBody>
      </p:sp>
      <p:pic>
        <p:nvPicPr>
          <p:cNvPr id="2" name="图片 1">
            <a:extLst>
              <a:ext uri="{FF2B5EF4-FFF2-40B4-BE49-F238E27FC236}">
                <a16:creationId xmlns:a16="http://schemas.microsoft.com/office/drawing/2014/main" id="{FF54E62F-B464-8E6F-B591-46BD2B83B6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4473" y="877801"/>
            <a:ext cx="4453149" cy="1730533"/>
          </a:xfrm>
          <a:prstGeom prst="rect">
            <a:avLst/>
          </a:prstGeom>
        </p:spPr>
      </p:pic>
      <p:pic>
        <p:nvPicPr>
          <p:cNvPr id="7" name="图片 6">
            <a:extLst>
              <a:ext uri="{FF2B5EF4-FFF2-40B4-BE49-F238E27FC236}">
                <a16:creationId xmlns:a16="http://schemas.microsoft.com/office/drawing/2014/main" id="{30F9DE5E-AA4E-0034-DF56-05928AC323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44080" y="732181"/>
            <a:ext cx="3297762" cy="2353913"/>
          </a:xfrm>
          <a:prstGeom prst="rect">
            <a:avLst/>
          </a:prstGeom>
        </p:spPr>
      </p:pic>
      <p:pic>
        <p:nvPicPr>
          <p:cNvPr id="8" name="图片 7">
            <a:extLst>
              <a:ext uri="{FF2B5EF4-FFF2-40B4-BE49-F238E27FC236}">
                <a16:creationId xmlns:a16="http://schemas.microsoft.com/office/drawing/2014/main" id="{BE497C3C-648B-7A51-2479-4BE6C767C3D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34041" y="3771907"/>
            <a:ext cx="3995788" cy="2002016"/>
          </a:xfrm>
          <a:prstGeom prst="rect">
            <a:avLst/>
          </a:prstGeom>
        </p:spPr>
      </p:pic>
      <p:sp>
        <p:nvSpPr>
          <p:cNvPr id="9" name="文本框 8">
            <a:extLst>
              <a:ext uri="{FF2B5EF4-FFF2-40B4-BE49-F238E27FC236}">
                <a16:creationId xmlns:a16="http://schemas.microsoft.com/office/drawing/2014/main" id="{EC27C2EA-0FBD-691B-119D-B010B306A36C}"/>
              </a:ext>
            </a:extLst>
          </p:cNvPr>
          <p:cNvSpPr txBox="1"/>
          <p:nvPr/>
        </p:nvSpPr>
        <p:spPr>
          <a:xfrm>
            <a:off x="4447119" y="5795533"/>
            <a:ext cx="3297762" cy="369332"/>
          </a:xfrm>
          <a:prstGeom prst="rect">
            <a:avLst/>
          </a:prstGeom>
          <a:noFill/>
        </p:spPr>
        <p:txBody>
          <a:bodyPr wrap="square">
            <a:spAutoFit/>
          </a:bodyPr>
          <a:lstStyle/>
          <a:p>
            <a:pPr algn="ctr"/>
            <a:r>
              <a:rPr lang="zh-CN" altLang="en-US" sz="1800" dirty="0">
                <a:effectLst/>
                <a:ea typeface="黑体" panose="02010609060101010101" pitchFamily="49" charset="-122"/>
                <a:cs typeface="Times New Roman" panose="02020603050405020304" pitchFamily="18" charset="0"/>
              </a:rPr>
              <a:t>图</a:t>
            </a:r>
            <a:r>
              <a:rPr lang="en-US" altLang="zh-CN" sz="1800" dirty="0">
                <a:effectLst/>
                <a:ea typeface="黑体" panose="02010609060101010101" pitchFamily="49" charset="-122"/>
                <a:cs typeface="Times New Roman" panose="02020603050405020304" pitchFamily="18" charset="0"/>
              </a:rPr>
              <a:t>8-39 </a:t>
            </a:r>
            <a:r>
              <a:rPr lang="zh-CN" altLang="en-US" sz="1800" dirty="0">
                <a:effectLst/>
                <a:ea typeface="黑体" panose="02010609060101010101" pitchFamily="49" charset="-122"/>
                <a:cs typeface="Times New Roman" panose="02020603050405020304" pitchFamily="18" charset="0"/>
              </a:rPr>
              <a:t>连杆参考平面</a:t>
            </a:r>
            <a:endParaRPr lang="zh-CN" altLang="en-US" dirty="0"/>
          </a:p>
        </p:txBody>
      </p:sp>
    </p:spTree>
    <p:extLst>
      <p:ext uri="{BB962C8B-B14F-4D97-AF65-F5344CB8AC3E}">
        <p14:creationId xmlns:p14="http://schemas.microsoft.com/office/powerpoint/2010/main" val="168505110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3" y="482223"/>
            <a:ext cx="11178206" cy="6022098"/>
          </a:xfrm>
          <a:prstGeom prst="rect">
            <a:avLst/>
          </a:prstGeom>
          <a:noFill/>
        </p:spPr>
        <p:txBody>
          <a:bodyPr wrap="square" rtlCol="0">
            <a:spAutoFit/>
          </a:bodyPr>
          <a:lstStyle/>
          <a:p>
            <a:pPr indent="457200">
              <a:lnSpc>
                <a:spcPct val="150000"/>
              </a:lnSpc>
            </a:pPr>
            <a:r>
              <a:rPr lang="en-US" altLang="zh-CN" sz="2600" b="1" dirty="0">
                <a:latin typeface="Times New Roman" pitchFamily="18" charset="0"/>
                <a:ea typeface="宋体" pitchFamily="2" charset="-122"/>
              </a:rPr>
              <a:t>5.</a:t>
            </a:r>
            <a:r>
              <a:rPr lang="zh-CN" altLang="en-US" sz="2600" b="1" dirty="0">
                <a:latin typeface="Times New Roman" pitchFamily="18" charset="0"/>
                <a:ea typeface="宋体" pitchFamily="2" charset="-122"/>
              </a:rPr>
              <a:t>装配活塞销</a:t>
            </a:r>
          </a:p>
          <a:p>
            <a:pPr indent="457200">
              <a:lnSpc>
                <a:spcPct val="150000"/>
              </a:lnSpc>
            </a:pPr>
            <a:r>
              <a:rPr lang="en-US" altLang="zh-CN" sz="2600" dirty="0">
                <a:latin typeface="Times New Roman" pitchFamily="18" charset="0"/>
                <a:ea typeface="宋体" pitchFamily="2" charset="-122"/>
              </a:rPr>
              <a:t>1</a:t>
            </a:r>
            <a:r>
              <a:rPr lang="zh-CN" altLang="en-US" sz="2600" dirty="0">
                <a:latin typeface="Times New Roman" pitchFamily="18" charset="0"/>
                <a:ea typeface="宋体" pitchFamily="2" charset="-122"/>
              </a:rPr>
              <a:t>）调入模型。单击功能区</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模型</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元件</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区域中的“组装”按钮 ，在弹出的</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打开</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对话框中选择模型“活塞销</a:t>
            </a:r>
            <a:r>
              <a:rPr lang="en-US" altLang="zh-CN" sz="2600" dirty="0">
                <a:latin typeface="Times New Roman" pitchFamily="18" charset="0"/>
                <a:ea typeface="宋体" pitchFamily="2" charset="-122"/>
              </a:rPr>
              <a:t>.</a:t>
            </a:r>
            <a:r>
              <a:rPr lang="en-US" altLang="zh-CN" sz="2600" dirty="0" err="1">
                <a:latin typeface="Times New Roman" pitchFamily="18" charset="0"/>
                <a:ea typeface="宋体" pitchFamily="2" charset="-122"/>
              </a:rPr>
              <a:t>prt</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a:t>
            </a:r>
            <a:endParaRPr lang="en-US" altLang="zh-CN" sz="2600" dirty="0">
              <a:latin typeface="Times New Roman" pitchFamily="18" charset="0"/>
              <a:ea typeface="宋体" pitchFamily="2" charset="-122"/>
            </a:endParaRPr>
          </a:p>
          <a:p>
            <a:pPr indent="457200">
              <a:lnSpc>
                <a:spcPct val="150000"/>
              </a:lnSpc>
            </a:pPr>
            <a:r>
              <a:rPr lang="en-US" altLang="zh-CN" sz="2600" dirty="0">
                <a:latin typeface="Times New Roman" pitchFamily="18" charset="0"/>
                <a:ea typeface="宋体" pitchFamily="2" charset="-122"/>
              </a:rPr>
              <a:t>2</a:t>
            </a:r>
            <a:r>
              <a:rPr lang="zh-CN" altLang="en-US" sz="2600" dirty="0">
                <a:latin typeface="Times New Roman" pitchFamily="18" charset="0"/>
                <a:ea typeface="宋体" pitchFamily="2" charset="-122"/>
              </a:rPr>
              <a:t>）创建连接。单击操控板中的</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用户定义</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下拉列表框，选择连接类型为“销链接”   。在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放置</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下滑面板，单击</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轴对齐</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下方选框，分别选取活塞销轴线和连杆小端圆孔的轴线，设置</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约束类型</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为重合；单击</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平移</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下方选框，分别选取如图</a:t>
            </a:r>
            <a:r>
              <a:rPr lang="en-US" altLang="zh-CN" sz="2600" dirty="0">
                <a:latin typeface="Times New Roman" pitchFamily="18" charset="0"/>
                <a:ea typeface="宋体" pitchFamily="2" charset="-122"/>
              </a:rPr>
              <a:t>8-40</a:t>
            </a:r>
            <a:r>
              <a:rPr lang="zh-CN" altLang="en-US" sz="2600" dirty="0">
                <a:latin typeface="Times New Roman" pitchFamily="18" charset="0"/>
                <a:ea typeface="宋体" pitchFamily="2" charset="-122"/>
              </a:rPr>
              <a:t>所示的活塞销中间基准平面</a:t>
            </a:r>
            <a:r>
              <a:rPr lang="en-US" altLang="zh-CN" sz="2600" dirty="0">
                <a:latin typeface="Times New Roman" pitchFamily="18" charset="0"/>
                <a:ea typeface="宋体" pitchFamily="2" charset="-122"/>
              </a:rPr>
              <a:t>RIGHT</a:t>
            </a:r>
            <a:r>
              <a:rPr lang="zh-CN" altLang="en-US" sz="2600" dirty="0">
                <a:latin typeface="Times New Roman" pitchFamily="18" charset="0"/>
                <a:ea typeface="宋体" pitchFamily="2" charset="-122"/>
              </a:rPr>
              <a:t>和图</a:t>
            </a:r>
            <a:r>
              <a:rPr lang="en-US" altLang="zh-CN" sz="2600" dirty="0">
                <a:latin typeface="Times New Roman" pitchFamily="18" charset="0"/>
                <a:ea typeface="宋体" pitchFamily="2" charset="-122"/>
              </a:rPr>
              <a:t>8-39</a:t>
            </a:r>
            <a:r>
              <a:rPr lang="zh-CN" altLang="en-US" sz="2600" dirty="0">
                <a:latin typeface="Times New Roman" pitchFamily="18" charset="0"/>
                <a:ea typeface="宋体" pitchFamily="2" charset="-122"/>
              </a:rPr>
              <a:t>所示的连杆中间基准平面为参考平面，设置</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约束类型</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为重合，可通过</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反向</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按钮调整方向。</a:t>
            </a:r>
            <a:endParaRPr lang="en-US" altLang="zh-CN" sz="2600" dirty="0">
              <a:latin typeface="Times New Roman" pitchFamily="18" charset="0"/>
              <a:ea typeface="宋体" pitchFamily="2" charset="-122"/>
            </a:endParaRPr>
          </a:p>
          <a:p>
            <a:pPr indent="457200">
              <a:lnSpc>
                <a:spcPct val="150000"/>
              </a:lnSpc>
            </a:pPr>
            <a:r>
              <a:rPr lang="en-US" altLang="zh-CN" sz="2600" dirty="0">
                <a:latin typeface="Times New Roman" pitchFamily="18" charset="0"/>
                <a:ea typeface="宋体" pitchFamily="2" charset="-122"/>
              </a:rPr>
              <a:t>3</a:t>
            </a:r>
            <a:r>
              <a:rPr lang="zh-CN" altLang="en-US" sz="2600" dirty="0">
                <a:latin typeface="Times New Roman" pitchFamily="18" charset="0"/>
                <a:ea typeface="宋体" pitchFamily="2" charset="-122"/>
              </a:rPr>
              <a:t>）单击操控板中的“确定”按钮，完成活塞销的组装。</a:t>
            </a:r>
          </a:p>
        </p:txBody>
      </p:sp>
      <p:pic>
        <p:nvPicPr>
          <p:cNvPr id="4" name="图片 3">
            <a:extLst>
              <a:ext uri="{FF2B5EF4-FFF2-40B4-BE49-F238E27FC236}">
                <a16:creationId xmlns:a16="http://schemas.microsoft.com/office/drawing/2014/main" id="{44C4AF5C-329E-0D57-7B2E-A75E4F1B9976}"/>
              </a:ext>
            </a:extLst>
          </p:cNvPr>
          <p:cNvPicPr>
            <a:picLocks noChangeAspect="1"/>
          </p:cNvPicPr>
          <p:nvPr/>
        </p:nvPicPr>
        <p:blipFill>
          <a:blip r:embed="rId2"/>
          <a:stretch>
            <a:fillRect/>
          </a:stretch>
        </p:blipFill>
        <p:spPr>
          <a:xfrm>
            <a:off x="950278" y="1862255"/>
            <a:ext cx="314325" cy="342900"/>
          </a:xfrm>
          <a:prstGeom prst="rect">
            <a:avLst/>
          </a:prstGeom>
        </p:spPr>
      </p:pic>
      <p:pic>
        <p:nvPicPr>
          <p:cNvPr id="2" name="图片 1">
            <a:extLst>
              <a:ext uri="{FF2B5EF4-FFF2-40B4-BE49-F238E27FC236}">
                <a16:creationId xmlns:a16="http://schemas.microsoft.com/office/drawing/2014/main" id="{5FD74563-C7D6-A086-323D-41773120CF63}"/>
              </a:ext>
            </a:extLst>
          </p:cNvPr>
          <p:cNvPicPr>
            <a:picLocks noChangeAspect="1"/>
          </p:cNvPicPr>
          <p:nvPr/>
        </p:nvPicPr>
        <p:blipFill>
          <a:blip r:embed="rId3"/>
          <a:stretch>
            <a:fillRect/>
          </a:stretch>
        </p:blipFill>
        <p:spPr>
          <a:xfrm>
            <a:off x="2419348" y="3108960"/>
            <a:ext cx="335280" cy="320040"/>
          </a:xfrm>
          <a:prstGeom prst="rect">
            <a:avLst/>
          </a:prstGeom>
        </p:spPr>
      </p:pic>
    </p:spTree>
    <p:extLst>
      <p:ext uri="{BB962C8B-B14F-4D97-AF65-F5344CB8AC3E}">
        <p14:creationId xmlns:p14="http://schemas.microsoft.com/office/powerpoint/2010/main" val="294893844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6A5580DD-729D-10D9-CE85-860C88CA0C56}"/>
              </a:ext>
            </a:extLst>
          </p:cNvPr>
          <p:cNvSpPr txBox="1"/>
          <p:nvPr/>
        </p:nvSpPr>
        <p:spPr>
          <a:xfrm>
            <a:off x="4447119" y="4532672"/>
            <a:ext cx="3297762" cy="369332"/>
          </a:xfrm>
          <a:prstGeom prst="rect">
            <a:avLst/>
          </a:prstGeom>
          <a:noFill/>
        </p:spPr>
        <p:txBody>
          <a:bodyPr wrap="square">
            <a:spAutoFit/>
          </a:bodyPr>
          <a:lstStyle/>
          <a:p>
            <a:pPr algn="ctr"/>
            <a:r>
              <a:rPr lang="zh-CN" altLang="en-US" sz="1800" dirty="0">
                <a:effectLst/>
                <a:ea typeface="黑体" panose="02010609060101010101" pitchFamily="49" charset="-122"/>
                <a:cs typeface="Times New Roman" panose="02020603050405020304" pitchFamily="18" charset="0"/>
              </a:rPr>
              <a:t>图</a:t>
            </a:r>
            <a:r>
              <a:rPr lang="en-US" altLang="zh-CN" sz="1800" dirty="0">
                <a:effectLst/>
                <a:ea typeface="黑体" panose="02010609060101010101" pitchFamily="49" charset="-122"/>
                <a:cs typeface="Times New Roman" panose="02020603050405020304" pitchFamily="18" charset="0"/>
              </a:rPr>
              <a:t>8-40</a:t>
            </a:r>
            <a:r>
              <a:rPr lang="zh-CN" altLang="en-US" sz="1800" dirty="0">
                <a:effectLst/>
                <a:ea typeface="黑体" panose="02010609060101010101" pitchFamily="49" charset="-122"/>
                <a:cs typeface="Times New Roman" panose="02020603050405020304" pitchFamily="18" charset="0"/>
              </a:rPr>
              <a:t>活塞销参考平面</a:t>
            </a:r>
            <a:endParaRPr lang="zh-CN" altLang="en-US" dirty="0"/>
          </a:p>
        </p:txBody>
      </p:sp>
      <p:pic>
        <p:nvPicPr>
          <p:cNvPr id="4" name="图片 3">
            <a:extLst>
              <a:ext uri="{FF2B5EF4-FFF2-40B4-BE49-F238E27FC236}">
                <a16:creationId xmlns:a16="http://schemas.microsoft.com/office/drawing/2014/main" id="{C9E93DCD-B535-6B7E-7F0E-DCAB0F7D75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29079" y="1414464"/>
            <a:ext cx="4733843" cy="2745104"/>
          </a:xfrm>
          <a:prstGeom prst="rect">
            <a:avLst/>
          </a:prstGeom>
        </p:spPr>
      </p:pic>
    </p:spTree>
    <p:extLst>
      <p:ext uri="{BB962C8B-B14F-4D97-AF65-F5344CB8AC3E}">
        <p14:creationId xmlns:p14="http://schemas.microsoft.com/office/powerpoint/2010/main" val="233653834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3" y="482223"/>
            <a:ext cx="11178206" cy="4217565"/>
          </a:xfrm>
          <a:prstGeom prst="rect">
            <a:avLst/>
          </a:prstGeom>
          <a:noFill/>
        </p:spPr>
        <p:txBody>
          <a:bodyPr wrap="square" rtlCol="0">
            <a:spAutoFit/>
          </a:bodyPr>
          <a:lstStyle/>
          <a:p>
            <a:pPr indent="457200">
              <a:lnSpc>
                <a:spcPct val="150000"/>
              </a:lnSpc>
            </a:pPr>
            <a:r>
              <a:rPr lang="en-US" altLang="zh-CN" sz="2600" b="1" dirty="0">
                <a:latin typeface="Times New Roman" pitchFamily="18" charset="0"/>
                <a:ea typeface="宋体" pitchFamily="2" charset="-122"/>
              </a:rPr>
              <a:t>6.</a:t>
            </a:r>
            <a:r>
              <a:rPr lang="zh-CN" altLang="en-US" sz="2600" b="1" dirty="0">
                <a:latin typeface="Times New Roman" pitchFamily="18" charset="0"/>
                <a:ea typeface="宋体" pitchFamily="2" charset="-122"/>
              </a:rPr>
              <a:t>装配活塞</a:t>
            </a:r>
          </a:p>
          <a:p>
            <a:pPr indent="457200">
              <a:lnSpc>
                <a:spcPct val="150000"/>
              </a:lnSpc>
            </a:pPr>
            <a:r>
              <a:rPr lang="en-US" altLang="zh-CN" sz="2600" dirty="0">
                <a:latin typeface="Times New Roman" pitchFamily="18" charset="0"/>
                <a:ea typeface="宋体" pitchFamily="2" charset="-122"/>
              </a:rPr>
              <a:t>1</a:t>
            </a:r>
            <a:r>
              <a:rPr lang="zh-CN" altLang="en-US" sz="2600" dirty="0">
                <a:latin typeface="Times New Roman" pitchFamily="18" charset="0"/>
                <a:ea typeface="宋体" pitchFamily="2" charset="-122"/>
              </a:rPr>
              <a:t>）调入模型。单击功能区</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模型</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元件</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区域中的“组装”按钮     ，在弹出的</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打开</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对话框中选择模型“活塞</a:t>
            </a:r>
            <a:r>
              <a:rPr lang="en-US" altLang="zh-CN" sz="2600" dirty="0">
                <a:latin typeface="Times New Roman" pitchFamily="18" charset="0"/>
                <a:ea typeface="宋体" pitchFamily="2" charset="-122"/>
              </a:rPr>
              <a:t>.</a:t>
            </a:r>
            <a:r>
              <a:rPr lang="en-US" altLang="zh-CN" sz="2600" dirty="0" err="1">
                <a:latin typeface="Times New Roman" pitchFamily="18" charset="0"/>
                <a:ea typeface="宋体" pitchFamily="2" charset="-122"/>
              </a:rPr>
              <a:t>prt</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a:t>
            </a:r>
          </a:p>
          <a:p>
            <a:pPr indent="457200">
              <a:lnSpc>
                <a:spcPct val="150000"/>
              </a:lnSpc>
            </a:pPr>
            <a:r>
              <a:rPr lang="en-US" altLang="zh-CN" sz="2600" dirty="0">
                <a:latin typeface="Times New Roman" pitchFamily="18" charset="0"/>
                <a:ea typeface="宋体" pitchFamily="2" charset="-122"/>
              </a:rPr>
              <a:t>2</a:t>
            </a:r>
            <a:r>
              <a:rPr lang="zh-CN" altLang="en-US" sz="2600" dirty="0">
                <a:latin typeface="Times New Roman" pitchFamily="18" charset="0"/>
                <a:ea typeface="宋体" pitchFamily="2" charset="-122"/>
              </a:rPr>
              <a:t>）添加约束。在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放置</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下滑面板中，依次选中图</a:t>
            </a:r>
            <a:r>
              <a:rPr lang="en-US" altLang="zh-CN" sz="2600" dirty="0">
                <a:latin typeface="Times New Roman" pitchFamily="18" charset="0"/>
                <a:ea typeface="宋体" pitchFamily="2" charset="-122"/>
              </a:rPr>
              <a:t>8-41</a:t>
            </a:r>
            <a:r>
              <a:rPr lang="zh-CN" altLang="en-US" sz="2600" dirty="0">
                <a:latin typeface="Times New Roman" pitchFamily="18" charset="0"/>
                <a:ea typeface="宋体" pitchFamily="2" charset="-122"/>
              </a:rPr>
              <a:t>和图</a:t>
            </a:r>
            <a:r>
              <a:rPr lang="en-US" altLang="zh-CN" sz="2600" dirty="0">
                <a:latin typeface="Times New Roman" pitchFamily="18" charset="0"/>
                <a:ea typeface="宋体" pitchFamily="2" charset="-122"/>
              </a:rPr>
              <a:t>8-42</a:t>
            </a:r>
            <a:r>
              <a:rPr lang="zh-CN" altLang="en-US" sz="2600" dirty="0">
                <a:latin typeface="Times New Roman" pitchFamily="18" charset="0"/>
                <a:ea typeface="宋体" pitchFamily="2" charset="-122"/>
              </a:rPr>
              <a:t>中指定的参考（一对基准平面和一对中心轴）作为匹配对象进行两个约束。</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约束类型</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均为</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重合</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，如果方向不对可通过单击</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放置</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下滑面板中的</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反向</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按钮调整。</a:t>
            </a:r>
          </a:p>
        </p:txBody>
      </p:sp>
      <p:pic>
        <p:nvPicPr>
          <p:cNvPr id="4" name="图片 3">
            <a:extLst>
              <a:ext uri="{FF2B5EF4-FFF2-40B4-BE49-F238E27FC236}">
                <a16:creationId xmlns:a16="http://schemas.microsoft.com/office/drawing/2014/main" id="{44C4AF5C-329E-0D57-7B2E-A75E4F1B9976}"/>
              </a:ext>
            </a:extLst>
          </p:cNvPr>
          <p:cNvPicPr>
            <a:picLocks noChangeAspect="1"/>
          </p:cNvPicPr>
          <p:nvPr/>
        </p:nvPicPr>
        <p:blipFill>
          <a:blip r:embed="rId2"/>
          <a:stretch>
            <a:fillRect/>
          </a:stretch>
        </p:blipFill>
        <p:spPr>
          <a:xfrm>
            <a:off x="964566" y="1862341"/>
            <a:ext cx="314325" cy="342900"/>
          </a:xfrm>
          <a:prstGeom prst="rect">
            <a:avLst/>
          </a:prstGeom>
        </p:spPr>
      </p:pic>
    </p:spTree>
    <p:extLst>
      <p:ext uri="{BB962C8B-B14F-4D97-AF65-F5344CB8AC3E}">
        <p14:creationId xmlns:p14="http://schemas.microsoft.com/office/powerpoint/2010/main" val="278597647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4C3B33EB-A0D2-525D-473D-96A71A05B8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12917" y="1816058"/>
            <a:ext cx="3700247" cy="3225884"/>
          </a:xfrm>
          <a:prstGeom prst="rect">
            <a:avLst/>
          </a:prstGeom>
        </p:spPr>
      </p:pic>
      <p:sp>
        <p:nvSpPr>
          <p:cNvPr id="3" name="文本框 2">
            <a:extLst>
              <a:ext uri="{FF2B5EF4-FFF2-40B4-BE49-F238E27FC236}">
                <a16:creationId xmlns:a16="http://schemas.microsoft.com/office/drawing/2014/main" id="{6A5580DD-729D-10D9-CE85-860C88CA0C56}"/>
              </a:ext>
            </a:extLst>
          </p:cNvPr>
          <p:cNvSpPr txBox="1"/>
          <p:nvPr/>
        </p:nvSpPr>
        <p:spPr>
          <a:xfrm>
            <a:off x="2032532" y="4932730"/>
            <a:ext cx="3297762" cy="369332"/>
          </a:xfrm>
          <a:prstGeom prst="rect">
            <a:avLst/>
          </a:prstGeom>
          <a:noFill/>
        </p:spPr>
        <p:txBody>
          <a:bodyPr wrap="square">
            <a:spAutoFit/>
          </a:bodyPr>
          <a:lstStyle/>
          <a:p>
            <a:pPr algn="ctr"/>
            <a:r>
              <a:rPr lang="zh-CN" altLang="en-US" sz="1800" dirty="0">
                <a:effectLst/>
                <a:ea typeface="黑体" panose="02010609060101010101" pitchFamily="49" charset="-122"/>
                <a:cs typeface="Times New Roman" panose="02020603050405020304" pitchFamily="18" charset="0"/>
              </a:rPr>
              <a:t>图</a:t>
            </a:r>
            <a:r>
              <a:rPr lang="en-US" altLang="zh-CN" sz="1800" dirty="0">
                <a:effectLst/>
                <a:ea typeface="黑体" panose="02010609060101010101" pitchFamily="49" charset="-122"/>
                <a:cs typeface="Times New Roman" panose="02020603050405020304" pitchFamily="18" charset="0"/>
              </a:rPr>
              <a:t>8-41</a:t>
            </a:r>
            <a:r>
              <a:rPr lang="zh-CN" altLang="en-US" sz="1800" dirty="0">
                <a:effectLst/>
                <a:ea typeface="黑体" panose="02010609060101010101" pitchFamily="49" charset="-122"/>
                <a:cs typeface="Times New Roman" panose="02020603050405020304" pitchFamily="18" charset="0"/>
              </a:rPr>
              <a:t>元件约束参考</a:t>
            </a:r>
            <a:endParaRPr lang="zh-CN" altLang="en-US" dirty="0"/>
          </a:p>
        </p:txBody>
      </p:sp>
      <p:sp>
        <p:nvSpPr>
          <p:cNvPr id="6" name="文本框 5">
            <a:extLst>
              <a:ext uri="{FF2B5EF4-FFF2-40B4-BE49-F238E27FC236}">
                <a16:creationId xmlns:a16="http://schemas.microsoft.com/office/drawing/2014/main" id="{687F8FA3-92A1-A1BA-6A79-2DE376B2D397}"/>
              </a:ext>
            </a:extLst>
          </p:cNvPr>
          <p:cNvSpPr txBox="1"/>
          <p:nvPr/>
        </p:nvSpPr>
        <p:spPr>
          <a:xfrm>
            <a:off x="7286840" y="4932730"/>
            <a:ext cx="3297762" cy="369332"/>
          </a:xfrm>
          <a:prstGeom prst="rect">
            <a:avLst/>
          </a:prstGeom>
          <a:noFill/>
        </p:spPr>
        <p:txBody>
          <a:bodyPr wrap="square">
            <a:spAutoFit/>
          </a:bodyPr>
          <a:lstStyle/>
          <a:p>
            <a:pPr algn="ctr"/>
            <a:r>
              <a:rPr lang="zh-CN" altLang="en-US" sz="1800" dirty="0">
                <a:effectLst/>
                <a:ea typeface="黑体" panose="02010609060101010101" pitchFamily="49" charset="-122"/>
                <a:cs typeface="Times New Roman" panose="02020603050405020304" pitchFamily="18" charset="0"/>
              </a:rPr>
              <a:t>图</a:t>
            </a:r>
            <a:r>
              <a:rPr lang="en-US" altLang="zh-CN" sz="1800" dirty="0">
                <a:effectLst/>
                <a:ea typeface="黑体" panose="02010609060101010101" pitchFamily="49" charset="-122"/>
                <a:cs typeface="Times New Roman" panose="02020603050405020304" pitchFamily="18" charset="0"/>
              </a:rPr>
              <a:t>8-42</a:t>
            </a:r>
            <a:r>
              <a:rPr lang="zh-CN" altLang="en-US" sz="1800" dirty="0">
                <a:effectLst/>
                <a:ea typeface="黑体" panose="02010609060101010101" pitchFamily="49" charset="-122"/>
                <a:cs typeface="Times New Roman" panose="02020603050405020304" pitchFamily="18" charset="0"/>
              </a:rPr>
              <a:t>装配约束参考</a:t>
            </a:r>
            <a:endParaRPr lang="zh-CN" altLang="en-US" dirty="0"/>
          </a:p>
        </p:txBody>
      </p:sp>
      <p:pic>
        <p:nvPicPr>
          <p:cNvPr id="2" name="图片 1">
            <a:extLst>
              <a:ext uri="{FF2B5EF4-FFF2-40B4-BE49-F238E27FC236}">
                <a16:creationId xmlns:a16="http://schemas.microsoft.com/office/drawing/2014/main" id="{B86C48BE-5C27-1304-0AB0-C1098B80F5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78838" y="1521887"/>
            <a:ext cx="3700247" cy="3410843"/>
          </a:xfrm>
          <a:prstGeom prst="rect">
            <a:avLst/>
          </a:prstGeom>
        </p:spPr>
      </p:pic>
    </p:spTree>
    <p:extLst>
      <p:ext uri="{BB962C8B-B14F-4D97-AF65-F5344CB8AC3E}">
        <p14:creationId xmlns:p14="http://schemas.microsoft.com/office/powerpoint/2010/main" val="380674150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3" y="482223"/>
            <a:ext cx="11178206" cy="616579"/>
          </a:xfrm>
          <a:prstGeom prst="rect">
            <a:avLst/>
          </a:prstGeom>
          <a:noFill/>
        </p:spPr>
        <p:txBody>
          <a:bodyPr wrap="square" rtlCol="0">
            <a:spAutoFit/>
          </a:bodyPr>
          <a:lstStyle/>
          <a:p>
            <a:pPr indent="457200">
              <a:lnSpc>
                <a:spcPct val="150000"/>
              </a:lnSpc>
            </a:pPr>
            <a:r>
              <a:rPr lang="en-US" altLang="zh-CN" sz="2600" dirty="0">
                <a:latin typeface="Times New Roman" pitchFamily="18" charset="0"/>
                <a:ea typeface="宋体" pitchFamily="2" charset="-122"/>
              </a:rPr>
              <a:t>3</a:t>
            </a:r>
            <a:r>
              <a:rPr lang="zh-CN" altLang="en-US" sz="2600" dirty="0">
                <a:latin typeface="Times New Roman" pitchFamily="18" charset="0"/>
                <a:ea typeface="宋体" pitchFamily="2" charset="-122"/>
              </a:rPr>
              <a:t>）单击操控板中的“确定”按钮，完成活塞的组装，如图</a:t>
            </a:r>
            <a:r>
              <a:rPr lang="en-US" altLang="zh-CN" sz="2600" dirty="0">
                <a:latin typeface="Times New Roman" pitchFamily="18" charset="0"/>
                <a:ea typeface="宋体" pitchFamily="2" charset="-122"/>
              </a:rPr>
              <a:t>8-43</a:t>
            </a:r>
            <a:r>
              <a:rPr lang="zh-CN" altLang="en-US" sz="2600" dirty="0">
                <a:latin typeface="Times New Roman" pitchFamily="18" charset="0"/>
                <a:ea typeface="宋体" pitchFamily="2" charset="-122"/>
              </a:rPr>
              <a:t>所示。</a:t>
            </a:r>
          </a:p>
        </p:txBody>
      </p:sp>
      <p:sp>
        <p:nvSpPr>
          <p:cNvPr id="7" name="文本框 6">
            <a:extLst>
              <a:ext uri="{FF2B5EF4-FFF2-40B4-BE49-F238E27FC236}">
                <a16:creationId xmlns:a16="http://schemas.microsoft.com/office/drawing/2014/main" id="{790EA25C-469E-216B-4DBD-5E2E90FD0EAB}"/>
              </a:ext>
            </a:extLst>
          </p:cNvPr>
          <p:cNvSpPr txBox="1"/>
          <p:nvPr/>
        </p:nvSpPr>
        <p:spPr>
          <a:xfrm>
            <a:off x="4397425" y="5760133"/>
            <a:ext cx="3297762" cy="369332"/>
          </a:xfrm>
          <a:prstGeom prst="rect">
            <a:avLst/>
          </a:prstGeom>
          <a:noFill/>
        </p:spPr>
        <p:txBody>
          <a:bodyPr wrap="square">
            <a:spAutoFit/>
          </a:bodyPr>
          <a:lstStyle/>
          <a:p>
            <a:pPr algn="ctr"/>
            <a:r>
              <a:rPr lang="zh-CN" altLang="en-US" sz="1800" dirty="0">
                <a:effectLst/>
                <a:ea typeface="黑体" panose="02010609060101010101" pitchFamily="49" charset="-122"/>
                <a:cs typeface="Times New Roman" panose="02020603050405020304" pitchFamily="18" charset="0"/>
              </a:rPr>
              <a:t>图</a:t>
            </a:r>
            <a:r>
              <a:rPr lang="en-US" altLang="zh-CN" sz="1800" dirty="0">
                <a:effectLst/>
                <a:ea typeface="黑体" panose="02010609060101010101" pitchFamily="49" charset="-122"/>
                <a:cs typeface="Times New Roman" panose="02020603050405020304" pitchFamily="18" charset="0"/>
              </a:rPr>
              <a:t>8-43</a:t>
            </a:r>
            <a:r>
              <a:rPr lang="zh-CN" altLang="en-US" sz="1800" dirty="0">
                <a:effectLst/>
                <a:ea typeface="黑体" panose="02010609060101010101" pitchFamily="49" charset="-122"/>
                <a:cs typeface="Times New Roman" panose="02020603050405020304" pitchFamily="18" charset="0"/>
              </a:rPr>
              <a:t>曲柄连杆机构装配效果</a:t>
            </a:r>
            <a:endParaRPr lang="zh-CN" altLang="en-US" dirty="0"/>
          </a:p>
        </p:txBody>
      </p:sp>
      <p:pic>
        <p:nvPicPr>
          <p:cNvPr id="4" name="图片 3">
            <a:extLst>
              <a:ext uri="{FF2B5EF4-FFF2-40B4-BE49-F238E27FC236}">
                <a16:creationId xmlns:a16="http://schemas.microsoft.com/office/drawing/2014/main" id="{75828F9C-1955-EDDD-0696-730EF6A228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46340" y="1565390"/>
            <a:ext cx="5499320" cy="3727220"/>
          </a:xfrm>
          <a:prstGeom prst="rect">
            <a:avLst/>
          </a:prstGeom>
        </p:spPr>
      </p:pic>
    </p:spTree>
    <p:extLst>
      <p:ext uri="{BB962C8B-B14F-4D97-AF65-F5344CB8AC3E}">
        <p14:creationId xmlns:p14="http://schemas.microsoft.com/office/powerpoint/2010/main" val="429394495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0562" y="470647"/>
            <a:ext cx="3565712" cy="737510"/>
          </a:xfrm>
          <a:prstGeom prst="rect">
            <a:avLst/>
          </a:prstGeom>
          <a:solidFill>
            <a:srgbClr val="0000FF"/>
          </a:solidFill>
        </p:spPr>
        <p:txBody>
          <a:bodyPr wrap="square" rtlCol="0">
            <a:spAutoFit/>
          </a:bodyPr>
          <a:lstStyle/>
          <a:p>
            <a:pPr>
              <a:lnSpc>
                <a:spcPct val="150000"/>
              </a:lnSpc>
            </a:pPr>
            <a:r>
              <a:rPr lang="en-US" altLang="zh-CN" sz="3200" dirty="0">
                <a:solidFill>
                  <a:schemeClr val="bg1"/>
                </a:solidFill>
                <a:latin typeface="Times New Roman" pitchFamily="18" charset="0"/>
                <a:ea typeface="黑体" pitchFamily="49" charset="-122"/>
              </a:rPr>
              <a:t>8.4 </a:t>
            </a:r>
            <a:r>
              <a:rPr lang="zh-CN" altLang="en-US" sz="3200" dirty="0">
                <a:solidFill>
                  <a:schemeClr val="bg1"/>
                </a:solidFill>
                <a:latin typeface="Times New Roman" pitchFamily="18" charset="0"/>
                <a:ea typeface="黑体" pitchFamily="49" charset="-122"/>
              </a:rPr>
              <a:t>镜像元件</a:t>
            </a:r>
            <a:endParaRPr lang="en-US" altLang="zh-CN" sz="3200" dirty="0">
              <a:solidFill>
                <a:schemeClr val="bg1"/>
              </a:solidFill>
              <a:latin typeface="Times New Roman" pitchFamily="18" charset="0"/>
              <a:ea typeface="黑体" pitchFamily="49" charset="-122"/>
            </a:endParaRPr>
          </a:p>
        </p:txBody>
      </p:sp>
      <p:sp>
        <p:nvSpPr>
          <p:cNvPr id="3" name="TextBox 2"/>
          <p:cNvSpPr txBox="1"/>
          <p:nvPr/>
        </p:nvSpPr>
        <p:spPr>
          <a:xfrm>
            <a:off x="457203" y="1279582"/>
            <a:ext cx="11178206" cy="4217565"/>
          </a:xfrm>
          <a:prstGeom prst="rect">
            <a:avLst/>
          </a:prstGeom>
          <a:noFill/>
        </p:spPr>
        <p:txBody>
          <a:bodyPr wrap="square" rtlCol="0">
            <a:spAutoFit/>
          </a:bodyPr>
          <a:lstStyle/>
          <a:p>
            <a:pPr indent="457200">
              <a:lnSpc>
                <a:spcPct val="150000"/>
              </a:lnSpc>
            </a:pPr>
            <a:r>
              <a:rPr lang="zh-CN" altLang="en-US" sz="2600" dirty="0">
                <a:latin typeface="Times New Roman" pitchFamily="18" charset="0"/>
                <a:ea typeface="宋体" pitchFamily="2" charset="-122"/>
              </a:rPr>
              <a:t>在 </a:t>
            </a:r>
            <a:r>
              <a:rPr lang="en-US" altLang="zh-CN" sz="2600" dirty="0">
                <a:latin typeface="Times New Roman" pitchFamily="18" charset="0"/>
                <a:ea typeface="宋体" pitchFamily="2" charset="-122"/>
              </a:rPr>
              <a:t>Creo Parametric 8.0 </a:t>
            </a:r>
            <a:r>
              <a:rPr lang="zh-CN" altLang="en-US" sz="2600" dirty="0">
                <a:latin typeface="Times New Roman" pitchFamily="18" charset="0"/>
                <a:ea typeface="宋体" pitchFamily="2" charset="-122"/>
              </a:rPr>
              <a:t>装配模块中，可以创建装配内零件的从属副本和独立副本，这些副本是关于一个平面参考镜像的，采用镜像零件的方式可以不必创建重复的实例，因此可以大大减少装配设计时间而大幅提升设计效率。</a:t>
            </a:r>
            <a:endParaRPr lang="en-US" altLang="zh-CN" sz="2600" dirty="0">
              <a:latin typeface="Times New Roman" pitchFamily="18" charset="0"/>
              <a:ea typeface="宋体" pitchFamily="2" charset="-122"/>
            </a:endParaRPr>
          </a:p>
          <a:p>
            <a:pPr indent="457200">
              <a:lnSpc>
                <a:spcPct val="150000"/>
              </a:lnSpc>
            </a:pPr>
            <a:r>
              <a:rPr lang="zh-CN" altLang="en-US" sz="2600" dirty="0">
                <a:latin typeface="Times New Roman" pitchFamily="18" charset="0"/>
                <a:ea typeface="宋体" pitchFamily="2" charset="-122"/>
              </a:rPr>
              <a:t>下面以实例的形式介绍如何在装配内创建零件的镜像副本。在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快速访问</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工具栏中单击“打开”按钮 ，系统弹出</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文件打开</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对话框，选择“</a:t>
            </a:r>
            <a:r>
              <a:rPr lang="en-US" altLang="zh-CN" sz="2600" dirty="0">
                <a:latin typeface="Times New Roman" pitchFamily="18" charset="0"/>
                <a:ea typeface="宋体" pitchFamily="2" charset="-122"/>
              </a:rPr>
              <a:t>\DATA\ch8\</a:t>
            </a:r>
            <a:r>
              <a:rPr lang="zh-CN" altLang="en-US" sz="2600" dirty="0">
                <a:latin typeface="Times New Roman" pitchFamily="18" charset="0"/>
                <a:ea typeface="宋体" pitchFamily="2" charset="-122"/>
              </a:rPr>
              <a:t>镜像元件</a:t>
            </a:r>
            <a:r>
              <a:rPr lang="en-US" altLang="zh-CN" sz="2600" dirty="0">
                <a:latin typeface="Times New Roman" pitchFamily="18" charset="0"/>
                <a:ea typeface="宋体" pitchFamily="2" charset="-122"/>
              </a:rPr>
              <a:t>\ </a:t>
            </a:r>
            <a:r>
              <a:rPr lang="zh-CN" altLang="en-US" sz="2600" dirty="0">
                <a:latin typeface="Times New Roman" pitchFamily="18" charset="0"/>
                <a:ea typeface="宋体" pitchFamily="2" charset="-122"/>
              </a:rPr>
              <a:t>镜像元件</a:t>
            </a:r>
            <a:r>
              <a:rPr lang="en-US" altLang="zh-CN" sz="2600" dirty="0">
                <a:latin typeface="Times New Roman" pitchFamily="18" charset="0"/>
                <a:ea typeface="宋体" pitchFamily="2" charset="-122"/>
              </a:rPr>
              <a:t>.</a:t>
            </a:r>
            <a:r>
              <a:rPr lang="en-US" altLang="zh-CN" sz="2600" dirty="0" err="1">
                <a:latin typeface="Times New Roman" pitchFamily="18" charset="0"/>
                <a:ea typeface="宋体" pitchFamily="2" charset="-122"/>
              </a:rPr>
              <a:t>asm</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文件，单击“打开”按钮，打开图</a:t>
            </a:r>
            <a:r>
              <a:rPr lang="en-US" altLang="zh-CN" sz="2600" dirty="0">
                <a:latin typeface="Times New Roman" pitchFamily="18" charset="0"/>
                <a:ea typeface="宋体" pitchFamily="2" charset="-122"/>
              </a:rPr>
              <a:t>8-44</a:t>
            </a:r>
            <a:r>
              <a:rPr lang="zh-CN" altLang="en-US" sz="2600" dirty="0">
                <a:latin typeface="Times New Roman" pitchFamily="18" charset="0"/>
                <a:ea typeface="宋体" pitchFamily="2" charset="-122"/>
              </a:rPr>
              <a:t>所示的模型。</a:t>
            </a:r>
          </a:p>
        </p:txBody>
      </p:sp>
    </p:spTree>
    <p:extLst>
      <p:ext uri="{BB962C8B-B14F-4D97-AF65-F5344CB8AC3E}">
        <p14:creationId xmlns:p14="http://schemas.microsoft.com/office/powerpoint/2010/main" val="408162250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6A5580DD-729D-10D9-CE85-860C88CA0C56}"/>
              </a:ext>
            </a:extLst>
          </p:cNvPr>
          <p:cNvSpPr txBox="1"/>
          <p:nvPr/>
        </p:nvSpPr>
        <p:spPr>
          <a:xfrm>
            <a:off x="4447119" y="4589824"/>
            <a:ext cx="3297762" cy="369332"/>
          </a:xfrm>
          <a:prstGeom prst="rect">
            <a:avLst/>
          </a:prstGeom>
          <a:noFill/>
        </p:spPr>
        <p:txBody>
          <a:bodyPr wrap="square">
            <a:spAutoFit/>
          </a:bodyPr>
          <a:lstStyle/>
          <a:p>
            <a:pPr algn="ctr"/>
            <a:r>
              <a:rPr lang="zh-CN" altLang="en-US" sz="1800" dirty="0">
                <a:effectLst/>
                <a:ea typeface="黑体" panose="02010609060101010101" pitchFamily="49" charset="-122"/>
                <a:cs typeface="Times New Roman" panose="02020603050405020304" pitchFamily="18" charset="0"/>
              </a:rPr>
              <a:t>图</a:t>
            </a:r>
            <a:r>
              <a:rPr lang="en-US" altLang="zh-CN" sz="1800" dirty="0">
                <a:effectLst/>
                <a:ea typeface="黑体" panose="02010609060101010101" pitchFamily="49" charset="-122"/>
                <a:cs typeface="Times New Roman" panose="02020603050405020304" pitchFamily="18" charset="0"/>
              </a:rPr>
              <a:t>8-44</a:t>
            </a:r>
            <a:r>
              <a:rPr lang="zh-CN" altLang="en-US" sz="1800" dirty="0">
                <a:effectLst/>
                <a:ea typeface="黑体" panose="02010609060101010101" pitchFamily="49" charset="-122"/>
                <a:cs typeface="Times New Roman" panose="02020603050405020304" pitchFamily="18" charset="0"/>
              </a:rPr>
              <a:t>原始装配模型</a:t>
            </a:r>
            <a:endParaRPr lang="zh-CN" altLang="en-US" dirty="0"/>
          </a:p>
        </p:txBody>
      </p:sp>
      <p:pic>
        <p:nvPicPr>
          <p:cNvPr id="2" name="图片 1">
            <a:extLst>
              <a:ext uri="{FF2B5EF4-FFF2-40B4-BE49-F238E27FC236}">
                <a16:creationId xmlns:a16="http://schemas.microsoft.com/office/drawing/2014/main" id="{8FA017EA-2782-E201-DDE2-07342DC066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72579" y="1448391"/>
            <a:ext cx="4446842" cy="2927117"/>
          </a:xfrm>
          <a:prstGeom prst="rect">
            <a:avLst/>
          </a:prstGeom>
        </p:spPr>
      </p:pic>
    </p:spTree>
    <p:extLst>
      <p:ext uri="{BB962C8B-B14F-4D97-AF65-F5344CB8AC3E}">
        <p14:creationId xmlns:p14="http://schemas.microsoft.com/office/powerpoint/2010/main" val="41026318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3" y="482223"/>
            <a:ext cx="11178206" cy="1216743"/>
          </a:xfrm>
          <a:prstGeom prst="rect">
            <a:avLst/>
          </a:prstGeom>
          <a:noFill/>
        </p:spPr>
        <p:txBody>
          <a:bodyPr wrap="square" rtlCol="0">
            <a:spAutoFit/>
          </a:bodyPr>
          <a:lstStyle/>
          <a:p>
            <a:pPr indent="457200">
              <a:lnSpc>
                <a:spcPct val="150000"/>
              </a:lnSpc>
            </a:pPr>
            <a:r>
              <a:rPr lang="en-US" altLang="zh-CN" sz="2600" dirty="0">
                <a:latin typeface="Times New Roman" pitchFamily="18" charset="0"/>
                <a:ea typeface="宋体" pitchFamily="2" charset="-122"/>
              </a:rPr>
              <a:t>1</a:t>
            </a:r>
            <a:r>
              <a:rPr lang="zh-CN" altLang="en-US" sz="2600" dirty="0">
                <a:latin typeface="Times New Roman" pitchFamily="18" charset="0"/>
                <a:ea typeface="宋体" pitchFamily="2" charset="-122"/>
              </a:rPr>
              <a:t>）在功能区的</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模型</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选项卡的</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元件</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组中单击“镜像元件”按钮     ，系统弹出</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镜像元件</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对话框，如图</a:t>
            </a:r>
            <a:r>
              <a:rPr lang="en-US" altLang="zh-CN" sz="2600" dirty="0">
                <a:latin typeface="Times New Roman" pitchFamily="18" charset="0"/>
                <a:ea typeface="宋体" pitchFamily="2" charset="-122"/>
              </a:rPr>
              <a:t>8-45</a:t>
            </a:r>
            <a:r>
              <a:rPr lang="zh-CN" altLang="en-US" sz="2600" dirty="0">
                <a:latin typeface="Times New Roman" pitchFamily="18" charset="0"/>
                <a:ea typeface="宋体" pitchFamily="2" charset="-122"/>
              </a:rPr>
              <a:t>所示。</a:t>
            </a:r>
          </a:p>
        </p:txBody>
      </p:sp>
      <p:sp>
        <p:nvSpPr>
          <p:cNvPr id="7" name="文本框 6">
            <a:extLst>
              <a:ext uri="{FF2B5EF4-FFF2-40B4-BE49-F238E27FC236}">
                <a16:creationId xmlns:a16="http://schemas.microsoft.com/office/drawing/2014/main" id="{790EA25C-469E-216B-4DBD-5E2E90FD0EAB}"/>
              </a:ext>
            </a:extLst>
          </p:cNvPr>
          <p:cNvSpPr txBox="1"/>
          <p:nvPr/>
        </p:nvSpPr>
        <p:spPr>
          <a:xfrm>
            <a:off x="4447119" y="6174475"/>
            <a:ext cx="3297762" cy="369332"/>
          </a:xfrm>
          <a:prstGeom prst="rect">
            <a:avLst/>
          </a:prstGeom>
          <a:noFill/>
        </p:spPr>
        <p:txBody>
          <a:bodyPr wrap="square">
            <a:spAutoFit/>
          </a:bodyPr>
          <a:lstStyle/>
          <a:p>
            <a:pPr algn="ctr"/>
            <a:r>
              <a:rPr lang="zh-CN" altLang="en-US" sz="1800" dirty="0">
                <a:effectLst/>
                <a:ea typeface="黑体" panose="02010609060101010101" pitchFamily="49" charset="-122"/>
                <a:cs typeface="Times New Roman" panose="02020603050405020304" pitchFamily="18" charset="0"/>
              </a:rPr>
              <a:t>图</a:t>
            </a:r>
            <a:r>
              <a:rPr lang="en-US" altLang="zh-CN" sz="1800" dirty="0">
                <a:effectLst/>
                <a:ea typeface="黑体" panose="02010609060101010101" pitchFamily="49" charset="-122"/>
                <a:cs typeface="Times New Roman" panose="02020603050405020304" pitchFamily="18" charset="0"/>
              </a:rPr>
              <a:t>8-45【</a:t>
            </a:r>
            <a:r>
              <a:rPr lang="zh-CN" altLang="en-US" sz="1800" dirty="0">
                <a:effectLst/>
                <a:ea typeface="黑体" panose="02010609060101010101" pitchFamily="49" charset="-122"/>
                <a:cs typeface="Times New Roman" panose="02020603050405020304" pitchFamily="18" charset="0"/>
              </a:rPr>
              <a:t>镜像元件</a:t>
            </a:r>
            <a:r>
              <a:rPr lang="en-US" altLang="zh-CN" sz="1800" dirty="0">
                <a:effectLst/>
                <a:ea typeface="黑体" panose="02010609060101010101" pitchFamily="49" charset="-122"/>
                <a:cs typeface="Times New Roman" panose="02020603050405020304" pitchFamily="18" charset="0"/>
              </a:rPr>
              <a:t>】</a:t>
            </a:r>
            <a:r>
              <a:rPr lang="zh-CN" altLang="en-US" sz="1800" dirty="0">
                <a:effectLst/>
                <a:ea typeface="黑体" panose="02010609060101010101" pitchFamily="49" charset="-122"/>
                <a:cs typeface="Times New Roman" panose="02020603050405020304" pitchFamily="18" charset="0"/>
              </a:rPr>
              <a:t>对话框</a:t>
            </a:r>
            <a:endParaRPr lang="zh-CN" altLang="en-US" dirty="0"/>
          </a:p>
        </p:txBody>
      </p:sp>
      <p:pic>
        <p:nvPicPr>
          <p:cNvPr id="2" name="图片 1">
            <a:extLst>
              <a:ext uri="{FF2B5EF4-FFF2-40B4-BE49-F238E27FC236}">
                <a16:creationId xmlns:a16="http://schemas.microsoft.com/office/drawing/2014/main" id="{8A277DFC-63C4-9DD2-60C9-71902B1150B2}"/>
              </a:ext>
            </a:extLst>
          </p:cNvPr>
          <p:cNvPicPr>
            <a:picLocks noChangeAspect="1"/>
          </p:cNvPicPr>
          <p:nvPr/>
        </p:nvPicPr>
        <p:blipFill>
          <a:blip r:embed="rId2"/>
          <a:stretch>
            <a:fillRect/>
          </a:stretch>
        </p:blipFill>
        <p:spPr>
          <a:xfrm>
            <a:off x="11119166" y="633413"/>
            <a:ext cx="335280" cy="350520"/>
          </a:xfrm>
          <a:prstGeom prst="rect">
            <a:avLst/>
          </a:prstGeom>
        </p:spPr>
      </p:pic>
      <p:pic>
        <p:nvPicPr>
          <p:cNvPr id="5" name="图片 4">
            <a:extLst>
              <a:ext uri="{FF2B5EF4-FFF2-40B4-BE49-F238E27FC236}">
                <a16:creationId xmlns:a16="http://schemas.microsoft.com/office/drawing/2014/main" id="{7E60D42B-3587-63A4-6357-4497D5701A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87132" y="1698966"/>
            <a:ext cx="2217737" cy="4368685"/>
          </a:xfrm>
          <a:prstGeom prst="rect">
            <a:avLst/>
          </a:prstGeom>
        </p:spPr>
      </p:pic>
    </p:spTree>
    <p:extLst>
      <p:ext uri="{BB962C8B-B14F-4D97-AF65-F5344CB8AC3E}">
        <p14:creationId xmlns:p14="http://schemas.microsoft.com/office/powerpoint/2010/main" val="193990997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3" y="539375"/>
            <a:ext cx="11178206" cy="4217565"/>
          </a:xfrm>
          <a:prstGeom prst="rect">
            <a:avLst/>
          </a:prstGeom>
          <a:noFill/>
        </p:spPr>
        <p:txBody>
          <a:bodyPr wrap="square" rtlCol="0">
            <a:spAutoFit/>
          </a:bodyPr>
          <a:lstStyle/>
          <a:p>
            <a:pPr indent="457200">
              <a:lnSpc>
                <a:spcPct val="150000"/>
              </a:lnSpc>
            </a:pPr>
            <a:r>
              <a:rPr lang="en-US" altLang="zh-CN" sz="2600" dirty="0">
                <a:latin typeface="Times New Roman" pitchFamily="18" charset="0"/>
                <a:ea typeface="宋体" pitchFamily="2" charset="-122"/>
              </a:rPr>
              <a:t>2</a:t>
            </a:r>
            <a:r>
              <a:rPr lang="zh-CN" altLang="en-US" sz="2600" dirty="0">
                <a:latin typeface="Times New Roman" pitchFamily="18" charset="0"/>
                <a:ea typeface="宋体" pitchFamily="2" charset="-122"/>
              </a:rPr>
              <a:t>）单击</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镜像元件</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对话框中的“元件”选框，在图形区选择“拨销</a:t>
            </a:r>
            <a:r>
              <a:rPr lang="en-US" altLang="zh-CN" sz="2600" dirty="0">
                <a:latin typeface="Times New Roman" pitchFamily="18" charset="0"/>
                <a:ea typeface="宋体" pitchFamily="2" charset="-122"/>
              </a:rPr>
              <a:t>.</a:t>
            </a:r>
            <a:r>
              <a:rPr lang="en-US" altLang="zh-CN" sz="2600" dirty="0" err="1">
                <a:latin typeface="Times New Roman" pitchFamily="18" charset="0"/>
                <a:ea typeface="宋体" pitchFamily="2" charset="-122"/>
              </a:rPr>
              <a:t>prt</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，然后选择基准平面</a:t>
            </a:r>
            <a:r>
              <a:rPr lang="en-US" altLang="zh-CN" sz="2600" dirty="0">
                <a:latin typeface="Times New Roman" pitchFamily="18" charset="0"/>
                <a:ea typeface="宋体" pitchFamily="2" charset="-122"/>
              </a:rPr>
              <a:t>ASM_RIGHT</a:t>
            </a:r>
            <a:r>
              <a:rPr lang="zh-CN" altLang="en-US" sz="2600" dirty="0">
                <a:latin typeface="Times New Roman" pitchFamily="18" charset="0"/>
                <a:ea typeface="宋体" pitchFamily="2" charset="-122"/>
              </a:rPr>
              <a:t>作为镜像平面。</a:t>
            </a:r>
          </a:p>
          <a:p>
            <a:pPr indent="457200">
              <a:lnSpc>
                <a:spcPct val="150000"/>
              </a:lnSpc>
            </a:pPr>
            <a:r>
              <a:rPr lang="en-US" altLang="zh-CN" sz="2600" dirty="0">
                <a:latin typeface="Times New Roman" pitchFamily="18" charset="0"/>
                <a:ea typeface="宋体" pitchFamily="2" charset="-122"/>
              </a:rPr>
              <a:t>3</a:t>
            </a:r>
            <a:r>
              <a:rPr lang="zh-CN" altLang="en-US" sz="2600" dirty="0">
                <a:latin typeface="Times New Roman" pitchFamily="18" charset="0"/>
                <a:ea typeface="宋体" pitchFamily="2" charset="-122"/>
              </a:rPr>
              <a:t>）在“新建元件”选项组中选择“创建新模型”单选按钮，在“文件名”文本框中输入“拨销</a:t>
            </a:r>
            <a:r>
              <a:rPr lang="en-US" altLang="zh-CN" sz="2600" dirty="0">
                <a:latin typeface="Times New Roman" pitchFamily="18" charset="0"/>
                <a:ea typeface="宋体" pitchFamily="2" charset="-122"/>
              </a:rPr>
              <a:t>_2”</a:t>
            </a:r>
            <a:r>
              <a:rPr lang="zh-CN" altLang="en-US" sz="2600" dirty="0">
                <a:latin typeface="Times New Roman" pitchFamily="18" charset="0"/>
                <a:ea typeface="宋体" pitchFamily="2" charset="-122"/>
              </a:rPr>
              <a:t>。</a:t>
            </a:r>
          </a:p>
          <a:p>
            <a:pPr indent="457200">
              <a:lnSpc>
                <a:spcPct val="150000"/>
              </a:lnSpc>
            </a:pPr>
            <a:r>
              <a:rPr lang="en-US" altLang="zh-CN" sz="2600" dirty="0">
                <a:latin typeface="Times New Roman" pitchFamily="18" charset="0"/>
                <a:ea typeface="宋体" pitchFamily="2" charset="-122"/>
              </a:rPr>
              <a:t>4</a:t>
            </a:r>
            <a:r>
              <a:rPr lang="zh-CN" altLang="en-US" sz="2600" dirty="0">
                <a:latin typeface="Times New Roman" pitchFamily="18" charset="0"/>
                <a:ea typeface="宋体" pitchFamily="2" charset="-122"/>
              </a:rPr>
              <a:t>）在“镜像”选项组中选择“仅几何”单选按钮或“具有特征的几何”单选按钮。前者用于创建原始零件几何的镜像副本，后者用于创建原始零件的几何和特征的镜像副本，这里我们默认选择“仅几何”单选按钮。</a:t>
            </a:r>
          </a:p>
        </p:txBody>
      </p:sp>
      <p:sp>
        <p:nvSpPr>
          <p:cNvPr id="7" name="文本框 6">
            <a:extLst>
              <a:ext uri="{FF2B5EF4-FFF2-40B4-BE49-F238E27FC236}">
                <a16:creationId xmlns:a16="http://schemas.microsoft.com/office/drawing/2014/main" id="{790EA25C-469E-216B-4DBD-5E2E90FD0EAB}"/>
              </a:ext>
            </a:extLst>
          </p:cNvPr>
          <p:cNvSpPr txBox="1"/>
          <p:nvPr/>
        </p:nvSpPr>
        <p:spPr>
          <a:xfrm>
            <a:off x="4447119" y="6174475"/>
            <a:ext cx="3297762" cy="369332"/>
          </a:xfrm>
          <a:prstGeom prst="rect">
            <a:avLst/>
          </a:prstGeom>
          <a:noFill/>
        </p:spPr>
        <p:txBody>
          <a:bodyPr wrap="square">
            <a:spAutoFit/>
          </a:bodyPr>
          <a:lstStyle/>
          <a:p>
            <a:pPr algn="ctr"/>
            <a:r>
              <a:rPr lang="zh-CN" altLang="en-US" sz="1800" dirty="0">
                <a:effectLst/>
                <a:ea typeface="黑体" panose="02010609060101010101" pitchFamily="49" charset="-122"/>
                <a:cs typeface="Times New Roman" panose="02020603050405020304" pitchFamily="18" charset="0"/>
              </a:rPr>
              <a:t>图</a:t>
            </a:r>
            <a:r>
              <a:rPr lang="en-US" altLang="zh-CN" sz="1800" dirty="0">
                <a:effectLst/>
                <a:ea typeface="黑体" panose="02010609060101010101" pitchFamily="49" charset="-122"/>
                <a:cs typeface="Times New Roman" panose="02020603050405020304" pitchFamily="18" charset="0"/>
              </a:rPr>
              <a:t>8-45【</a:t>
            </a:r>
            <a:r>
              <a:rPr lang="zh-CN" altLang="en-US" sz="1800" dirty="0">
                <a:effectLst/>
                <a:ea typeface="黑体" panose="02010609060101010101" pitchFamily="49" charset="-122"/>
                <a:cs typeface="Times New Roman" panose="02020603050405020304" pitchFamily="18" charset="0"/>
              </a:rPr>
              <a:t>镜像元件</a:t>
            </a:r>
            <a:r>
              <a:rPr lang="en-US" altLang="zh-CN" sz="1800" dirty="0">
                <a:effectLst/>
                <a:ea typeface="黑体" panose="02010609060101010101" pitchFamily="49" charset="-122"/>
                <a:cs typeface="Times New Roman" panose="02020603050405020304" pitchFamily="18" charset="0"/>
              </a:rPr>
              <a:t>】</a:t>
            </a:r>
            <a:r>
              <a:rPr lang="zh-CN" altLang="en-US" sz="1800" dirty="0">
                <a:effectLst/>
                <a:ea typeface="黑体" panose="02010609060101010101" pitchFamily="49" charset="-122"/>
                <a:cs typeface="Times New Roman" panose="02020603050405020304" pitchFamily="18" charset="0"/>
              </a:rPr>
              <a:t>对话框</a:t>
            </a:r>
            <a:endParaRPr lang="zh-CN" altLang="en-US" dirty="0"/>
          </a:p>
        </p:txBody>
      </p:sp>
    </p:spTree>
    <p:extLst>
      <p:ext uri="{BB962C8B-B14F-4D97-AF65-F5344CB8AC3E}">
        <p14:creationId xmlns:p14="http://schemas.microsoft.com/office/powerpoint/2010/main" val="207027018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3" y="482223"/>
            <a:ext cx="11178206" cy="2417072"/>
          </a:xfrm>
          <a:prstGeom prst="rect">
            <a:avLst/>
          </a:prstGeom>
          <a:noFill/>
        </p:spPr>
        <p:txBody>
          <a:bodyPr wrap="square" rtlCol="0">
            <a:spAutoFit/>
          </a:bodyPr>
          <a:lstStyle/>
          <a:p>
            <a:pPr indent="457200">
              <a:lnSpc>
                <a:spcPct val="150000"/>
              </a:lnSpc>
            </a:pPr>
            <a:r>
              <a:rPr lang="en-US" altLang="zh-CN" sz="2600" dirty="0">
                <a:latin typeface="Times New Roman" pitchFamily="18" charset="0"/>
                <a:ea typeface="宋体" pitchFamily="2" charset="-122"/>
              </a:rPr>
              <a:t>5</a:t>
            </a:r>
            <a:r>
              <a:rPr lang="zh-CN" altLang="en-US" sz="2600" dirty="0">
                <a:latin typeface="Times New Roman" pitchFamily="18" charset="0"/>
                <a:ea typeface="宋体" pitchFamily="2" charset="-122"/>
              </a:rPr>
              <a:t>）在“相关性控制”选项组中默认 “几何从属”复选框和“放置从属”复选框处于勾选状态，保持默认状态不变。</a:t>
            </a:r>
          </a:p>
          <a:p>
            <a:pPr indent="457200">
              <a:lnSpc>
                <a:spcPct val="150000"/>
              </a:lnSpc>
            </a:pPr>
            <a:r>
              <a:rPr lang="en-US" altLang="zh-CN" sz="2600" dirty="0">
                <a:latin typeface="Times New Roman" pitchFamily="18" charset="0"/>
                <a:ea typeface="宋体" pitchFamily="2" charset="-122"/>
              </a:rPr>
              <a:t>6</a:t>
            </a:r>
            <a:r>
              <a:rPr lang="zh-CN" altLang="en-US" sz="2600" dirty="0">
                <a:latin typeface="Times New Roman" pitchFamily="18" charset="0"/>
                <a:ea typeface="宋体" pitchFamily="2" charset="-122"/>
              </a:rPr>
              <a:t>）单击“确定”按钮，“拨销</a:t>
            </a:r>
            <a:r>
              <a:rPr lang="en-US" altLang="zh-CN" sz="2600" dirty="0">
                <a:latin typeface="Times New Roman" pitchFamily="18" charset="0"/>
                <a:ea typeface="宋体" pitchFamily="2" charset="-122"/>
              </a:rPr>
              <a:t>.</a:t>
            </a:r>
            <a:r>
              <a:rPr lang="en-US" altLang="zh-CN" sz="2600" dirty="0" err="1">
                <a:latin typeface="Times New Roman" pitchFamily="18" charset="0"/>
                <a:ea typeface="宋体" pitchFamily="2" charset="-122"/>
              </a:rPr>
              <a:t>prt</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作为镜像元件放置在装配中，如图</a:t>
            </a:r>
            <a:r>
              <a:rPr lang="en-US" altLang="zh-CN" sz="2600" dirty="0">
                <a:latin typeface="Times New Roman" pitchFamily="18" charset="0"/>
                <a:ea typeface="宋体" pitchFamily="2" charset="-122"/>
              </a:rPr>
              <a:t>8-46</a:t>
            </a:r>
            <a:r>
              <a:rPr lang="zh-CN" altLang="en-US" sz="2600" dirty="0">
                <a:latin typeface="Times New Roman" pitchFamily="18" charset="0"/>
                <a:ea typeface="宋体" pitchFamily="2" charset="-122"/>
              </a:rPr>
              <a:t>所示。</a:t>
            </a:r>
          </a:p>
        </p:txBody>
      </p:sp>
      <p:sp>
        <p:nvSpPr>
          <p:cNvPr id="7" name="文本框 6">
            <a:extLst>
              <a:ext uri="{FF2B5EF4-FFF2-40B4-BE49-F238E27FC236}">
                <a16:creationId xmlns:a16="http://schemas.microsoft.com/office/drawing/2014/main" id="{790EA25C-469E-216B-4DBD-5E2E90FD0EAB}"/>
              </a:ext>
            </a:extLst>
          </p:cNvPr>
          <p:cNvSpPr txBox="1"/>
          <p:nvPr/>
        </p:nvSpPr>
        <p:spPr>
          <a:xfrm>
            <a:off x="4447119" y="5845856"/>
            <a:ext cx="3297762" cy="369332"/>
          </a:xfrm>
          <a:prstGeom prst="rect">
            <a:avLst/>
          </a:prstGeom>
          <a:noFill/>
        </p:spPr>
        <p:txBody>
          <a:bodyPr wrap="square">
            <a:spAutoFit/>
          </a:bodyPr>
          <a:lstStyle/>
          <a:p>
            <a:pPr algn="ctr"/>
            <a:r>
              <a:rPr lang="zh-CN" altLang="en-US" sz="1800" dirty="0">
                <a:effectLst/>
                <a:ea typeface="黑体" panose="02010609060101010101" pitchFamily="49" charset="-122"/>
                <a:cs typeface="Times New Roman" panose="02020603050405020304" pitchFamily="18" charset="0"/>
              </a:rPr>
              <a:t>图</a:t>
            </a:r>
            <a:r>
              <a:rPr lang="en-US" altLang="zh-CN" sz="1800" dirty="0">
                <a:effectLst/>
                <a:ea typeface="黑体" panose="02010609060101010101" pitchFamily="49" charset="-122"/>
                <a:cs typeface="Times New Roman" panose="02020603050405020304" pitchFamily="18" charset="0"/>
              </a:rPr>
              <a:t>8-46 </a:t>
            </a:r>
            <a:r>
              <a:rPr lang="zh-CN" altLang="en-US" sz="1800" dirty="0">
                <a:effectLst/>
                <a:ea typeface="黑体" panose="02010609060101010101" pitchFamily="49" charset="-122"/>
                <a:cs typeface="Times New Roman" panose="02020603050405020304" pitchFamily="18" charset="0"/>
              </a:rPr>
              <a:t>元件镜像效果</a:t>
            </a:r>
            <a:endParaRPr lang="zh-CN" altLang="en-US" dirty="0"/>
          </a:p>
        </p:txBody>
      </p:sp>
      <p:pic>
        <p:nvPicPr>
          <p:cNvPr id="4" name="图片 3">
            <a:extLst>
              <a:ext uri="{FF2B5EF4-FFF2-40B4-BE49-F238E27FC236}">
                <a16:creationId xmlns:a16="http://schemas.microsoft.com/office/drawing/2014/main" id="{032DBD7C-2610-17D6-EED9-077C8A6351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06490" y="2522220"/>
            <a:ext cx="4979020" cy="3135630"/>
          </a:xfrm>
          <a:prstGeom prst="rect">
            <a:avLst/>
          </a:prstGeom>
        </p:spPr>
      </p:pic>
    </p:spTree>
    <p:extLst>
      <p:ext uri="{BB962C8B-B14F-4D97-AF65-F5344CB8AC3E}">
        <p14:creationId xmlns:p14="http://schemas.microsoft.com/office/powerpoint/2010/main" val="203827910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0562" y="470647"/>
            <a:ext cx="3565712" cy="737510"/>
          </a:xfrm>
          <a:prstGeom prst="rect">
            <a:avLst/>
          </a:prstGeom>
          <a:solidFill>
            <a:srgbClr val="0000FF"/>
          </a:solidFill>
        </p:spPr>
        <p:txBody>
          <a:bodyPr wrap="square" rtlCol="0">
            <a:spAutoFit/>
          </a:bodyPr>
          <a:lstStyle/>
          <a:p>
            <a:pPr>
              <a:lnSpc>
                <a:spcPct val="150000"/>
              </a:lnSpc>
            </a:pPr>
            <a:r>
              <a:rPr lang="en-US" altLang="zh-CN" sz="3200" dirty="0">
                <a:solidFill>
                  <a:schemeClr val="bg1"/>
                </a:solidFill>
                <a:latin typeface="Times New Roman" pitchFamily="18" charset="0"/>
                <a:ea typeface="黑体" pitchFamily="49" charset="-122"/>
              </a:rPr>
              <a:t>8.5 </a:t>
            </a:r>
            <a:r>
              <a:rPr lang="zh-CN" altLang="en-US" sz="3200" dirty="0">
                <a:solidFill>
                  <a:schemeClr val="bg1"/>
                </a:solidFill>
                <a:latin typeface="Times New Roman" pitchFamily="18" charset="0"/>
                <a:ea typeface="黑体" pitchFamily="49" charset="-122"/>
              </a:rPr>
              <a:t>阵列元件</a:t>
            </a:r>
            <a:endParaRPr lang="en-US" altLang="zh-CN" sz="3200" dirty="0">
              <a:solidFill>
                <a:schemeClr val="bg1"/>
              </a:solidFill>
              <a:latin typeface="Times New Roman" pitchFamily="18" charset="0"/>
              <a:ea typeface="黑体" pitchFamily="49" charset="-122"/>
            </a:endParaRPr>
          </a:p>
        </p:txBody>
      </p:sp>
      <p:sp>
        <p:nvSpPr>
          <p:cNvPr id="3" name="TextBox 2"/>
          <p:cNvSpPr txBox="1"/>
          <p:nvPr/>
        </p:nvSpPr>
        <p:spPr>
          <a:xfrm>
            <a:off x="457203" y="1279582"/>
            <a:ext cx="11178206" cy="3617401"/>
          </a:xfrm>
          <a:prstGeom prst="rect">
            <a:avLst/>
          </a:prstGeom>
          <a:noFill/>
        </p:spPr>
        <p:txBody>
          <a:bodyPr wrap="square" rtlCol="0">
            <a:spAutoFit/>
          </a:bodyPr>
          <a:lstStyle/>
          <a:p>
            <a:pPr indent="457200">
              <a:lnSpc>
                <a:spcPct val="150000"/>
              </a:lnSpc>
            </a:pPr>
            <a:r>
              <a:rPr lang="zh-CN" altLang="en-US" sz="2600" dirty="0">
                <a:latin typeface="Times New Roman" pitchFamily="18" charset="0"/>
                <a:ea typeface="宋体" pitchFamily="2" charset="-122"/>
              </a:rPr>
              <a:t>在装配模式下，使用阵列工具来装配具有某种规律排布的多个相同零件，可以不必创建重复的实例，从而大大减少装配设计时间，提升设计效率。</a:t>
            </a:r>
          </a:p>
          <a:p>
            <a:pPr indent="457200">
              <a:lnSpc>
                <a:spcPct val="150000"/>
              </a:lnSpc>
            </a:pPr>
            <a:r>
              <a:rPr lang="zh-CN" altLang="en-US" sz="2600" dirty="0">
                <a:latin typeface="Times New Roman" pitchFamily="18" charset="0"/>
                <a:ea typeface="宋体" pitchFamily="2" charset="-122"/>
              </a:rPr>
              <a:t>下面以实例的形式介绍如何在装配内应用了阵列工具来阵列零件。在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快速访问</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工具栏中单击“打开”按钮 ，系统弹出</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文件打开</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对话框，选择“</a:t>
            </a:r>
            <a:r>
              <a:rPr lang="en-US" altLang="zh-CN" sz="2600" dirty="0">
                <a:latin typeface="Times New Roman" pitchFamily="18" charset="0"/>
                <a:ea typeface="宋体" pitchFamily="2" charset="-122"/>
              </a:rPr>
              <a:t>\DATA\ch8\</a:t>
            </a:r>
            <a:r>
              <a:rPr lang="zh-CN" altLang="en-US" sz="2600" dirty="0">
                <a:latin typeface="Times New Roman" pitchFamily="18" charset="0"/>
                <a:ea typeface="宋体" pitchFamily="2" charset="-122"/>
              </a:rPr>
              <a:t>阵列元件</a:t>
            </a:r>
            <a:r>
              <a:rPr lang="en-US" altLang="zh-CN" sz="2600" dirty="0">
                <a:latin typeface="Times New Roman" pitchFamily="18" charset="0"/>
                <a:ea typeface="宋体" pitchFamily="2" charset="-122"/>
              </a:rPr>
              <a:t>\ </a:t>
            </a:r>
            <a:r>
              <a:rPr lang="zh-CN" altLang="en-US" sz="2600" dirty="0">
                <a:latin typeface="Times New Roman" pitchFamily="18" charset="0"/>
                <a:ea typeface="宋体" pitchFamily="2" charset="-122"/>
              </a:rPr>
              <a:t>阵列元件</a:t>
            </a:r>
            <a:r>
              <a:rPr lang="en-US" altLang="zh-CN" sz="2600" dirty="0">
                <a:latin typeface="Times New Roman" pitchFamily="18" charset="0"/>
                <a:ea typeface="宋体" pitchFamily="2" charset="-122"/>
              </a:rPr>
              <a:t>.</a:t>
            </a:r>
            <a:r>
              <a:rPr lang="en-US" altLang="zh-CN" sz="2600" dirty="0" err="1">
                <a:latin typeface="Times New Roman" pitchFamily="18" charset="0"/>
                <a:ea typeface="宋体" pitchFamily="2" charset="-122"/>
              </a:rPr>
              <a:t>asm</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文件，单击“打开”按钮，打开图</a:t>
            </a:r>
            <a:r>
              <a:rPr lang="en-US" altLang="zh-CN" sz="2600" dirty="0">
                <a:latin typeface="Times New Roman" pitchFamily="18" charset="0"/>
                <a:ea typeface="宋体" pitchFamily="2" charset="-122"/>
              </a:rPr>
              <a:t>8-47</a:t>
            </a:r>
            <a:r>
              <a:rPr lang="zh-CN" altLang="en-US" sz="2600" dirty="0">
                <a:latin typeface="Times New Roman" pitchFamily="18" charset="0"/>
                <a:ea typeface="宋体" pitchFamily="2" charset="-122"/>
              </a:rPr>
              <a:t>所示的装配模型。</a:t>
            </a:r>
          </a:p>
        </p:txBody>
      </p:sp>
    </p:spTree>
    <p:extLst>
      <p:ext uri="{BB962C8B-B14F-4D97-AF65-F5344CB8AC3E}">
        <p14:creationId xmlns:p14="http://schemas.microsoft.com/office/powerpoint/2010/main" val="81163778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790EA25C-469E-216B-4DBD-5E2E90FD0EAB}"/>
              </a:ext>
            </a:extLst>
          </p:cNvPr>
          <p:cNvSpPr txBox="1"/>
          <p:nvPr/>
        </p:nvSpPr>
        <p:spPr>
          <a:xfrm>
            <a:off x="4447119" y="5031470"/>
            <a:ext cx="3297762" cy="369332"/>
          </a:xfrm>
          <a:prstGeom prst="rect">
            <a:avLst/>
          </a:prstGeom>
          <a:noFill/>
        </p:spPr>
        <p:txBody>
          <a:bodyPr wrap="square">
            <a:spAutoFit/>
          </a:bodyPr>
          <a:lstStyle/>
          <a:p>
            <a:pPr algn="ctr"/>
            <a:r>
              <a:rPr lang="zh-CN" altLang="en-US" sz="1800" dirty="0">
                <a:effectLst/>
                <a:ea typeface="黑体" panose="02010609060101010101" pitchFamily="49" charset="-122"/>
                <a:cs typeface="Times New Roman" panose="02020603050405020304" pitchFamily="18" charset="0"/>
              </a:rPr>
              <a:t>图</a:t>
            </a:r>
            <a:r>
              <a:rPr lang="en-US" altLang="zh-CN" sz="1800" dirty="0">
                <a:effectLst/>
                <a:ea typeface="黑体" panose="02010609060101010101" pitchFamily="49" charset="-122"/>
                <a:cs typeface="Times New Roman" panose="02020603050405020304" pitchFamily="18" charset="0"/>
              </a:rPr>
              <a:t>8-47 </a:t>
            </a:r>
            <a:r>
              <a:rPr lang="zh-CN" altLang="en-US" sz="1800" dirty="0">
                <a:effectLst/>
                <a:ea typeface="黑体" panose="02010609060101010101" pitchFamily="49" charset="-122"/>
                <a:cs typeface="Times New Roman" panose="02020603050405020304" pitchFamily="18" charset="0"/>
              </a:rPr>
              <a:t>原始装配模型</a:t>
            </a:r>
            <a:endParaRPr lang="zh-CN" altLang="en-US" dirty="0"/>
          </a:p>
        </p:txBody>
      </p:sp>
      <p:pic>
        <p:nvPicPr>
          <p:cNvPr id="2" name="图片 1">
            <a:extLst>
              <a:ext uri="{FF2B5EF4-FFF2-40B4-BE49-F238E27FC236}">
                <a16:creationId xmlns:a16="http://schemas.microsoft.com/office/drawing/2014/main" id="{88625F08-7722-8A10-F2F3-FA250F35A7B5}"/>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r="27076" b="20486"/>
          <a:stretch/>
        </p:blipFill>
        <p:spPr bwMode="auto">
          <a:xfrm>
            <a:off x="2749414" y="1574799"/>
            <a:ext cx="6693172" cy="3211513"/>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6036278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3" y="482223"/>
            <a:ext cx="11178206" cy="4817729"/>
          </a:xfrm>
          <a:prstGeom prst="rect">
            <a:avLst/>
          </a:prstGeom>
          <a:noFill/>
        </p:spPr>
        <p:txBody>
          <a:bodyPr wrap="square" rtlCol="0">
            <a:spAutoFit/>
          </a:bodyPr>
          <a:lstStyle/>
          <a:p>
            <a:pPr indent="457200">
              <a:lnSpc>
                <a:spcPct val="150000"/>
              </a:lnSpc>
            </a:pPr>
            <a:r>
              <a:rPr lang="en-US" altLang="zh-CN" sz="2600" dirty="0">
                <a:latin typeface="Times New Roman" pitchFamily="18" charset="0"/>
                <a:ea typeface="宋体" pitchFamily="2" charset="-122"/>
              </a:rPr>
              <a:t>1</a:t>
            </a:r>
            <a:r>
              <a:rPr lang="zh-CN" altLang="en-US" sz="2600" dirty="0">
                <a:latin typeface="Times New Roman" pitchFamily="18" charset="0"/>
                <a:ea typeface="宋体" pitchFamily="2" charset="-122"/>
              </a:rPr>
              <a:t>）从选择过滤器列表框中选择“零件”，接着在图形窗口中选择已经装配好的螺钉。</a:t>
            </a:r>
          </a:p>
          <a:p>
            <a:pPr indent="457200">
              <a:lnSpc>
                <a:spcPct val="150000"/>
              </a:lnSpc>
            </a:pPr>
            <a:r>
              <a:rPr lang="en-US" altLang="zh-CN" sz="2600" dirty="0">
                <a:latin typeface="Times New Roman" pitchFamily="18" charset="0"/>
                <a:ea typeface="宋体" pitchFamily="2" charset="-122"/>
              </a:rPr>
              <a:t>2</a:t>
            </a:r>
            <a:r>
              <a:rPr lang="zh-CN" altLang="en-US" sz="2600" dirty="0">
                <a:latin typeface="Times New Roman" pitchFamily="18" charset="0"/>
                <a:ea typeface="宋体" pitchFamily="2" charset="-122"/>
              </a:rPr>
              <a:t>）在功能区的</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模型</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选项卡的</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修饰符</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组中单击“阵列”按钮     ，打开</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阵列</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a:t>
            </a:r>
          </a:p>
          <a:p>
            <a:pPr indent="457200">
              <a:lnSpc>
                <a:spcPct val="150000"/>
              </a:lnSpc>
            </a:pPr>
            <a:r>
              <a:rPr lang="en-US" altLang="zh-CN" sz="2600" dirty="0">
                <a:latin typeface="Times New Roman" pitchFamily="18" charset="0"/>
                <a:ea typeface="宋体" pitchFamily="2" charset="-122"/>
              </a:rPr>
              <a:t>3</a:t>
            </a:r>
            <a:r>
              <a:rPr lang="zh-CN" altLang="en-US" sz="2600" dirty="0">
                <a:latin typeface="Times New Roman" pitchFamily="18" charset="0"/>
                <a:ea typeface="宋体" pitchFamily="2" charset="-122"/>
              </a:rPr>
              <a:t>）在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阵列</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选项卡的阵列类型下拉列表框中选择“方向”选项，并默认选中“第一方向”框中的“平移”图标选项 。选择图</a:t>
            </a:r>
            <a:r>
              <a:rPr lang="en-US" altLang="zh-CN" sz="2600" dirty="0">
                <a:latin typeface="Times New Roman" pitchFamily="18" charset="0"/>
                <a:ea typeface="宋体" pitchFamily="2" charset="-122"/>
              </a:rPr>
              <a:t>8-48</a:t>
            </a:r>
            <a:r>
              <a:rPr lang="zh-CN" altLang="en-US" sz="2600" dirty="0">
                <a:latin typeface="Times New Roman" pitchFamily="18" charset="0"/>
                <a:ea typeface="宋体" pitchFamily="2" charset="-122"/>
              </a:rPr>
              <a:t>所示的边作为方向</a:t>
            </a:r>
            <a:r>
              <a:rPr lang="en-US" altLang="zh-CN" sz="2600" dirty="0">
                <a:latin typeface="Times New Roman" pitchFamily="18" charset="0"/>
                <a:ea typeface="宋体" pitchFamily="2" charset="-122"/>
              </a:rPr>
              <a:t>1</a:t>
            </a:r>
            <a:r>
              <a:rPr lang="zh-CN" altLang="en-US" sz="2600" dirty="0">
                <a:latin typeface="Times New Roman" pitchFamily="18" charset="0"/>
                <a:ea typeface="宋体" pitchFamily="2" charset="-122"/>
              </a:rPr>
              <a:t>参照，设置方向</a:t>
            </a:r>
            <a:r>
              <a:rPr lang="en-US" altLang="zh-CN" sz="2600" dirty="0">
                <a:latin typeface="Times New Roman" pitchFamily="18" charset="0"/>
                <a:ea typeface="宋体" pitchFamily="2" charset="-122"/>
              </a:rPr>
              <a:t>1</a:t>
            </a:r>
            <a:r>
              <a:rPr lang="zh-CN" altLang="en-US" sz="2600" dirty="0">
                <a:latin typeface="Times New Roman" pitchFamily="18" charset="0"/>
                <a:ea typeface="宋体" pitchFamily="2" charset="-122"/>
              </a:rPr>
              <a:t>的成员数为“</a:t>
            </a:r>
            <a:r>
              <a:rPr lang="en-US" altLang="zh-CN" sz="2600" dirty="0">
                <a:latin typeface="Times New Roman" pitchFamily="18" charset="0"/>
                <a:ea typeface="宋体" pitchFamily="2" charset="-122"/>
              </a:rPr>
              <a:t>3”</a:t>
            </a:r>
            <a:r>
              <a:rPr lang="zh-CN" altLang="en-US" sz="2600" dirty="0">
                <a:latin typeface="Times New Roman" pitchFamily="18" charset="0"/>
                <a:ea typeface="宋体" pitchFamily="2" charset="-122"/>
              </a:rPr>
              <a:t>，输入方向</a:t>
            </a:r>
            <a:r>
              <a:rPr lang="en-US" altLang="zh-CN" sz="2600" dirty="0">
                <a:latin typeface="Times New Roman" pitchFamily="18" charset="0"/>
                <a:ea typeface="宋体" pitchFamily="2" charset="-122"/>
              </a:rPr>
              <a:t>1</a:t>
            </a:r>
            <a:r>
              <a:rPr lang="zh-CN" altLang="en-US" sz="2600" dirty="0">
                <a:latin typeface="Times New Roman" pitchFamily="18" charset="0"/>
                <a:ea typeface="宋体" pitchFamily="2" charset="-122"/>
              </a:rPr>
              <a:t>的相邻阵列成员间的间距为“</a:t>
            </a:r>
            <a:r>
              <a:rPr lang="en-US" altLang="zh-CN" sz="2600" dirty="0">
                <a:latin typeface="Times New Roman" pitchFamily="18" charset="0"/>
                <a:ea typeface="宋体" pitchFamily="2" charset="-122"/>
              </a:rPr>
              <a:t>60”</a:t>
            </a:r>
            <a:r>
              <a:rPr lang="zh-CN" altLang="en-US" sz="2600" dirty="0">
                <a:latin typeface="Times New Roman" pitchFamily="18" charset="0"/>
                <a:ea typeface="宋体" pitchFamily="2" charset="-122"/>
              </a:rPr>
              <a:t>。</a:t>
            </a:r>
          </a:p>
        </p:txBody>
      </p:sp>
      <p:sp>
        <p:nvSpPr>
          <p:cNvPr id="7" name="文本框 6">
            <a:extLst>
              <a:ext uri="{FF2B5EF4-FFF2-40B4-BE49-F238E27FC236}">
                <a16:creationId xmlns:a16="http://schemas.microsoft.com/office/drawing/2014/main" id="{790EA25C-469E-216B-4DBD-5E2E90FD0EAB}"/>
              </a:ext>
            </a:extLst>
          </p:cNvPr>
          <p:cNvSpPr txBox="1"/>
          <p:nvPr/>
        </p:nvSpPr>
        <p:spPr>
          <a:xfrm>
            <a:off x="4447119" y="6174475"/>
            <a:ext cx="3297762" cy="369332"/>
          </a:xfrm>
          <a:prstGeom prst="rect">
            <a:avLst/>
          </a:prstGeom>
          <a:noFill/>
        </p:spPr>
        <p:txBody>
          <a:bodyPr wrap="square">
            <a:spAutoFit/>
          </a:bodyPr>
          <a:lstStyle/>
          <a:p>
            <a:pPr algn="ctr"/>
            <a:r>
              <a:rPr lang="zh-CN" altLang="en-US" sz="1800" dirty="0">
                <a:effectLst/>
                <a:ea typeface="黑体" panose="02010609060101010101" pitchFamily="49" charset="-122"/>
                <a:cs typeface="Times New Roman" panose="02020603050405020304" pitchFamily="18" charset="0"/>
              </a:rPr>
              <a:t>图</a:t>
            </a:r>
            <a:r>
              <a:rPr lang="en-US" altLang="zh-CN" sz="1800" dirty="0">
                <a:effectLst/>
                <a:ea typeface="黑体" panose="02010609060101010101" pitchFamily="49" charset="-122"/>
                <a:cs typeface="Times New Roman" panose="02020603050405020304" pitchFamily="18" charset="0"/>
              </a:rPr>
              <a:t>8-45【</a:t>
            </a:r>
            <a:r>
              <a:rPr lang="zh-CN" altLang="en-US" sz="1800" dirty="0">
                <a:effectLst/>
                <a:ea typeface="黑体" panose="02010609060101010101" pitchFamily="49" charset="-122"/>
                <a:cs typeface="Times New Roman" panose="02020603050405020304" pitchFamily="18" charset="0"/>
              </a:rPr>
              <a:t>镜像元件</a:t>
            </a:r>
            <a:r>
              <a:rPr lang="en-US" altLang="zh-CN" sz="1800" dirty="0">
                <a:effectLst/>
                <a:ea typeface="黑体" panose="02010609060101010101" pitchFamily="49" charset="-122"/>
                <a:cs typeface="Times New Roman" panose="02020603050405020304" pitchFamily="18" charset="0"/>
              </a:rPr>
              <a:t>】</a:t>
            </a:r>
            <a:r>
              <a:rPr lang="zh-CN" altLang="en-US" sz="1800" dirty="0">
                <a:effectLst/>
                <a:ea typeface="黑体" panose="02010609060101010101" pitchFamily="49" charset="-122"/>
                <a:cs typeface="Times New Roman" panose="02020603050405020304" pitchFamily="18" charset="0"/>
              </a:rPr>
              <a:t>对话框</a:t>
            </a:r>
            <a:endParaRPr lang="zh-CN" altLang="en-US" dirty="0"/>
          </a:p>
        </p:txBody>
      </p:sp>
      <p:pic>
        <p:nvPicPr>
          <p:cNvPr id="4" name="图片 3">
            <a:extLst>
              <a:ext uri="{FF2B5EF4-FFF2-40B4-BE49-F238E27FC236}">
                <a16:creationId xmlns:a16="http://schemas.microsoft.com/office/drawing/2014/main" id="{6116BEA5-22FF-B3C0-77BF-24BC618ECD14}"/>
              </a:ext>
            </a:extLst>
          </p:cNvPr>
          <p:cNvPicPr>
            <a:picLocks noChangeAspect="1"/>
          </p:cNvPicPr>
          <p:nvPr/>
        </p:nvPicPr>
        <p:blipFill>
          <a:blip r:embed="rId2"/>
          <a:stretch>
            <a:fillRect/>
          </a:stretch>
        </p:blipFill>
        <p:spPr>
          <a:xfrm>
            <a:off x="10758487" y="1876425"/>
            <a:ext cx="342900" cy="342900"/>
          </a:xfrm>
          <a:prstGeom prst="rect">
            <a:avLst/>
          </a:prstGeom>
        </p:spPr>
      </p:pic>
    </p:spTree>
    <p:extLst>
      <p:ext uri="{BB962C8B-B14F-4D97-AF65-F5344CB8AC3E}">
        <p14:creationId xmlns:p14="http://schemas.microsoft.com/office/powerpoint/2010/main" val="330521517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790EA25C-469E-216B-4DBD-5E2E90FD0EAB}"/>
              </a:ext>
            </a:extLst>
          </p:cNvPr>
          <p:cNvSpPr txBox="1"/>
          <p:nvPr/>
        </p:nvSpPr>
        <p:spPr>
          <a:xfrm>
            <a:off x="4447119" y="5645836"/>
            <a:ext cx="3297762" cy="369332"/>
          </a:xfrm>
          <a:prstGeom prst="rect">
            <a:avLst/>
          </a:prstGeom>
          <a:noFill/>
        </p:spPr>
        <p:txBody>
          <a:bodyPr wrap="square">
            <a:spAutoFit/>
          </a:bodyPr>
          <a:lstStyle/>
          <a:p>
            <a:pPr algn="ctr"/>
            <a:r>
              <a:rPr lang="zh-CN" altLang="en-US" sz="1800" dirty="0">
                <a:effectLst/>
                <a:ea typeface="黑体" panose="02010609060101010101" pitchFamily="49" charset="-122"/>
                <a:cs typeface="Times New Roman" panose="02020603050405020304" pitchFamily="18" charset="0"/>
              </a:rPr>
              <a:t>图</a:t>
            </a:r>
            <a:r>
              <a:rPr lang="en-US" altLang="zh-CN" sz="1800" dirty="0">
                <a:effectLst/>
                <a:ea typeface="黑体" panose="02010609060101010101" pitchFamily="49" charset="-122"/>
                <a:cs typeface="Times New Roman" panose="02020603050405020304" pitchFamily="18" charset="0"/>
              </a:rPr>
              <a:t>8-47 </a:t>
            </a:r>
            <a:r>
              <a:rPr lang="zh-CN" altLang="en-US" sz="1800" dirty="0">
                <a:effectLst/>
                <a:ea typeface="黑体" panose="02010609060101010101" pitchFamily="49" charset="-122"/>
                <a:cs typeface="Times New Roman" panose="02020603050405020304" pitchFamily="18" charset="0"/>
              </a:rPr>
              <a:t>原始装配模型</a:t>
            </a:r>
            <a:endParaRPr lang="zh-CN" altLang="en-US" dirty="0"/>
          </a:p>
        </p:txBody>
      </p:sp>
      <p:pic>
        <p:nvPicPr>
          <p:cNvPr id="3" name="图片 2">
            <a:extLst>
              <a:ext uri="{FF2B5EF4-FFF2-40B4-BE49-F238E27FC236}">
                <a16:creationId xmlns:a16="http://schemas.microsoft.com/office/drawing/2014/main" id="{2BA4F5C8-13F7-F084-A665-9E7D1E55F9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64161" y="842833"/>
            <a:ext cx="8463679" cy="4600718"/>
          </a:xfrm>
          <a:prstGeom prst="rect">
            <a:avLst/>
          </a:prstGeom>
        </p:spPr>
      </p:pic>
    </p:spTree>
    <p:extLst>
      <p:ext uri="{BB962C8B-B14F-4D97-AF65-F5344CB8AC3E}">
        <p14:creationId xmlns:p14="http://schemas.microsoft.com/office/powerpoint/2010/main" val="254677443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3" y="482223"/>
            <a:ext cx="11178206" cy="1216743"/>
          </a:xfrm>
          <a:prstGeom prst="rect">
            <a:avLst/>
          </a:prstGeom>
          <a:noFill/>
        </p:spPr>
        <p:txBody>
          <a:bodyPr wrap="square" rtlCol="0">
            <a:spAutoFit/>
          </a:bodyPr>
          <a:lstStyle/>
          <a:p>
            <a:pPr indent="457200">
              <a:lnSpc>
                <a:spcPct val="150000"/>
              </a:lnSpc>
            </a:pPr>
            <a:r>
              <a:rPr lang="en-US" altLang="zh-CN" sz="2600" dirty="0">
                <a:latin typeface="Times New Roman" pitchFamily="18" charset="0"/>
                <a:ea typeface="宋体" pitchFamily="2" charset="-122"/>
              </a:rPr>
              <a:t>4</a:t>
            </a:r>
            <a:r>
              <a:rPr lang="zh-CN" altLang="en-US" sz="2600" dirty="0">
                <a:latin typeface="Times New Roman" pitchFamily="18" charset="0"/>
                <a:ea typeface="宋体" pitchFamily="2" charset="-122"/>
              </a:rPr>
              <a:t>）在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阵列</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选项卡中单击“确定”按钮，完成所有螺钉的阵列操作，得到的阵列装配效果如图</a:t>
            </a:r>
            <a:r>
              <a:rPr lang="en-US" altLang="zh-CN" sz="2600" dirty="0">
                <a:latin typeface="Times New Roman" pitchFamily="18" charset="0"/>
                <a:ea typeface="宋体" pitchFamily="2" charset="-122"/>
              </a:rPr>
              <a:t>8-49</a:t>
            </a:r>
            <a:r>
              <a:rPr lang="zh-CN" altLang="en-US" sz="2600" dirty="0">
                <a:latin typeface="Times New Roman" pitchFamily="18" charset="0"/>
                <a:ea typeface="宋体" pitchFamily="2" charset="-122"/>
              </a:rPr>
              <a:t>所示。</a:t>
            </a:r>
          </a:p>
        </p:txBody>
      </p:sp>
      <p:sp>
        <p:nvSpPr>
          <p:cNvPr id="7" name="文本框 6">
            <a:extLst>
              <a:ext uri="{FF2B5EF4-FFF2-40B4-BE49-F238E27FC236}">
                <a16:creationId xmlns:a16="http://schemas.microsoft.com/office/drawing/2014/main" id="{790EA25C-469E-216B-4DBD-5E2E90FD0EAB}"/>
              </a:ext>
            </a:extLst>
          </p:cNvPr>
          <p:cNvSpPr txBox="1"/>
          <p:nvPr/>
        </p:nvSpPr>
        <p:spPr>
          <a:xfrm>
            <a:off x="4447119" y="6060171"/>
            <a:ext cx="3297762" cy="369332"/>
          </a:xfrm>
          <a:prstGeom prst="rect">
            <a:avLst/>
          </a:prstGeom>
          <a:noFill/>
        </p:spPr>
        <p:txBody>
          <a:bodyPr wrap="square">
            <a:spAutoFit/>
          </a:bodyPr>
          <a:lstStyle/>
          <a:p>
            <a:pPr algn="ctr"/>
            <a:r>
              <a:rPr lang="zh-CN" altLang="en-US" sz="1800" dirty="0">
                <a:effectLst/>
                <a:ea typeface="黑体" panose="02010609060101010101" pitchFamily="49" charset="-122"/>
                <a:cs typeface="Times New Roman" panose="02020603050405020304" pitchFamily="18" charset="0"/>
              </a:rPr>
              <a:t>图</a:t>
            </a:r>
            <a:r>
              <a:rPr lang="en-US" altLang="zh-CN" sz="1800" dirty="0">
                <a:effectLst/>
                <a:ea typeface="黑体" panose="02010609060101010101" pitchFamily="49" charset="-122"/>
                <a:cs typeface="Times New Roman" panose="02020603050405020304" pitchFamily="18" charset="0"/>
              </a:rPr>
              <a:t>8-49 </a:t>
            </a:r>
            <a:r>
              <a:rPr lang="zh-CN" altLang="en-US" sz="1800" dirty="0">
                <a:effectLst/>
                <a:ea typeface="黑体" panose="02010609060101010101" pitchFamily="49" charset="-122"/>
                <a:cs typeface="Times New Roman" panose="02020603050405020304" pitchFamily="18" charset="0"/>
              </a:rPr>
              <a:t>阵列装配效果</a:t>
            </a:r>
            <a:endParaRPr lang="zh-CN" altLang="en-US" dirty="0"/>
          </a:p>
        </p:txBody>
      </p:sp>
      <p:pic>
        <p:nvPicPr>
          <p:cNvPr id="4" name="图片 3">
            <a:extLst>
              <a:ext uri="{FF2B5EF4-FFF2-40B4-BE49-F238E27FC236}">
                <a16:creationId xmlns:a16="http://schemas.microsoft.com/office/drawing/2014/main" id="{D3DFF207-C19B-D2FC-9830-6619EA2BD0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28854" y="2159873"/>
            <a:ext cx="5134292" cy="3565446"/>
          </a:xfrm>
          <a:prstGeom prst="rect">
            <a:avLst/>
          </a:prstGeom>
        </p:spPr>
      </p:pic>
    </p:spTree>
    <p:extLst>
      <p:ext uri="{BB962C8B-B14F-4D97-AF65-F5344CB8AC3E}">
        <p14:creationId xmlns:p14="http://schemas.microsoft.com/office/powerpoint/2010/main" val="334855127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0562" y="470647"/>
            <a:ext cx="3565712" cy="737510"/>
          </a:xfrm>
          <a:prstGeom prst="rect">
            <a:avLst/>
          </a:prstGeom>
          <a:solidFill>
            <a:srgbClr val="0000FF"/>
          </a:solidFill>
        </p:spPr>
        <p:txBody>
          <a:bodyPr wrap="square" rtlCol="0">
            <a:spAutoFit/>
          </a:bodyPr>
          <a:lstStyle/>
          <a:p>
            <a:pPr>
              <a:lnSpc>
                <a:spcPct val="150000"/>
              </a:lnSpc>
            </a:pPr>
            <a:r>
              <a:rPr lang="en-US" altLang="zh-CN" sz="3200" dirty="0">
                <a:solidFill>
                  <a:schemeClr val="bg1"/>
                </a:solidFill>
                <a:latin typeface="Times New Roman" pitchFamily="18" charset="0"/>
                <a:ea typeface="黑体" pitchFamily="49" charset="-122"/>
              </a:rPr>
              <a:t>8.6 </a:t>
            </a:r>
            <a:r>
              <a:rPr lang="zh-CN" altLang="en-US" sz="3200" dirty="0">
                <a:solidFill>
                  <a:schemeClr val="bg1"/>
                </a:solidFill>
                <a:latin typeface="Times New Roman" pitchFamily="18" charset="0"/>
                <a:ea typeface="黑体" pitchFamily="49" charset="-122"/>
              </a:rPr>
              <a:t>重复放置元件</a:t>
            </a:r>
            <a:endParaRPr lang="en-US" altLang="zh-CN" sz="3200" dirty="0">
              <a:solidFill>
                <a:schemeClr val="bg1"/>
              </a:solidFill>
              <a:latin typeface="Times New Roman" pitchFamily="18" charset="0"/>
              <a:ea typeface="黑体" pitchFamily="49" charset="-122"/>
            </a:endParaRPr>
          </a:p>
        </p:txBody>
      </p:sp>
      <p:sp>
        <p:nvSpPr>
          <p:cNvPr id="3" name="TextBox 2"/>
          <p:cNvSpPr txBox="1"/>
          <p:nvPr/>
        </p:nvSpPr>
        <p:spPr>
          <a:xfrm>
            <a:off x="457203" y="1279582"/>
            <a:ext cx="11178206" cy="3617401"/>
          </a:xfrm>
          <a:prstGeom prst="rect">
            <a:avLst/>
          </a:prstGeom>
          <a:noFill/>
        </p:spPr>
        <p:txBody>
          <a:bodyPr wrap="square" rtlCol="0">
            <a:spAutoFit/>
          </a:bodyPr>
          <a:lstStyle/>
          <a:p>
            <a:pPr indent="457200">
              <a:lnSpc>
                <a:spcPct val="150000"/>
              </a:lnSpc>
            </a:pPr>
            <a:r>
              <a:rPr lang="zh-CN" altLang="en-US" sz="2600" dirty="0">
                <a:latin typeface="Times New Roman" pitchFamily="18" charset="0"/>
                <a:ea typeface="宋体" pitchFamily="2" charset="-122"/>
              </a:rPr>
              <a:t>在装配模式下，使用“重复”功能可一次装配多个相同零部件，可以不必创建重复的实例，从而大大减少装配设计时间，提升设计效率。</a:t>
            </a:r>
          </a:p>
          <a:p>
            <a:pPr indent="457200">
              <a:lnSpc>
                <a:spcPct val="150000"/>
              </a:lnSpc>
            </a:pPr>
            <a:r>
              <a:rPr lang="zh-CN" altLang="en-US" sz="2600" dirty="0">
                <a:latin typeface="Times New Roman" pitchFamily="18" charset="0"/>
                <a:ea typeface="宋体" pitchFamily="2" charset="-122"/>
              </a:rPr>
              <a:t>下面介绍一个重复放置元件的操作案例。在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快速访问</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工具栏中单击“打开”按钮 ，系统弹出</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文件打开</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对话框，选择“</a:t>
            </a:r>
            <a:r>
              <a:rPr lang="en-US" altLang="zh-CN" sz="2600" dirty="0">
                <a:latin typeface="Times New Roman" pitchFamily="18" charset="0"/>
                <a:ea typeface="宋体" pitchFamily="2" charset="-122"/>
              </a:rPr>
              <a:t>\DATA\ch8\</a:t>
            </a:r>
            <a:r>
              <a:rPr lang="zh-CN" altLang="en-US" sz="2600" dirty="0">
                <a:latin typeface="Times New Roman" pitchFamily="18" charset="0"/>
                <a:ea typeface="宋体" pitchFamily="2" charset="-122"/>
              </a:rPr>
              <a:t>重复放置元件</a:t>
            </a:r>
            <a:r>
              <a:rPr lang="en-US" altLang="zh-CN" sz="2600" dirty="0">
                <a:latin typeface="Times New Roman" pitchFamily="18" charset="0"/>
                <a:ea typeface="宋体" pitchFamily="2" charset="-122"/>
              </a:rPr>
              <a:t>\ </a:t>
            </a:r>
            <a:r>
              <a:rPr lang="zh-CN" altLang="en-US" sz="2600" dirty="0">
                <a:latin typeface="Times New Roman" pitchFamily="18" charset="0"/>
                <a:ea typeface="宋体" pitchFamily="2" charset="-122"/>
              </a:rPr>
              <a:t>重复放置元件</a:t>
            </a:r>
            <a:r>
              <a:rPr lang="en-US" altLang="zh-CN" sz="2600" dirty="0">
                <a:latin typeface="Times New Roman" pitchFamily="18" charset="0"/>
                <a:ea typeface="宋体" pitchFamily="2" charset="-122"/>
              </a:rPr>
              <a:t>.</a:t>
            </a:r>
            <a:r>
              <a:rPr lang="en-US" altLang="zh-CN" sz="2600" dirty="0" err="1">
                <a:latin typeface="Times New Roman" pitchFamily="18" charset="0"/>
                <a:ea typeface="宋体" pitchFamily="2" charset="-122"/>
              </a:rPr>
              <a:t>asm</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文件，单击“打开”按钮，打开图</a:t>
            </a:r>
            <a:r>
              <a:rPr lang="en-US" altLang="zh-CN" sz="2600" dirty="0">
                <a:latin typeface="Times New Roman" pitchFamily="18" charset="0"/>
                <a:ea typeface="宋体" pitchFamily="2" charset="-122"/>
              </a:rPr>
              <a:t>8-50</a:t>
            </a:r>
            <a:r>
              <a:rPr lang="zh-CN" altLang="en-US" sz="2600" dirty="0">
                <a:latin typeface="Times New Roman" pitchFamily="18" charset="0"/>
                <a:ea typeface="宋体" pitchFamily="2" charset="-122"/>
              </a:rPr>
              <a:t>所示的装配模型。</a:t>
            </a:r>
          </a:p>
        </p:txBody>
      </p:sp>
    </p:spTree>
    <p:extLst>
      <p:ext uri="{BB962C8B-B14F-4D97-AF65-F5344CB8AC3E}">
        <p14:creationId xmlns:p14="http://schemas.microsoft.com/office/powerpoint/2010/main" val="48683017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790EA25C-469E-216B-4DBD-5E2E90FD0EAB}"/>
              </a:ext>
            </a:extLst>
          </p:cNvPr>
          <p:cNvSpPr txBox="1"/>
          <p:nvPr/>
        </p:nvSpPr>
        <p:spPr>
          <a:xfrm>
            <a:off x="4447119" y="5645836"/>
            <a:ext cx="3297762" cy="369332"/>
          </a:xfrm>
          <a:prstGeom prst="rect">
            <a:avLst/>
          </a:prstGeom>
          <a:noFill/>
        </p:spPr>
        <p:txBody>
          <a:bodyPr wrap="square">
            <a:spAutoFit/>
          </a:bodyPr>
          <a:lstStyle/>
          <a:p>
            <a:pPr algn="ctr"/>
            <a:r>
              <a:rPr lang="zh-CN" altLang="en-US" sz="1800" dirty="0">
                <a:effectLst/>
                <a:ea typeface="黑体" panose="02010609060101010101" pitchFamily="49" charset="-122"/>
                <a:cs typeface="Times New Roman" panose="02020603050405020304" pitchFamily="18" charset="0"/>
              </a:rPr>
              <a:t>图</a:t>
            </a:r>
            <a:r>
              <a:rPr lang="en-US" altLang="zh-CN" sz="1800" dirty="0">
                <a:effectLst/>
                <a:ea typeface="黑体" panose="02010609060101010101" pitchFamily="49" charset="-122"/>
                <a:cs typeface="Times New Roman" panose="02020603050405020304" pitchFamily="18" charset="0"/>
              </a:rPr>
              <a:t>8-50 </a:t>
            </a:r>
            <a:r>
              <a:rPr lang="zh-CN" altLang="en-US" sz="1800" dirty="0">
                <a:effectLst/>
                <a:ea typeface="黑体" panose="02010609060101010101" pitchFamily="49" charset="-122"/>
                <a:cs typeface="Times New Roman" panose="02020603050405020304" pitchFamily="18" charset="0"/>
              </a:rPr>
              <a:t>原始装配模型</a:t>
            </a:r>
            <a:endParaRPr lang="zh-CN" altLang="en-US" dirty="0"/>
          </a:p>
        </p:txBody>
      </p:sp>
      <p:pic>
        <p:nvPicPr>
          <p:cNvPr id="2" name="图片 1">
            <a:extLst>
              <a:ext uri="{FF2B5EF4-FFF2-40B4-BE49-F238E27FC236}">
                <a16:creationId xmlns:a16="http://schemas.microsoft.com/office/drawing/2014/main" id="{52E2808D-B0F1-3A21-588B-53672FFCA5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60007" y="1659316"/>
            <a:ext cx="4471987" cy="3565951"/>
          </a:xfrm>
          <a:prstGeom prst="rect">
            <a:avLst/>
          </a:prstGeom>
        </p:spPr>
      </p:pic>
    </p:spTree>
    <p:extLst>
      <p:ext uri="{BB962C8B-B14F-4D97-AF65-F5344CB8AC3E}">
        <p14:creationId xmlns:p14="http://schemas.microsoft.com/office/powerpoint/2010/main" val="296308129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3" y="482223"/>
            <a:ext cx="11178206" cy="3617401"/>
          </a:xfrm>
          <a:prstGeom prst="rect">
            <a:avLst/>
          </a:prstGeom>
          <a:noFill/>
        </p:spPr>
        <p:txBody>
          <a:bodyPr wrap="square" rtlCol="0">
            <a:spAutoFit/>
          </a:bodyPr>
          <a:lstStyle/>
          <a:p>
            <a:pPr indent="457200">
              <a:lnSpc>
                <a:spcPct val="150000"/>
              </a:lnSpc>
            </a:pPr>
            <a:r>
              <a:rPr lang="en-US" altLang="zh-CN" sz="2600" dirty="0">
                <a:latin typeface="Times New Roman" pitchFamily="18" charset="0"/>
                <a:ea typeface="宋体" pitchFamily="2" charset="-122"/>
              </a:rPr>
              <a:t>1</a:t>
            </a:r>
            <a:r>
              <a:rPr lang="zh-CN" altLang="en-US" sz="2600" dirty="0">
                <a:latin typeface="Times New Roman" pitchFamily="18" charset="0"/>
                <a:ea typeface="宋体" pitchFamily="2" charset="-122"/>
              </a:rPr>
              <a:t>）从选择过滤器列表框中选择“零件”，接着在图形窗口中选择已经装配好的螺钉。</a:t>
            </a:r>
          </a:p>
          <a:p>
            <a:pPr indent="457200">
              <a:lnSpc>
                <a:spcPct val="150000"/>
              </a:lnSpc>
            </a:pPr>
            <a:r>
              <a:rPr lang="en-US" altLang="zh-CN" sz="2600" dirty="0">
                <a:latin typeface="Times New Roman" pitchFamily="18" charset="0"/>
                <a:ea typeface="宋体" pitchFamily="2" charset="-122"/>
              </a:rPr>
              <a:t>2</a:t>
            </a:r>
            <a:r>
              <a:rPr lang="zh-CN" altLang="en-US" sz="2600" dirty="0">
                <a:latin typeface="Times New Roman" pitchFamily="18" charset="0"/>
                <a:ea typeface="宋体" pitchFamily="2" charset="-122"/>
              </a:rPr>
              <a:t>）在功能区的</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模型</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选项卡的</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元件</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组中单击“重复”按钮      ，打开</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重复元件</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对话框。</a:t>
            </a:r>
            <a:endParaRPr lang="en-US" altLang="zh-CN" sz="2600" dirty="0">
              <a:latin typeface="Times New Roman" pitchFamily="18" charset="0"/>
              <a:ea typeface="宋体" pitchFamily="2" charset="-122"/>
            </a:endParaRPr>
          </a:p>
          <a:p>
            <a:pPr indent="457200">
              <a:lnSpc>
                <a:spcPct val="150000"/>
              </a:lnSpc>
            </a:pPr>
            <a:r>
              <a:rPr lang="en-US" altLang="zh-CN" sz="2600" dirty="0">
                <a:latin typeface="Times New Roman" pitchFamily="18" charset="0"/>
                <a:ea typeface="宋体" pitchFamily="2" charset="-122"/>
              </a:rPr>
              <a:t>3</a:t>
            </a:r>
            <a:r>
              <a:rPr lang="zh-CN" altLang="en-US" sz="2600" dirty="0">
                <a:latin typeface="Times New Roman" pitchFamily="18" charset="0"/>
                <a:ea typeface="宋体" pitchFamily="2" charset="-122"/>
              </a:rPr>
              <a:t>）在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重复元件</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对话框的“可变装配参考”选项组的列表中，选择要改变的装配参考。这里选择第</a:t>
            </a:r>
            <a:r>
              <a:rPr lang="en-US" altLang="zh-CN" sz="2600" dirty="0">
                <a:latin typeface="Times New Roman" pitchFamily="18" charset="0"/>
                <a:ea typeface="宋体" pitchFamily="2" charset="-122"/>
              </a:rPr>
              <a:t>2</a:t>
            </a:r>
            <a:r>
              <a:rPr lang="zh-CN" altLang="en-US" sz="2600" dirty="0">
                <a:latin typeface="Times New Roman" pitchFamily="18" charset="0"/>
                <a:ea typeface="宋体" pitchFamily="2" charset="-122"/>
              </a:rPr>
              <a:t>个“重合”所在的参考行，如图</a:t>
            </a:r>
            <a:r>
              <a:rPr lang="en-US" altLang="zh-CN" sz="2600" dirty="0">
                <a:latin typeface="Times New Roman" pitchFamily="18" charset="0"/>
                <a:ea typeface="宋体" pitchFamily="2" charset="-122"/>
              </a:rPr>
              <a:t>8-51</a:t>
            </a:r>
            <a:r>
              <a:rPr lang="zh-CN" altLang="en-US" sz="2600" dirty="0">
                <a:latin typeface="Times New Roman" pitchFamily="18" charset="0"/>
                <a:ea typeface="宋体" pitchFamily="2" charset="-122"/>
              </a:rPr>
              <a:t>所示。</a:t>
            </a:r>
          </a:p>
        </p:txBody>
      </p:sp>
      <p:sp>
        <p:nvSpPr>
          <p:cNvPr id="7" name="文本框 6">
            <a:extLst>
              <a:ext uri="{FF2B5EF4-FFF2-40B4-BE49-F238E27FC236}">
                <a16:creationId xmlns:a16="http://schemas.microsoft.com/office/drawing/2014/main" id="{790EA25C-469E-216B-4DBD-5E2E90FD0EAB}"/>
              </a:ext>
            </a:extLst>
          </p:cNvPr>
          <p:cNvSpPr txBox="1"/>
          <p:nvPr/>
        </p:nvSpPr>
        <p:spPr>
          <a:xfrm>
            <a:off x="4447119" y="6060171"/>
            <a:ext cx="3297762" cy="369332"/>
          </a:xfrm>
          <a:prstGeom prst="rect">
            <a:avLst/>
          </a:prstGeom>
          <a:noFill/>
        </p:spPr>
        <p:txBody>
          <a:bodyPr wrap="square">
            <a:spAutoFit/>
          </a:bodyPr>
          <a:lstStyle/>
          <a:p>
            <a:pPr algn="ctr"/>
            <a:r>
              <a:rPr lang="zh-CN" altLang="en-US" sz="1800" dirty="0">
                <a:effectLst/>
                <a:ea typeface="黑体" panose="02010609060101010101" pitchFamily="49" charset="-122"/>
                <a:cs typeface="Times New Roman" panose="02020603050405020304" pitchFamily="18" charset="0"/>
              </a:rPr>
              <a:t>图</a:t>
            </a:r>
            <a:r>
              <a:rPr lang="en-US" altLang="zh-CN" sz="1800" dirty="0">
                <a:effectLst/>
                <a:ea typeface="黑体" panose="02010609060101010101" pitchFamily="49" charset="-122"/>
                <a:cs typeface="Times New Roman" panose="02020603050405020304" pitchFamily="18" charset="0"/>
              </a:rPr>
              <a:t>8-49 </a:t>
            </a:r>
            <a:r>
              <a:rPr lang="zh-CN" altLang="en-US" sz="1800" dirty="0">
                <a:effectLst/>
                <a:ea typeface="黑体" panose="02010609060101010101" pitchFamily="49" charset="-122"/>
                <a:cs typeface="Times New Roman" panose="02020603050405020304" pitchFamily="18" charset="0"/>
              </a:rPr>
              <a:t>阵列装配效果</a:t>
            </a:r>
            <a:endParaRPr lang="zh-CN" altLang="en-US" dirty="0"/>
          </a:p>
        </p:txBody>
      </p:sp>
      <p:pic>
        <p:nvPicPr>
          <p:cNvPr id="2" name="图片 1">
            <a:extLst>
              <a:ext uri="{FF2B5EF4-FFF2-40B4-BE49-F238E27FC236}">
                <a16:creationId xmlns:a16="http://schemas.microsoft.com/office/drawing/2014/main" id="{DBC196A8-55B1-4A96-96E4-B059B8741175}"/>
              </a:ext>
            </a:extLst>
          </p:cNvPr>
          <p:cNvPicPr>
            <a:picLocks noChangeAspect="1"/>
          </p:cNvPicPr>
          <p:nvPr/>
        </p:nvPicPr>
        <p:blipFill>
          <a:blip r:embed="rId2"/>
          <a:stretch>
            <a:fillRect/>
          </a:stretch>
        </p:blipFill>
        <p:spPr>
          <a:xfrm>
            <a:off x="10538777" y="1876424"/>
            <a:ext cx="308610" cy="342900"/>
          </a:xfrm>
          <a:prstGeom prst="rect">
            <a:avLst/>
          </a:prstGeom>
        </p:spPr>
      </p:pic>
    </p:spTree>
    <p:extLst>
      <p:ext uri="{BB962C8B-B14F-4D97-AF65-F5344CB8AC3E}">
        <p14:creationId xmlns:p14="http://schemas.microsoft.com/office/powerpoint/2010/main" val="241072348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790EA25C-469E-216B-4DBD-5E2E90FD0EAB}"/>
              </a:ext>
            </a:extLst>
          </p:cNvPr>
          <p:cNvSpPr txBox="1"/>
          <p:nvPr/>
        </p:nvSpPr>
        <p:spPr>
          <a:xfrm>
            <a:off x="4447119" y="5645836"/>
            <a:ext cx="3297762" cy="369332"/>
          </a:xfrm>
          <a:prstGeom prst="rect">
            <a:avLst/>
          </a:prstGeom>
          <a:noFill/>
        </p:spPr>
        <p:txBody>
          <a:bodyPr wrap="square">
            <a:spAutoFit/>
          </a:bodyPr>
          <a:lstStyle/>
          <a:p>
            <a:pPr algn="ctr"/>
            <a:r>
              <a:rPr lang="zh-CN" altLang="en-US" sz="1800" dirty="0">
                <a:effectLst/>
                <a:ea typeface="黑体" panose="02010609060101010101" pitchFamily="49" charset="-122"/>
                <a:cs typeface="Times New Roman" panose="02020603050405020304" pitchFamily="18" charset="0"/>
              </a:rPr>
              <a:t>图</a:t>
            </a:r>
            <a:r>
              <a:rPr lang="en-US" altLang="zh-CN" sz="1800" dirty="0">
                <a:effectLst/>
                <a:ea typeface="黑体" panose="02010609060101010101" pitchFamily="49" charset="-122"/>
                <a:cs typeface="Times New Roman" panose="02020603050405020304" pitchFamily="18" charset="0"/>
              </a:rPr>
              <a:t>8-51 </a:t>
            </a:r>
            <a:r>
              <a:rPr lang="zh-CN" altLang="en-US" sz="1800" dirty="0">
                <a:effectLst/>
                <a:ea typeface="黑体" panose="02010609060101010101" pitchFamily="49" charset="-122"/>
                <a:cs typeface="Times New Roman" panose="02020603050405020304" pitchFamily="18" charset="0"/>
              </a:rPr>
              <a:t>选择要改变的装配参考</a:t>
            </a:r>
            <a:endParaRPr lang="zh-CN" altLang="en-US" dirty="0"/>
          </a:p>
        </p:txBody>
      </p:sp>
      <p:pic>
        <p:nvPicPr>
          <p:cNvPr id="3" name="图片 2">
            <a:extLst>
              <a:ext uri="{FF2B5EF4-FFF2-40B4-BE49-F238E27FC236}">
                <a16:creationId xmlns:a16="http://schemas.microsoft.com/office/drawing/2014/main" id="{F3D47228-CDEB-CC67-5989-EBC1B9F82A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5663" y="1225187"/>
            <a:ext cx="5400675" cy="4117172"/>
          </a:xfrm>
          <a:prstGeom prst="rect">
            <a:avLst/>
          </a:prstGeom>
        </p:spPr>
      </p:pic>
    </p:spTree>
    <p:extLst>
      <p:ext uri="{BB962C8B-B14F-4D97-AF65-F5344CB8AC3E}">
        <p14:creationId xmlns:p14="http://schemas.microsoft.com/office/powerpoint/2010/main" val="227793174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87" y="482223"/>
            <a:ext cx="11178206" cy="3017236"/>
          </a:xfrm>
          <a:prstGeom prst="rect">
            <a:avLst/>
          </a:prstGeom>
          <a:noFill/>
        </p:spPr>
        <p:txBody>
          <a:bodyPr wrap="square" rtlCol="0">
            <a:spAutoFit/>
          </a:bodyPr>
          <a:lstStyle/>
          <a:p>
            <a:pPr indent="457200">
              <a:lnSpc>
                <a:spcPct val="150000"/>
              </a:lnSpc>
            </a:pPr>
            <a:r>
              <a:rPr lang="en-US" altLang="zh-CN" sz="2600" dirty="0">
                <a:latin typeface="Times New Roman" pitchFamily="18" charset="0"/>
                <a:ea typeface="宋体" pitchFamily="2" charset="-122"/>
              </a:rPr>
              <a:t>4</a:t>
            </a:r>
            <a:r>
              <a:rPr lang="zh-CN" altLang="en-US" sz="2600" dirty="0">
                <a:latin typeface="Times New Roman" pitchFamily="18" charset="0"/>
                <a:ea typeface="宋体" pitchFamily="2" charset="-122"/>
              </a:rPr>
              <a:t>）在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重复元件</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对话框的“放置元件”选项组中单击“添加”按钮，选择新的装配参考，所选新装配参考将出现在“放置元件”列表中。按住“</a:t>
            </a:r>
            <a:r>
              <a:rPr lang="en-US" altLang="zh-CN" sz="2600" dirty="0">
                <a:latin typeface="Times New Roman" pitchFamily="18" charset="0"/>
                <a:ea typeface="宋体" pitchFamily="2" charset="-122"/>
              </a:rPr>
              <a:t>Ctrl”</a:t>
            </a:r>
            <a:r>
              <a:rPr lang="zh-CN" altLang="en-US" sz="2600" dirty="0">
                <a:latin typeface="Times New Roman" pitchFamily="18" charset="0"/>
                <a:ea typeface="宋体" pitchFamily="2" charset="-122"/>
              </a:rPr>
              <a:t>键，选择压板上其余</a:t>
            </a:r>
            <a:r>
              <a:rPr lang="en-US" altLang="zh-CN" sz="2600" dirty="0">
                <a:latin typeface="Times New Roman" pitchFamily="18" charset="0"/>
                <a:ea typeface="宋体" pitchFamily="2" charset="-122"/>
              </a:rPr>
              <a:t>4</a:t>
            </a:r>
            <a:r>
              <a:rPr lang="zh-CN" altLang="en-US" sz="2600" dirty="0">
                <a:latin typeface="Times New Roman" pitchFamily="18" charset="0"/>
                <a:ea typeface="宋体" pitchFamily="2" charset="-122"/>
              </a:rPr>
              <a:t>个安装孔的内圆柱面。</a:t>
            </a:r>
          </a:p>
          <a:p>
            <a:pPr indent="457200">
              <a:lnSpc>
                <a:spcPct val="150000"/>
              </a:lnSpc>
            </a:pPr>
            <a:r>
              <a:rPr lang="en-US" altLang="zh-CN" sz="2600" dirty="0">
                <a:latin typeface="Times New Roman" pitchFamily="18" charset="0"/>
                <a:ea typeface="宋体" pitchFamily="2" charset="-122"/>
              </a:rPr>
              <a:t>5</a:t>
            </a:r>
            <a:r>
              <a:rPr lang="zh-CN" altLang="en-US" sz="2600" dirty="0">
                <a:latin typeface="Times New Roman" pitchFamily="18" charset="0"/>
                <a:ea typeface="宋体" pitchFamily="2" charset="-122"/>
              </a:rPr>
              <a:t>）在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重复元件</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对话框中单击“确定”按钮，完成重复放置螺钉，结果如图</a:t>
            </a:r>
            <a:r>
              <a:rPr lang="en-US" altLang="zh-CN" sz="2600" dirty="0">
                <a:latin typeface="Times New Roman" pitchFamily="18" charset="0"/>
                <a:ea typeface="宋体" pitchFamily="2" charset="-122"/>
              </a:rPr>
              <a:t>8-52</a:t>
            </a:r>
            <a:r>
              <a:rPr lang="zh-CN" altLang="en-US" sz="2600" dirty="0">
                <a:latin typeface="Times New Roman" pitchFamily="18" charset="0"/>
                <a:ea typeface="宋体" pitchFamily="2" charset="-122"/>
              </a:rPr>
              <a:t>所示。</a:t>
            </a:r>
          </a:p>
        </p:txBody>
      </p:sp>
      <p:sp>
        <p:nvSpPr>
          <p:cNvPr id="7" name="文本框 6">
            <a:extLst>
              <a:ext uri="{FF2B5EF4-FFF2-40B4-BE49-F238E27FC236}">
                <a16:creationId xmlns:a16="http://schemas.microsoft.com/office/drawing/2014/main" id="{790EA25C-469E-216B-4DBD-5E2E90FD0EAB}"/>
              </a:ext>
            </a:extLst>
          </p:cNvPr>
          <p:cNvSpPr txBox="1"/>
          <p:nvPr/>
        </p:nvSpPr>
        <p:spPr>
          <a:xfrm>
            <a:off x="4447119" y="6060171"/>
            <a:ext cx="3297762" cy="369332"/>
          </a:xfrm>
          <a:prstGeom prst="rect">
            <a:avLst/>
          </a:prstGeom>
          <a:noFill/>
        </p:spPr>
        <p:txBody>
          <a:bodyPr wrap="square">
            <a:spAutoFit/>
          </a:bodyPr>
          <a:lstStyle/>
          <a:p>
            <a:pPr algn="ctr"/>
            <a:r>
              <a:rPr lang="zh-CN" altLang="en-US" sz="1800" dirty="0">
                <a:effectLst/>
                <a:ea typeface="黑体" panose="02010609060101010101" pitchFamily="49" charset="-122"/>
                <a:cs typeface="Times New Roman" panose="02020603050405020304" pitchFamily="18" charset="0"/>
              </a:rPr>
              <a:t>图</a:t>
            </a:r>
            <a:r>
              <a:rPr lang="en-US" altLang="zh-CN" sz="1800" dirty="0">
                <a:effectLst/>
                <a:ea typeface="黑体" panose="02010609060101010101" pitchFamily="49" charset="-122"/>
                <a:cs typeface="Times New Roman" panose="02020603050405020304" pitchFamily="18" charset="0"/>
              </a:rPr>
              <a:t>8-52 </a:t>
            </a:r>
            <a:r>
              <a:rPr lang="zh-CN" altLang="en-US" sz="1800" dirty="0">
                <a:effectLst/>
                <a:ea typeface="黑体" panose="02010609060101010101" pitchFamily="49" charset="-122"/>
                <a:cs typeface="Times New Roman" panose="02020603050405020304" pitchFamily="18" charset="0"/>
              </a:rPr>
              <a:t>完成重复放置螺钉</a:t>
            </a:r>
            <a:endParaRPr lang="zh-CN" altLang="en-US" dirty="0"/>
          </a:p>
        </p:txBody>
      </p:sp>
      <p:pic>
        <p:nvPicPr>
          <p:cNvPr id="4" name="图片 3">
            <a:extLst>
              <a:ext uri="{FF2B5EF4-FFF2-40B4-BE49-F238E27FC236}">
                <a16:creationId xmlns:a16="http://schemas.microsoft.com/office/drawing/2014/main" id="{68E16DDD-43FF-71FE-B244-D97536EFFF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83506" y="3052445"/>
            <a:ext cx="6424988" cy="2862581"/>
          </a:xfrm>
          <a:prstGeom prst="rect">
            <a:avLst/>
          </a:prstGeom>
        </p:spPr>
      </p:pic>
    </p:spTree>
    <p:extLst>
      <p:ext uri="{BB962C8B-B14F-4D97-AF65-F5344CB8AC3E}">
        <p14:creationId xmlns:p14="http://schemas.microsoft.com/office/powerpoint/2010/main" val="256924780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0562" y="470647"/>
            <a:ext cx="3565712" cy="737510"/>
          </a:xfrm>
          <a:prstGeom prst="rect">
            <a:avLst/>
          </a:prstGeom>
          <a:solidFill>
            <a:srgbClr val="0000FF"/>
          </a:solidFill>
        </p:spPr>
        <p:txBody>
          <a:bodyPr wrap="square" rtlCol="0">
            <a:spAutoFit/>
          </a:bodyPr>
          <a:lstStyle/>
          <a:p>
            <a:pPr>
              <a:lnSpc>
                <a:spcPct val="150000"/>
              </a:lnSpc>
            </a:pPr>
            <a:r>
              <a:rPr lang="en-US" altLang="zh-CN" sz="3200" dirty="0">
                <a:solidFill>
                  <a:schemeClr val="bg1"/>
                </a:solidFill>
                <a:latin typeface="Times New Roman" pitchFamily="18" charset="0"/>
                <a:ea typeface="黑体" pitchFamily="49" charset="-122"/>
              </a:rPr>
              <a:t>8.7 </a:t>
            </a:r>
            <a:r>
              <a:rPr lang="zh-CN" altLang="en-US" sz="3200" dirty="0">
                <a:solidFill>
                  <a:schemeClr val="bg1"/>
                </a:solidFill>
                <a:latin typeface="Times New Roman" pitchFamily="18" charset="0"/>
                <a:ea typeface="黑体" pitchFamily="49" charset="-122"/>
              </a:rPr>
              <a:t>管理装配视图</a:t>
            </a:r>
            <a:endParaRPr lang="en-US" altLang="zh-CN" sz="3200" dirty="0">
              <a:solidFill>
                <a:schemeClr val="bg1"/>
              </a:solidFill>
              <a:latin typeface="Times New Roman" pitchFamily="18" charset="0"/>
              <a:ea typeface="黑体" pitchFamily="49" charset="-122"/>
            </a:endParaRPr>
          </a:p>
        </p:txBody>
      </p:sp>
      <p:sp>
        <p:nvSpPr>
          <p:cNvPr id="3" name="TextBox 2"/>
          <p:cNvSpPr txBox="1"/>
          <p:nvPr/>
        </p:nvSpPr>
        <p:spPr>
          <a:xfrm>
            <a:off x="457203" y="1279582"/>
            <a:ext cx="11178206" cy="5417893"/>
          </a:xfrm>
          <a:prstGeom prst="rect">
            <a:avLst/>
          </a:prstGeom>
          <a:noFill/>
        </p:spPr>
        <p:txBody>
          <a:bodyPr wrap="square" rtlCol="0">
            <a:spAutoFit/>
          </a:bodyPr>
          <a:lstStyle/>
          <a:p>
            <a:pPr indent="457200">
              <a:lnSpc>
                <a:spcPct val="150000"/>
              </a:lnSpc>
            </a:pPr>
            <a:r>
              <a:rPr lang="zh-CN" altLang="en-US" sz="2600" b="1" dirty="0">
                <a:latin typeface="Times New Roman" pitchFamily="18" charset="0"/>
                <a:ea typeface="宋体" pitchFamily="2" charset="-122"/>
              </a:rPr>
              <a:t>创建爆炸视图</a:t>
            </a:r>
            <a:endParaRPr lang="en-US" altLang="zh-CN" sz="2600" b="1" dirty="0">
              <a:latin typeface="Times New Roman" pitchFamily="18" charset="0"/>
              <a:ea typeface="宋体" pitchFamily="2" charset="-122"/>
            </a:endParaRPr>
          </a:p>
          <a:p>
            <a:pPr indent="457200">
              <a:lnSpc>
                <a:spcPct val="150000"/>
              </a:lnSpc>
            </a:pPr>
            <a:r>
              <a:rPr lang="zh-CN" altLang="en-US" sz="2600" dirty="0">
                <a:latin typeface="Times New Roman" pitchFamily="18" charset="0"/>
                <a:ea typeface="宋体" pitchFamily="2" charset="-122"/>
              </a:rPr>
              <a:t> “爆炸视图”是将组件模型中每个元件与其他元件分开表示。创建好的分解视图，可以帮助工程技术人员直观和快捷地了解产品内部结构和各零部件之间的关系。</a:t>
            </a:r>
            <a:endParaRPr lang="en-US" altLang="zh-CN" sz="2600" dirty="0">
              <a:latin typeface="Times New Roman" pitchFamily="18" charset="0"/>
              <a:ea typeface="宋体" pitchFamily="2" charset="-122"/>
            </a:endParaRPr>
          </a:p>
          <a:p>
            <a:pPr indent="457200">
              <a:lnSpc>
                <a:spcPct val="150000"/>
              </a:lnSpc>
            </a:pPr>
            <a:r>
              <a:rPr lang="zh-CN" altLang="en-US" sz="2600" dirty="0">
                <a:latin typeface="Times New Roman" pitchFamily="18" charset="0"/>
                <a:ea typeface="宋体" pitchFamily="2" charset="-122"/>
              </a:rPr>
              <a:t>在功能区</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视图</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模型显示</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组中单击“分解视图”按钮     ，则</a:t>
            </a:r>
            <a:r>
              <a:rPr lang="en-US" altLang="zh-CN" sz="2600" dirty="0">
                <a:latin typeface="Times New Roman" pitchFamily="18" charset="0"/>
                <a:ea typeface="宋体" pitchFamily="2" charset="-122"/>
              </a:rPr>
              <a:t>Creo Parametric 8.0</a:t>
            </a:r>
            <a:r>
              <a:rPr lang="zh-CN" altLang="en-US" sz="2600" dirty="0">
                <a:latin typeface="Times New Roman" pitchFamily="18" charset="0"/>
                <a:ea typeface="宋体" pitchFamily="2" charset="-122"/>
              </a:rPr>
              <a:t>以默认方式创建分解视图。默认的分解视图根据元件在组件中的放置约束显示分离开的每个元件，如图</a:t>
            </a:r>
            <a:r>
              <a:rPr lang="en-US" altLang="zh-CN" sz="2600" dirty="0">
                <a:latin typeface="Times New Roman" pitchFamily="18" charset="0"/>
                <a:ea typeface="宋体" pitchFamily="2" charset="-122"/>
              </a:rPr>
              <a:t>8-53</a:t>
            </a:r>
            <a:r>
              <a:rPr lang="zh-CN" altLang="en-US" sz="2600" dirty="0">
                <a:latin typeface="Times New Roman" pitchFamily="18" charset="0"/>
                <a:ea typeface="宋体" pitchFamily="2" charset="-122"/>
              </a:rPr>
              <a:t>所示。如果要将视图返回到其以前未分解的状态，则再次单击“分解图”按钮     以取消其选中状态即可。</a:t>
            </a:r>
          </a:p>
        </p:txBody>
      </p:sp>
      <p:pic>
        <p:nvPicPr>
          <p:cNvPr id="4" name="图片 3">
            <a:extLst>
              <a:ext uri="{FF2B5EF4-FFF2-40B4-BE49-F238E27FC236}">
                <a16:creationId xmlns:a16="http://schemas.microsoft.com/office/drawing/2014/main" id="{E6191CB3-67B1-D6A1-3E11-4FCB0F71E56C}"/>
              </a:ext>
            </a:extLst>
          </p:cNvPr>
          <p:cNvPicPr>
            <a:picLocks noChangeAspect="1"/>
          </p:cNvPicPr>
          <p:nvPr/>
        </p:nvPicPr>
        <p:blipFill>
          <a:blip r:embed="rId2"/>
          <a:stretch>
            <a:fillRect/>
          </a:stretch>
        </p:blipFill>
        <p:spPr>
          <a:xfrm>
            <a:off x="10615610" y="3818984"/>
            <a:ext cx="335280" cy="396240"/>
          </a:xfrm>
          <a:prstGeom prst="rect">
            <a:avLst/>
          </a:prstGeom>
        </p:spPr>
      </p:pic>
      <p:pic>
        <p:nvPicPr>
          <p:cNvPr id="5" name="图片 4">
            <a:extLst>
              <a:ext uri="{FF2B5EF4-FFF2-40B4-BE49-F238E27FC236}">
                <a16:creationId xmlns:a16="http://schemas.microsoft.com/office/drawing/2014/main" id="{5F72582B-A60C-0CBD-0865-52E9DE2FC80B}"/>
              </a:ext>
            </a:extLst>
          </p:cNvPr>
          <p:cNvPicPr>
            <a:picLocks noChangeAspect="1"/>
          </p:cNvPicPr>
          <p:nvPr/>
        </p:nvPicPr>
        <p:blipFill>
          <a:blip r:embed="rId2"/>
          <a:stretch>
            <a:fillRect/>
          </a:stretch>
        </p:blipFill>
        <p:spPr>
          <a:xfrm>
            <a:off x="8529634" y="5621282"/>
            <a:ext cx="335280" cy="396240"/>
          </a:xfrm>
          <a:prstGeom prst="rect">
            <a:avLst/>
          </a:prstGeom>
        </p:spPr>
      </p:pic>
    </p:spTree>
    <p:extLst>
      <p:ext uri="{BB962C8B-B14F-4D97-AF65-F5344CB8AC3E}">
        <p14:creationId xmlns:p14="http://schemas.microsoft.com/office/powerpoint/2010/main" val="121753306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790EA25C-469E-216B-4DBD-5E2E90FD0EAB}"/>
              </a:ext>
            </a:extLst>
          </p:cNvPr>
          <p:cNvSpPr txBox="1"/>
          <p:nvPr/>
        </p:nvSpPr>
        <p:spPr>
          <a:xfrm>
            <a:off x="4447119" y="5645836"/>
            <a:ext cx="3297762" cy="369332"/>
          </a:xfrm>
          <a:prstGeom prst="rect">
            <a:avLst/>
          </a:prstGeom>
          <a:noFill/>
        </p:spPr>
        <p:txBody>
          <a:bodyPr wrap="square">
            <a:spAutoFit/>
          </a:bodyPr>
          <a:lstStyle/>
          <a:p>
            <a:pPr algn="ctr"/>
            <a:r>
              <a:rPr lang="zh-CN" altLang="en-US" sz="1800" dirty="0">
                <a:effectLst/>
                <a:ea typeface="黑体" panose="02010609060101010101" pitchFamily="49" charset="-122"/>
                <a:cs typeface="Times New Roman" panose="02020603050405020304" pitchFamily="18" charset="0"/>
              </a:rPr>
              <a:t>图</a:t>
            </a:r>
            <a:r>
              <a:rPr lang="en-US" altLang="zh-CN" sz="1800" dirty="0">
                <a:effectLst/>
                <a:ea typeface="黑体" panose="02010609060101010101" pitchFamily="49" charset="-122"/>
                <a:cs typeface="Times New Roman" panose="02020603050405020304" pitchFamily="18" charset="0"/>
              </a:rPr>
              <a:t>8-53 </a:t>
            </a:r>
            <a:r>
              <a:rPr lang="zh-CN" altLang="en-US" sz="1800" dirty="0">
                <a:effectLst/>
                <a:ea typeface="黑体" panose="02010609060101010101" pitchFamily="49" charset="-122"/>
                <a:cs typeface="Times New Roman" panose="02020603050405020304" pitchFamily="18" charset="0"/>
              </a:rPr>
              <a:t>默认分解视图</a:t>
            </a:r>
            <a:endParaRPr lang="zh-CN" altLang="en-US" dirty="0"/>
          </a:p>
        </p:txBody>
      </p:sp>
      <p:pic>
        <p:nvPicPr>
          <p:cNvPr id="2" name="图片 1">
            <a:extLst>
              <a:ext uri="{FF2B5EF4-FFF2-40B4-BE49-F238E27FC236}">
                <a16:creationId xmlns:a16="http://schemas.microsoft.com/office/drawing/2014/main" id="{CC61367B-CE85-790E-A333-7B5B6DC52D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8793" y="1543051"/>
            <a:ext cx="6374414" cy="3800474"/>
          </a:xfrm>
          <a:prstGeom prst="rect">
            <a:avLst/>
          </a:prstGeom>
        </p:spPr>
      </p:pic>
    </p:spTree>
    <p:extLst>
      <p:ext uri="{BB962C8B-B14F-4D97-AF65-F5344CB8AC3E}">
        <p14:creationId xmlns:p14="http://schemas.microsoft.com/office/powerpoint/2010/main" val="286911915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87" y="482223"/>
            <a:ext cx="11178206" cy="1816908"/>
          </a:xfrm>
          <a:prstGeom prst="rect">
            <a:avLst/>
          </a:prstGeom>
          <a:noFill/>
        </p:spPr>
        <p:txBody>
          <a:bodyPr wrap="square" rtlCol="0">
            <a:spAutoFit/>
          </a:bodyPr>
          <a:lstStyle/>
          <a:p>
            <a:pPr indent="457200">
              <a:lnSpc>
                <a:spcPct val="150000"/>
              </a:lnSpc>
            </a:pPr>
            <a:r>
              <a:rPr lang="zh-CN" altLang="en-US" sz="2600" dirty="0">
                <a:latin typeface="Times New Roman" pitchFamily="18" charset="0"/>
                <a:ea typeface="宋体" pitchFamily="2" charset="-122"/>
              </a:rPr>
              <a:t>当默认的分解视图还不满足设计者的要求时，可以在功能区的</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视图</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模型显示</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组中中单击“编辑位置”按钮    ，打开图</a:t>
            </a:r>
            <a:r>
              <a:rPr lang="en-US" altLang="zh-CN" sz="2600" dirty="0">
                <a:latin typeface="Times New Roman" pitchFamily="18" charset="0"/>
                <a:ea typeface="宋体" pitchFamily="2" charset="-122"/>
              </a:rPr>
              <a:t>8-54</a:t>
            </a:r>
            <a:r>
              <a:rPr lang="zh-CN" altLang="en-US" sz="2600" dirty="0">
                <a:latin typeface="Times New Roman" pitchFamily="18" charset="0"/>
                <a:ea typeface="宋体" pitchFamily="2" charset="-122"/>
              </a:rPr>
              <a:t>所示的</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分解工具</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选项卡，使用该选项卡来为指定元件定义位置。</a:t>
            </a:r>
          </a:p>
        </p:txBody>
      </p:sp>
      <p:sp>
        <p:nvSpPr>
          <p:cNvPr id="7" name="文本框 6">
            <a:extLst>
              <a:ext uri="{FF2B5EF4-FFF2-40B4-BE49-F238E27FC236}">
                <a16:creationId xmlns:a16="http://schemas.microsoft.com/office/drawing/2014/main" id="{790EA25C-469E-216B-4DBD-5E2E90FD0EAB}"/>
              </a:ext>
            </a:extLst>
          </p:cNvPr>
          <p:cNvSpPr txBox="1"/>
          <p:nvPr/>
        </p:nvSpPr>
        <p:spPr>
          <a:xfrm>
            <a:off x="4447119" y="4731427"/>
            <a:ext cx="3297762" cy="369332"/>
          </a:xfrm>
          <a:prstGeom prst="rect">
            <a:avLst/>
          </a:prstGeom>
          <a:noFill/>
        </p:spPr>
        <p:txBody>
          <a:bodyPr wrap="square">
            <a:spAutoFit/>
          </a:bodyPr>
          <a:lstStyle/>
          <a:p>
            <a:pPr algn="ctr"/>
            <a:r>
              <a:rPr lang="zh-CN" altLang="en-US" sz="1800" dirty="0">
                <a:effectLst/>
                <a:ea typeface="黑体" panose="02010609060101010101" pitchFamily="49" charset="-122"/>
                <a:cs typeface="Times New Roman" panose="02020603050405020304" pitchFamily="18" charset="0"/>
              </a:rPr>
              <a:t>图</a:t>
            </a:r>
            <a:r>
              <a:rPr lang="en-US" altLang="zh-CN" sz="1800" dirty="0">
                <a:effectLst/>
                <a:ea typeface="黑体" panose="02010609060101010101" pitchFamily="49" charset="-122"/>
                <a:cs typeface="Times New Roman" panose="02020603050405020304" pitchFamily="18" charset="0"/>
              </a:rPr>
              <a:t>8-54【</a:t>
            </a:r>
            <a:r>
              <a:rPr lang="zh-CN" altLang="en-US" sz="1800" dirty="0">
                <a:effectLst/>
                <a:ea typeface="黑体" panose="02010609060101010101" pitchFamily="49" charset="-122"/>
                <a:cs typeface="Times New Roman" panose="02020603050405020304" pitchFamily="18" charset="0"/>
              </a:rPr>
              <a:t>分解工具</a:t>
            </a:r>
            <a:r>
              <a:rPr lang="en-US" altLang="zh-CN" sz="1800" dirty="0">
                <a:effectLst/>
                <a:ea typeface="黑体" panose="02010609060101010101" pitchFamily="49" charset="-122"/>
                <a:cs typeface="Times New Roman" panose="02020603050405020304" pitchFamily="18" charset="0"/>
              </a:rPr>
              <a:t>】</a:t>
            </a:r>
            <a:r>
              <a:rPr lang="zh-CN" altLang="en-US" sz="1800" dirty="0">
                <a:effectLst/>
                <a:ea typeface="黑体" panose="02010609060101010101" pitchFamily="49" charset="-122"/>
                <a:cs typeface="Times New Roman" panose="02020603050405020304" pitchFamily="18" charset="0"/>
              </a:rPr>
              <a:t>选项卡</a:t>
            </a:r>
            <a:endParaRPr lang="zh-CN" altLang="en-US" dirty="0"/>
          </a:p>
        </p:txBody>
      </p:sp>
      <p:pic>
        <p:nvPicPr>
          <p:cNvPr id="2" name="图片 1">
            <a:extLst>
              <a:ext uri="{FF2B5EF4-FFF2-40B4-BE49-F238E27FC236}">
                <a16:creationId xmlns:a16="http://schemas.microsoft.com/office/drawing/2014/main" id="{6774112C-3608-F447-B16C-5647BC3DAB41}"/>
              </a:ext>
            </a:extLst>
          </p:cNvPr>
          <p:cNvPicPr>
            <a:picLocks noChangeAspect="1"/>
          </p:cNvPicPr>
          <p:nvPr/>
        </p:nvPicPr>
        <p:blipFill>
          <a:blip r:embed="rId2"/>
          <a:stretch>
            <a:fillRect/>
          </a:stretch>
        </p:blipFill>
        <p:spPr>
          <a:xfrm>
            <a:off x="7711544" y="1247797"/>
            <a:ext cx="335280" cy="365760"/>
          </a:xfrm>
          <a:prstGeom prst="rect">
            <a:avLst/>
          </a:prstGeom>
        </p:spPr>
      </p:pic>
      <p:pic>
        <p:nvPicPr>
          <p:cNvPr id="5" name="图片 4">
            <a:extLst>
              <a:ext uri="{FF2B5EF4-FFF2-40B4-BE49-F238E27FC236}">
                <a16:creationId xmlns:a16="http://schemas.microsoft.com/office/drawing/2014/main" id="{1530D176-645D-B794-CE41-840BC17A74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5787" y="2802410"/>
            <a:ext cx="9980426" cy="1535635"/>
          </a:xfrm>
          <a:prstGeom prst="rect">
            <a:avLst/>
          </a:prstGeom>
        </p:spPr>
      </p:pic>
    </p:spTree>
    <p:extLst>
      <p:ext uri="{BB962C8B-B14F-4D97-AF65-F5344CB8AC3E}">
        <p14:creationId xmlns:p14="http://schemas.microsoft.com/office/powerpoint/2010/main" val="43837294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87" y="553663"/>
            <a:ext cx="11178206" cy="4217565"/>
          </a:xfrm>
          <a:prstGeom prst="rect">
            <a:avLst/>
          </a:prstGeom>
          <a:noFill/>
        </p:spPr>
        <p:txBody>
          <a:bodyPr wrap="square" rtlCol="0">
            <a:spAutoFit/>
          </a:bodyPr>
          <a:lstStyle/>
          <a:p>
            <a:pPr indent="457200">
              <a:lnSpc>
                <a:spcPct val="150000"/>
              </a:lnSpc>
            </a:pPr>
            <a:r>
              <a:rPr lang="zh-CN" altLang="en-US" sz="2600" dirty="0">
                <a:latin typeface="Times New Roman" pitchFamily="18" charset="0"/>
                <a:ea typeface="宋体" pitchFamily="2" charset="-122"/>
              </a:rPr>
              <a:t>下面结合实例介绍使用视图管理器创建和保存分解视图。在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快速访问</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工具栏中单击“打开”按钮，系统弹出</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文件打开</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对话框，选择“</a:t>
            </a:r>
            <a:r>
              <a:rPr lang="en-US" altLang="zh-CN" sz="2600" dirty="0">
                <a:latin typeface="Times New Roman" pitchFamily="18" charset="0"/>
                <a:ea typeface="宋体" pitchFamily="2" charset="-122"/>
              </a:rPr>
              <a:t>\DATA\ch8\</a:t>
            </a:r>
            <a:r>
              <a:rPr lang="zh-CN" altLang="en-US" sz="2600" dirty="0">
                <a:latin typeface="Times New Roman" pitchFamily="18" charset="0"/>
                <a:ea typeface="宋体" pitchFamily="2" charset="-122"/>
              </a:rPr>
              <a:t>爆炸视图</a:t>
            </a:r>
            <a:r>
              <a:rPr lang="en-US" altLang="zh-CN" sz="2600" dirty="0">
                <a:latin typeface="Times New Roman" pitchFamily="18" charset="0"/>
                <a:ea typeface="宋体" pitchFamily="2" charset="-122"/>
              </a:rPr>
              <a:t>\ explode.asm”</a:t>
            </a:r>
            <a:r>
              <a:rPr lang="zh-CN" altLang="en-US" sz="2600" dirty="0">
                <a:latin typeface="Times New Roman" pitchFamily="18" charset="0"/>
                <a:ea typeface="宋体" pitchFamily="2" charset="-122"/>
              </a:rPr>
              <a:t>文件，单击“打开”按钮，打开图</a:t>
            </a:r>
            <a:r>
              <a:rPr lang="en-US" altLang="zh-CN" sz="2600" dirty="0">
                <a:latin typeface="Times New Roman" pitchFamily="18" charset="0"/>
                <a:ea typeface="宋体" pitchFamily="2" charset="-122"/>
              </a:rPr>
              <a:t>8-53</a:t>
            </a:r>
            <a:r>
              <a:rPr lang="zh-CN" altLang="en-US" sz="2600" dirty="0">
                <a:latin typeface="Times New Roman" pitchFamily="18" charset="0"/>
                <a:ea typeface="宋体" pitchFamily="2" charset="-122"/>
              </a:rPr>
              <a:t>所示的装配模型。</a:t>
            </a:r>
            <a:endParaRPr lang="en-US" altLang="zh-CN" sz="2600" dirty="0">
              <a:latin typeface="Times New Roman" pitchFamily="18" charset="0"/>
              <a:ea typeface="宋体" pitchFamily="2" charset="-122"/>
            </a:endParaRPr>
          </a:p>
          <a:p>
            <a:pPr indent="457200">
              <a:lnSpc>
                <a:spcPct val="150000"/>
              </a:lnSpc>
            </a:pPr>
            <a:r>
              <a:rPr lang="en-US" altLang="zh-CN" sz="2600" dirty="0">
                <a:latin typeface="Times New Roman" pitchFamily="18" charset="0"/>
                <a:ea typeface="宋体" pitchFamily="2" charset="-122"/>
              </a:rPr>
              <a:t>1</a:t>
            </a:r>
            <a:r>
              <a:rPr lang="zh-CN" altLang="en-US" sz="2600" dirty="0">
                <a:latin typeface="Times New Roman" pitchFamily="18" charset="0"/>
                <a:ea typeface="宋体" pitchFamily="2" charset="-122"/>
              </a:rPr>
              <a:t>）打开源文件后，在功能区的</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模型</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选项卡的</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模型显示</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组中单击“视图管理器”按钮 ，系统弹出</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视图管理器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对话框，切换到</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分解</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选项卡，单击“新建”按钮。</a:t>
            </a:r>
          </a:p>
        </p:txBody>
      </p:sp>
    </p:spTree>
    <p:extLst>
      <p:ext uri="{BB962C8B-B14F-4D97-AF65-F5344CB8AC3E}">
        <p14:creationId xmlns:p14="http://schemas.microsoft.com/office/powerpoint/2010/main" val="29019509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87" y="525087"/>
            <a:ext cx="11178206" cy="3017236"/>
          </a:xfrm>
          <a:prstGeom prst="rect">
            <a:avLst/>
          </a:prstGeom>
          <a:noFill/>
        </p:spPr>
        <p:txBody>
          <a:bodyPr wrap="square" rtlCol="0">
            <a:spAutoFit/>
          </a:bodyPr>
          <a:lstStyle/>
          <a:p>
            <a:pPr indent="457200">
              <a:lnSpc>
                <a:spcPct val="150000"/>
              </a:lnSpc>
            </a:pPr>
            <a:r>
              <a:rPr lang="en-US" altLang="zh-CN" sz="2600" dirty="0">
                <a:latin typeface="Times New Roman" pitchFamily="18" charset="0"/>
                <a:ea typeface="宋体" pitchFamily="2" charset="-122"/>
              </a:rPr>
              <a:t>2</a:t>
            </a:r>
            <a:r>
              <a:rPr lang="zh-CN" altLang="en-US" sz="2600" dirty="0">
                <a:latin typeface="Times New Roman" pitchFamily="18" charset="0"/>
                <a:ea typeface="宋体" pitchFamily="2" charset="-122"/>
              </a:rPr>
              <a:t>）此时在文本框中出现默认分解视图的名称“</a:t>
            </a:r>
            <a:r>
              <a:rPr lang="en-US" altLang="zh-CN" sz="2600" dirty="0">
                <a:latin typeface="Times New Roman" pitchFamily="18" charset="0"/>
                <a:ea typeface="宋体" pitchFamily="2" charset="-122"/>
              </a:rPr>
              <a:t>Exp0001”</a:t>
            </a:r>
            <a:r>
              <a:rPr lang="zh-CN" altLang="en-US" sz="2600" dirty="0">
                <a:latin typeface="Times New Roman" pitchFamily="18" charset="0"/>
                <a:ea typeface="宋体" pitchFamily="2" charset="-122"/>
              </a:rPr>
              <a:t>，如图</a:t>
            </a:r>
            <a:r>
              <a:rPr lang="en-US" altLang="zh-CN" sz="2600" dirty="0">
                <a:latin typeface="Times New Roman" pitchFamily="18" charset="0"/>
                <a:ea typeface="宋体" pitchFamily="2" charset="-122"/>
              </a:rPr>
              <a:t>8-55</a:t>
            </a:r>
            <a:r>
              <a:rPr lang="zh-CN" altLang="en-US" sz="2600" dirty="0">
                <a:latin typeface="Times New Roman" pitchFamily="18" charset="0"/>
                <a:ea typeface="宋体" pitchFamily="2" charset="-122"/>
              </a:rPr>
              <a:t>所示，或者在该文本框中重新输入一个新名称，按“</a:t>
            </a:r>
            <a:r>
              <a:rPr lang="en-US" altLang="zh-CN" sz="2600" dirty="0">
                <a:latin typeface="Times New Roman" pitchFamily="18" charset="0"/>
                <a:ea typeface="宋体" pitchFamily="2" charset="-122"/>
              </a:rPr>
              <a:t>Enter”</a:t>
            </a:r>
            <a:r>
              <a:rPr lang="zh-CN" altLang="en-US" sz="2600" dirty="0">
                <a:latin typeface="Times New Roman" pitchFamily="18" charset="0"/>
                <a:ea typeface="宋体" pitchFamily="2" charset="-122"/>
              </a:rPr>
              <a:t>键确认。该分解视图处于活动状态。</a:t>
            </a:r>
            <a:endParaRPr lang="en-US" altLang="zh-CN" sz="2600" dirty="0">
              <a:latin typeface="Times New Roman" pitchFamily="18" charset="0"/>
              <a:ea typeface="宋体" pitchFamily="2" charset="-122"/>
            </a:endParaRPr>
          </a:p>
          <a:p>
            <a:pPr indent="457200">
              <a:lnSpc>
                <a:spcPct val="150000"/>
              </a:lnSpc>
            </a:pPr>
            <a:r>
              <a:rPr lang="en-US" altLang="zh-CN" sz="2600" dirty="0">
                <a:latin typeface="Times New Roman" pitchFamily="18" charset="0"/>
                <a:ea typeface="宋体" pitchFamily="2" charset="-122"/>
              </a:rPr>
              <a:t>3</a:t>
            </a:r>
            <a:r>
              <a:rPr lang="zh-CN" altLang="en-US" sz="2600" dirty="0">
                <a:latin typeface="Times New Roman" pitchFamily="18" charset="0"/>
                <a:ea typeface="宋体" pitchFamily="2" charset="-122"/>
              </a:rPr>
              <a:t>）在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视图管理器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对话框中单击“属性＞＞”按钮，从而将对话框切换至分解属性界面，如图</a:t>
            </a:r>
            <a:r>
              <a:rPr lang="en-US" altLang="zh-CN" sz="2600" dirty="0">
                <a:latin typeface="Times New Roman" pitchFamily="18" charset="0"/>
                <a:ea typeface="宋体" pitchFamily="2" charset="-122"/>
              </a:rPr>
              <a:t>8-56</a:t>
            </a:r>
            <a:r>
              <a:rPr lang="zh-CN" altLang="en-US" sz="2600" dirty="0">
                <a:latin typeface="Times New Roman" pitchFamily="18" charset="0"/>
                <a:ea typeface="宋体" pitchFamily="2" charset="-122"/>
              </a:rPr>
              <a:t>所示。</a:t>
            </a:r>
          </a:p>
        </p:txBody>
      </p:sp>
    </p:spTree>
    <p:extLst>
      <p:ext uri="{BB962C8B-B14F-4D97-AF65-F5344CB8AC3E}">
        <p14:creationId xmlns:p14="http://schemas.microsoft.com/office/powerpoint/2010/main" val="387494322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790EA25C-469E-216B-4DBD-5E2E90FD0EAB}"/>
              </a:ext>
            </a:extLst>
          </p:cNvPr>
          <p:cNvSpPr txBox="1"/>
          <p:nvPr/>
        </p:nvSpPr>
        <p:spPr>
          <a:xfrm>
            <a:off x="1332444" y="6030728"/>
            <a:ext cx="3297762" cy="369332"/>
          </a:xfrm>
          <a:prstGeom prst="rect">
            <a:avLst/>
          </a:prstGeom>
          <a:noFill/>
        </p:spPr>
        <p:txBody>
          <a:bodyPr wrap="square">
            <a:spAutoFit/>
          </a:bodyPr>
          <a:lstStyle/>
          <a:p>
            <a:pPr algn="ctr"/>
            <a:r>
              <a:rPr lang="zh-CN" altLang="en-US" sz="1800" dirty="0">
                <a:effectLst/>
                <a:ea typeface="黑体" panose="02010609060101010101" pitchFamily="49" charset="-122"/>
                <a:cs typeface="Times New Roman" panose="02020603050405020304" pitchFamily="18" charset="0"/>
              </a:rPr>
              <a:t>图</a:t>
            </a:r>
            <a:r>
              <a:rPr lang="en-US" altLang="zh-CN" sz="1800" dirty="0">
                <a:effectLst/>
                <a:ea typeface="黑体" panose="02010609060101010101" pitchFamily="49" charset="-122"/>
                <a:cs typeface="Times New Roman" panose="02020603050405020304" pitchFamily="18" charset="0"/>
              </a:rPr>
              <a:t>8-55</a:t>
            </a:r>
            <a:r>
              <a:rPr lang="zh-CN" altLang="en-US" sz="1800" dirty="0">
                <a:effectLst/>
                <a:ea typeface="黑体" panose="02010609060101010101" pitchFamily="49" charset="-122"/>
                <a:cs typeface="Times New Roman" panose="02020603050405020304" pitchFamily="18" charset="0"/>
              </a:rPr>
              <a:t>新建分解视图</a:t>
            </a:r>
            <a:endParaRPr lang="zh-CN" altLang="en-US" dirty="0"/>
          </a:p>
        </p:txBody>
      </p:sp>
      <p:pic>
        <p:nvPicPr>
          <p:cNvPr id="3" name="图片 2">
            <a:extLst>
              <a:ext uri="{FF2B5EF4-FFF2-40B4-BE49-F238E27FC236}">
                <a16:creationId xmlns:a16="http://schemas.microsoft.com/office/drawing/2014/main" id="{FB7012D8-72E3-5ECE-0670-2B9174F7D3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1575" y="642606"/>
            <a:ext cx="4041141" cy="5187896"/>
          </a:xfrm>
          <a:prstGeom prst="rect">
            <a:avLst/>
          </a:prstGeom>
        </p:spPr>
      </p:pic>
      <p:pic>
        <p:nvPicPr>
          <p:cNvPr id="4" name="图片 3">
            <a:extLst>
              <a:ext uri="{FF2B5EF4-FFF2-40B4-BE49-F238E27FC236}">
                <a16:creationId xmlns:a16="http://schemas.microsoft.com/office/drawing/2014/main" id="{3644F8F8-EF39-37EC-BE60-F111907B33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74423" y="647883"/>
            <a:ext cx="3993132" cy="5182619"/>
          </a:xfrm>
          <a:prstGeom prst="rect">
            <a:avLst/>
          </a:prstGeom>
        </p:spPr>
      </p:pic>
      <p:sp>
        <p:nvSpPr>
          <p:cNvPr id="5" name="文本框 4">
            <a:extLst>
              <a:ext uri="{FF2B5EF4-FFF2-40B4-BE49-F238E27FC236}">
                <a16:creationId xmlns:a16="http://schemas.microsoft.com/office/drawing/2014/main" id="{6BFE2FC0-239C-A14D-2CF9-ED168D540B79}"/>
              </a:ext>
            </a:extLst>
          </p:cNvPr>
          <p:cNvSpPr txBox="1"/>
          <p:nvPr/>
        </p:nvSpPr>
        <p:spPr>
          <a:xfrm>
            <a:off x="6522108" y="6025225"/>
            <a:ext cx="3297762" cy="369332"/>
          </a:xfrm>
          <a:prstGeom prst="rect">
            <a:avLst/>
          </a:prstGeom>
          <a:noFill/>
        </p:spPr>
        <p:txBody>
          <a:bodyPr wrap="square">
            <a:spAutoFit/>
          </a:bodyPr>
          <a:lstStyle/>
          <a:p>
            <a:pPr algn="ctr"/>
            <a:r>
              <a:rPr lang="zh-CN" altLang="en-US" sz="1800" dirty="0">
                <a:effectLst/>
                <a:ea typeface="黑体" panose="02010609060101010101" pitchFamily="49" charset="-122"/>
                <a:cs typeface="Times New Roman" panose="02020603050405020304" pitchFamily="18" charset="0"/>
              </a:rPr>
              <a:t>图</a:t>
            </a:r>
            <a:r>
              <a:rPr lang="en-US" altLang="zh-CN" sz="1800" dirty="0">
                <a:effectLst/>
                <a:ea typeface="黑体" panose="02010609060101010101" pitchFamily="49" charset="-122"/>
                <a:cs typeface="Times New Roman" panose="02020603050405020304" pitchFamily="18" charset="0"/>
              </a:rPr>
              <a:t>8-56 </a:t>
            </a:r>
            <a:r>
              <a:rPr lang="zh-CN" altLang="en-US" sz="1800" dirty="0">
                <a:effectLst/>
                <a:ea typeface="黑体" panose="02010609060101010101" pitchFamily="49" charset="-122"/>
                <a:cs typeface="Times New Roman" panose="02020603050405020304" pitchFamily="18" charset="0"/>
              </a:rPr>
              <a:t>分解属性界面</a:t>
            </a:r>
            <a:endParaRPr lang="zh-CN" altLang="en-US" dirty="0"/>
          </a:p>
        </p:txBody>
      </p:sp>
    </p:spTree>
    <p:extLst>
      <p:ext uri="{BB962C8B-B14F-4D97-AF65-F5344CB8AC3E}">
        <p14:creationId xmlns:p14="http://schemas.microsoft.com/office/powerpoint/2010/main" val="373811910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87" y="525087"/>
            <a:ext cx="11178206" cy="2417072"/>
          </a:xfrm>
          <a:prstGeom prst="rect">
            <a:avLst/>
          </a:prstGeom>
          <a:noFill/>
        </p:spPr>
        <p:txBody>
          <a:bodyPr wrap="square" rtlCol="0">
            <a:spAutoFit/>
          </a:bodyPr>
          <a:lstStyle/>
          <a:p>
            <a:pPr indent="457200">
              <a:lnSpc>
                <a:spcPct val="150000"/>
              </a:lnSpc>
            </a:pPr>
            <a:r>
              <a:rPr lang="en-US" altLang="zh-CN" sz="2600" dirty="0">
                <a:latin typeface="Times New Roman" pitchFamily="18" charset="0"/>
                <a:ea typeface="宋体" pitchFamily="2" charset="-122"/>
              </a:rPr>
              <a:t>4</a:t>
            </a:r>
            <a:r>
              <a:rPr lang="zh-CN" altLang="en-US" sz="2600" dirty="0">
                <a:latin typeface="Times New Roman" pitchFamily="18" charset="0"/>
                <a:ea typeface="宋体" pitchFamily="2" charset="-122"/>
              </a:rPr>
              <a:t>）单击图</a:t>
            </a:r>
            <a:r>
              <a:rPr lang="en-US" altLang="zh-CN" sz="2600" dirty="0">
                <a:latin typeface="Times New Roman" pitchFamily="18" charset="0"/>
                <a:ea typeface="宋体" pitchFamily="2" charset="-122"/>
              </a:rPr>
              <a:t>8-56</a:t>
            </a:r>
            <a:r>
              <a:rPr lang="zh-CN" altLang="en-US" sz="2600" dirty="0">
                <a:latin typeface="Times New Roman" pitchFamily="18" charset="0"/>
                <a:ea typeface="宋体" pitchFamily="2" charset="-122"/>
              </a:rPr>
              <a:t>中“编辑位置”按钮    ，从而在功能区中打开</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分解工具</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a:t>
            </a:r>
          </a:p>
          <a:p>
            <a:pPr indent="457200">
              <a:lnSpc>
                <a:spcPct val="150000"/>
              </a:lnSpc>
            </a:pPr>
            <a:r>
              <a:rPr lang="en-US" altLang="zh-CN" sz="2600" dirty="0">
                <a:latin typeface="Times New Roman" pitchFamily="18" charset="0"/>
                <a:ea typeface="宋体" pitchFamily="2" charset="-122"/>
              </a:rPr>
              <a:t>5</a:t>
            </a:r>
            <a:r>
              <a:rPr lang="zh-CN" altLang="en-US" sz="2600" dirty="0">
                <a:latin typeface="Times New Roman" pitchFamily="18" charset="0"/>
                <a:ea typeface="宋体" pitchFamily="2" charset="-122"/>
              </a:rPr>
              <a:t>）在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分解工具</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选项卡中单击“平移”按钮     ，然后选取 </a:t>
            </a:r>
            <a:r>
              <a:rPr lang="en-US" altLang="zh-CN" sz="2600" dirty="0" err="1">
                <a:latin typeface="Times New Roman" pitchFamily="18" charset="0"/>
                <a:ea typeface="宋体" pitchFamily="2" charset="-122"/>
              </a:rPr>
              <a:t>shaft.prt</a:t>
            </a:r>
            <a:r>
              <a:rPr lang="zh-CN" altLang="en-US" sz="2600" dirty="0">
                <a:latin typeface="Times New Roman" pitchFamily="18" charset="0"/>
                <a:ea typeface="宋体" pitchFamily="2" charset="-122"/>
              </a:rPr>
              <a:t>，将光标放置在 </a:t>
            </a:r>
            <a:r>
              <a:rPr lang="en-US" altLang="zh-CN" sz="2600" dirty="0">
                <a:latin typeface="Times New Roman" pitchFamily="18" charset="0"/>
                <a:ea typeface="宋体" pitchFamily="2" charset="-122"/>
              </a:rPr>
              <a:t>X </a:t>
            </a:r>
            <a:r>
              <a:rPr lang="zh-CN" altLang="en-US" sz="2600" dirty="0">
                <a:latin typeface="Times New Roman" pitchFamily="18" charset="0"/>
                <a:ea typeface="宋体" pitchFamily="2" charset="-122"/>
              </a:rPr>
              <a:t>轴上方并向上拖动以移动该元件，如图</a:t>
            </a:r>
            <a:r>
              <a:rPr lang="en-US" altLang="zh-CN" sz="2600" dirty="0">
                <a:latin typeface="Times New Roman" pitchFamily="18" charset="0"/>
                <a:ea typeface="宋体" pitchFamily="2" charset="-122"/>
              </a:rPr>
              <a:t>8-57</a:t>
            </a:r>
            <a:r>
              <a:rPr lang="zh-CN" altLang="en-US" sz="2600" dirty="0">
                <a:latin typeface="Times New Roman" pitchFamily="18" charset="0"/>
                <a:ea typeface="宋体" pitchFamily="2" charset="-122"/>
              </a:rPr>
              <a:t>所示。</a:t>
            </a:r>
          </a:p>
        </p:txBody>
      </p:sp>
      <p:pic>
        <p:nvPicPr>
          <p:cNvPr id="2" name="图片 1">
            <a:extLst>
              <a:ext uri="{FF2B5EF4-FFF2-40B4-BE49-F238E27FC236}">
                <a16:creationId xmlns:a16="http://schemas.microsoft.com/office/drawing/2014/main" id="{73F8DA57-5837-6591-682A-EFAAFA61B25E}"/>
              </a:ext>
            </a:extLst>
          </p:cNvPr>
          <p:cNvPicPr>
            <a:picLocks noChangeAspect="1"/>
          </p:cNvPicPr>
          <p:nvPr/>
        </p:nvPicPr>
        <p:blipFill>
          <a:blip r:embed="rId2"/>
          <a:stretch>
            <a:fillRect/>
          </a:stretch>
        </p:blipFill>
        <p:spPr>
          <a:xfrm>
            <a:off x="5946290" y="676271"/>
            <a:ext cx="381000" cy="381000"/>
          </a:xfrm>
          <a:prstGeom prst="rect">
            <a:avLst/>
          </a:prstGeom>
        </p:spPr>
      </p:pic>
      <p:pic>
        <p:nvPicPr>
          <p:cNvPr id="4" name="图片 3">
            <a:extLst>
              <a:ext uri="{FF2B5EF4-FFF2-40B4-BE49-F238E27FC236}">
                <a16:creationId xmlns:a16="http://schemas.microsoft.com/office/drawing/2014/main" id="{8AFC5E41-A386-419F-B9F3-A3E1B92C708B}"/>
              </a:ext>
            </a:extLst>
          </p:cNvPr>
          <p:cNvPicPr>
            <a:picLocks noChangeAspect="1"/>
          </p:cNvPicPr>
          <p:nvPr/>
        </p:nvPicPr>
        <p:blipFill>
          <a:blip r:embed="rId3"/>
          <a:stretch>
            <a:fillRect/>
          </a:stretch>
        </p:blipFill>
        <p:spPr>
          <a:xfrm>
            <a:off x="7622222" y="1862138"/>
            <a:ext cx="462915" cy="377190"/>
          </a:xfrm>
          <a:prstGeom prst="rect">
            <a:avLst/>
          </a:prstGeom>
        </p:spPr>
      </p:pic>
      <p:pic>
        <p:nvPicPr>
          <p:cNvPr id="5" name="图片 4">
            <a:extLst>
              <a:ext uri="{FF2B5EF4-FFF2-40B4-BE49-F238E27FC236}">
                <a16:creationId xmlns:a16="http://schemas.microsoft.com/office/drawing/2014/main" id="{6A7E7D26-2D50-5D19-2592-56DECEFC0EB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12633" y="2870719"/>
            <a:ext cx="2566735" cy="3159416"/>
          </a:xfrm>
          <a:prstGeom prst="rect">
            <a:avLst/>
          </a:prstGeom>
        </p:spPr>
      </p:pic>
      <p:sp>
        <p:nvSpPr>
          <p:cNvPr id="6" name="文本框 5">
            <a:extLst>
              <a:ext uri="{FF2B5EF4-FFF2-40B4-BE49-F238E27FC236}">
                <a16:creationId xmlns:a16="http://schemas.microsoft.com/office/drawing/2014/main" id="{63CCF217-D9A9-98BC-BAFE-E0DB6139E756}"/>
              </a:ext>
            </a:extLst>
          </p:cNvPr>
          <p:cNvSpPr txBox="1"/>
          <p:nvPr/>
        </p:nvSpPr>
        <p:spPr>
          <a:xfrm>
            <a:off x="4447119" y="6105383"/>
            <a:ext cx="3297762" cy="369332"/>
          </a:xfrm>
          <a:prstGeom prst="rect">
            <a:avLst/>
          </a:prstGeom>
          <a:noFill/>
        </p:spPr>
        <p:txBody>
          <a:bodyPr wrap="square">
            <a:spAutoFit/>
          </a:bodyPr>
          <a:lstStyle/>
          <a:p>
            <a:pPr algn="ctr"/>
            <a:r>
              <a:rPr lang="zh-CN" altLang="en-US" sz="1800" dirty="0">
                <a:effectLst/>
                <a:ea typeface="黑体" panose="02010609060101010101" pitchFamily="49" charset="-122"/>
                <a:cs typeface="Times New Roman" panose="02020603050405020304" pitchFamily="18" charset="0"/>
              </a:rPr>
              <a:t>图</a:t>
            </a:r>
            <a:r>
              <a:rPr lang="en-US" altLang="zh-CN" sz="1800" dirty="0">
                <a:effectLst/>
                <a:ea typeface="黑体" panose="02010609060101010101" pitchFamily="49" charset="-122"/>
                <a:cs typeface="Times New Roman" panose="02020603050405020304" pitchFamily="18" charset="0"/>
              </a:rPr>
              <a:t>8-57</a:t>
            </a:r>
            <a:r>
              <a:rPr lang="zh-CN" altLang="en-US" sz="1800" dirty="0">
                <a:effectLst/>
                <a:ea typeface="黑体" panose="02010609060101010101" pitchFamily="49" charset="-122"/>
                <a:cs typeface="Times New Roman" panose="02020603050405020304" pitchFamily="18" charset="0"/>
              </a:rPr>
              <a:t>平移拖动</a:t>
            </a:r>
            <a:r>
              <a:rPr lang="en-US" altLang="zh-CN" sz="1800" dirty="0">
                <a:effectLst/>
                <a:ea typeface="黑体" panose="02010609060101010101" pitchFamily="49" charset="-122"/>
                <a:cs typeface="Times New Roman" panose="02020603050405020304" pitchFamily="18" charset="0"/>
              </a:rPr>
              <a:t>shaft</a:t>
            </a:r>
            <a:endParaRPr lang="zh-CN" altLang="en-US" dirty="0"/>
          </a:p>
        </p:txBody>
      </p:sp>
    </p:spTree>
    <p:extLst>
      <p:ext uri="{BB962C8B-B14F-4D97-AF65-F5344CB8AC3E}">
        <p14:creationId xmlns:p14="http://schemas.microsoft.com/office/powerpoint/2010/main" val="35986921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87" y="525087"/>
            <a:ext cx="11178206" cy="1216743"/>
          </a:xfrm>
          <a:prstGeom prst="rect">
            <a:avLst/>
          </a:prstGeom>
          <a:noFill/>
        </p:spPr>
        <p:txBody>
          <a:bodyPr wrap="square" rtlCol="0">
            <a:spAutoFit/>
          </a:bodyPr>
          <a:lstStyle/>
          <a:p>
            <a:pPr indent="457200">
              <a:lnSpc>
                <a:spcPct val="150000"/>
              </a:lnSpc>
            </a:pPr>
            <a:r>
              <a:rPr lang="en-US" altLang="zh-CN" sz="2600" dirty="0">
                <a:latin typeface="Times New Roman" pitchFamily="18" charset="0"/>
                <a:ea typeface="宋体" pitchFamily="2" charset="-122"/>
              </a:rPr>
              <a:t>6</a:t>
            </a:r>
            <a:r>
              <a:rPr lang="zh-CN" altLang="en-US" sz="2600" dirty="0">
                <a:latin typeface="Times New Roman" pitchFamily="18" charset="0"/>
                <a:ea typeface="宋体" pitchFamily="2" charset="-122"/>
              </a:rPr>
              <a:t>）在图形区选中</a:t>
            </a:r>
            <a:r>
              <a:rPr lang="en-US" altLang="zh-CN" sz="2600" dirty="0" err="1">
                <a:latin typeface="Times New Roman" pitchFamily="18" charset="0"/>
                <a:ea typeface="宋体" pitchFamily="2" charset="-122"/>
              </a:rPr>
              <a:t>arm.prt</a:t>
            </a:r>
            <a:r>
              <a:rPr lang="en-US" altLang="zh-CN" sz="2600" dirty="0">
                <a:latin typeface="Times New Roman" pitchFamily="18" charset="0"/>
                <a:ea typeface="宋体" pitchFamily="2" charset="-122"/>
              </a:rPr>
              <a:t>, </a:t>
            </a:r>
            <a:r>
              <a:rPr lang="zh-CN" altLang="en-US" sz="2600" dirty="0">
                <a:latin typeface="Times New Roman" pitchFamily="18" charset="0"/>
                <a:ea typeface="宋体" pitchFamily="2" charset="-122"/>
              </a:rPr>
              <a:t>将光标放置在 </a:t>
            </a:r>
            <a:r>
              <a:rPr lang="en-US" altLang="zh-CN" sz="2600" dirty="0">
                <a:latin typeface="Times New Roman" pitchFamily="18" charset="0"/>
                <a:ea typeface="宋体" pitchFamily="2" charset="-122"/>
              </a:rPr>
              <a:t>Y </a:t>
            </a:r>
            <a:r>
              <a:rPr lang="zh-CN" altLang="en-US" sz="2600" dirty="0">
                <a:latin typeface="Times New Roman" pitchFamily="18" charset="0"/>
                <a:ea typeface="宋体" pitchFamily="2" charset="-122"/>
              </a:rPr>
              <a:t>轴上方并向上拖动以平移该元件，如图</a:t>
            </a:r>
            <a:r>
              <a:rPr lang="en-US" altLang="zh-CN" sz="2600" dirty="0">
                <a:latin typeface="Times New Roman" pitchFamily="18" charset="0"/>
                <a:ea typeface="宋体" pitchFamily="2" charset="-122"/>
              </a:rPr>
              <a:t>8-58</a:t>
            </a:r>
            <a:r>
              <a:rPr lang="zh-CN" altLang="en-US" sz="2600" dirty="0">
                <a:latin typeface="Times New Roman" pitchFamily="18" charset="0"/>
                <a:ea typeface="宋体" pitchFamily="2" charset="-122"/>
              </a:rPr>
              <a:t>所示。</a:t>
            </a:r>
          </a:p>
        </p:txBody>
      </p:sp>
      <p:sp>
        <p:nvSpPr>
          <p:cNvPr id="6" name="文本框 5">
            <a:extLst>
              <a:ext uri="{FF2B5EF4-FFF2-40B4-BE49-F238E27FC236}">
                <a16:creationId xmlns:a16="http://schemas.microsoft.com/office/drawing/2014/main" id="{63CCF217-D9A9-98BC-BAFE-E0DB6139E756}"/>
              </a:ext>
            </a:extLst>
          </p:cNvPr>
          <p:cNvSpPr txBox="1"/>
          <p:nvPr/>
        </p:nvSpPr>
        <p:spPr>
          <a:xfrm>
            <a:off x="4447119" y="5948215"/>
            <a:ext cx="3297762" cy="369332"/>
          </a:xfrm>
          <a:prstGeom prst="rect">
            <a:avLst/>
          </a:prstGeom>
          <a:noFill/>
        </p:spPr>
        <p:txBody>
          <a:bodyPr wrap="square">
            <a:spAutoFit/>
          </a:bodyPr>
          <a:lstStyle/>
          <a:p>
            <a:pPr algn="ctr"/>
            <a:r>
              <a:rPr lang="zh-CN" altLang="en-US" sz="1800" dirty="0">
                <a:effectLst/>
                <a:ea typeface="黑体" panose="02010609060101010101" pitchFamily="49" charset="-122"/>
                <a:cs typeface="Times New Roman" panose="02020603050405020304" pitchFamily="18" charset="0"/>
              </a:rPr>
              <a:t>图</a:t>
            </a:r>
            <a:r>
              <a:rPr lang="en-US" altLang="zh-CN" sz="1800" dirty="0">
                <a:effectLst/>
                <a:ea typeface="黑体" panose="02010609060101010101" pitchFamily="49" charset="-122"/>
                <a:cs typeface="Times New Roman" panose="02020603050405020304" pitchFamily="18" charset="0"/>
              </a:rPr>
              <a:t>8-58 </a:t>
            </a:r>
            <a:r>
              <a:rPr lang="zh-CN" altLang="en-US" sz="1800" dirty="0">
                <a:effectLst/>
                <a:ea typeface="黑体" panose="02010609060101010101" pitchFamily="49" charset="-122"/>
                <a:cs typeface="Times New Roman" panose="02020603050405020304" pitchFamily="18" charset="0"/>
              </a:rPr>
              <a:t>平移拖动</a:t>
            </a:r>
            <a:r>
              <a:rPr lang="en-US" altLang="zh-CN" sz="1800" dirty="0">
                <a:effectLst/>
                <a:ea typeface="黑体" panose="02010609060101010101" pitchFamily="49" charset="-122"/>
                <a:cs typeface="Times New Roman" panose="02020603050405020304" pitchFamily="18" charset="0"/>
              </a:rPr>
              <a:t>arm</a:t>
            </a:r>
            <a:endParaRPr lang="zh-CN" altLang="en-US" dirty="0"/>
          </a:p>
        </p:txBody>
      </p:sp>
      <p:pic>
        <p:nvPicPr>
          <p:cNvPr id="7" name="图片 6">
            <a:extLst>
              <a:ext uri="{FF2B5EF4-FFF2-40B4-BE49-F238E27FC236}">
                <a16:creationId xmlns:a16="http://schemas.microsoft.com/office/drawing/2014/main" id="{655DBAA6-D5E9-2A8E-6640-020F3EAD1D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00613" y="1741830"/>
            <a:ext cx="2390774" cy="3871916"/>
          </a:xfrm>
          <a:prstGeom prst="rect">
            <a:avLst/>
          </a:prstGeom>
        </p:spPr>
      </p:pic>
    </p:spTree>
    <p:extLst>
      <p:ext uri="{BB962C8B-B14F-4D97-AF65-F5344CB8AC3E}">
        <p14:creationId xmlns:p14="http://schemas.microsoft.com/office/powerpoint/2010/main" val="339637861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87" y="525087"/>
            <a:ext cx="11178206" cy="1816908"/>
          </a:xfrm>
          <a:prstGeom prst="rect">
            <a:avLst/>
          </a:prstGeom>
          <a:noFill/>
        </p:spPr>
        <p:txBody>
          <a:bodyPr wrap="square" rtlCol="0">
            <a:spAutoFit/>
          </a:bodyPr>
          <a:lstStyle/>
          <a:p>
            <a:pPr indent="457200">
              <a:lnSpc>
                <a:spcPct val="150000"/>
              </a:lnSpc>
            </a:pPr>
            <a:r>
              <a:rPr lang="en-US" altLang="zh-CN" sz="2600" dirty="0">
                <a:latin typeface="Times New Roman" pitchFamily="18" charset="0"/>
                <a:ea typeface="宋体" pitchFamily="2" charset="-122"/>
              </a:rPr>
              <a:t>7</a:t>
            </a:r>
            <a:r>
              <a:rPr lang="zh-CN" altLang="en-US" sz="2600" dirty="0">
                <a:latin typeface="Times New Roman" pitchFamily="18" charset="0"/>
                <a:ea typeface="宋体" pitchFamily="2" charset="-122"/>
              </a:rPr>
              <a:t>）单击打开</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下滑面板，勾选“随子项移动” 复选框。选取</a:t>
            </a:r>
            <a:r>
              <a:rPr lang="en-US" altLang="zh-CN" sz="2600" dirty="0" err="1">
                <a:latin typeface="Times New Roman" pitchFamily="18" charset="0"/>
                <a:ea typeface="宋体" pitchFamily="2" charset="-122"/>
              </a:rPr>
              <a:t>cover.prt</a:t>
            </a:r>
            <a:r>
              <a:rPr lang="zh-CN" altLang="en-US" sz="2600" dirty="0">
                <a:latin typeface="Times New Roman" pitchFamily="18" charset="0"/>
                <a:ea typeface="宋体" pitchFamily="2" charset="-122"/>
              </a:rPr>
              <a:t>，将光标放置在 </a:t>
            </a:r>
            <a:r>
              <a:rPr lang="en-US" altLang="zh-CN" sz="2600" dirty="0">
                <a:latin typeface="Times New Roman" pitchFamily="18" charset="0"/>
                <a:ea typeface="宋体" pitchFamily="2" charset="-122"/>
              </a:rPr>
              <a:t>X </a:t>
            </a:r>
            <a:r>
              <a:rPr lang="zh-CN" altLang="en-US" sz="2600" dirty="0">
                <a:latin typeface="Times New Roman" pitchFamily="18" charset="0"/>
                <a:ea typeface="宋体" pitchFamily="2" charset="-122"/>
              </a:rPr>
              <a:t>轴上方，然后向上拖动。此时，螺栓</a:t>
            </a:r>
            <a:r>
              <a:rPr lang="en-US" altLang="zh-CN" sz="2600" dirty="0">
                <a:latin typeface="Times New Roman" pitchFamily="18" charset="0"/>
                <a:ea typeface="宋体" pitchFamily="2" charset="-122"/>
              </a:rPr>
              <a:t>bolt</a:t>
            </a:r>
            <a:r>
              <a:rPr lang="zh-CN" altLang="en-US" sz="2600" dirty="0">
                <a:latin typeface="Times New Roman" pitchFamily="18" charset="0"/>
                <a:ea typeface="宋体" pitchFamily="2" charset="-122"/>
              </a:rPr>
              <a:t>与其一起平移，如图</a:t>
            </a:r>
            <a:r>
              <a:rPr lang="en-US" altLang="zh-CN" sz="2600" dirty="0">
                <a:latin typeface="Times New Roman" pitchFamily="18" charset="0"/>
                <a:ea typeface="宋体" pitchFamily="2" charset="-122"/>
              </a:rPr>
              <a:t>8-59</a:t>
            </a:r>
            <a:r>
              <a:rPr lang="zh-CN" altLang="en-US" sz="2600" dirty="0">
                <a:latin typeface="Times New Roman" pitchFamily="18" charset="0"/>
                <a:ea typeface="宋体" pitchFamily="2" charset="-122"/>
              </a:rPr>
              <a:t>所示。</a:t>
            </a:r>
          </a:p>
        </p:txBody>
      </p:sp>
      <p:sp>
        <p:nvSpPr>
          <p:cNvPr id="6" name="文本框 5">
            <a:extLst>
              <a:ext uri="{FF2B5EF4-FFF2-40B4-BE49-F238E27FC236}">
                <a16:creationId xmlns:a16="http://schemas.microsoft.com/office/drawing/2014/main" id="{63CCF217-D9A9-98BC-BAFE-E0DB6139E756}"/>
              </a:ext>
            </a:extLst>
          </p:cNvPr>
          <p:cNvSpPr txBox="1"/>
          <p:nvPr/>
        </p:nvSpPr>
        <p:spPr>
          <a:xfrm>
            <a:off x="4447119" y="5948215"/>
            <a:ext cx="3297762" cy="369332"/>
          </a:xfrm>
          <a:prstGeom prst="rect">
            <a:avLst/>
          </a:prstGeom>
          <a:noFill/>
        </p:spPr>
        <p:txBody>
          <a:bodyPr wrap="square">
            <a:spAutoFit/>
          </a:bodyPr>
          <a:lstStyle/>
          <a:p>
            <a:pPr algn="ctr"/>
            <a:r>
              <a:rPr lang="zh-CN" altLang="en-US" sz="1800" dirty="0">
                <a:effectLst/>
                <a:ea typeface="黑体" panose="02010609060101010101" pitchFamily="49" charset="-122"/>
                <a:cs typeface="Times New Roman" panose="02020603050405020304" pitchFamily="18" charset="0"/>
              </a:rPr>
              <a:t>图</a:t>
            </a:r>
            <a:r>
              <a:rPr lang="en-US" altLang="zh-CN" sz="1800" dirty="0">
                <a:effectLst/>
                <a:ea typeface="黑体" panose="02010609060101010101" pitchFamily="49" charset="-122"/>
                <a:cs typeface="Times New Roman" panose="02020603050405020304" pitchFamily="18" charset="0"/>
              </a:rPr>
              <a:t>8-59</a:t>
            </a:r>
            <a:r>
              <a:rPr lang="zh-CN" altLang="en-US" sz="1800" dirty="0">
                <a:effectLst/>
                <a:ea typeface="黑体" panose="02010609060101010101" pitchFamily="49" charset="-122"/>
                <a:cs typeface="Times New Roman" panose="02020603050405020304" pitchFamily="18" charset="0"/>
              </a:rPr>
              <a:t>随子项移动</a:t>
            </a:r>
            <a:r>
              <a:rPr lang="en-US" altLang="zh-CN" sz="1800" dirty="0">
                <a:effectLst/>
                <a:ea typeface="黑体" panose="02010609060101010101" pitchFamily="49" charset="-122"/>
                <a:cs typeface="Times New Roman" panose="02020603050405020304" pitchFamily="18" charset="0"/>
              </a:rPr>
              <a:t>cover</a:t>
            </a:r>
            <a:r>
              <a:rPr lang="zh-CN" altLang="en-US" sz="1800" dirty="0">
                <a:effectLst/>
                <a:ea typeface="黑体" panose="02010609060101010101" pitchFamily="49" charset="-122"/>
                <a:cs typeface="Times New Roman" panose="02020603050405020304" pitchFamily="18" charset="0"/>
              </a:rPr>
              <a:t>和</a:t>
            </a:r>
            <a:r>
              <a:rPr lang="en-US" altLang="zh-CN" sz="1800" dirty="0">
                <a:effectLst/>
                <a:ea typeface="黑体" panose="02010609060101010101" pitchFamily="49" charset="-122"/>
                <a:cs typeface="Times New Roman" panose="02020603050405020304" pitchFamily="18" charset="0"/>
              </a:rPr>
              <a:t>bolt</a:t>
            </a:r>
            <a:endParaRPr lang="zh-CN" altLang="en-US" dirty="0"/>
          </a:p>
        </p:txBody>
      </p:sp>
      <p:pic>
        <p:nvPicPr>
          <p:cNvPr id="2" name="图片 1">
            <a:extLst>
              <a:ext uri="{FF2B5EF4-FFF2-40B4-BE49-F238E27FC236}">
                <a16:creationId xmlns:a16="http://schemas.microsoft.com/office/drawing/2014/main" id="{BAD6D51A-FA59-34BF-E2C0-6D021C66C8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88786" y="2294572"/>
            <a:ext cx="3814428" cy="3434716"/>
          </a:xfrm>
          <a:prstGeom prst="rect">
            <a:avLst/>
          </a:prstGeom>
        </p:spPr>
      </p:pic>
    </p:spTree>
    <p:extLst>
      <p:ext uri="{BB962C8B-B14F-4D97-AF65-F5344CB8AC3E}">
        <p14:creationId xmlns:p14="http://schemas.microsoft.com/office/powerpoint/2010/main" val="386132992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87" y="525087"/>
            <a:ext cx="11178206" cy="1216743"/>
          </a:xfrm>
          <a:prstGeom prst="rect">
            <a:avLst/>
          </a:prstGeom>
          <a:noFill/>
        </p:spPr>
        <p:txBody>
          <a:bodyPr wrap="square" rtlCol="0">
            <a:spAutoFit/>
          </a:bodyPr>
          <a:lstStyle/>
          <a:p>
            <a:pPr indent="457200">
              <a:lnSpc>
                <a:spcPct val="150000"/>
              </a:lnSpc>
            </a:pPr>
            <a:r>
              <a:rPr lang="en-US" altLang="zh-CN" sz="2600" dirty="0">
                <a:latin typeface="Times New Roman" pitchFamily="18" charset="0"/>
                <a:ea typeface="宋体" pitchFamily="2" charset="-122"/>
              </a:rPr>
              <a:t>8</a:t>
            </a:r>
            <a:r>
              <a:rPr lang="zh-CN" altLang="en-US" sz="2600" dirty="0">
                <a:latin typeface="Times New Roman" pitchFamily="18" charset="0"/>
                <a:ea typeface="宋体" pitchFamily="2" charset="-122"/>
              </a:rPr>
              <a:t>）选取阵列导引 </a:t>
            </a:r>
            <a:r>
              <a:rPr lang="en-US" altLang="zh-CN" sz="2600" dirty="0" err="1">
                <a:latin typeface="Times New Roman" pitchFamily="18" charset="0"/>
                <a:ea typeface="宋体" pitchFamily="2" charset="-122"/>
              </a:rPr>
              <a:t>bolt.prt</a:t>
            </a:r>
            <a:r>
              <a:rPr lang="zh-CN" altLang="en-US" sz="2600" dirty="0">
                <a:latin typeface="Times New Roman" pitchFamily="18" charset="0"/>
                <a:ea typeface="宋体" pitchFamily="2" charset="-122"/>
              </a:rPr>
              <a:t>，将光标放置在 </a:t>
            </a:r>
            <a:r>
              <a:rPr lang="en-US" altLang="zh-CN" sz="2600" dirty="0">
                <a:latin typeface="Times New Roman" pitchFamily="18" charset="0"/>
                <a:ea typeface="宋体" pitchFamily="2" charset="-122"/>
              </a:rPr>
              <a:t>X </a:t>
            </a:r>
            <a:r>
              <a:rPr lang="zh-CN" altLang="en-US" sz="2600" dirty="0">
                <a:latin typeface="Times New Roman" pitchFamily="18" charset="0"/>
                <a:ea typeface="宋体" pitchFamily="2" charset="-122"/>
              </a:rPr>
              <a:t>轴上，然后向上拖动以分解全部三个螺栓成员，如图</a:t>
            </a:r>
            <a:r>
              <a:rPr lang="en-US" altLang="zh-CN" sz="2600" dirty="0">
                <a:latin typeface="Times New Roman" pitchFamily="18" charset="0"/>
                <a:ea typeface="宋体" pitchFamily="2" charset="-122"/>
              </a:rPr>
              <a:t>8-60</a:t>
            </a:r>
            <a:r>
              <a:rPr lang="zh-CN" altLang="en-US" sz="2600" dirty="0">
                <a:latin typeface="Times New Roman" pitchFamily="18" charset="0"/>
                <a:ea typeface="宋体" pitchFamily="2" charset="-122"/>
              </a:rPr>
              <a:t>所示。</a:t>
            </a:r>
          </a:p>
        </p:txBody>
      </p:sp>
      <p:sp>
        <p:nvSpPr>
          <p:cNvPr id="6" name="文本框 5">
            <a:extLst>
              <a:ext uri="{FF2B5EF4-FFF2-40B4-BE49-F238E27FC236}">
                <a16:creationId xmlns:a16="http://schemas.microsoft.com/office/drawing/2014/main" id="{63CCF217-D9A9-98BC-BAFE-E0DB6139E756}"/>
              </a:ext>
            </a:extLst>
          </p:cNvPr>
          <p:cNvSpPr txBox="1"/>
          <p:nvPr/>
        </p:nvSpPr>
        <p:spPr>
          <a:xfrm>
            <a:off x="4447119" y="5776759"/>
            <a:ext cx="3297762" cy="369332"/>
          </a:xfrm>
          <a:prstGeom prst="rect">
            <a:avLst/>
          </a:prstGeom>
          <a:noFill/>
        </p:spPr>
        <p:txBody>
          <a:bodyPr wrap="square">
            <a:spAutoFit/>
          </a:bodyPr>
          <a:lstStyle/>
          <a:p>
            <a:pPr algn="ctr"/>
            <a:r>
              <a:rPr lang="zh-CN" altLang="en-US" sz="1800" dirty="0">
                <a:effectLst/>
                <a:ea typeface="黑体" panose="02010609060101010101" pitchFamily="49" charset="-122"/>
                <a:cs typeface="Times New Roman" panose="02020603050405020304" pitchFamily="18" charset="0"/>
              </a:rPr>
              <a:t>图</a:t>
            </a:r>
            <a:r>
              <a:rPr lang="en-US" altLang="zh-CN" sz="1800" dirty="0">
                <a:effectLst/>
                <a:ea typeface="黑体" panose="02010609060101010101" pitchFamily="49" charset="-122"/>
                <a:cs typeface="Times New Roman" panose="02020603050405020304" pitchFamily="18" charset="0"/>
              </a:rPr>
              <a:t>8-60 </a:t>
            </a:r>
            <a:r>
              <a:rPr lang="zh-CN" altLang="en-US" sz="1800" dirty="0">
                <a:effectLst/>
                <a:ea typeface="黑体" panose="02010609060101010101" pitchFamily="49" charset="-122"/>
                <a:cs typeface="Times New Roman" panose="02020603050405020304" pitchFamily="18" charset="0"/>
              </a:rPr>
              <a:t>平移</a:t>
            </a:r>
            <a:r>
              <a:rPr lang="en-US" altLang="zh-CN" sz="1800" dirty="0">
                <a:effectLst/>
                <a:ea typeface="黑体" panose="02010609060101010101" pitchFamily="49" charset="-122"/>
                <a:cs typeface="Times New Roman" panose="02020603050405020304" pitchFamily="18" charset="0"/>
              </a:rPr>
              <a:t>bolt</a:t>
            </a:r>
            <a:r>
              <a:rPr lang="zh-CN" altLang="en-US" sz="1800" dirty="0">
                <a:effectLst/>
                <a:ea typeface="黑体" panose="02010609060101010101" pitchFamily="49" charset="-122"/>
                <a:cs typeface="Times New Roman" panose="02020603050405020304" pitchFamily="18" charset="0"/>
              </a:rPr>
              <a:t>阵列</a:t>
            </a:r>
            <a:endParaRPr lang="zh-CN" altLang="en-US" dirty="0"/>
          </a:p>
        </p:txBody>
      </p:sp>
      <p:pic>
        <p:nvPicPr>
          <p:cNvPr id="4" name="图片 3">
            <a:extLst>
              <a:ext uri="{FF2B5EF4-FFF2-40B4-BE49-F238E27FC236}">
                <a16:creationId xmlns:a16="http://schemas.microsoft.com/office/drawing/2014/main" id="{A6AA89AD-C259-83EE-8004-F5EAEC174A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31645" y="1904013"/>
            <a:ext cx="4528710" cy="3578001"/>
          </a:xfrm>
          <a:prstGeom prst="rect">
            <a:avLst/>
          </a:prstGeom>
        </p:spPr>
      </p:pic>
    </p:spTree>
    <p:extLst>
      <p:ext uri="{BB962C8B-B14F-4D97-AF65-F5344CB8AC3E}">
        <p14:creationId xmlns:p14="http://schemas.microsoft.com/office/powerpoint/2010/main" val="366061658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87" y="525087"/>
            <a:ext cx="11178206" cy="1816908"/>
          </a:xfrm>
          <a:prstGeom prst="rect">
            <a:avLst/>
          </a:prstGeom>
          <a:noFill/>
        </p:spPr>
        <p:txBody>
          <a:bodyPr wrap="square" rtlCol="0">
            <a:spAutoFit/>
          </a:bodyPr>
          <a:lstStyle/>
          <a:p>
            <a:pPr indent="457200">
              <a:lnSpc>
                <a:spcPct val="150000"/>
              </a:lnSpc>
            </a:pPr>
            <a:r>
              <a:rPr lang="en-US" altLang="zh-CN" sz="2600" dirty="0">
                <a:latin typeface="Times New Roman" pitchFamily="18" charset="0"/>
                <a:ea typeface="宋体" pitchFamily="2" charset="-122"/>
              </a:rPr>
              <a:t>9</a:t>
            </a:r>
            <a:r>
              <a:rPr lang="zh-CN" altLang="en-US" sz="2600" dirty="0">
                <a:latin typeface="Times New Roman" pitchFamily="18" charset="0"/>
                <a:ea typeface="宋体" pitchFamily="2" charset="-122"/>
              </a:rPr>
              <a:t>）在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参考</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下滑面板中单击“移动参考”选框，然后选取</a:t>
            </a:r>
            <a:r>
              <a:rPr lang="en-US" altLang="zh-CN" sz="2600" dirty="0" err="1">
                <a:latin typeface="Times New Roman" pitchFamily="18" charset="0"/>
                <a:ea typeface="宋体" pitchFamily="2" charset="-122"/>
              </a:rPr>
              <a:t>body.prt</a:t>
            </a:r>
            <a:r>
              <a:rPr lang="zh-CN" altLang="en-US" sz="2600" dirty="0">
                <a:latin typeface="Times New Roman" pitchFamily="18" charset="0"/>
                <a:ea typeface="宋体" pitchFamily="2" charset="-122"/>
              </a:rPr>
              <a:t>的前曲面作为移动参考，如图</a:t>
            </a:r>
            <a:r>
              <a:rPr lang="en-US" altLang="zh-CN" sz="2600" dirty="0">
                <a:latin typeface="Times New Roman" pitchFamily="18" charset="0"/>
                <a:ea typeface="宋体" pitchFamily="2" charset="-122"/>
              </a:rPr>
              <a:t>8-61</a:t>
            </a:r>
            <a:r>
              <a:rPr lang="zh-CN" altLang="en-US" sz="2600" dirty="0">
                <a:latin typeface="Times New Roman" pitchFamily="18" charset="0"/>
                <a:ea typeface="宋体" pitchFamily="2" charset="-122"/>
              </a:rPr>
              <a:t>所示。然后选取 </a:t>
            </a:r>
            <a:r>
              <a:rPr lang="en-US" altLang="zh-CN" sz="2600" dirty="0" err="1">
                <a:latin typeface="Times New Roman" pitchFamily="18" charset="0"/>
                <a:ea typeface="宋体" pitchFamily="2" charset="-122"/>
              </a:rPr>
              <a:t>plate.prt</a:t>
            </a:r>
            <a:r>
              <a:rPr lang="zh-CN" altLang="en-US" sz="2600" dirty="0">
                <a:latin typeface="Times New Roman" pitchFamily="18" charset="0"/>
                <a:ea typeface="宋体" pitchFamily="2" charset="-122"/>
              </a:rPr>
              <a:t>，将光标放置在 </a:t>
            </a:r>
            <a:r>
              <a:rPr lang="en-US" altLang="zh-CN" sz="2600" dirty="0">
                <a:latin typeface="Times New Roman" pitchFamily="18" charset="0"/>
                <a:ea typeface="宋体" pitchFamily="2" charset="-122"/>
              </a:rPr>
              <a:t>X </a:t>
            </a:r>
            <a:r>
              <a:rPr lang="zh-CN" altLang="en-US" sz="2600" dirty="0">
                <a:latin typeface="Times New Roman" pitchFamily="18" charset="0"/>
                <a:ea typeface="宋体" pitchFamily="2" charset="-122"/>
              </a:rPr>
              <a:t>轴上方，然后向左拖动，如图</a:t>
            </a:r>
            <a:r>
              <a:rPr lang="en-US" altLang="zh-CN" sz="2600" dirty="0">
                <a:latin typeface="Times New Roman" pitchFamily="18" charset="0"/>
                <a:ea typeface="宋体" pitchFamily="2" charset="-122"/>
              </a:rPr>
              <a:t>8-62</a:t>
            </a:r>
            <a:r>
              <a:rPr lang="zh-CN" altLang="en-US" sz="2600" dirty="0">
                <a:latin typeface="Times New Roman" pitchFamily="18" charset="0"/>
                <a:ea typeface="宋体" pitchFamily="2" charset="-122"/>
              </a:rPr>
              <a:t>所示。</a:t>
            </a:r>
          </a:p>
        </p:txBody>
      </p:sp>
      <p:sp>
        <p:nvSpPr>
          <p:cNvPr id="6" name="文本框 5">
            <a:extLst>
              <a:ext uri="{FF2B5EF4-FFF2-40B4-BE49-F238E27FC236}">
                <a16:creationId xmlns:a16="http://schemas.microsoft.com/office/drawing/2014/main" id="{63CCF217-D9A9-98BC-BAFE-E0DB6139E756}"/>
              </a:ext>
            </a:extLst>
          </p:cNvPr>
          <p:cNvSpPr txBox="1"/>
          <p:nvPr/>
        </p:nvSpPr>
        <p:spPr>
          <a:xfrm>
            <a:off x="1514903" y="5373204"/>
            <a:ext cx="3297762" cy="369332"/>
          </a:xfrm>
          <a:prstGeom prst="rect">
            <a:avLst/>
          </a:prstGeom>
          <a:noFill/>
        </p:spPr>
        <p:txBody>
          <a:bodyPr wrap="square">
            <a:spAutoFit/>
          </a:bodyPr>
          <a:lstStyle/>
          <a:p>
            <a:pPr algn="ctr"/>
            <a:r>
              <a:rPr lang="zh-CN" altLang="en-US" sz="1800" dirty="0">
                <a:effectLst/>
                <a:ea typeface="黑体" panose="02010609060101010101" pitchFamily="49" charset="-122"/>
                <a:cs typeface="Times New Roman" panose="02020603050405020304" pitchFamily="18" charset="0"/>
              </a:rPr>
              <a:t>图</a:t>
            </a:r>
            <a:r>
              <a:rPr lang="en-US" altLang="zh-CN" sz="1800" dirty="0">
                <a:effectLst/>
                <a:ea typeface="黑体" panose="02010609060101010101" pitchFamily="49" charset="-122"/>
                <a:cs typeface="Times New Roman" panose="02020603050405020304" pitchFamily="18" charset="0"/>
              </a:rPr>
              <a:t>8-61 </a:t>
            </a:r>
            <a:r>
              <a:rPr lang="zh-CN" altLang="en-US" sz="1800" dirty="0">
                <a:effectLst/>
                <a:ea typeface="黑体" panose="02010609060101010101" pitchFamily="49" charset="-122"/>
                <a:cs typeface="Times New Roman" panose="02020603050405020304" pitchFamily="18" charset="0"/>
              </a:rPr>
              <a:t>选择移动参考</a:t>
            </a:r>
            <a:endParaRPr lang="zh-CN" altLang="en-US" dirty="0"/>
          </a:p>
        </p:txBody>
      </p:sp>
      <p:pic>
        <p:nvPicPr>
          <p:cNvPr id="2" name="图片 1">
            <a:extLst>
              <a:ext uri="{FF2B5EF4-FFF2-40B4-BE49-F238E27FC236}">
                <a16:creationId xmlns:a16="http://schemas.microsoft.com/office/drawing/2014/main" id="{8C2F1BF4-9EC8-1687-BEF6-E2E6B8C0D6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54110" y="2684928"/>
            <a:ext cx="3658555" cy="2530009"/>
          </a:xfrm>
          <a:prstGeom prst="rect">
            <a:avLst/>
          </a:prstGeom>
        </p:spPr>
      </p:pic>
      <p:pic>
        <p:nvPicPr>
          <p:cNvPr id="5" name="图片 4">
            <a:extLst>
              <a:ext uri="{FF2B5EF4-FFF2-40B4-BE49-F238E27FC236}">
                <a16:creationId xmlns:a16="http://schemas.microsoft.com/office/drawing/2014/main" id="{F3516824-6A4C-899B-EDDD-66E26AF9B0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50671" y="2684928"/>
            <a:ext cx="3922079" cy="2494791"/>
          </a:xfrm>
          <a:prstGeom prst="rect">
            <a:avLst/>
          </a:prstGeom>
        </p:spPr>
      </p:pic>
      <p:sp>
        <p:nvSpPr>
          <p:cNvPr id="7" name="文本框 6">
            <a:extLst>
              <a:ext uri="{FF2B5EF4-FFF2-40B4-BE49-F238E27FC236}">
                <a16:creationId xmlns:a16="http://schemas.microsoft.com/office/drawing/2014/main" id="{4E310D1D-318A-047A-5E18-1CD8A0AE1BD4}"/>
              </a:ext>
            </a:extLst>
          </p:cNvPr>
          <p:cNvSpPr txBox="1"/>
          <p:nvPr/>
        </p:nvSpPr>
        <p:spPr>
          <a:xfrm>
            <a:off x="7274988" y="5373204"/>
            <a:ext cx="3297762" cy="369332"/>
          </a:xfrm>
          <a:prstGeom prst="rect">
            <a:avLst/>
          </a:prstGeom>
          <a:noFill/>
        </p:spPr>
        <p:txBody>
          <a:bodyPr wrap="square">
            <a:spAutoFit/>
          </a:bodyPr>
          <a:lstStyle/>
          <a:p>
            <a:pPr algn="ctr"/>
            <a:r>
              <a:rPr lang="zh-CN" altLang="en-US" sz="1800" dirty="0">
                <a:effectLst/>
                <a:ea typeface="黑体" panose="02010609060101010101" pitchFamily="49" charset="-122"/>
                <a:cs typeface="Times New Roman" panose="02020603050405020304" pitchFamily="18" charset="0"/>
              </a:rPr>
              <a:t>图</a:t>
            </a:r>
            <a:r>
              <a:rPr lang="en-US" altLang="zh-CN" sz="1800" dirty="0">
                <a:effectLst/>
                <a:ea typeface="黑体" panose="02010609060101010101" pitchFamily="49" charset="-122"/>
                <a:cs typeface="Times New Roman" panose="02020603050405020304" pitchFamily="18" charset="0"/>
              </a:rPr>
              <a:t>8-62</a:t>
            </a:r>
            <a:r>
              <a:rPr lang="zh-CN" altLang="en-US" sz="1800" dirty="0">
                <a:effectLst/>
                <a:ea typeface="黑体" panose="02010609060101010101" pitchFamily="49" charset="-122"/>
                <a:cs typeface="Times New Roman" panose="02020603050405020304" pitchFamily="18" charset="0"/>
              </a:rPr>
              <a:t>随子项移动</a:t>
            </a:r>
            <a:r>
              <a:rPr lang="en-US" altLang="zh-CN" sz="1800" dirty="0">
                <a:effectLst/>
                <a:ea typeface="黑体" panose="02010609060101010101" pitchFamily="49" charset="-122"/>
                <a:cs typeface="Times New Roman" panose="02020603050405020304" pitchFamily="18" charset="0"/>
              </a:rPr>
              <a:t>plate</a:t>
            </a:r>
            <a:r>
              <a:rPr lang="zh-CN" altLang="en-US" sz="1800" dirty="0">
                <a:effectLst/>
                <a:ea typeface="黑体" panose="02010609060101010101" pitchFamily="49" charset="-122"/>
                <a:cs typeface="Times New Roman" panose="02020603050405020304" pitchFamily="18" charset="0"/>
              </a:rPr>
              <a:t>和</a:t>
            </a:r>
            <a:r>
              <a:rPr lang="en-US" altLang="zh-CN" sz="1800" dirty="0">
                <a:effectLst/>
                <a:ea typeface="黑体" panose="02010609060101010101" pitchFamily="49" charset="-122"/>
                <a:cs typeface="Times New Roman" panose="02020603050405020304" pitchFamily="18" charset="0"/>
              </a:rPr>
              <a:t>bolt</a:t>
            </a:r>
            <a:endParaRPr lang="zh-CN" altLang="en-US" dirty="0"/>
          </a:p>
        </p:txBody>
      </p:sp>
    </p:spTree>
    <p:extLst>
      <p:ext uri="{BB962C8B-B14F-4D97-AF65-F5344CB8AC3E}">
        <p14:creationId xmlns:p14="http://schemas.microsoft.com/office/powerpoint/2010/main" val="330718268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87" y="525087"/>
            <a:ext cx="11178206" cy="1216743"/>
          </a:xfrm>
          <a:prstGeom prst="rect">
            <a:avLst/>
          </a:prstGeom>
          <a:noFill/>
        </p:spPr>
        <p:txBody>
          <a:bodyPr wrap="square" rtlCol="0">
            <a:spAutoFit/>
          </a:bodyPr>
          <a:lstStyle/>
          <a:p>
            <a:pPr indent="457200">
              <a:lnSpc>
                <a:spcPct val="150000"/>
              </a:lnSpc>
            </a:pPr>
            <a:r>
              <a:rPr lang="en-US" altLang="zh-CN" sz="2600" dirty="0">
                <a:latin typeface="Times New Roman" pitchFamily="18" charset="0"/>
                <a:ea typeface="宋体" pitchFamily="2" charset="-122"/>
              </a:rPr>
              <a:t>10</a:t>
            </a:r>
            <a:r>
              <a:rPr lang="zh-CN" altLang="en-US" sz="2600" dirty="0">
                <a:latin typeface="Times New Roman" pitchFamily="18" charset="0"/>
                <a:ea typeface="宋体" pitchFamily="2" charset="-122"/>
              </a:rPr>
              <a:t>）在图形区选取一个</a:t>
            </a:r>
            <a:r>
              <a:rPr lang="en-US" altLang="zh-CN" sz="2600" dirty="0" err="1">
                <a:latin typeface="Times New Roman" pitchFamily="18" charset="0"/>
                <a:ea typeface="宋体" pitchFamily="2" charset="-122"/>
              </a:rPr>
              <a:t>bolt.prt</a:t>
            </a:r>
            <a:r>
              <a:rPr lang="zh-CN" altLang="en-US" sz="2600" dirty="0">
                <a:latin typeface="Times New Roman" pitchFamily="18" charset="0"/>
                <a:ea typeface="宋体" pitchFamily="2" charset="-122"/>
              </a:rPr>
              <a:t>，按住 “</a:t>
            </a:r>
            <a:r>
              <a:rPr lang="en-US" altLang="zh-CN" sz="2600" dirty="0">
                <a:latin typeface="Times New Roman" pitchFamily="18" charset="0"/>
                <a:ea typeface="宋体" pitchFamily="2" charset="-122"/>
              </a:rPr>
              <a:t>CTRL”</a:t>
            </a:r>
            <a:r>
              <a:rPr lang="zh-CN" altLang="en-US" sz="2600" dirty="0">
                <a:latin typeface="Times New Roman" pitchFamily="18" charset="0"/>
                <a:ea typeface="宋体" pitchFamily="2" charset="-122"/>
              </a:rPr>
              <a:t>键并选取第二个</a:t>
            </a:r>
            <a:r>
              <a:rPr lang="en-US" altLang="zh-CN" sz="2600" dirty="0" err="1">
                <a:latin typeface="Times New Roman" pitchFamily="18" charset="0"/>
                <a:ea typeface="宋体" pitchFamily="2" charset="-122"/>
              </a:rPr>
              <a:t>bolt.prt</a:t>
            </a:r>
            <a:r>
              <a:rPr lang="zh-CN" altLang="en-US" sz="2600" dirty="0">
                <a:latin typeface="Times New Roman" pitchFamily="18" charset="0"/>
                <a:ea typeface="宋体" pitchFamily="2" charset="-122"/>
              </a:rPr>
              <a:t>成员，然后将光标放置在 </a:t>
            </a:r>
            <a:r>
              <a:rPr lang="en-US" altLang="zh-CN" sz="2600" dirty="0">
                <a:latin typeface="Times New Roman" pitchFamily="18" charset="0"/>
                <a:ea typeface="宋体" pitchFamily="2" charset="-122"/>
              </a:rPr>
              <a:t>X </a:t>
            </a:r>
            <a:r>
              <a:rPr lang="zh-CN" altLang="en-US" sz="2600" dirty="0">
                <a:latin typeface="Times New Roman" pitchFamily="18" charset="0"/>
                <a:ea typeface="宋体" pitchFamily="2" charset="-122"/>
              </a:rPr>
              <a:t>轴上方，然后向左拖动螺栓，如图</a:t>
            </a:r>
            <a:r>
              <a:rPr lang="en-US" altLang="zh-CN" sz="2600" dirty="0">
                <a:latin typeface="Times New Roman" pitchFamily="18" charset="0"/>
                <a:ea typeface="宋体" pitchFamily="2" charset="-122"/>
              </a:rPr>
              <a:t>8-63</a:t>
            </a:r>
            <a:r>
              <a:rPr lang="zh-CN" altLang="en-US" sz="2600" dirty="0">
                <a:latin typeface="Times New Roman" pitchFamily="18" charset="0"/>
                <a:ea typeface="宋体" pitchFamily="2" charset="-122"/>
              </a:rPr>
              <a:t>所示。</a:t>
            </a:r>
          </a:p>
        </p:txBody>
      </p:sp>
      <p:sp>
        <p:nvSpPr>
          <p:cNvPr id="6" name="文本框 5">
            <a:extLst>
              <a:ext uri="{FF2B5EF4-FFF2-40B4-BE49-F238E27FC236}">
                <a16:creationId xmlns:a16="http://schemas.microsoft.com/office/drawing/2014/main" id="{63CCF217-D9A9-98BC-BAFE-E0DB6139E756}"/>
              </a:ext>
            </a:extLst>
          </p:cNvPr>
          <p:cNvSpPr txBox="1"/>
          <p:nvPr/>
        </p:nvSpPr>
        <p:spPr>
          <a:xfrm>
            <a:off x="4269053" y="5776759"/>
            <a:ext cx="3653894" cy="369332"/>
          </a:xfrm>
          <a:prstGeom prst="rect">
            <a:avLst/>
          </a:prstGeom>
          <a:noFill/>
        </p:spPr>
        <p:txBody>
          <a:bodyPr wrap="square">
            <a:spAutoFit/>
          </a:bodyPr>
          <a:lstStyle/>
          <a:p>
            <a:pPr algn="ctr"/>
            <a:r>
              <a:rPr lang="zh-CN" altLang="en-US" sz="1800" dirty="0">
                <a:effectLst/>
                <a:ea typeface="黑体" panose="02010609060101010101" pitchFamily="49" charset="-122"/>
                <a:cs typeface="Times New Roman" panose="02020603050405020304" pitchFamily="18" charset="0"/>
              </a:rPr>
              <a:t>图</a:t>
            </a:r>
            <a:r>
              <a:rPr lang="en-US" altLang="zh-CN" sz="1800" dirty="0">
                <a:effectLst/>
                <a:ea typeface="黑体" panose="02010609060101010101" pitchFamily="49" charset="-122"/>
                <a:cs typeface="Times New Roman" panose="02020603050405020304" pitchFamily="18" charset="0"/>
              </a:rPr>
              <a:t>8-63 </a:t>
            </a:r>
            <a:r>
              <a:rPr lang="zh-CN" altLang="en-US" sz="1800" dirty="0">
                <a:effectLst/>
                <a:ea typeface="黑体" panose="02010609060101010101" pitchFamily="49" charset="-122"/>
                <a:cs typeface="Times New Roman" panose="02020603050405020304" pitchFamily="18" charset="0"/>
              </a:rPr>
              <a:t>移动与</a:t>
            </a:r>
            <a:r>
              <a:rPr lang="en-US" altLang="zh-CN" sz="1800" dirty="0">
                <a:effectLst/>
                <a:ea typeface="黑体" panose="02010609060101010101" pitchFamily="49" charset="-122"/>
                <a:cs typeface="Times New Roman" panose="02020603050405020304" pitchFamily="18" charset="0"/>
              </a:rPr>
              <a:t>plate</a:t>
            </a:r>
            <a:r>
              <a:rPr lang="zh-CN" altLang="en-US" sz="1800" dirty="0">
                <a:effectLst/>
                <a:ea typeface="黑体" panose="02010609060101010101" pitchFamily="49" charset="-122"/>
                <a:cs typeface="Times New Roman" panose="02020603050405020304" pitchFamily="18" charset="0"/>
              </a:rPr>
              <a:t>连接的</a:t>
            </a:r>
            <a:r>
              <a:rPr lang="en-US" altLang="zh-CN" sz="1800" dirty="0">
                <a:effectLst/>
                <a:ea typeface="黑体" panose="02010609060101010101" pitchFamily="49" charset="-122"/>
                <a:cs typeface="Times New Roman" panose="02020603050405020304" pitchFamily="18" charset="0"/>
              </a:rPr>
              <a:t>2</a:t>
            </a:r>
            <a:r>
              <a:rPr lang="zh-CN" altLang="en-US" sz="1800" dirty="0">
                <a:effectLst/>
                <a:ea typeface="黑体" panose="02010609060101010101" pitchFamily="49" charset="-122"/>
                <a:cs typeface="Times New Roman" panose="02020603050405020304" pitchFamily="18" charset="0"/>
              </a:rPr>
              <a:t>个</a:t>
            </a:r>
            <a:r>
              <a:rPr lang="en-US" altLang="zh-CN" sz="1800" dirty="0">
                <a:effectLst/>
                <a:ea typeface="黑体" panose="02010609060101010101" pitchFamily="49" charset="-122"/>
                <a:cs typeface="Times New Roman" panose="02020603050405020304" pitchFamily="18" charset="0"/>
              </a:rPr>
              <a:t>bolt</a:t>
            </a:r>
            <a:endParaRPr lang="zh-CN" altLang="en-US" dirty="0"/>
          </a:p>
        </p:txBody>
      </p:sp>
      <p:pic>
        <p:nvPicPr>
          <p:cNvPr id="2" name="图片 1">
            <a:extLst>
              <a:ext uri="{FF2B5EF4-FFF2-40B4-BE49-F238E27FC236}">
                <a16:creationId xmlns:a16="http://schemas.microsoft.com/office/drawing/2014/main" id="{70B938CF-B464-45A8-3982-554FEB8D33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29250" y="2243138"/>
            <a:ext cx="5533501" cy="3197661"/>
          </a:xfrm>
          <a:prstGeom prst="rect">
            <a:avLst/>
          </a:prstGeom>
        </p:spPr>
      </p:pic>
    </p:spTree>
    <p:extLst>
      <p:ext uri="{BB962C8B-B14F-4D97-AF65-F5344CB8AC3E}">
        <p14:creationId xmlns:p14="http://schemas.microsoft.com/office/powerpoint/2010/main" val="355183113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87" y="525087"/>
            <a:ext cx="11178206" cy="1216743"/>
          </a:xfrm>
          <a:prstGeom prst="rect">
            <a:avLst/>
          </a:prstGeom>
          <a:noFill/>
        </p:spPr>
        <p:txBody>
          <a:bodyPr wrap="square" rtlCol="0">
            <a:spAutoFit/>
          </a:bodyPr>
          <a:lstStyle/>
          <a:p>
            <a:pPr indent="457200">
              <a:lnSpc>
                <a:spcPct val="150000"/>
              </a:lnSpc>
            </a:pPr>
            <a:r>
              <a:rPr lang="en-US" altLang="zh-CN" sz="2600" dirty="0">
                <a:latin typeface="Times New Roman" pitchFamily="18" charset="0"/>
                <a:ea typeface="宋体" pitchFamily="2" charset="-122"/>
              </a:rPr>
              <a:t>11</a:t>
            </a:r>
            <a:r>
              <a:rPr lang="zh-CN" altLang="en-US" sz="2600" dirty="0">
                <a:latin typeface="Times New Roman" pitchFamily="18" charset="0"/>
                <a:ea typeface="宋体" pitchFamily="2" charset="-122"/>
              </a:rPr>
              <a:t>）在功能区的</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分解工具</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选项卡中单击“确定”按钮，返回到</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视图管理器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对话框，此时的</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分解</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选项卡如图</a:t>
            </a:r>
            <a:r>
              <a:rPr lang="en-US" altLang="zh-CN" sz="2600" dirty="0">
                <a:latin typeface="Times New Roman" pitchFamily="18" charset="0"/>
                <a:ea typeface="宋体" pitchFamily="2" charset="-122"/>
              </a:rPr>
              <a:t>8-64</a:t>
            </a:r>
            <a:r>
              <a:rPr lang="zh-CN" altLang="en-US" sz="2600" dirty="0">
                <a:latin typeface="Times New Roman" pitchFamily="18" charset="0"/>
                <a:ea typeface="宋体" pitchFamily="2" charset="-122"/>
              </a:rPr>
              <a:t>所示。</a:t>
            </a:r>
          </a:p>
        </p:txBody>
      </p:sp>
      <p:sp>
        <p:nvSpPr>
          <p:cNvPr id="6" name="文本框 5">
            <a:extLst>
              <a:ext uri="{FF2B5EF4-FFF2-40B4-BE49-F238E27FC236}">
                <a16:creationId xmlns:a16="http://schemas.microsoft.com/office/drawing/2014/main" id="{63CCF217-D9A9-98BC-BAFE-E0DB6139E756}"/>
              </a:ext>
            </a:extLst>
          </p:cNvPr>
          <p:cNvSpPr txBox="1"/>
          <p:nvPr/>
        </p:nvSpPr>
        <p:spPr>
          <a:xfrm>
            <a:off x="4269053" y="5891063"/>
            <a:ext cx="3653894" cy="369332"/>
          </a:xfrm>
          <a:prstGeom prst="rect">
            <a:avLst/>
          </a:prstGeom>
          <a:noFill/>
        </p:spPr>
        <p:txBody>
          <a:bodyPr wrap="square">
            <a:spAutoFit/>
          </a:bodyPr>
          <a:lstStyle/>
          <a:p>
            <a:pPr algn="ctr"/>
            <a:r>
              <a:rPr lang="zh-CN" altLang="en-US" sz="1800" dirty="0">
                <a:effectLst/>
                <a:ea typeface="黑体" panose="02010609060101010101" pitchFamily="49" charset="-122"/>
                <a:cs typeface="Times New Roman" panose="02020603050405020304" pitchFamily="18" charset="0"/>
              </a:rPr>
              <a:t>图</a:t>
            </a:r>
            <a:r>
              <a:rPr lang="en-US" altLang="zh-CN" sz="1800" dirty="0">
                <a:effectLst/>
                <a:ea typeface="黑体" panose="02010609060101010101" pitchFamily="49" charset="-122"/>
                <a:cs typeface="Times New Roman" panose="02020603050405020304" pitchFamily="18" charset="0"/>
              </a:rPr>
              <a:t>8-64 【</a:t>
            </a:r>
            <a:r>
              <a:rPr lang="zh-CN" altLang="en-US" sz="1800" dirty="0">
                <a:effectLst/>
                <a:ea typeface="黑体" panose="02010609060101010101" pitchFamily="49" charset="-122"/>
                <a:cs typeface="Times New Roman" panose="02020603050405020304" pitchFamily="18" charset="0"/>
              </a:rPr>
              <a:t>分解</a:t>
            </a:r>
            <a:r>
              <a:rPr lang="en-US" altLang="zh-CN" sz="1800" dirty="0">
                <a:effectLst/>
                <a:ea typeface="黑体" panose="02010609060101010101" pitchFamily="49" charset="-122"/>
                <a:cs typeface="Times New Roman" panose="02020603050405020304" pitchFamily="18" charset="0"/>
              </a:rPr>
              <a:t>】</a:t>
            </a:r>
            <a:r>
              <a:rPr lang="zh-CN" altLang="en-US" sz="1800" dirty="0">
                <a:effectLst/>
                <a:ea typeface="黑体" panose="02010609060101010101" pitchFamily="49" charset="-122"/>
                <a:cs typeface="Times New Roman" panose="02020603050405020304" pitchFamily="18" charset="0"/>
              </a:rPr>
              <a:t>选项卡的状态</a:t>
            </a:r>
            <a:endParaRPr lang="zh-CN" altLang="en-US" dirty="0"/>
          </a:p>
        </p:txBody>
      </p:sp>
      <p:pic>
        <p:nvPicPr>
          <p:cNvPr id="4" name="图片 3">
            <a:extLst>
              <a:ext uri="{FF2B5EF4-FFF2-40B4-BE49-F238E27FC236}">
                <a16:creationId xmlns:a16="http://schemas.microsoft.com/office/drawing/2014/main" id="{619EC3CA-ADE0-EFD2-7EDA-F45DC977D3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49325" y="1756117"/>
            <a:ext cx="2693351" cy="4069341"/>
          </a:xfrm>
          <a:prstGeom prst="rect">
            <a:avLst/>
          </a:prstGeom>
        </p:spPr>
      </p:pic>
    </p:spTree>
    <p:extLst>
      <p:ext uri="{BB962C8B-B14F-4D97-AF65-F5344CB8AC3E}">
        <p14:creationId xmlns:p14="http://schemas.microsoft.com/office/powerpoint/2010/main" val="331839675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87" y="525087"/>
            <a:ext cx="11178206" cy="1816908"/>
          </a:xfrm>
          <a:prstGeom prst="rect">
            <a:avLst/>
          </a:prstGeom>
          <a:noFill/>
        </p:spPr>
        <p:txBody>
          <a:bodyPr wrap="square" rtlCol="0">
            <a:spAutoFit/>
          </a:bodyPr>
          <a:lstStyle/>
          <a:p>
            <a:pPr indent="457200">
              <a:lnSpc>
                <a:spcPct val="150000"/>
              </a:lnSpc>
            </a:pPr>
            <a:r>
              <a:rPr lang="en-US" altLang="zh-CN" sz="2600" dirty="0">
                <a:latin typeface="Times New Roman" pitchFamily="18" charset="0"/>
                <a:ea typeface="宋体" pitchFamily="2" charset="-122"/>
              </a:rPr>
              <a:t>12</a:t>
            </a:r>
            <a:r>
              <a:rPr lang="zh-CN" altLang="en-US" sz="2600" dirty="0">
                <a:latin typeface="Times New Roman" pitchFamily="18" charset="0"/>
                <a:ea typeface="宋体" pitchFamily="2" charset="-122"/>
              </a:rPr>
              <a:t>）在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视图管理器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对话框中单击“</a:t>
            </a:r>
            <a:r>
              <a:rPr lang="en-US" altLang="zh-CN" sz="2600" dirty="0">
                <a:latin typeface="Times New Roman" pitchFamily="18" charset="0"/>
                <a:ea typeface="宋体" pitchFamily="2" charset="-122"/>
              </a:rPr>
              <a:t>&lt;&lt;</a:t>
            </a:r>
            <a:r>
              <a:rPr lang="zh-CN" altLang="en-US" sz="2600" dirty="0">
                <a:latin typeface="Times New Roman" pitchFamily="18" charset="0"/>
                <a:ea typeface="宋体" pitchFamily="2" charset="-122"/>
              </a:rPr>
              <a:t>列表”按钮，返回到分解视图列表。在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分解</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选项卡中单击“编辑”按钮，打开一个下拉菜单，从中选择“保存”命令，如图</a:t>
            </a:r>
            <a:r>
              <a:rPr lang="en-US" altLang="zh-CN" sz="2600" dirty="0">
                <a:latin typeface="Times New Roman" pitchFamily="18" charset="0"/>
                <a:ea typeface="宋体" pitchFamily="2" charset="-122"/>
              </a:rPr>
              <a:t>8-65</a:t>
            </a:r>
            <a:r>
              <a:rPr lang="zh-CN" altLang="en-US" sz="2600" dirty="0">
                <a:latin typeface="Times New Roman" pitchFamily="18" charset="0"/>
                <a:ea typeface="宋体" pitchFamily="2" charset="-122"/>
              </a:rPr>
              <a:t>所示。</a:t>
            </a:r>
          </a:p>
        </p:txBody>
      </p:sp>
      <p:sp>
        <p:nvSpPr>
          <p:cNvPr id="6" name="文本框 5">
            <a:extLst>
              <a:ext uri="{FF2B5EF4-FFF2-40B4-BE49-F238E27FC236}">
                <a16:creationId xmlns:a16="http://schemas.microsoft.com/office/drawing/2014/main" id="{63CCF217-D9A9-98BC-BAFE-E0DB6139E756}"/>
              </a:ext>
            </a:extLst>
          </p:cNvPr>
          <p:cNvSpPr txBox="1"/>
          <p:nvPr/>
        </p:nvSpPr>
        <p:spPr>
          <a:xfrm>
            <a:off x="4269053" y="6105383"/>
            <a:ext cx="3653894" cy="369332"/>
          </a:xfrm>
          <a:prstGeom prst="rect">
            <a:avLst/>
          </a:prstGeom>
          <a:noFill/>
        </p:spPr>
        <p:txBody>
          <a:bodyPr wrap="square">
            <a:spAutoFit/>
          </a:bodyPr>
          <a:lstStyle/>
          <a:p>
            <a:pPr algn="ctr"/>
            <a:r>
              <a:rPr lang="zh-CN" altLang="en-US" sz="1800" dirty="0">
                <a:effectLst/>
                <a:ea typeface="黑体" panose="02010609060101010101" pitchFamily="49" charset="-122"/>
                <a:cs typeface="Times New Roman" panose="02020603050405020304" pitchFamily="18" charset="0"/>
              </a:rPr>
              <a:t>图</a:t>
            </a:r>
            <a:r>
              <a:rPr lang="en-US" altLang="zh-CN" sz="1800" dirty="0">
                <a:effectLst/>
                <a:ea typeface="黑体" panose="02010609060101010101" pitchFamily="49" charset="-122"/>
                <a:cs typeface="Times New Roman" panose="02020603050405020304" pitchFamily="18" charset="0"/>
              </a:rPr>
              <a:t>8-65 </a:t>
            </a:r>
            <a:r>
              <a:rPr lang="zh-CN" altLang="en-US" sz="1800" dirty="0">
                <a:effectLst/>
                <a:ea typeface="黑体" panose="02010609060101010101" pitchFamily="49" charset="-122"/>
                <a:cs typeface="Times New Roman" panose="02020603050405020304" pitchFamily="18" charset="0"/>
              </a:rPr>
              <a:t>保存分解视图</a:t>
            </a:r>
            <a:endParaRPr lang="zh-CN" altLang="en-US" dirty="0"/>
          </a:p>
        </p:txBody>
      </p:sp>
      <p:pic>
        <p:nvPicPr>
          <p:cNvPr id="2" name="图片 1">
            <a:extLst>
              <a:ext uri="{FF2B5EF4-FFF2-40B4-BE49-F238E27FC236}">
                <a16:creationId xmlns:a16="http://schemas.microsoft.com/office/drawing/2014/main" id="{12F9E481-BC07-A806-B0C4-4B83431E80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11237" y="2250668"/>
            <a:ext cx="2569527" cy="3854715"/>
          </a:xfrm>
          <a:prstGeom prst="rect">
            <a:avLst/>
          </a:prstGeom>
        </p:spPr>
      </p:pic>
    </p:spTree>
    <p:extLst>
      <p:ext uri="{BB962C8B-B14F-4D97-AF65-F5344CB8AC3E}">
        <p14:creationId xmlns:p14="http://schemas.microsoft.com/office/powerpoint/2010/main" val="314705576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87" y="525087"/>
            <a:ext cx="11178206" cy="1816908"/>
          </a:xfrm>
          <a:prstGeom prst="rect">
            <a:avLst/>
          </a:prstGeom>
          <a:noFill/>
        </p:spPr>
        <p:txBody>
          <a:bodyPr wrap="square" rtlCol="0">
            <a:spAutoFit/>
          </a:bodyPr>
          <a:lstStyle/>
          <a:p>
            <a:pPr indent="457200">
              <a:lnSpc>
                <a:spcPct val="150000"/>
              </a:lnSpc>
            </a:pPr>
            <a:r>
              <a:rPr lang="en-US" altLang="zh-CN" sz="2600" dirty="0">
                <a:latin typeface="Times New Roman" pitchFamily="18" charset="0"/>
                <a:ea typeface="宋体" pitchFamily="2" charset="-122"/>
              </a:rPr>
              <a:t>13</a:t>
            </a:r>
            <a:r>
              <a:rPr lang="zh-CN" altLang="en-US" sz="2600" dirty="0">
                <a:latin typeface="Times New Roman" pitchFamily="18" charset="0"/>
                <a:ea typeface="宋体" pitchFamily="2" charset="-122"/>
              </a:rPr>
              <a:t>）系统弹出</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保存显示元素</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对话框，默认勾选“分解”复选框，然后单击“确定”按钮，如图</a:t>
            </a:r>
            <a:r>
              <a:rPr lang="en-US" altLang="zh-CN" sz="2600" dirty="0">
                <a:latin typeface="Times New Roman" pitchFamily="18" charset="0"/>
                <a:ea typeface="宋体" pitchFamily="2" charset="-122"/>
              </a:rPr>
              <a:t>8-66</a:t>
            </a:r>
            <a:r>
              <a:rPr lang="zh-CN" altLang="en-US" sz="2600" dirty="0">
                <a:latin typeface="Times New Roman" pitchFamily="18" charset="0"/>
                <a:ea typeface="宋体" pitchFamily="2" charset="-122"/>
              </a:rPr>
              <a:t>所示。最后在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视图管理器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对话框中单击“关闭”按钮。</a:t>
            </a:r>
          </a:p>
        </p:txBody>
      </p:sp>
      <p:sp>
        <p:nvSpPr>
          <p:cNvPr id="6" name="文本框 5">
            <a:extLst>
              <a:ext uri="{FF2B5EF4-FFF2-40B4-BE49-F238E27FC236}">
                <a16:creationId xmlns:a16="http://schemas.microsoft.com/office/drawing/2014/main" id="{63CCF217-D9A9-98BC-BAFE-E0DB6139E756}"/>
              </a:ext>
            </a:extLst>
          </p:cNvPr>
          <p:cNvSpPr txBox="1"/>
          <p:nvPr/>
        </p:nvSpPr>
        <p:spPr>
          <a:xfrm>
            <a:off x="4269053" y="6005367"/>
            <a:ext cx="3653894" cy="369332"/>
          </a:xfrm>
          <a:prstGeom prst="rect">
            <a:avLst/>
          </a:prstGeom>
          <a:noFill/>
        </p:spPr>
        <p:txBody>
          <a:bodyPr wrap="square">
            <a:spAutoFit/>
          </a:bodyPr>
          <a:lstStyle/>
          <a:p>
            <a:pPr algn="ctr"/>
            <a:r>
              <a:rPr lang="zh-CN" altLang="en-US" sz="1800" dirty="0">
                <a:effectLst/>
                <a:ea typeface="黑体" panose="02010609060101010101" pitchFamily="49" charset="-122"/>
                <a:cs typeface="Times New Roman" panose="02020603050405020304" pitchFamily="18" charset="0"/>
              </a:rPr>
              <a:t>图</a:t>
            </a:r>
            <a:r>
              <a:rPr lang="en-US" altLang="zh-CN" sz="1800" dirty="0">
                <a:effectLst/>
                <a:ea typeface="黑体" panose="02010609060101010101" pitchFamily="49" charset="-122"/>
                <a:cs typeface="Times New Roman" panose="02020603050405020304" pitchFamily="18" charset="0"/>
              </a:rPr>
              <a:t>8-66 【</a:t>
            </a:r>
            <a:r>
              <a:rPr lang="zh-CN" altLang="en-US" sz="1800" dirty="0">
                <a:effectLst/>
                <a:ea typeface="黑体" panose="02010609060101010101" pitchFamily="49" charset="-122"/>
                <a:cs typeface="Times New Roman" panose="02020603050405020304" pitchFamily="18" charset="0"/>
              </a:rPr>
              <a:t>保存显示元素</a:t>
            </a:r>
            <a:r>
              <a:rPr lang="en-US" altLang="zh-CN" sz="1800" dirty="0">
                <a:effectLst/>
                <a:ea typeface="黑体" panose="02010609060101010101" pitchFamily="49" charset="-122"/>
                <a:cs typeface="Times New Roman" panose="02020603050405020304" pitchFamily="18" charset="0"/>
              </a:rPr>
              <a:t>】</a:t>
            </a:r>
            <a:r>
              <a:rPr lang="zh-CN" altLang="en-US" sz="1800" dirty="0">
                <a:effectLst/>
                <a:ea typeface="黑体" panose="02010609060101010101" pitchFamily="49" charset="-122"/>
                <a:cs typeface="Times New Roman" panose="02020603050405020304" pitchFamily="18" charset="0"/>
              </a:rPr>
              <a:t>对话框</a:t>
            </a:r>
            <a:endParaRPr lang="zh-CN" altLang="en-US" dirty="0"/>
          </a:p>
        </p:txBody>
      </p:sp>
      <p:pic>
        <p:nvPicPr>
          <p:cNvPr id="4" name="图片 3">
            <a:extLst>
              <a:ext uri="{FF2B5EF4-FFF2-40B4-BE49-F238E27FC236}">
                <a16:creationId xmlns:a16="http://schemas.microsoft.com/office/drawing/2014/main" id="{9D72D027-F1D5-3267-1355-7857A134D1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39749" y="2094547"/>
            <a:ext cx="3512502" cy="3720526"/>
          </a:xfrm>
          <a:prstGeom prst="rect">
            <a:avLst/>
          </a:prstGeom>
        </p:spPr>
      </p:pic>
    </p:spTree>
    <p:extLst>
      <p:ext uri="{BB962C8B-B14F-4D97-AF65-F5344CB8AC3E}">
        <p14:creationId xmlns:p14="http://schemas.microsoft.com/office/powerpoint/2010/main" val="394477151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a:extLst>
              <a:ext uri="{FF2B5EF4-FFF2-40B4-BE49-F238E27FC236}">
                <a16:creationId xmlns:a16="http://schemas.microsoft.com/office/drawing/2014/main" id="{08776875-37A0-766E-29E2-DA2C220804F5}"/>
              </a:ext>
            </a:extLst>
          </p:cNvPr>
          <p:cNvSpPr txBox="1"/>
          <p:nvPr/>
        </p:nvSpPr>
        <p:spPr>
          <a:xfrm>
            <a:off x="457203" y="436622"/>
            <a:ext cx="11178206" cy="5417893"/>
          </a:xfrm>
          <a:prstGeom prst="rect">
            <a:avLst/>
          </a:prstGeom>
          <a:noFill/>
        </p:spPr>
        <p:txBody>
          <a:bodyPr wrap="square" rtlCol="0">
            <a:spAutoFit/>
          </a:bodyPr>
          <a:lstStyle/>
          <a:p>
            <a:pPr indent="457200">
              <a:lnSpc>
                <a:spcPct val="150000"/>
              </a:lnSpc>
            </a:pPr>
            <a:r>
              <a:rPr lang="zh-CN" altLang="en-US" sz="2600" b="1" dirty="0">
                <a:latin typeface="Times New Roman" pitchFamily="18" charset="0"/>
                <a:ea typeface="宋体" pitchFamily="2" charset="-122"/>
              </a:rPr>
              <a:t>创建装配剖面视图</a:t>
            </a:r>
            <a:endParaRPr lang="en-US" altLang="zh-CN" sz="2600" b="1" dirty="0">
              <a:latin typeface="Times New Roman" pitchFamily="18" charset="0"/>
              <a:ea typeface="宋体" pitchFamily="2" charset="-122"/>
            </a:endParaRPr>
          </a:p>
          <a:p>
            <a:pPr indent="457200">
              <a:lnSpc>
                <a:spcPct val="150000"/>
              </a:lnSpc>
            </a:pPr>
            <a:r>
              <a:rPr lang="zh-CN" altLang="en-US" sz="2600" dirty="0">
                <a:latin typeface="Times New Roman" pitchFamily="18" charset="0"/>
                <a:ea typeface="宋体" pitchFamily="2" charset="-122"/>
              </a:rPr>
              <a:t>在工业产品设计中，有时候要通过设置剖面来观察装配体中各元件间的结构关系，以配合分析产品结构装配的合理性，以及研究产品内部结构的细节问题等。在</a:t>
            </a:r>
            <a:r>
              <a:rPr lang="en-US" altLang="zh-CN" sz="2600" dirty="0">
                <a:latin typeface="Times New Roman" pitchFamily="18" charset="0"/>
                <a:ea typeface="宋体" pitchFamily="2" charset="-122"/>
              </a:rPr>
              <a:t>Creo Parametric 8.0</a:t>
            </a:r>
            <a:r>
              <a:rPr lang="zh-CN" altLang="en-US" sz="2600" dirty="0">
                <a:latin typeface="Times New Roman" pitchFamily="18" charset="0"/>
                <a:ea typeface="宋体" pitchFamily="2" charset="-122"/>
              </a:rPr>
              <a:t>中，有</a:t>
            </a:r>
            <a:r>
              <a:rPr lang="en-US" altLang="zh-CN" sz="2600" dirty="0">
                <a:latin typeface="Times New Roman" pitchFamily="18" charset="0"/>
                <a:ea typeface="宋体" pitchFamily="2" charset="-122"/>
              </a:rPr>
              <a:t>2</a:t>
            </a:r>
            <a:r>
              <a:rPr lang="zh-CN" altLang="en-US" sz="2600" dirty="0">
                <a:latin typeface="Times New Roman" pitchFamily="18" charset="0"/>
                <a:ea typeface="宋体" pitchFamily="2" charset="-122"/>
              </a:rPr>
              <a:t>种方式创建剖面：</a:t>
            </a:r>
          </a:p>
          <a:p>
            <a:pPr indent="457200">
              <a:lnSpc>
                <a:spcPct val="150000"/>
              </a:lnSpc>
            </a:pPr>
            <a:r>
              <a:rPr lang="zh-CN" altLang="en-US" sz="2600" dirty="0">
                <a:latin typeface="Wingdings" panose="05000000000000000000" pitchFamily="2" charset="2"/>
                <a:ea typeface="宋体" pitchFamily="2" charset="-122"/>
              </a:rPr>
              <a:t></a:t>
            </a:r>
            <a:r>
              <a:rPr lang="zh-CN" altLang="en-US" sz="2600" dirty="0">
                <a:latin typeface="Times New Roman" pitchFamily="18" charset="0"/>
                <a:ea typeface="宋体" pitchFamily="2" charset="-122"/>
              </a:rPr>
              <a:t>	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视图管理器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对话框的</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截面</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选项卡中创建剖面。</a:t>
            </a:r>
          </a:p>
          <a:p>
            <a:pPr indent="457200">
              <a:lnSpc>
                <a:spcPct val="150000"/>
              </a:lnSpc>
            </a:pPr>
            <a:r>
              <a:rPr lang="zh-CN" altLang="en-US" sz="2600" dirty="0">
                <a:latin typeface="Wingdings" panose="05000000000000000000" pitchFamily="2" charset="2"/>
                <a:ea typeface="宋体" pitchFamily="2" charset="-122"/>
              </a:rPr>
              <a:t></a:t>
            </a:r>
            <a:r>
              <a:rPr lang="zh-CN" altLang="en-US" sz="2600" dirty="0">
                <a:latin typeface="Times New Roman" pitchFamily="18" charset="0"/>
                <a:ea typeface="宋体" pitchFamily="2" charset="-122"/>
              </a:rPr>
              <a:t>	使用“截面”工具按钮。</a:t>
            </a:r>
          </a:p>
          <a:p>
            <a:pPr indent="457200">
              <a:lnSpc>
                <a:spcPct val="150000"/>
              </a:lnSpc>
            </a:pPr>
            <a:r>
              <a:rPr lang="zh-CN" altLang="en-US" sz="2600" dirty="0">
                <a:latin typeface="Times New Roman" pitchFamily="18" charset="0"/>
                <a:ea typeface="宋体" pitchFamily="2" charset="-122"/>
              </a:rPr>
              <a:t>使用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视图管理器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对话框的</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截面</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选项卡可以创建包括“平面”、“</a:t>
            </a:r>
            <a:r>
              <a:rPr lang="en-US" altLang="zh-CN" sz="2600" dirty="0">
                <a:latin typeface="Times New Roman" pitchFamily="18" charset="0"/>
                <a:ea typeface="宋体" pitchFamily="2" charset="-122"/>
              </a:rPr>
              <a:t>X</a:t>
            </a:r>
            <a:r>
              <a:rPr lang="zh-CN" altLang="en-US" sz="2600" dirty="0">
                <a:latin typeface="Times New Roman" pitchFamily="18" charset="0"/>
                <a:ea typeface="宋体" pitchFamily="2" charset="-122"/>
              </a:rPr>
              <a:t>方向”、“</a:t>
            </a:r>
            <a:r>
              <a:rPr lang="en-US" altLang="zh-CN" sz="2600" dirty="0">
                <a:latin typeface="Times New Roman" pitchFamily="18" charset="0"/>
                <a:ea typeface="宋体" pitchFamily="2" charset="-122"/>
              </a:rPr>
              <a:t>Y</a:t>
            </a:r>
            <a:r>
              <a:rPr lang="zh-CN" altLang="en-US" sz="2600" dirty="0">
                <a:latin typeface="Times New Roman" pitchFamily="18" charset="0"/>
                <a:ea typeface="宋体" pitchFamily="2" charset="-122"/>
              </a:rPr>
              <a:t>方向、“</a:t>
            </a:r>
            <a:r>
              <a:rPr lang="en-US" altLang="zh-CN" sz="2600" dirty="0">
                <a:latin typeface="Times New Roman" pitchFamily="18" charset="0"/>
                <a:ea typeface="宋体" pitchFamily="2" charset="-122"/>
              </a:rPr>
              <a:t>Z</a:t>
            </a:r>
            <a:r>
              <a:rPr lang="zh-CN" altLang="en-US" sz="2600" dirty="0">
                <a:latin typeface="Times New Roman" pitchFamily="18" charset="0"/>
                <a:ea typeface="宋体" pitchFamily="2" charset="-122"/>
              </a:rPr>
              <a:t>方向”、“偏移”和“区域”</a:t>
            </a:r>
            <a:r>
              <a:rPr lang="en-US" altLang="zh-CN" sz="2600" dirty="0">
                <a:latin typeface="Times New Roman" pitchFamily="18" charset="0"/>
                <a:ea typeface="宋体" pitchFamily="2" charset="-122"/>
              </a:rPr>
              <a:t>6</a:t>
            </a:r>
            <a:r>
              <a:rPr lang="zh-CN" altLang="en-US" sz="2600" dirty="0">
                <a:latin typeface="Times New Roman" pitchFamily="18" charset="0"/>
                <a:ea typeface="宋体" pitchFamily="2" charset="-122"/>
              </a:rPr>
              <a:t>种类型的截面，如表</a:t>
            </a:r>
            <a:r>
              <a:rPr lang="en-US" altLang="zh-CN" sz="2600" dirty="0">
                <a:latin typeface="Times New Roman" pitchFamily="18" charset="0"/>
                <a:ea typeface="宋体" pitchFamily="2" charset="-122"/>
              </a:rPr>
              <a:t>8-3</a:t>
            </a:r>
            <a:r>
              <a:rPr lang="zh-CN" altLang="en-US" sz="2600" dirty="0">
                <a:latin typeface="Times New Roman" pitchFamily="18" charset="0"/>
                <a:ea typeface="宋体" pitchFamily="2" charset="-122"/>
              </a:rPr>
              <a:t>所示。</a:t>
            </a:r>
          </a:p>
        </p:txBody>
      </p:sp>
    </p:spTree>
    <p:extLst>
      <p:ext uri="{BB962C8B-B14F-4D97-AF65-F5344CB8AC3E}">
        <p14:creationId xmlns:p14="http://schemas.microsoft.com/office/powerpoint/2010/main" val="332253883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63CCF217-D9A9-98BC-BAFE-E0DB6139E756}"/>
              </a:ext>
            </a:extLst>
          </p:cNvPr>
          <p:cNvSpPr txBox="1"/>
          <p:nvPr/>
        </p:nvSpPr>
        <p:spPr>
          <a:xfrm>
            <a:off x="4269053" y="818990"/>
            <a:ext cx="3653894" cy="369332"/>
          </a:xfrm>
          <a:prstGeom prst="rect">
            <a:avLst/>
          </a:prstGeom>
          <a:noFill/>
        </p:spPr>
        <p:txBody>
          <a:bodyPr wrap="square">
            <a:spAutoFit/>
          </a:bodyPr>
          <a:lstStyle/>
          <a:p>
            <a:pPr algn="ctr"/>
            <a:r>
              <a:rPr lang="zh-CN" altLang="en-US" sz="1800" dirty="0">
                <a:effectLst/>
                <a:ea typeface="黑体" panose="02010609060101010101" pitchFamily="49" charset="-122"/>
                <a:cs typeface="Times New Roman" panose="02020603050405020304" pitchFamily="18" charset="0"/>
              </a:rPr>
              <a:t>表</a:t>
            </a:r>
            <a:r>
              <a:rPr lang="en-US" altLang="zh-CN" sz="1800" dirty="0">
                <a:effectLst/>
                <a:ea typeface="黑体" panose="02010609060101010101" pitchFamily="49" charset="-122"/>
                <a:cs typeface="Times New Roman" panose="02020603050405020304" pitchFamily="18" charset="0"/>
              </a:rPr>
              <a:t>8-3</a:t>
            </a:r>
            <a:r>
              <a:rPr lang="zh-CN" altLang="en-US" sz="1800" dirty="0">
                <a:effectLst/>
                <a:ea typeface="黑体" panose="02010609060101010101" pitchFamily="49" charset="-122"/>
                <a:cs typeface="Times New Roman" panose="02020603050405020304" pitchFamily="18" charset="0"/>
              </a:rPr>
              <a:t>截面类型</a:t>
            </a:r>
            <a:endParaRPr lang="zh-CN" altLang="en-US" dirty="0"/>
          </a:p>
        </p:txBody>
      </p:sp>
      <p:graphicFrame>
        <p:nvGraphicFramePr>
          <p:cNvPr id="2" name="表格 1">
            <a:extLst>
              <a:ext uri="{FF2B5EF4-FFF2-40B4-BE49-F238E27FC236}">
                <a16:creationId xmlns:a16="http://schemas.microsoft.com/office/drawing/2014/main" id="{27628FD8-C23D-81DD-1BD4-A62BDC22E130}"/>
              </a:ext>
            </a:extLst>
          </p:cNvPr>
          <p:cNvGraphicFramePr>
            <a:graphicFrameLocks noGrp="1"/>
          </p:cNvGraphicFramePr>
          <p:nvPr>
            <p:extLst>
              <p:ext uri="{D42A27DB-BD31-4B8C-83A1-F6EECF244321}">
                <p14:modId xmlns:p14="http://schemas.microsoft.com/office/powerpoint/2010/main" val="1370514434"/>
              </p:ext>
            </p:extLst>
          </p:nvPr>
        </p:nvGraphicFramePr>
        <p:xfrm>
          <a:off x="2609850" y="1274044"/>
          <a:ext cx="6972301" cy="5040000"/>
        </p:xfrm>
        <a:graphic>
          <a:graphicData uri="http://schemas.openxmlformats.org/drawingml/2006/table">
            <a:tbl>
              <a:tblPr firstRow="1" firstCol="1" bandRow="1"/>
              <a:tblGrid>
                <a:gridCol w="1014413">
                  <a:extLst>
                    <a:ext uri="{9D8B030D-6E8A-4147-A177-3AD203B41FA5}">
                      <a16:colId xmlns:a16="http://schemas.microsoft.com/office/drawing/2014/main" val="185199463"/>
                    </a:ext>
                  </a:extLst>
                </a:gridCol>
                <a:gridCol w="1219887">
                  <a:extLst>
                    <a:ext uri="{9D8B030D-6E8A-4147-A177-3AD203B41FA5}">
                      <a16:colId xmlns:a16="http://schemas.microsoft.com/office/drawing/2014/main" val="1367318318"/>
                    </a:ext>
                  </a:extLst>
                </a:gridCol>
                <a:gridCol w="4738001">
                  <a:extLst>
                    <a:ext uri="{9D8B030D-6E8A-4147-A177-3AD203B41FA5}">
                      <a16:colId xmlns:a16="http://schemas.microsoft.com/office/drawing/2014/main" val="2499447747"/>
                    </a:ext>
                  </a:extLst>
                </a:gridCol>
              </a:tblGrid>
              <a:tr h="720000">
                <a:tc>
                  <a:txBody>
                    <a:bodyPr/>
                    <a:lstStyle/>
                    <a:p>
                      <a:pPr algn="ctr" fontAlgn="ctr"/>
                      <a:r>
                        <a:rPr lang="zh-CN" sz="2000" b="1" kern="100" dirty="0">
                          <a:effectLst/>
                          <a:latin typeface="等线" panose="02010600030101010101" pitchFamily="2" charset="-122"/>
                          <a:ea typeface="宋体" panose="02010600030101010101" pitchFamily="2" charset="-122"/>
                          <a:cs typeface="Times New Roman" panose="02020603050405020304" pitchFamily="18" charset="0"/>
                        </a:rPr>
                        <a:t>序号</a:t>
                      </a:r>
                      <a:endParaRPr lang="zh-CN" sz="20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zh-CN" sz="2000" b="1" kern="100" dirty="0">
                          <a:effectLst/>
                          <a:latin typeface="等线" panose="02010600030101010101" pitchFamily="2" charset="-122"/>
                          <a:ea typeface="宋体" panose="02010600030101010101" pitchFamily="2" charset="-122"/>
                          <a:cs typeface="Times New Roman" panose="02020603050405020304" pitchFamily="18" charset="0"/>
                        </a:rPr>
                        <a:t>截面类型</a:t>
                      </a:r>
                      <a:endParaRPr lang="zh-CN" sz="20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zh-CN" sz="2000" b="1" kern="100" dirty="0">
                          <a:effectLst/>
                          <a:latin typeface="等线" panose="02010600030101010101" pitchFamily="2" charset="-122"/>
                          <a:ea typeface="宋体" panose="02010600030101010101" pitchFamily="2" charset="-122"/>
                          <a:cs typeface="Times New Roman" panose="02020603050405020304" pitchFamily="18" charset="0"/>
                        </a:rPr>
                        <a:t>说明</a:t>
                      </a:r>
                      <a:endParaRPr lang="zh-CN" sz="20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935368"/>
                  </a:ext>
                </a:extLst>
              </a:tr>
              <a:tr h="720000">
                <a:tc>
                  <a:txBody>
                    <a:bodyPr/>
                    <a:lstStyle/>
                    <a:p>
                      <a:pPr algn="ctr" fontAlgn="ctr"/>
                      <a:r>
                        <a:rPr lang="en-US" sz="1800" kern="100" dirty="0">
                          <a:effectLst/>
                          <a:latin typeface="宋体" panose="02010600030101010101" pitchFamily="2" charset="-122"/>
                          <a:ea typeface="等线" panose="02010600030101010101" pitchFamily="2" charset="-122"/>
                          <a:cs typeface="Times New Roman" panose="02020603050405020304" pitchFamily="18" charset="0"/>
                        </a:rPr>
                        <a:t>1</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zh-CN" sz="1800" kern="100" dirty="0">
                          <a:effectLst/>
                          <a:latin typeface="等线" panose="02010600030101010101" pitchFamily="2" charset="-122"/>
                          <a:ea typeface="宋体" panose="02010600030101010101" pitchFamily="2" charset="-122"/>
                          <a:cs typeface="Times New Roman" panose="02020603050405020304" pitchFamily="18" charset="0"/>
                        </a:rPr>
                        <a:t>平面</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zh-CN" sz="1800" kern="100" dirty="0">
                          <a:effectLst/>
                          <a:latin typeface="等线" panose="02010600030101010101" pitchFamily="2" charset="-122"/>
                          <a:ea typeface="宋体" panose="02010600030101010101" pitchFamily="2" charset="-122"/>
                          <a:cs typeface="Times New Roman" panose="02020603050405020304" pitchFamily="18" charset="0"/>
                        </a:rPr>
                        <a:t>通过选定的参考平面、坐标系或平整曲面来创建横截面。</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84321551"/>
                  </a:ext>
                </a:extLst>
              </a:tr>
              <a:tr h="720000">
                <a:tc>
                  <a:txBody>
                    <a:bodyPr/>
                    <a:lstStyle/>
                    <a:p>
                      <a:pPr algn="ctr" fontAlgn="ctr"/>
                      <a:r>
                        <a:rPr lang="en-US" sz="1800" kern="100">
                          <a:effectLst/>
                          <a:latin typeface="宋体" panose="02010600030101010101" pitchFamily="2" charset="-122"/>
                          <a:ea typeface="等线" panose="02010600030101010101" pitchFamily="2" charset="-122"/>
                          <a:cs typeface="Times New Roman" panose="02020603050405020304" pitchFamily="18" charset="0"/>
                        </a:rPr>
                        <a:t>2</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800" kern="100" dirty="0">
                          <a:effectLst/>
                          <a:latin typeface="宋体" panose="02010600030101010101" pitchFamily="2" charset="-122"/>
                          <a:ea typeface="等线" panose="02010600030101010101" pitchFamily="2" charset="-122"/>
                          <a:cs typeface="Times New Roman" panose="02020603050405020304" pitchFamily="18" charset="0"/>
                        </a:rPr>
                        <a:t>X</a:t>
                      </a:r>
                      <a:r>
                        <a:rPr lang="zh-CN" sz="1800" kern="100" dirty="0">
                          <a:effectLst/>
                          <a:latin typeface="等线" panose="02010600030101010101" pitchFamily="2" charset="-122"/>
                          <a:ea typeface="宋体" panose="02010600030101010101" pitchFamily="2" charset="-122"/>
                          <a:cs typeface="Times New Roman" panose="02020603050405020304" pitchFamily="18" charset="0"/>
                        </a:rPr>
                        <a:t>方向</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zh-CN" sz="1800" kern="100" dirty="0">
                          <a:effectLst/>
                          <a:latin typeface="等线" panose="02010600030101010101" pitchFamily="2" charset="-122"/>
                          <a:ea typeface="宋体" panose="02010600030101010101" pitchFamily="2" charset="-122"/>
                          <a:cs typeface="Times New Roman" panose="02020603050405020304" pitchFamily="18" charset="0"/>
                        </a:rPr>
                        <a:t>通过参考默认坐标系的</a:t>
                      </a:r>
                      <a:r>
                        <a:rPr lang="en-US" sz="1800" kern="100" dirty="0">
                          <a:effectLst/>
                          <a:latin typeface="等线" panose="02010600030101010101" pitchFamily="2" charset="-122"/>
                          <a:ea typeface="宋体" panose="02010600030101010101" pitchFamily="2" charset="-122"/>
                          <a:cs typeface="Times New Roman" panose="02020603050405020304" pitchFamily="18" charset="0"/>
                        </a:rPr>
                        <a:t>X</a:t>
                      </a:r>
                      <a:r>
                        <a:rPr lang="zh-CN" sz="1800" kern="100" dirty="0">
                          <a:effectLst/>
                          <a:latin typeface="等线" panose="02010600030101010101" pitchFamily="2" charset="-122"/>
                          <a:ea typeface="宋体" panose="02010600030101010101" pitchFamily="2" charset="-122"/>
                          <a:cs typeface="Times New Roman" panose="02020603050405020304" pitchFamily="18" charset="0"/>
                        </a:rPr>
                        <a:t>轴创建平面横截面。</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95388313"/>
                  </a:ext>
                </a:extLst>
              </a:tr>
              <a:tr h="720000">
                <a:tc>
                  <a:txBody>
                    <a:bodyPr/>
                    <a:lstStyle/>
                    <a:p>
                      <a:pPr algn="ctr" fontAlgn="ctr"/>
                      <a:r>
                        <a:rPr lang="en-US" sz="1800" kern="100">
                          <a:effectLst/>
                          <a:latin typeface="宋体" panose="02010600030101010101" pitchFamily="2" charset="-122"/>
                          <a:ea typeface="等线" panose="02010600030101010101" pitchFamily="2" charset="-122"/>
                          <a:cs typeface="Times New Roman" panose="02020603050405020304" pitchFamily="18" charset="0"/>
                        </a:rPr>
                        <a:t>3</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800" kern="100">
                          <a:effectLst/>
                          <a:latin typeface="宋体" panose="02010600030101010101" pitchFamily="2" charset="-122"/>
                          <a:ea typeface="等线" panose="02010600030101010101" pitchFamily="2" charset="-122"/>
                          <a:cs typeface="Times New Roman" panose="02020603050405020304" pitchFamily="18" charset="0"/>
                        </a:rPr>
                        <a:t>Y</a:t>
                      </a:r>
                      <a:r>
                        <a:rPr lang="zh-CN" sz="1800" kern="100">
                          <a:effectLst/>
                          <a:latin typeface="等线" panose="02010600030101010101" pitchFamily="2" charset="-122"/>
                          <a:ea typeface="宋体" panose="02010600030101010101" pitchFamily="2" charset="-122"/>
                          <a:cs typeface="Times New Roman" panose="02020603050405020304" pitchFamily="18" charset="0"/>
                        </a:rPr>
                        <a:t>方向</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zh-CN" sz="1800" kern="100" dirty="0">
                          <a:effectLst/>
                          <a:latin typeface="等线" panose="02010600030101010101" pitchFamily="2" charset="-122"/>
                          <a:ea typeface="宋体" panose="02010600030101010101" pitchFamily="2" charset="-122"/>
                          <a:cs typeface="Times New Roman" panose="02020603050405020304" pitchFamily="18" charset="0"/>
                        </a:rPr>
                        <a:t>通过参考默认坐标系的</a:t>
                      </a:r>
                      <a:r>
                        <a:rPr lang="en-US" sz="1800" kern="100" dirty="0">
                          <a:effectLst/>
                          <a:latin typeface="等线" panose="02010600030101010101" pitchFamily="2" charset="-122"/>
                          <a:ea typeface="宋体" panose="02010600030101010101" pitchFamily="2" charset="-122"/>
                          <a:cs typeface="Times New Roman" panose="02020603050405020304" pitchFamily="18" charset="0"/>
                        </a:rPr>
                        <a:t>Y</a:t>
                      </a:r>
                      <a:r>
                        <a:rPr lang="zh-CN" sz="1800" kern="100" dirty="0">
                          <a:effectLst/>
                          <a:latin typeface="等线" panose="02010600030101010101" pitchFamily="2" charset="-122"/>
                          <a:ea typeface="宋体" panose="02010600030101010101" pitchFamily="2" charset="-122"/>
                          <a:cs typeface="Times New Roman" panose="02020603050405020304" pitchFamily="18" charset="0"/>
                        </a:rPr>
                        <a:t>轴创建平面横截面。</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83831536"/>
                  </a:ext>
                </a:extLst>
              </a:tr>
              <a:tr h="720000">
                <a:tc>
                  <a:txBody>
                    <a:bodyPr/>
                    <a:lstStyle/>
                    <a:p>
                      <a:pPr algn="ctr" fontAlgn="ctr"/>
                      <a:r>
                        <a:rPr lang="en-US" sz="1800" kern="100">
                          <a:effectLst/>
                          <a:latin typeface="宋体" panose="02010600030101010101" pitchFamily="2" charset="-122"/>
                          <a:ea typeface="等线" panose="02010600030101010101" pitchFamily="2" charset="-122"/>
                          <a:cs typeface="Times New Roman" panose="02020603050405020304" pitchFamily="18" charset="0"/>
                        </a:rPr>
                        <a:t>4</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800" kern="100">
                          <a:effectLst/>
                          <a:latin typeface="宋体" panose="02010600030101010101" pitchFamily="2" charset="-122"/>
                          <a:ea typeface="等线" panose="02010600030101010101" pitchFamily="2" charset="-122"/>
                          <a:cs typeface="Times New Roman" panose="02020603050405020304" pitchFamily="18" charset="0"/>
                        </a:rPr>
                        <a:t>Z</a:t>
                      </a:r>
                      <a:r>
                        <a:rPr lang="zh-CN" sz="1800" kern="100">
                          <a:effectLst/>
                          <a:latin typeface="等线" panose="02010600030101010101" pitchFamily="2" charset="-122"/>
                          <a:ea typeface="宋体" panose="02010600030101010101" pitchFamily="2" charset="-122"/>
                          <a:cs typeface="Times New Roman" panose="02020603050405020304" pitchFamily="18" charset="0"/>
                        </a:rPr>
                        <a:t>方向</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zh-CN" sz="1800" kern="100" dirty="0">
                          <a:effectLst/>
                          <a:latin typeface="等线" panose="02010600030101010101" pitchFamily="2" charset="-122"/>
                          <a:ea typeface="宋体" panose="02010600030101010101" pitchFamily="2" charset="-122"/>
                          <a:cs typeface="Times New Roman" panose="02020603050405020304" pitchFamily="18" charset="0"/>
                        </a:rPr>
                        <a:t>通过参考默认坐标系的</a:t>
                      </a:r>
                      <a:r>
                        <a:rPr lang="en-US" sz="1800" kern="100" dirty="0">
                          <a:effectLst/>
                          <a:latin typeface="等线" panose="02010600030101010101" pitchFamily="2" charset="-122"/>
                          <a:ea typeface="宋体" panose="02010600030101010101" pitchFamily="2" charset="-122"/>
                          <a:cs typeface="Times New Roman" panose="02020603050405020304" pitchFamily="18" charset="0"/>
                        </a:rPr>
                        <a:t>Z</a:t>
                      </a:r>
                      <a:r>
                        <a:rPr lang="zh-CN" sz="1800" kern="100" dirty="0">
                          <a:effectLst/>
                          <a:latin typeface="等线" panose="02010600030101010101" pitchFamily="2" charset="-122"/>
                          <a:ea typeface="宋体" panose="02010600030101010101" pitchFamily="2" charset="-122"/>
                          <a:cs typeface="Times New Roman" panose="02020603050405020304" pitchFamily="18" charset="0"/>
                        </a:rPr>
                        <a:t>轴创建平面横截面。</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8306451"/>
                  </a:ext>
                </a:extLst>
              </a:tr>
              <a:tr h="720000">
                <a:tc>
                  <a:txBody>
                    <a:bodyPr/>
                    <a:lstStyle/>
                    <a:p>
                      <a:pPr algn="ctr" fontAlgn="ctr"/>
                      <a:r>
                        <a:rPr lang="en-US" sz="1800" kern="100">
                          <a:effectLst/>
                          <a:latin typeface="宋体" panose="02010600030101010101" pitchFamily="2" charset="-122"/>
                          <a:ea typeface="等线" panose="02010600030101010101" pitchFamily="2" charset="-122"/>
                          <a:cs typeface="Times New Roman" panose="02020603050405020304" pitchFamily="18" charset="0"/>
                        </a:rPr>
                        <a:t>5</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zh-CN" sz="1800" kern="100">
                          <a:effectLst/>
                          <a:latin typeface="等线" panose="02010600030101010101" pitchFamily="2" charset="-122"/>
                          <a:ea typeface="宋体" panose="02010600030101010101" pitchFamily="2" charset="-122"/>
                          <a:cs typeface="Times New Roman" panose="02020603050405020304" pitchFamily="18" charset="0"/>
                        </a:rPr>
                        <a:t>偏移</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zh-CN" sz="1800" kern="100" dirty="0">
                          <a:effectLst/>
                          <a:latin typeface="等线" panose="02010600030101010101" pitchFamily="2" charset="-122"/>
                          <a:ea typeface="宋体" panose="02010600030101010101" pitchFamily="2" charset="-122"/>
                          <a:cs typeface="Times New Roman" panose="02020603050405020304" pitchFamily="18" charset="0"/>
                        </a:rPr>
                        <a:t>通过参考草绘来创建横截面。</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55037182"/>
                  </a:ext>
                </a:extLst>
              </a:tr>
              <a:tr h="720000">
                <a:tc>
                  <a:txBody>
                    <a:bodyPr/>
                    <a:lstStyle/>
                    <a:p>
                      <a:pPr algn="ctr" fontAlgn="ctr"/>
                      <a:r>
                        <a:rPr lang="en-US" sz="1800" kern="100">
                          <a:effectLst/>
                          <a:latin typeface="宋体" panose="02010600030101010101" pitchFamily="2" charset="-122"/>
                          <a:ea typeface="等线" panose="02010600030101010101" pitchFamily="2" charset="-122"/>
                          <a:cs typeface="Times New Roman" panose="02020603050405020304" pitchFamily="18" charset="0"/>
                        </a:rPr>
                        <a:t>6</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zh-CN" sz="1800" kern="100">
                          <a:effectLst/>
                          <a:latin typeface="等线" panose="02010600030101010101" pitchFamily="2" charset="-122"/>
                          <a:ea typeface="宋体" panose="02010600030101010101" pitchFamily="2" charset="-122"/>
                          <a:cs typeface="Times New Roman" panose="02020603050405020304" pitchFamily="18" charset="0"/>
                        </a:rPr>
                        <a:t>区域</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zh-CN" sz="1800" kern="100" dirty="0">
                          <a:effectLst/>
                          <a:latin typeface="等线" panose="02010600030101010101" pitchFamily="2" charset="-122"/>
                          <a:ea typeface="宋体" panose="02010600030101010101" pitchFamily="2" charset="-122"/>
                          <a:cs typeface="Times New Roman" panose="02020603050405020304" pitchFamily="18" charset="0"/>
                        </a:rPr>
                        <a:t>创建一个</a:t>
                      </a:r>
                      <a:r>
                        <a:rPr lang="en-US" sz="1800" kern="100" dirty="0">
                          <a:effectLst/>
                          <a:latin typeface="等线" panose="02010600030101010101" pitchFamily="2" charset="-122"/>
                          <a:ea typeface="宋体" panose="02010600030101010101" pitchFamily="2" charset="-122"/>
                          <a:cs typeface="Times New Roman" panose="02020603050405020304" pitchFamily="18" charset="0"/>
                        </a:rPr>
                        <a:t>3D</a:t>
                      </a:r>
                      <a:r>
                        <a:rPr lang="zh-CN" sz="1800" kern="100" dirty="0">
                          <a:effectLst/>
                          <a:latin typeface="等线" panose="02010600030101010101" pitchFamily="2" charset="-122"/>
                          <a:ea typeface="宋体" panose="02010600030101010101" pitchFamily="2" charset="-122"/>
                          <a:cs typeface="Times New Roman" panose="02020603050405020304" pitchFamily="18" charset="0"/>
                        </a:rPr>
                        <a:t>横截面。</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24411250"/>
                  </a:ext>
                </a:extLst>
              </a:tr>
            </a:tbl>
          </a:graphicData>
        </a:graphic>
      </p:graphicFrame>
    </p:spTree>
    <p:extLst>
      <p:ext uri="{BB962C8B-B14F-4D97-AF65-F5344CB8AC3E}">
        <p14:creationId xmlns:p14="http://schemas.microsoft.com/office/powerpoint/2010/main" val="34793424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87" y="525087"/>
            <a:ext cx="11178206" cy="4817729"/>
          </a:xfrm>
          <a:prstGeom prst="rect">
            <a:avLst/>
          </a:prstGeom>
          <a:noFill/>
        </p:spPr>
        <p:txBody>
          <a:bodyPr wrap="square" rtlCol="0">
            <a:spAutoFit/>
          </a:bodyPr>
          <a:lstStyle/>
          <a:p>
            <a:pPr indent="457200">
              <a:lnSpc>
                <a:spcPct val="150000"/>
              </a:lnSpc>
            </a:pPr>
            <a:r>
              <a:rPr lang="zh-CN" altLang="en-US" sz="2600" dirty="0">
                <a:latin typeface="Times New Roman" pitchFamily="18" charset="0"/>
                <a:ea typeface="宋体" pitchFamily="2" charset="-122"/>
              </a:rPr>
              <a:t>下面结合实例介绍使用视图管理器创建偏移截面。在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快速访问</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工具栏中单击“打开”按钮，系统弹出</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文件打开</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对话框，选择“</a:t>
            </a:r>
            <a:r>
              <a:rPr lang="en-US" altLang="zh-CN" sz="2600" dirty="0">
                <a:latin typeface="Times New Roman" pitchFamily="18" charset="0"/>
                <a:ea typeface="宋体" pitchFamily="2" charset="-122"/>
              </a:rPr>
              <a:t>\DATA\ch8\</a:t>
            </a:r>
            <a:r>
              <a:rPr lang="zh-CN" altLang="en-US" sz="2600" dirty="0">
                <a:latin typeface="Times New Roman" pitchFamily="18" charset="0"/>
                <a:ea typeface="宋体" pitchFamily="2" charset="-122"/>
              </a:rPr>
              <a:t>轴承座</a:t>
            </a:r>
            <a:r>
              <a:rPr lang="en-US" altLang="zh-CN" sz="2600" dirty="0">
                <a:latin typeface="Times New Roman" pitchFamily="18" charset="0"/>
                <a:ea typeface="宋体" pitchFamily="2" charset="-122"/>
              </a:rPr>
              <a:t>\ </a:t>
            </a:r>
            <a:r>
              <a:rPr lang="zh-CN" altLang="en-US" sz="2600" dirty="0">
                <a:latin typeface="Times New Roman" pitchFamily="18" charset="0"/>
                <a:ea typeface="宋体" pitchFamily="2" charset="-122"/>
              </a:rPr>
              <a:t>轴承座</a:t>
            </a:r>
            <a:r>
              <a:rPr lang="en-US" altLang="zh-CN" sz="2600" dirty="0">
                <a:latin typeface="Times New Roman" pitchFamily="18" charset="0"/>
                <a:ea typeface="宋体" pitchFamily="2" charset="-122"/>
              </a:rPr>
              <a:t>.</a:t>
            </a:r>
            <a:r>
              <a:rPr lang="en-US" altLang="zh-CN" sz="2600" dirty="0" err="1">
                <a:latin typeface="Times New Roman" pitchFamily="18" charset="0"/>
                <a:ea typeface="宋体" pitchFamily="2" charset="-122"/>
              </a:rPr>
              <a:t>asm</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文件，单击“打开”按钮，打开轴承座装配模型。</a:t>
            </a:r>
          </a:p>
          <a:p>
            <a:pPr indent="457200">
              <a:lnSpc>
                <a:spcPct val="150000"/>
              </a:lnSpc>
            </a:pPr>
            <a:r>
              <a:rPr lang="en-US" altLang="zh-CN" sz="2600" dirty="0">
                <a:latin typeface="Times New Roman" pitchFamily="18" charset="0"/>
                <a:ea typeface="宋体" pitchFamily="2" charset="-122"/>
              </a:rPr>
              <a:t>1</a:t>
            </a:r>
            <a:r>
              <a:rPr lang="zh-CN" altLang="en-US" sz="2600" dirty="0">
                <a:latin typeface="Times New Roman" pitchFamily="18" charset="0"/>
                <a:ea typeface="宋体" pitchFamily="2" charset="-122"/>
              </a:rPr>
              <a:t>）在打开的一个轴承座组件中，单击“视图管理器”按钮     ，系统弹出</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视图管理器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对话框。</a:t>
            </a:r>
          </a:p>
          <a:p>
            <a:pPr indent="457200">
              <a:lnSpc>
                <a:spcPct val="150000"/>
              </a:lnSpc>
            </a:pPr>
            <a:r>
              <a:rPr lang="en-US" altLang="zh-CN" sz="2600" dirty="0">
                <a:latin typeface="Times New Roman" pitchFamily="18" charset="0"/>
                <a:ea typeface="宋体" pitchFamily="2" charset="-122"/>
              </a:rPr>
              <a:t>2</a:t>
            </a:r>
            <a:r>
              <a:rPr lang="zh-CN" altLang="en-US" sz="2600" dirty="0">
                <a:latin typeface="Times New Roman" pitchFamily="18" charset="0"/>
                <a:ea typeface="宋体" pitchFamily="2" charset="-122"/>
              </a:rPr>
              <a:t>）在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视图管理器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对话框中切换至</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截面</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选项卡，接着单击该选项卡中的“新建”按钮，打开一个下拉菜单，选择创建的截面类型为“偏移”，如图</a:t>
            </a:r>
            <a:r>
              <a:rPr lang="en-US" altLang="zh-CN" sz="2600" dirty="0">
                <a:latin typeface="Times New Roman" pitchFamily="18" charset="0"/>
                <a:ea typeface="宋体" pitchFamily="2" charset="-122"/>
              </a:rPr>
              <a:t>8-67</a:t>
            </a:r>
            <a:r>
              <a:rPr lang="zh-CN" altLang="en-US" sz="2600" dirty="0">
                <a:latin typeface="Times New Roman" pitchFamily="18" charset="0"/>
                <a:ea typeface="宋体" pitchFamily="2" charset="-122"/>
              </a:rPr>
              <a:t>所示。</a:t>
            </a:r>
          </a:p>
        </p:txBody>
      </p:sp>
      <p:pic>
        <p:nvPicPr>
          <p:cNvPr id="2" name="图片 1">
            <a:extLst>
              <a:ext uri="{FF2B5EF4-FFF2-40B4-BE49-F238E27FC236}">
                <a16:creationId xmlns:a16="http://schemas.microsoft.com/office/drawing/2014/main" id="{CCD33313-91CE-6435-0EF5-C767A42894BF}"/>
              </a:ext>
            </a:extLst>
          </p:cNvPr>
          <p:cNvPicPr>
            <a:picLocks noChangeAspect="1"/>
          </p:cNvPicPr>
          <p:nvPr/>
        </p:nvPicPr>
        <p:blipFill>
          <a:blip r:embed="rId2"/>
          <a:stretch>
            <a:fillRect/>
          </a:stretch>
        </p:blipFill>
        <p:spPr>
          <a:xfrm>
            <a:off x="9352280" y="2497703"/>
            <a:ext cx="320040" cy="350520"/>
          </a:xfrm>
          <a:prstGeom prst="rect">
            <a:avLst/>
          </a:prstGeom>
        </p:spPr>
      </p:pic>
    </p:spTree>
    <p:extLst>
      <p:ext uri="{BB962C8B-B14F-4D97-AF65-F5344CB8AC3E}">
        <p14:creationId xmlns:p14="http://schemas.microsoft.com/office/powerpoint/2010/main" val="221001210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63CCF217-D9A9-98BC-BAFE-E0DB6139E756}"/>
              </a:ext>
            </a:extLst>
          </p:cNvPr>
          <p:cNvSpPr txBox="1"/>
          <p:nvPr/>
        </p:nvSpPr>
        <p:spPr>
          <a:xfrm>
            <a:off x="4269053" y="6062519"/>
            <a:ext cx="3653894" cy="369332"/>
          </a:xfrm>
          <a:prstGeom prst="rect">
            <a:avLst/>
          </a:prstGeom>
          <a:noFill/>
        </p:spPr>
        <p:txBody>
          <a:bodyPr wrap="square">
            <a:spAutoFit/>
          </a:bodyPr>
          <a:lstStyle/>
          <a:p>
            <a:pPr algn="ctr"/>
            <a:r>
              <a:rPr lang="zh-CN" altLang="en-US" sz="1800" dirty="0">
                <a:effectLst/>
                <a:ea typeface="黑体" panose="02010609060101010101" pitchFamily="49" charset="-122"/>
                <a:cs typeface="Times New Roman" panose="02020603050405020304" pitchFamily="18" charset="0"/>
              </a:rPr>
              <a:t>图</a:t>
            </a:r>
            <a:r>
              <a:rPr lang="en-US" altLang="zh-CN" sz="1800" dirty="0">
                <a:effectLst/>
                <a:ea typeface="黑体" panose="02010609060101010101" pitchFamily="49" charset="-122"/>
                <a:cs typeface="Times New Roman" panose="02020603050405020304" pitchFamily="18" charset="0"/>
              </a:rPr>
              <a:t>8-67 </a:t>
            </a:r>
            <a:r>
              <a:rPr lang="zh-CN" altLang="en-US" sz="1800" dirty="0">
                <a:effectLst/>
                <a:ea typeface="黑体" panose="02010609060101010101" pitchFamily="49" charset="-122"/>
                <a:cs typeface="Times New Roman" panose="02020603050405020304" pitchFamily="18" charset="0"/>
              </a:rPr>
              <a:t>选择截面类型“偏移”</a:t>
            </a:r>
            <a:endParaRPr lang="zh-CN" altLang="en-US" dirty="0"/>
          </a:p>
        </p:txBody>
      </p:sp>
      <p:pic>
        <p:nvPicPr>
          <p:cNvPr id="4" name="图片 3">
            <a:extLst>
              <a:ext uri="{FF2B5EF4-FFF2-40B4-BE49-F238E27FC236}">
                <a16:creationId xmlns:a16="http://schemas.microsoft.com/office/drawing/2014/main" id="{D40E54F2-10C5-AE32-E017-0D83975E26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52938" y="899576"/>
            <a:ext cx="3286125" cy="5000865"/>
          </a:xfrm>
          <a:prstGeom prst="rect">
            <a:avLst/>
          </a:prstGeom>
        </p:spPr>
      </p:pic>
    </p:spTree>
    <p:extLst>
      <p:ext uri="{BB962C8B-B14F-4D97-AF65-F5344CB8AC3E}">
        <p14:creationId xmlns:p14="http://schemas.microsoft.com/office/powerpoint/2010/main" val="417506791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87" y="525087"/>
            <a:ext cx="11178206" cy="1216743"/>
          </a:xfrm>
          <a:prstGeom prst="rect">
            <a:avLst/>
          </a:prstGeom>
          <a:noFill/>
        </p:spPr>
        <p:txBody>
          <a:bodyPr wrap="square" rtlCol="0">
            <a:spAutoFit/>
          </a:bodyPr>
          <a:lstStyle/>
          <a:p>
            <a:pPr indent="457200">
              <a:lnSpc>
                <a:spcPct val="150000"/>
              </a:lnSpc>
            </a:pPr>
            <a:r>
              <a:rPr lang="en-US" altLang="zh-CN" sz="2600" dirty="0">
                <a:latin typeface="Times New Roman" pitchFamily="18" charset="0"/>
                <a:ea typeface="宋体" pitchFamily="2" charset="-122"/>
              </a:rPr>
              <a:t>3</a:t>
            </a:r>
            <a:r>
              <a:rPr lang="zh-CN" altLang="en-US" sz="2600" dirty="0">
                <a:latin typeface="Times New Roman" pitchFamily="18" charset="0"/>
                <a:ea typeface="宋体" pitchFamily="2" charset="-122"/>
              </a:rPr>
              <a:t>）在出现的文本框中输入新的截面名称“</a:t>
            </a:r>
            <a:r>
              <a:rPr lang="en-US" altLang="zh-CN" sz="2600" dirty="0">
                <a:latin typeface="Times New Roman" pitchFamily="18" charset="0"/>
                <a:ea typeface="宋体" pitchFamily="2" charset="-122"/>
              </a:rPr>
              <a:t>A”</a:t>
            </a:r>
            <a:r>
              <a:rPr lang="zh-CN" altLang="en-US" sz="2600" dirty="0">
                <a:latin typeface="Times New Roman" pitchFamily="18" charset="0"/>
                <a:ea typeface="宋体" pitchFamily="2" charset="-122"/>
              </a:rPr>
              <a:t>，如图</a:t>
            </a:r>
            <a:r>
              <a:rPr lang="en-US" altLang="zh-CN" sz="2600" dirty="0">
                <a:latin typeface="Times New Roman" pitchFamily="18" charset="0"/>
                <a:ea typeface="宋体" pitchFamily="2" charset="-122"/>
              </a:rPr>
              <a:t>8-68</a:t>
            </a:r>
            <a:r>
              <a:rPr lang="zh-CN" altLang="en-US" sz="2600" dirty="0">
                <a:latin typeface="Times New Roman" pitchFamily="18" charset="0"/>
                <a:ea typeface="宋体" pitchFamily="2" charset="-122"/>
              </a:rPr>
              <a:t>所示，按“</a:t>
            </a:r>
            <a:r>
              <a:rPr lang="en-US" altLang="zh-CN" sz="2600" dirty="0">
                <a:latin typeface="Times New Roman" pitchFamily="18" charset="0"/>
                <a:ea typeface="宋体" pitchFamily="2" charset="-122"/>
              </a:rPr>
              <a:t>Enter”</a:t>
            </a:r>
            <a:r>
              <a:rPr lang="zh-CN" altLang="en-US" sz="2600" dirty="0">
                <a:latin typeface="Times New Roman" pitchFamily="18" charset="0"/>
                <a:ea typeface="宋体" pitchFamily="2" charset="-122"/>
              </a:rPr>
              <a:t>键确定，打开</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截面</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选项卡，如图</a:t>
            </a:r>
            <a:r>
              <a:rPr lang="en-US" altLang="zh-CN" sz="2600" dirty="0">
                <a:latin typeface="Times New Roman" pitchFamily="18" charset="0"/>
                <a:ea typeface="宋体" pitchFamily="2" charset="-122"/>
              </a:rPr>
              <a:t>8-69</a:t>
            </a:r>
            <a:r>
              <a:rPr lang="zh-CN" altLang="en-US" sz="2600" dirty="0">
                <a:latin typeface="Times New Roman" pitchFamily="18" charset="0"/>
                <a:ea typeface="宋体" pitchFamily="2" charset="-122"/>
              </a:rPr>
              <a:t>所示。</a:t>
            </a:r>
          </a:p>
        </p:txBody>
      </p:sp>
      <p:sp>
        <p:nvSpPr>
          <p:cNvPr id="6" name="文本框 5">
            <a:extLst>
              <a:ext uri="{FF2B5EF4-FFF2-40B4-BE49-F238E27FC236}">
                <a16:creationId xmlns:a16="http://schemas.microsoft.com/office/drawing/2014/main" id="{63CCF217-D9A9-98BC-BAFE-E0DB6139E756}"/>
              </a:ext>
            </a:extLst>
          </p:cNvPr>
          <p:cNvSpPr txBox="1"/>
          <p:nvPr/>
        </p:nvSpPr>
        <p:spPr>
          <a:xfrm>
            <a:off x="538084" y="6068008"/>
            <a:ext cx="3653894" cy="369332"/>
          </a:xfrm>
          <a:prstGeom prst="rect">
            <a:avLst/>
          </a:prstGeom>
          <a:noFill/>
        </p:spPr>
        <p:txBody>
          <a:bodyPr wrap="square">
            <a:spAutoFit/>
          </a:bodyPr>
          <a:lstStyle/>
          <a:p>
            <a:pPr algn="ctr"/>
            <a:r>
              <a:rPr lang="zh-CN" altLang="en-US" sz="1800" dirty="0">
                <a:effectLst/>
                <a:ea typeface="黑体" panose="02010609060101010101" pitchFamily="49" charset="-122"/>
                <a:cs typeface="Times New Roman" panose="02020603050405020304" pitchFamily="18" charset="0"/>
              </a:rPr>
              <a:t>图</a:t>
            </a:r>
            <a:r>
              <a:rPr lang="en-US" altLang="zh-CN" sz="1800" dirty="0">
                <a:effectLst/>
                <a:ea typeface="黑体" panose="02010609060101010101" pitchFamily="49" charset="-122"/>
                <a:cs typeface="Times New Roman" panose="02020603050405020304" pitchFamily="18" charset="0"/>
              </a:rPr>
              <a:t>8-68 </a:t>
            </a:r>
            <a:r>
              <a:rPr lang="zh-CN" altLang="en-US" sz="1800" dirty="0">
                <a:effectLst/>
                <a:ea typeface="黑体" panose="02010609060101010101" pitchFamily="49" charset="-122"/>
                <a:cs typeface="Times New Roman" panose="02020603050405020304" pitchFamily="18" charset="0"/>
              </a:rPr>
              <a:t>输入截面名称</a:t>
            </a:r>
            <a:endParaRPr lang="zh-CN" altLang="en-US" dirty="0"/>
          </a:p>
        </p:txBody>
      </p:sp>
      <p:pic>
        <p:nvPicPr>
          <p:cNvPr id="2" name="图片 1">
            <a:extLst>
              <a:ext uri="{FF2B5EF4-FFF2-40B4-BE49-F238E27FC236}">
                <a16:creationId xmlns:a16="http://schemas.microsoft.com/office/drawing/2014/main" id="{C06E7371-7CC4-E4D3-1B62-76314C87A5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5476" y="1989137"/>
            <a:ext cx="2639111" cy="4016230"/>
          </a:xfrm>
          <a:prstGeom prst="rect">
            <a:avLst/>
          </a:prstGeom>
        </p:spPr>
      </p:pic>
      <p:pic>
        <p:nvPicPr>
          <p:cNvPr id="5" name="图片 4">
            <a:extLst>
              <a:ext uri="{FF2B5EF4-FFF2-40B4-BE49-F238E27FC236}">
                <a16:creationId xmlns:a16="http://schemas.microsoft.com/office/drawing/2014/main" id="{837BFB90-566C-7279-C0A1-1F49BDBD24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77432" y="2432201"/>
            <a:ext cx="7297848" cy="1993597"/>
          </a:xfrm>
          <a:prstGeom prst="rect">
            <a:avLst/>
          </a:prstGeom>
        </p:spPr>
      </p:pic>
      <p:sp>
        <p:nvSpPr>
          <p:cNvPr id="7" name="文本框 6">
            <a:extLst>
              <a:ext uri="{FF2B5EF4-FFF2-40B4-BE49-F238E27FC236}">
                <a16:creationId xmlns:a16="http://schemas.microsoft.com/office/drawing/2014/main" id="{389B4160-70BB-2D83-CBB2-E0E43BA29836}"/>
              </a:ext>
            </a:extLst>
          </p:cNvPr>
          <p:cNvSpPr txBox="1"/>
          <p:nvPr/>
        </p:nvSpPr>
        <p:spPr>
          <a:xfrm>
            <a:off x="6248321" y="4692905"/>
            <a:ext cx="3653894" cy="369332"/>
          </a:xfrm>
          <a:prstGeom prst="rect">
            <a:avLst/>
          </a:prstGeom>
          <a:noFill/>
        </p:spPr>
        <p:txBody>
          <a:bodyPr wrap="square">
            <a:spAutoFit/>
          </a:bodyPr>
          <a:lstStyle/>
          <a:p>
            <a:pPr algn="ctr"/>
            <a:r>
              <a:rPr lang="zh-CN" altLang="en-US" sz="1800" dirty="0">
                <a:effectLst/>
                <a:ea typeface="黑体" panose="02010609060101010101" pitchFamily="49" charset="-122"/>
                <a:cs typeface="Times New Roman" panose="02020603050405020304" pitchFamily="18" charset="0"/>
              </a:rPr>
              <a:t>图</a:t>
            </a:r>
            <a:r>
              <a:rPr lang="en-US" altLang="zh-CN" sz="1800" dirty="0">
                <a:effectLst/>
                <a:ea typeface="黑体" panose="02010609060101010101" pitchFamily="49" charset="-122"/>
                <a:cs typeface="Times New Roman" panose="02020603050405020304" pitchFamily="18" charset="0"/>
              </a:rPr>
              <a:t>8-69 【</a:t>
            </a:r>
            <a:r>
              <a:rPr lang="zh-CN" altLang="en-US" sz="1800" dirty="0">
                <a:effectLst/>
                <a:ea typeface="黑体" panose="02010609060101010101" pitchFamily="49" charset="-122"/>
                <a:cs typeface="Times New Roman" panose="02020603050405020304" pitchFamily="18" charset="0"/>
              </a:rPr>
              <a:t>截面</a:t>
            </a:r>
            <a:r>
              <a:rPr lang="en-US" altLang="zh-CN" sz="1800" dirty="0">
                <a:effectLst/>
                <a:ea typeface="黑体" panose="02010609060101010101" pitchFamily="49" charset="-122"/>
                <a:cs typeface="Times New Roman" panose="02020603050405020304" pitchFamily="18" charset="0"/>
              </a:rPr>
              <a:t>】</a:t>
            </a:r>
            <a:r>
              <a:rPr lang="zh-CN" altLang="en-US" sz="1800" dirty="0">
                <a:effectLst/>
                <a:ea typeface="黑体" panose="02010609060101010101" pitchFamily="49" charset="-122"/>
                <a:cs typeface="Times New Roman" panose="02020603050405020304" pitchFamily="18" charset="0"/>
              </a:rPr>
              <a:t>选项卡</a:t>
            </a:r>
            <a:endParaRPr lang="zh-CN" altLang="en-US" dirty="0"/>
          </a:p>
        </p:txBody>
      </p:sp>
    </p:spTree>
    <p:extLst>
      <p:ext uri="{BB962C8B-B14F-4D97-AF65-F5344CB8AC3E}">
        <p14:creationId xmlns:p14="http://schemas.microsoft.com/office/powerpoint/2010/main" val="331961022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87" y="525087"/>
            <a:ext cx="11178206" cy="2417072"/>
          </a:xfrm>
          <a:prstGeom prst="rect">
            <a:avLst/>
          </a:prstGeom>
          <a:noFill/>
        </p:spPr>
        <p:txBody>
          <a:bodyPr wrap="square" rtlCol="0">
            <a:spAutoFit/>
          </a:bodyPr>
          <a:lstStyle/>
          <a:p>
            <a:pPr indent="457200">
              <a:lnSpc>
                <a:spcPct val="150000"/>
              </a:lnSpc>
            </a:pPr>
            <a:r>
              <a:rPr lang="en-US" altLang="zh-CN" sz="2600" dirty="0">
                <a:latin typeface="Times New Roman" pitchFamily="18" charset="0"/>
                <a:ea typeface="宋体" pitchFamily="2" charset="-122"/>
              </a:rPr>
              <a:t>4</a:t>
            </a:r>
            <a:r>
              <a:rPr lang="zh-CN" altLang="en-US" sz="2600" dirty="0">
                <a:latin typeface="Times New Roman" pitchFamily="18" charset="0"/>
                <a:ea typeface="宋体" pitchFamily="2" charset="-122"/>
              </a:rPr>
              <a:t>）单击</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草绘</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下滑面板中的“定义”按钮，弹出</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草绘</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对话框，选择基准平面</a:t>
            </a:r>
            <a:r>
              <a:rPr lang="en-US" altLang="zh-CN" sz="2600" dirty="0">
                <a:latin typeface="Times New Roman" pitchFamily="18" charset="0"/>
                <a:ea typeface="宋体" pitchFamily="2" charset="-122"/>
              </a:rPr>
              <a:t>ASM_TOP</a:t>
            </a:r>
            <a:r>
              <a:rPr lang="zh-CN" altLang="en-US" sz="2600" dirty="0">
                <a:latin typeface="Times New Roman" pitchFamily="18" charset="0"/>
                <a:ea typeface="宋体" pitchFamily="2" charset="-122"/>
              </a:rPr>
              <a:t>作为草绘平面，基准平面</a:t>
            </a:r>
            <a:r>
              <a:rPr lang="en-US" altLang="zh-CN" sz="2600" dirty="0">
                <a:latin typeface="Times New Roman" pitchFamily="18" charset="0"/>
                <a:ea typeface="宋体" pitchFamily="2" charset="-122"/>
              </a:rPr>
              <a:t>ASM_RIGHT</a:t>
            </a:r>
            <a:r>
              <a:rPr lang="zh-CN" altLang="en-US" sz="2600" dirty="0">
                <a:latin typeface="Times New Roman" pitchFamily="18" charset="0"/>
                <a:ea typeface="宋体" pitchFamily="2" charset="-122"/>
              </a:rPr>
              <a:t>为参考平面，方向“右”，单击“确定”按钮，进入草绘环境。</a:t>
            </a:r>
          </a:p>
          <a:p>
            <a:pPr indent="457200">
              <a:lnSpc>
                <a:spcPct val="150000"/>
              </a:lnSpc>
            </a:pPr>
            <a:r>
              <a:rPr lang="en-US" altLang="zh-CN" sz="2600" dirty="0">
                <a:latin typeface="Times New Roman" pitchFamily="18" charset="0"/>
                <a:ea typeface="宋体" pitchFamily="2" charset="-122"/>
              </a:rPr>
              <a:t>5</a:t>
            </a:r>
            <a:r>
              <a:rPr lang="zh-CN" altLang="en-US" sz="2600" dirty="0">
                <a:latin typeface="Times New Roman" pitchFamily="18" charset="0"/>
                <a:ea typeface="宋体" pitchFamily="2" charset="-122"/>
              </a:rPr>
              <a:t>）绘制图</a:t>
            </a:r>
            <a:r>
              <a:rPr lang="en-US" altLang="zh-CN" sz="2600" dirty="0">
                <a:latin typeface="Times New Roman" pitchFamily="18" charset="0"/>
                <a:ea typeface="宋体" pitchFamily="2" charset="-122"/>
              </a:rPr>
              <a:t>8-70</a:t>
            </a:r>
            <a:r>
              <a:rPr lang="zh-CN" altLang="en-US" sz="2600" dirty="0">
                <a:latin typeface="Times New Roman" pitchFamily="18" charset="0"/>
                <a:ea typeface="宋体" pitchFamily="2" charset="-122"/>
              </a:rPr>
              <a:t>所示的草绘切割折线，单击“确定”，退出草绘环境。</a:t>
            </a:r>
          </a:p>
        </p:txBody>
      </p:sp>
      <p:sp>
        <p:nvSpPr>
          <p:cNvPr id="6" name="文本框 5">
            <a:extLst>
              <a:ext uri="{FF2B5EF4-FFF2-40B4-BE49-F238E27FC236}">
                <a16:creationId xmlns:a16="http://schemas.microsoft.com/office/drawing/2014/main" id="{63CCF217-D9A9-98BC-BAFE-E0DB6139E756}"/>
              </a:ext>
            </a:extLst>
          </p:cNvPr>
          <p:cNvSpPr txBox="1"/>
          <p:nvPr/>
        </p:nvSpPr>
        <p:spPr>
          <a:xfrm>
            <a:off x="4269053" y="6005367"/>
            <a:ext cx="3653894" cy="369332"/>
          </a:xfrm>
          <a:prstGeom prst="rect">
            <a:avLst/>
          </a:prstGeom>
          <a:noFill/>
        </p:spPr>
        <p:txBody>
          <a:bodyPr wrap="square">
            <a:spAutoFit/>
          </a:bodyPr>
          <a:lstStyle/>
          <a:p>
            <a:pPr algn="ctr"/>
            <a:r>
              <a:rPr lang="zh-CN" altLang="en-US" sz="1800" dirty="0">
                <a:effectLst/>
                <a:ea typeface="黑体" panose="02010609060101010101" pitchFamily="49" charset="-122"/>
                <a:cs typeface="Times New Roman" panose="02020603050405020304" pitchFamily="18" charset="0"/>
              </a:rPr>
              <a:t>图</a:t>
            </a:r>
            <a:r>
              <a:rPr lang="en-US" altLang="zh-CN" sz="1800" dirty="0">
                <a:effectLst/>
                <a:ea typeface="黑体" panose="02010609060101010101" pitchFamily="49" charset="-122"/>
                <a:cs typeface="Times New Roman" panose="02020603050405020304" pitchFamily="18" charset="0"/>
              </a:rPr>
              <a:t>8-70 </a:t>
            </a:r>
            <a:r>
              <a:rPr lang="zh-CN" altLang="en-US" sz="1800" dirty="0">
                <a:effectLst/>
                <a:ea typeface="黑体" panose="02010609060101010101" pitchFamily="49" charset="-122"/>
                <a:cs typeface="Times New Roman" panose="02020603050405020304" pitchFamily="18" charset="0"/>
              </a:rPr>
              <a:t>草绘切割折线</a:t>
            </a:r>
            <a:endParaRPr lang="zh-CN" altLang="en-US" dirty="0"/>
          </a:p>
        </p:txBody>
      </p:sp>
      <p:pic>
        <p:nvPicPr>
          <p:cNvPr id="2" name="图片 1">
            <a:extLst>
              <a:ext uri="{FF2B5EF4-FFF2-40B4-BE49-F238E27FC236}">
                <a16:creationId xmlns:a16="http://schemas.microsoft.com/office/drawing/2014/main" id="{2950D2CA-8312-3992-0846-AD208AF401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23143" y="3073399"/>
            <a:ext cx="5945715" cy="2827339"/>
          </a:xfrm>
          <a:prstGeom prst="rect">
            <a:avLst/>
          </a:prstGeom>
        </p:spPr>
      </p:pic>
    </p:spTree>
    <p:extLst>
      <p:ext uri="{BB962C8B-B14F-4D97-AF65-F5344CB8AC3E}">
        <p14:creationId xmlns:p14="http://schemas.microsoft.com/office/powerpoint/2010/main" val="162149548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87" y="525087"/>
            <a:ext cx="11178206" cy="1216743"/>
          </a:xfrm>
          <a:prstGeom prst="rect">
            <a:avLst/>
          </a:prstGeom>
          <a:noFill/>
        </p:spPr>
        <p:txBody>
          <a:bodyPr wrap="square" rtlCol="0">
            <a:spAutoFit/>
          </a:bodyPr>
          <a:lstStyle/>
          <a:p>
            <a:pPr indent="457200">
              <a:lnSpc>
                <a:spcPct val="150000"/>
              </a:lnSpc>
            </a:pPr>
            <a:r>
              <a:rPr lang="en-US" altLang="zh-CN" sz="2600" dirty="0">
                <a:latin typeface="Times New Roman" pitchFamily="18" charset="0"/>
                <a:ea typeface="宋体" pitchFamily="2" charset="-122"/>
              </a:rPr>
              <a:t>6</a:t>
            </a:r>
            <a:r>
              <a:rPr lang="zh-CN" altLang="en-US" sz="2600" dirty="0">
                <a:latin typeface="Times New Roman" pitchFamily="18" charset="0"/>
                <a:ea typeface="宋体" pitchFamily="2" charset="-122"/>
              </a:rPr>
              <a:t>）在功能区的</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截面</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选项卡中单击“确定”按钮，接着在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视图管理器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对话框中单击“关闭”按钮，创建的偏移截面如图</a:t>
            </a:r>
            <a:r>
              <a:rPr lang="en-US" altLang="zh-CN" sz="2600" dirty="0">
                <a:latin typeface="Times New Roman" pitchFamily="18" charset="0"/>
                <a:ea typeface="宋体" pitchFamily="2" charset="-122"/>
              </a:rPr>
              <a:t>8-71</a:t>
            </a:r>
            <a:r>
              <a:rPr lang="zh-CN" altLang="en-US" sz="2600" dirty="0">
                <a:latin typeface="Times New Roman" pitchFamily="18" charset="0"/>
                <a:ea typeface="宋体" pitchFamily="2" charset="-122"/>
              </a:rPr>
              <a:t>所示。</a:t>
            </a:r>
          </a:p>
        </p:txBody>
      </p:sp>
      <p:sp>
        <p:nvSpPr>
          <p:cNvPr id="6" name="文本框 5">
            <a:extLst>
              <a:ext uri="{FF2B5EF4-FFF2-40B4-BE49-F238E27FC236}">
                <a16:creationId xmlns:a16="http://schemas.microsoft.com/office/drawing/2014/main" id="{63CCF217-D9A9-98BC-BAFE-E0DB6139E756}"/>
              </a:ext>
            </a:extLst>
          </p:cNvPr>
          <p:cNvSpPr txBox="1"/>
          <p:nvPr/>
        </p:nvSpPr>
        <p:spPr>
          <a:xfrm>
            <a:off x="4269053" y="6005367"/>
            <a:ext cx="3653894" cy="369332"/>
          </a:xfrm>
          <a:prstGeom prst="rect">
            <a:avLst/>
          </a:prstGeom>
          <a:noFill/>
        </p:spPr>
        <p:txBody>
          <a:bodyPr wrap="square">
            <a:spAutoFit/>
          </a:bodyPr>
          <a:lstStyle/>
          <a:p>
            <a:pPr algn="ctr"/>
            <a:r>
              <a:rPr lang="zh-CN" altLang="en-US" sz="1800" dirty="0">
                <a:effectLst/>
                <a:ea typeface="黑体" panose="02010609060101010101" pitchFamily="49" charset="-122"/>
                <a:cs typeface="Times New Roman" panose="02020603050405020304" pitchFamily="18" charset="0"/>
              </a:rPr>
              <a:t>图</a:t>
            </a:r>
            <a:r>
              <a:rPr lang="en-US" altLang="zh-CN" sz="1800" dirty="0">
                <a:effectLst/>
                <a:ea typeface="黑体" panose="02010609060101010101" pitchFamily="49" charset="-122"/>
                <a:cs typeface="Times New Roman" panose="02020603050405020304" pitchFamily="18" charset="0"/>
              </a:rPr>
              <a:t>8-71</a:t>
            </a:r>
            <a:r>
              <a:rPr lang="zh-CN" altLang="en-US" sz="1800" dirty="0">
                <a:effectLst/>
                <a:ea typeface="黑体" panose="02010609060101010101" pitchFamily="49" charset="-122"/>
                <a:cs typeface="Times New Roman" panose="02020603050405020304" pitchFamily="18" charset="0"/>
              </a:rPr>
              <a:t>完成偏移截面的创建</a:t>
            </a:r>
            <a:endParaRPr lang="zh-CN" altLang="en-US" dirty="0"/>
          </a:p>
        </p:txBody>
      </p:sp>
      <p:pic>
        <p:nvPicPr>
          <p:cNvPr id="4" name="图片 3">
            <a:extLst>
              <a:ext uri="{FF2B5EF4-FFF2-40B4-BE49-F238E27FC236}">
                <a16:creationId xmlns:a16="http://schemas.microsoft.com/office/drawing/2014/main" id="{872F27D7-1C23-6C4A-0040-324E3951D0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51472" y="1989137"/>
            <a:ext cx="3889057" cy="3977644"/>
          </a:xfrm>
          <a:prstGeom prst="rect">
            <a:avLst/>
          </a:prstGeom>
        </p:spPr>
      </p:pic>
    </p:spTree>
    <p:extLst>
      <p:ext uri="{BB962C8B-B14F-4D97-AF65-F5344CB8AC3E}">
        <p14:creationId xmlns:p14="http://schemas.microsoft.com/office/powerpoint/2010/main" val="1040411226"/>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2624</TotalTime>
  <Words>6118</Words>
  <Application>Microsoft Office PowerPoint</Application>
  <PresentationFormat>宽屏</PresentationFormat>
  <Paragraphs>336</Paragraphs>
  <Slides>94</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94</vt:i4>
      </vt:variant>
    </vt:vector>
  </HeadingPairs>
  <TitlesOfParts>
    <vt:vector size="102" baseType="lpstr">
      <vt:lpstr>等线</vt:lpstr>
      <vt:lpstr>黑体</vt:lpstr>
      <vt:lpstr>宋体</vt:lpstr>
      <vt:lpstr>Arial</vt:lpstr>
      <vt:lpstr>Calibri</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502</dc:creator>
  <cp:lastModifiedBy>37584</cp:lastModifiedBy>
  <cp:revision>215</cp:revision>
  <dcterms:created xsi:type="dcterms:W3CDTF">2022-06-25T09:10:00Z</dcterms:created>
  <dcterms:modified xsi:type="dcterms:W3CDTF">2023-03-29T09:06:09Z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9F5551007EA34426BE42E023EFDA5284</vt:lpwstr>
  </property>
  <property fmtid="{D5CDD505-2E9C-101B-9397-08002B2CF9AE}" pid="3" name="KSOProductBuildVer">
    <vt:lpwstr>2052-11.1.0.11579</vt:lpwstr>
  </property>
</Properties>
</file>